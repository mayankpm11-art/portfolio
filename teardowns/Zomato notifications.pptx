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903969" y="1571244"/>
            <a:ext cx="2040255" cy="2355850"/>
          </a:xfrm>
          <a:custGeom>
            <a:avLst/>
            <a:gdLst/>
            <a:ahLst/>
            <a:cxnLst/>
            <a:rect l="l" t="t" r="r" b="b"/>
            <a:pathLst>
              <a:path w="2040254" h="2355850">
                <a:moveTo>
                  <a:pt x="0" y="0"/>
                </a:moveTo>
                <a:lnTo>
                  <a:pt x="0" y="2355341"/>
                </a:lnTo>
                <a:lnTo>
                  <a:pt x="2039747" y="1177670"/>
                </a:lnTo>
                <a:lnTo>
                  <a:pt x="2014587" y="1135128"/>
                </a:lnTo>
                <a:lnTo>
                  <a:pt x="1988618" y="1093239"/>
                </a:lnTo>
                <a:lnTo>
                  <a:pt x="1961853" y="1052011"/>
                </a:lnTo>
                <a:lnTo>
                  <a:pt x="1934304" y="1011450"/>
                </a:lnTo>
                <a:lnTo>
                  <a:pt x="1905985" y="971566"/>
                </a:lnTo>
                <a:lnTo>
                  <a:pt x="1876910" y="932366"/>
                </a:lnTo>
                <a:lnTo>
                  <a:pt x="1847091" y="893857"/>
                </a:lnTo>
                <a:lnTo>
                  <a:pt x="1816542" y="856046"/>
                </a:lnTo>
                <a:lnTo>
                  <a:pt x="1785276" y="818943"/>
                </a:lnTo>
                <a:lnTo>
                  <a:pt x="1753306" y="782553"/>
                </a:lnTo>
                <a:lnTo>
                  <a:pt x="1720645" y="746886"/>
                </a:lnTo>
                <a:lnTo>
                  <a:pt x="1687308" y="711948"/>
                </a:lnTo>
                <a:lnTo>
                  <a:pt x="1653306" y="677747"/>
                </a:lnTo>
                <a:lnTo>
                  <a:pt x="1618653" y="644292"/>
                </a:lnTo>
                <a:lnTo>
                  <a:pt x="1583363" y="611588"/>
                </a:lnTo>
                <a:lnTo>
                  <a:pt x="1547449" y="579645"/>
                </a:lnTo>
                <a:lnTo>
                  <a:pt x="1510923" y="548470"/>
                </a:lnTo>
                <a:lnTo>
                  <a:pt x="1473800" y="518070"/>
                </a:lnTo>
                <a:lnTo>
                  <a:pt x="1436092" y="488454"/>
                </a:lnTo>
                <a:lnTo>
                  <a:pt x="1397812" y="459628"/>
                </a:lnTo>
                <a:lnTo>
                  <a:pt x="1358975" y="431600"/>
                </a:lnTo>
                <a:lnTo>
                  <a:pt x="1319593" y="404379"/>
                </a:lnTo>
                <a:lnTo>
                  <a:pt x="1279679" y="377971"/>
                </a:lnTo>
                <a:lnTo>
                  <a:pt x="1239246" y="352385"/>
                </a:lnTo>
                <a:lnTo>
                  <a:pt x="1198309" y="327628"/>
                </a:lnTo>
                <a:lnTo>
                  <a:pt x="1156879" y="303708"/>
                </a:lnTo>
                <a:lnTo>
                  <a:pt x="1114971" y="280631"/>
                </a:lnTo>
                <a:lnTo>
                  <a:pt x="1072598" y="258407"/>
                </a:lnTo>
                <a:lnTo>
                  <a:pt x="1029772" y="237043"/>
                </a:lnTo>
                <a:lnTo>
                  <a:pt x="986507" y="216545"/>
                </a:lnTo>
                <a:lnTo>
                  <a:pt x="942817" y="196923"/>
                </a:lnTo>
                <a:lnTo>
                  <a:pt x="898714" y="178183"/>
                </a:lnTo>
                <a:lnTo>
                  <a:pt x="854212" y="160334"/>
                </a:lnTo>
                <a:lnTo>
                  <a:pt x="809323" y="143383"/>
                </a:lnTo>
                <a:lnTo>
                  <a:pt x="764063" y="127337"/>
                </a:lnTo>
                <a:lnTo>
                  <a:pt x="718442" y="112204"/>
                </a:lnTo>
                <a:lnTo>
                  <a:pt x="672476" y="97992"/>
                </a:lnTo>
                <a:lnTo>
                  <a:pt x="626176" y="84708"/>
                </a:lnTo>
                <a:lnTo>
                  <a:pt x="579556" y="72361"/>
                </a:lnTo>
                <a:lnTo>
                  <a:pt x="532630" y="60958"/>
                </a:lnTo>
                <a:lnTo>
                  <a:pt x="485411" y="50506"/>
                </a:lnTo>
                <a:lnTo>
                  <a:pt x="437912" y="41013"/>
                </a:lnTo>
                <a:lnTo>
                  <a:pt x="390146" y="32487"/>
                </a:lnTo>
                <a:lnTo>
                  <a:pt x="342126" y="24935"/>
                </a:lnTo>
                <a:lnTo>
                  <a:pt x="293866" y="18365"/>
                </a:lnTo>
                <a:lnTo>
                  <a:pt x="245379" y="12785"/>
                </a:lnTo>
                <a:lnTo>
                  <a:pt x="196678" y="8203"/>
                </a:lnTo>
                <a:lnTo>
                  <a:pt x="147776" y="4625"/>
                </a:lnTo>
                <a:lnTo>
                  <a:pt x="98687" y="2061"/>
                </a:lnTo>
                <a:lnTo>
                  <a:pt x="49424" y="516"/>
                </a:lnTo>
                <a:lnTo>
                  <a:pt x="0" y="0"/>
                </a:lnTo>
                <a:close/>
              </a:path>
            </a:pathLst>
          </a:custGeom>
          <a:solidFill>
            <a:srgbClr val="EF4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903969" y="1571244"/>
            <a:ext cx="2040255" cy="2355850"/>
          </a:xfrm>
          <a:custGeom>
            <a:avLst/>
            <a:gdLst/>
            <a:ahLst/>
            <a:cxnLst/>
            <a:rect l="l" t="t" r="r" b="b"/>
            <a:pathLst>
              <a:path w="2040254" h="2355850">
                <a:moveTo>
                  <a:pt x="0" y="0"/>
                </a:moveTo>
                <a:lnTo>
                  <a:pt x="49424" y="516"/>
                </a:lnTo>
                <a:lnTo>
                  <a:pt x="98687" y="2061"/>
                </a:lnTo>
                <a:lnTo>
                  <a:pt x="147776" y="4625"/>
                </a:lnTo>
                <a:lnTo>
                  <a:pt x="196678" y="8203"/>
                </a:lnTo>
                <a:lnTo>
                  <a:pt x="245379" y="12785"/>
                </a:lnTo>
                <a:lnTo>
                  <a:pt x="293866" y="18365"/>
                </a:lnTo>
                <a:lnTo>
                  <a:pt x="342126" y="24935"/>
                </a:lnTo>
                <a:lnTo>
                  <a:pt x="390146" y="32487"/>
                </a:lnTo>
                <a:lnTo>
                  <a:pt x="437912" y="41013"/>
                </a:lnTo>
                <a:lnTo>
                  <a:pt x="485411" y="50506"/>
                </a:lnTo>
                <a:lnTo>
                  <a:pt x="532630" y="60958"/>
                </a:lnTo>
                <a:lnTo>
                  <a:pt x="579556" y="72361"/>
                </a:lnTo>
                <a:lnTo>
                  <a:pt x="626176" y="84708"/>
                </a:lnTo>
                <a:lnTo>
                  <a:pt x="672476" y="97992"/>
                </a:lnTo>
                <a:lnTo>
                  <a:pt x="718442" y="112204"/>
                </a:lnTo>
                <a:lnTo>
                  <a:pt x="764063" y="127337"/>
                </a:lnTo>
                <a:lnTo>
                  <a:pt x="809323" y="143383"/>
                </a:lnTo>
                <a:lnTo>
                  <a:pt x="854212" y="160334"/>
                </a:lnTo>
                <a:lnTo>
                  <a:pt x="898714" y="178183"/>
                </a:lnTo>
                <a:lnTo>
                  <a:pt x="942817" y="196923"/>
                </a:lnTo>
                <a:lnTo>
                  <a:pt x="986507" y="216545"/>
                </a:lnTo>
                <a:lnTo>
                  <a:pt x="1029772" y="237043"/>
                </a:lnTo>
                <a:lnTo>
                  <a:pt x="1072598" y="258407"/>
                </a:lnTo>
                <a:lnTo>
                  <a:pt x="1114971" y="280631"/>
                </a:lnTo>
                <a:lnTo>
                  <a:pt x="1156879" y="303708"/>
                </a:lnTo>
                <a:lnTo>
                  <a:pt x="1198309" y="327628"/>
                </a:lnTo>
                <a:lnTo>
                  <a:pt x="1239246" y="352385"/>
                </a:lnTo>
                <a:lnTo>
                  <a:pt x="1279679" y="377971"/>
                </a:lnTo>
                <a:lnTo>
                  <a:pt x="1319593" y="404379"/>
                </a:lnTo>
                <a:lnTo>
                  <a:pt x="1358975" y="431600"/>
                </a:lnTo>
                <a:lnTo>
                  <a:pt x="1397812" y="459628"/>
                </a:lnTo>
                <a:lnTo>
                  <a:pt x="1436092" y="488454"/>
                </a:lnTo>
                <a:lnTo>
                  <a:pt x="1473800" y="518070"/>
                </a:lnTo>
                <a:lnTo>
                  <a:pt x="1510923" y="548470"/>
                </a:lnTo>
                <a:lnTo>
                  <a:pt x="1547449" y="579645"/>
                </a:lnTo>
                <a:lnTo>
                  <a:pt x="1583363" y="611588"/>
                </a:lnTo>
                <a:lnTo>
                  <a:pt x="1618653" y="644292"/>
                </a:lnTo>
                <a:lnTo>
                  <a:pt x="1653306" y="677747"/>
                </a:lnTo>
                <a:lnTo>
                  <a:pt x="1687308" y="711948"/>
                </a:lnTo>
                <a:lnTo>
                  <a:pt x="1720645" y="746886"/>
                </a:lnTo>
                <a:lnTo>
                  <a:pt x="1753306" y="782553"/>
                </a:lnTo>
                <a:lnTo>
                  <a:pt x="1785276" y="818943"/>
                </a:lnTo>
                <a:lnTo>
                  <a:pt x="1816542" y="856046"/>
                </a:lnTo>
                <a:lnTo>
                  <a:pt x="1847091" y="893857"/>
                </a:lnTo>
                <a:lnTo>
                  <a:pt x="1876910" y="932366"/>
                </a:lnTo>
                <a:lnTo>
                  <a:pt x="1905985" y="971566"/>
                </a:lnTo>
                <a:lnTo>
                  <a:pt x="1934304" y="1011450"/>
                </a:lnTo>
                <a:lnTo>
                  <a:pt x="1961853" y="1052011"/>
                </a:lnTo>
                <a:lnTo>
                  <a:pt x="1988618" y="1093239"/>
                </a:lnTo>
                <a:lnTo>
                  <a:pt x="2014587" y="1135128"/>
                </a:lnTo>
                <a:lnTo>
                  <a:pt x="2039747" y="1177670"/>
                </a:lnTo>
                <a:lnTo>
                  <a:pt x="0" y="2355341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5636" y="205104"/>
            <a:ext cx="1013713" cy="17830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04666" y="207263"/>
            <a:ext cx="834961" cy="17830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52595" y="207263"/>
            <a:ext cx="1142822" cy="17830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11419" y="207263"/>
            <a:ext cx="1518793" cy="178307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50607" y="192023"/>
            <a:ext cx="2014854" cy="178308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01225" y="207263"/>
            <a:ext cx="1041082" cy="178307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9300082" y="368807"/>
            <a:ext cx="954405" cy="3175"/>
          </a:xfrm>
          <a:custGeom>
            <a:avLst/>
            <a:gdLst/>
            <a:ahLst/>
            <a:cxnLst/>
            <a:rect l="l" t="t" r="r" b="b"/>
            <a:pathLst>
              <a:path w="954404" h="3175">
                <a:moveTo>
                  <a:pt x="954024" y="0"/>
                </a:moveTo>
                <a:lnTo>
                  <a:pt x="0" y="0"/>
                </a:lnTo>
                <a:lnTo>
                  <a:pt x="0" y="3047"/>
                </a:lnTo>
                <a:lnTo>
                  <a:pt x="954024" y="3047"/>
                </a:lnTo>
                <a:lnTo>
                  <a:pt x="9540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847344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3191" y="9144"/>
            <a:ext cx="861059" cy="861059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3057144" y="1193291"/>
            <a:ext cx="6349365" cy="861060"/>
          </a:xfrm>
          <a:custGeom>
            <a:avLst/>
            <a:gdLst/>
            <a:ahLst/>
            <a:cxnLst/>
            <a:rect l="l" t="t" r="r" b="b"/>
            <a:pathLst>
              <a:path w="6349365" h="861060">
                <a:moveTo>
                  <a:pt x="6205474" y="0"/>
                </a:moveTo>
                <a:lnTo>
                  <a:pt x="143510" y="0"/>
                </a:lnTo>
                <a:lnTo>
                  <a:pt x="98153" y="7317"/>
                </a:lnTo>
                <a:lnTo>
                  <a:pt x="58759" y="27692"/>
                </a:lnTo>
                <a:lnTo>
                  <a:pt x="27692" y="58759"/>
                </a:lnTo>
                <a:lnTo>
                  <a:pt x="7317" y="98153"/>
                </a:lnTo>
                <a:lnTo>
                  <a:pt x="0" y="143510"/>
                </a:lnTo>
                <a:lnTo>
                  <a:pt x="0" y="717550"/>
                </a:lnTo>
                <a:lnTo>
                  <a:pt x="7317" y="762906"/>
                </a:lnTo>
                <a:lnTo>
                  <a:pt x="27692" y="802300"/>
                </a:lnTo>
                <a:lnTo>
                  <a:pt x="58759" y="833367"/>
                </a:lnTo>
                <a:lnTo>
                  <a:pt x="98153" y="853742"/>
                </a:lnTo>
                <a:lnTo>
                  <a:pt x="143510" y="861060"/>
                </a:lnTo>
                <a:lnTo>
                  <a:pt x="6205474" y="861060"/>
                </a:lnTo>
                <a:lnTo>
                  <a:pt x="6250830" y="853742"/>
                </a:lnTo>
                <a:lnTo>
                  <a:pt x="6290224" y="833367"/>
                </a:lnTo>
                <a:lnTo>
                  <a:pt x="6321291" y="802300"/>
                </a:lnTo>
                <a:lnTo>
                  <a:pt x="6341666" y="762906"/>
                </a:lnTo>
                <a:lnTo>
                  <a:pt x="6348983" y="717550"/>
                </a:lnTo>
                <a:lnTo>
                  <a:pt x="6348983" y="143510"/>
                </a:lnTo>
                <a:lnTo>
                  <a:pt x="6341666" y="98153"/>
                </a:lnTo>
                <a:lnTo>
                  <a:pt x="6321291" y="58759"/>
                </a:lnTo>
                <a:lnTo>
                  <a:pt x="6290224" y="27692"/>
                </a:lnTo>
                <a:lnTo>
                  <a:pt x="6250830" y="7317"/>
                </a:lnTo>
                <a:lnTo>
                  <a:pt x="6205474" y="0"/>
                </a:lnTo>
                <a:close/>
              </a:path>
            </a:pathLst>
          </a:custGeom>
          <a:solidFill>
            <a:srgbClr val="EF4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69947" y="1243965"/>
            <a:ext cx="232473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13.png"/><Relationship Id="rId12" Type="http://schemas.openxmlformats.org/officeDocument/2006/relationships/image" Target="../media/image21.png"/><Relationship Id="rId17" Type="http://schemas.openxmlformats.org/officeDocument/2006/relationships/image" Target="../media/image26.jpg"/><Relationship Id="rId2" Type="http://schemas.openxmlformats.org/officeDocument/2006/relationships/image" Target="../media/image2.png"/><Relationship Id="rId16" Type="http://schemas.openxmlformats.org/officeDocument/2006/relationships/image" Target="../media/image2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11" Type="http://schemas.openxmlformats.org/officeDocument/2006/relationships/image" Target="../media/image20.jpg"/><Relationship Id="rId5" Type="http://schemas.openxmlformats.org/officeDocument/2006/relationships/image" Target="../media/image11.png"/><Relationship Id="rId15" Type="http://schemas.openxmlformats.org/officeDocument/2006/relationships/image" Target="../media/image24.jpg"/><Relationship Id="rId10" Type="http://schemas.openxmlformats.org/officeDocument/2006/relationships/image" Target="../media/image19.jpg"/><Relationship Id="rId4" Type="http://schemas.openxmlformats.org/officeDocument/2006/relationships/image" Target="../media/image4.png"/><Relationship Id="rId9" Type="http://schemas.openxmlformats.org/officeDocument/2006/relationships/image" Target="../media/image18.jpg"/><Relationship Id="rId14" Type="http://schemas.openxmlformats.org/officeDocument/2006/relationships/image" Target="../media/image2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29.jpg"/><Relationship Id="rId4" Type="http://schemas.openxmlformats.org/officeDocument/2006/relationships/image" Target="../media/image27.png"/><Relationship Id="rId9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12" Type="http://schemas.openxmlformats.org/officeDocument/2006/relationships/image" Target="../media/image3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11" Type="http://schemas.openxmlformats.org/officeDocument/2006/relationships/image" Target="../media/image35.jpg"/><Relationship Id="rId5" Type="http://schemas.openxmlformats.org/officeDocument/2006/relationships/image" Target="../media/image5.png"/><Relationship Id="rId10" Type="http://schemas.openxmlformats.org/officeDocument/2006/relationships/image" Target="../media/image34.jpg"/><Relationship Id="rId4" Type="http://schemas.openxmlformats.org/officeDocument/2006/relationships/image" Target="../media/image4.png"/><Relationship Id="rId9" Type="http://schemas.openxmlformats.org/officeDocument/2006/relationships/image" Target="../media/image33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F4F5F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142617" y="207263"/>
            <a:ext cx="1078865" cy="178435"/>
            <a:chOff x="2142617" y="207263"/>
            <a:chExt cx="1078865" cy="1784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2998" y="207263"/>
              <a:ext cx="1078102" cy="17830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42617" y="368807"/>
              <a:ext cx="995680" cy="3175"/>
            </a:xfrm>
            <a:custGeom>
              <a:avLst/>
              <a:gdLst/>
              <a:ahLst/>
              <a:cxnLst/>
              <a:rect l="l" t="t" r="r" b="b"/>
              <a:pathLst>
                <a:path w="995680" h="3175">
                  <a:moveTo>
                    <a:pt x="995171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995171" y="3047"/>
                  </a:lnTo>
                  <a:lnTo>
                    <a:pt x="995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43021" y="193878"/>
            <a:ext cx="834961" cy="1786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8282" y="207263"/>
            <a:ext cx="1142491" cy="17830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46725" y="197230"/>
            <a:ext cx="1519174" cy="17830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85914" y="197230"/>
            <a:ext cx="2014854" cy="1783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36658" y="197230"/>
            <a:ext cx="982891" cy="17830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0" y="726948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57471" y="2667000"/>
            <a:ext cx="861060" cy="86106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91073" y="2900172"/>
            <a:ext cx="3276219" cy="55930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555223" y="5586983"/>
            <a:ext cx="1166634" cy="126873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rcRect r="22982" b="-10779"/>
          <a:stretch>
            <a:fillRect/>
          </a:stretch>
        </p:blipFill>
        <p:spPr>
          <a:xfrm>
            <a:off x="5907752" y="3651504"/>
            <a:ext cx="2042860" cy="28194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717DE28-B07C-902F-4F68-75DF99FF8CC4}"/>
              </a:ext>
            </a:extLst>
          </p:cNvPr>
          <p:cNvSpPr txBox="1"/>
          <p:nvPr/>
        </p:nvSpPr>
        <p:spPr>
          <a:xfrm>
            <a:off x="10439400" y="6139584"/>
            <a:ext cx="190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Mayank Kumar</a:t>
            </a:r>
            <a:endParaRPr lang="en-IN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2301" y="192023"/>
            <a:ext cx="1013713" cy="17830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304032" y="207263"/>
            <a:ext cx="876935" cy="178435"/>
            <a:chOff x="3304032" y="207263"/>
            <a:chExt cx="876935" cy="17843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04667" y="207263"/>
              <a:ext cx="876109" cy="17830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04032" y="368807"/>
              <a:ext cx="779145" cy="3175"/>
            </a:xfrm>
            <a:custGeom>
              <a:avLst/>
              <a:gdLst/>
              <a:ahLst/>
              <a:cxnLst/>
              <a:rect l="l" t="t" r="r" b="b"/>
              <a:pathLst>
                <a:path w="779145" h="3175">
                  <a:moveTo>
                    <a:pt x="778763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778763" y="3047"/>
                  </a:lnTo>
                  <a:lnTo>
                    <a:pt x="7787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8282" y="207263"/>
            <a:ext cx="1142491" cy="17830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46725" y="197485"/>
            <a:ext cx="1519174" cy="1783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85914" y="197230"/>
            <a:ext cx="2014854" cy="17830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36658" y="197230"/>
            <a:ext cx="982891" cy="17830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9144"/>
            <a:ext cx="12192000" cy="861060"/>
            <a:chOff x="0" y="9144"/>
            <a:chExt cx="12192000" cy="861060"/>
          </a:xfrm>
        </p:grpSpPr>
        <p:sp>
          <p:nvSpPr>
            <p:cNvPr id="11" name="object 11"/>
            <p:cNvSpPr/>
            <p:nvPr/>
          </p:nvSpPr>
          <p:spPr>
            <a:xfrm>
              <a:off x="0" y="847344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3191" y="9144"/>
              <a:ext cx="861059" cy="861059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3191" y="1708404"/>
            <a:ext cx="2508504" cy="316382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02614" y="1055878"/>
            <a:ext cx="10530205" cy="10426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Zomato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Indian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multinational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restaurant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aggregator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food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delivery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company.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founded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back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2008. </a:t>
            </a:r>
            <a:r>
              <a:rPr sz="1800" dirty="0">
                <a:latin typeface="Calibri"/>
                <a:cs typeface="Calibri"/>
              </a:rPr>
              <a:t>Currently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headquartered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Gurgaon,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Haryana,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spread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24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different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countries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10k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cities.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(2019)</a:t>
            </a:r>
            <a:endParaRPr sz="1800">
              <a:latin typeface="Calibri"/>
              <a:cs typeface="Calibri"/>
            </a:endParaRPr>
          </a:p>
          <a:p>
            <a:pPr marL="2090420">
              <a:lnSpc>
                <a:spcPct val="100000"/>
              </a:lnSpc>
              <a:spcBef>
                <a:spcPts val="1525"/>
              </a:spcBef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really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since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2008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introducing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interesting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products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that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80689" y="2072766"/>
            <a:ext cx="4519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always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helps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bring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delight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user’s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mouth.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6324" y="5207508"/>
            <a:ext cx="4206240" cy="160781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84454" y="4856479"/>
            <a:ext cx="2612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DF3546"/>
                </a:solidFill>
                <a:latin typeface="Calibri"/>
                <a:cs typeface="Calibri"/>
              </a:rPr>
              <a:t>Zomato’s</a:t>
            </a:r>
            <a:r>
              <a:rPr sz="1800" spc="-65" dirty="0">
                <a:solidFill>
                  <a:srgbClr val="DF3546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DF3546"/>
                </a:solidFill>
                <a:latin typeface="Calibri"/>
                <a:cs typeface="Calibri"/>
              </a:rPr>
              <a:t>Value</a:t>
            </a:r>
            <a:r>
              <a:rPr sz="1800" spc="-40" dirty="0">
                <a:solidFill>
                  <a:srgbClr val="DF3546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DF3546"/>
                </a:solidFill>
                <a:latin typeface="Calibri"/>
                <a:cs typeface="Calibri"/>
              </a:rPr>
              <a:t>Proposition: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14993" y="2219325"/>
            <a:ext cx="1546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DF3546"/>
                </a:solidFill>
                <a:latin typeface="Calibri"/>
                <a:cs typeface="Calibri"/>
              </a:rPr>
              <a:t>Market</a:t>
            </a:r>
            <a:r>
              <a:rPr sz="1800" spc="-85" dirty="0">
                <a:solidFill>
                  <a:srgbClr val="DF3546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DF3546"/>
                </a:solidFill>
                <a:latin typeface="Calibri"/>
                <a:cs typeface="Calibri"/>
              </a:rPr>
              <a:t>Capture: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634983" y="2570988"/>
            <a:ext cx="3110483" cy="194462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374638" y="4705857"/>
            <a:ext cx="1233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DF3546"/>
                </a:solidFill>
                <a:latin typeface="Calibri"/>
                <a:cs typeface="Calibri"/>
              </a:rPr>
              <a:t>Competitors: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295644" y="5033771"/>
            <a:ext cx="896111" cy="89611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546847" y="5033771"/>
            <a:ext cx="896111" cy="89763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118859" y="6199632"/>
            <a:ext cx="1249680" cy="39624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546847" y="6172200"/>
            <a:ext cx="957072" cy="53644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195315" y="5033771"/>
            <a:ext cx="958596" cy="675131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791700" y="4639054"/>
            <a:ext cx="1464563" cy="214122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2982214" y="2592704"/>
            <a:ext cx="5279390" cy="1769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Starting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international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expansion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back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2012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into </a:t>
            </a:r>
            <a:r>
              <a:rPr sz="1800" dirty="0">
                <a:latin typeface="Calibri"/>
                <a:cs typeface="Calibri"/>
              </a:rPr>
              <a:t>several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countries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including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UAE,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UK,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Philippines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South </a:t>
            </a:r>
            <a:r>
              <a:rPr sz="1800" dirty="0">
                <a:latin typeface="Calibri"/>
                <a:cs typeface="Calibri"/>
              </a:rPr>
              <a:t>Africa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etc.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2015,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acquired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Urbanspoon,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making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its </a:t>
            </a:r>
            <a:r>
              <a:rPr sz="1800" dirty="0">
                <a:latin typeface="Calibri"/>
                <a:cs typeface="Calibri"/>
              </a:rPr>
              <a:t>entry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Australia.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800">
              <a:latin typeface="Calibri"/>
              <a:cs typeface="Calibri"/>
            </a:endParaRPr>
          </a:p>
          <a:p>
            <a:pPr marR="386080" algn="ctr">
              <a:lnSpc>
                <a:spcPct val="100000"/>
              </a:lnSpc>
            </a:pPr>
            <a:r>
              <a:rPr sz="1800" dirty="0">
                <a:solidFill>
                  <a:srgbClr val="DF3546"/>
                </a:solidFill>
                <a:latin typeface="Calibri"/>
                <a:cs typeface="Calibri"/>
              </a:rPr>
              <a:t>Mission:</a:t>
            </a:r>
            <a:r>
              <a:rPr sz="1800" spc="-55" dirty="0">
                <a:solidFill>
                  <a:srgbClr val="DF3546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“Better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food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people.”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55151" y="1999608"/>
            <a:ext cx="1364615" cy="96011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Behaviour</a:t>
            </a:r>
            <a:endParaRPr sz="1000">
              <a:latin typeface="Calibri"/>
              <a:cs typeface="Calibri"/>
            </a:endParaRPr>
          </a:p>
          <a:p>
            <a:pPr marL="70485" marR="5080">
              <a:lnSpc>
                <a:spcPct val="91800"/>
              </a:lnSpc>
              <a:spcBef>
                <a:spcPts val="434"/>
              </a:spcBef>
            </a:pP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notifications</a:t>
            </a:r>
            <a:r>
              <a:rPr sz="8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sent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behaviour.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Basically,</a:t>
            </a:r>
            <a:r>
              <a:rPr sz="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sent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keeping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mind</a:t>
            </a:r>
            <a:r>
              <a:rPr sz="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content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last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order,</a:t>
            </a:r>
            <a:r>
              <a:rPr sz="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etc.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Hence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it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specific.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899143" y="2742564"/>
            <a:ext cx="2367915" cy="2368550"/>
            <a:chOff x="8899143" y="2742564"/>
            <a:chExt cx="2367915" cy="2368550"/>
          </a:xfrm>
        </p:grpSpPr>
        <p:sp>
          <p:nvSpPr>
            <p:cNvPr id="4" name="object 4"/>
            <p:cNvSpPr/>
            <p:nvPr/>
          </p:nvSpPr>
          <p:spPr>
            <a:xfrm>
              <a:off x="8905493" y="2748914"/>
              <a:ext cx="2355215" cy="2355850"/>
            </a:xfrm>
            <a:custGeom>
              <a:avLst/>
              <a:gdLst/>
              <a:ahLst/>
              <a:cxnLst/>
              <a:rect l="l" t="t" r="r" b="b"/>
              <a:pathLst>
                <a:path w="2355215" h="2355850">
                  <a:moveTo>
                    <a:pt x="2039747" y="0"/>
                  </a:moveTo>
                  <a:lnTo>
                    <a:pt x="0" y="1177671"/>
                  </a:lnTo>
                  <a:lnTo>
                    <a:pt x="2039747" y="2355342"/>
                  </a:lnTo>
                  <a:lnTo>
                    <a:pt x="2064011" y="2312283"/>
                  </a:lnTo>
                  <a:lnTo>
                    <a:pt x="2087305" y="2268849"/>
                  </a:lnTo>
                  <a:lnTo>
                    <a:pt x="2109629" y="2225056"/>
                  </a:lnTo>
                  <a:lnTo>
                    <a:pt x="2130982" y="2180918"/>
                  </a:lnTo>
                  <a:lnTo>
                    <a:pt x="2151364" y="2136451"/>
                  </a:lnTo>
                  <a:lnTo>
                    <a:pt x="2170776" y="2091671"/>
                  </a:lnTo>
                  <a:lnTo>
                    <a:pt x="2189217" y="2046592"/>
                  </a:lnTo>
                  <a:lnTo>
                    <a:pt x="2206688" y="2001230"/>
                  </a:lnTo>
                  <a:lnTo>
                    <a:pt x="2223188" y="1955600"/>
                  </a:lnTo>
                  <a:lnTo>
                    <a:pt x="2238718" y="1909718"/>
                  </a:lnTo>
                  <a:lnTo>
                    <a:pt x="2253276" y="1863599"/>
                  </a:lnTo>
                  <a:lnTo>
                    <a:pt x="2266865" y="1817258"/>
                  </a:lnTo>
                  <a:lnTo>
                    <a:pt x="2279482" y="1770710"/>
                  </a:lnTo>
                  <a:lnTo>
                    <a:pt x="2291129" y="1723970"/>
                  </a:lnTo>
                  <a:lnTo>
                    <a:pt x="2301806" y="1677055"/>
                  </a:lnTo>
                  <a:lnTo>
                    <a:pt x="2311512" y="1629979"/>
                  </a:lnTo>
                  <a:lnTo>
                    <a:pt x="2320247" y="1582758"/>
                  </a:lnTo>
                  <a:lnTo>
                    <a:pt x="2328012" y="1535407"/>
                  </a:lnTo>
                  <a:lnTo>
                    <a:pt x="2334806" y="1487941"/>
                  </a:lnTo>
                  <a:lnTo>
                    <a:pt x="2340630" y="1440375"/>
                  </a:lnTo>
                  <a:lnTo>
                    <a:pt x="2345483" y="1392725"/>
                  </a:lnTo>
                  <a:lnTo>
                    <a:pt x="2349365" y="1345007"/>
                  </a:lnTo>
                  <a:lnTo>
                    <a:pt x="2352277" y="1297235"/>
                  </a:lnTo>
                  <a:lnTo>
                    <a:pt x="2354218" y="1249424"/>
                  </a:lnTo>
                  <a:lnTo>
                    <a:pt x="2355188" y="1201591"/>
                  </a:lnTo>
                  <a:lnTo>
                    <a:pt x="2355188" y="1153750"/>
                  </a:lnTo>
                  <a:lnTo>
                    <a:pt x="2354218" y="1105917"/>
                  </a:lnTo>
                  <a:lnTo>
                    <a:pt x="2352277" y="1058106"/>
                  </a:lnTo>
                  <a:lnTo>
                    <a:pt x="2349365" y="1010334"/>
                  </a:lnTo>
                  <a:lnTo>
                    <a:pt x="2345483" y="962616"/>
                  </a:lnTo>
                  <a:lnTo>
                    <a:pt x="2340630" y="914966"/>
                  </a:lnTo>
                  <a:lnTo>
                    <a:pt x="2334806" y="867400"/>
                  </a:lnTo>
                  <a:lnTo>
                    <a:pt x="2328012" y="819934"/>
                  </a:lnTo>
                  <a:lnTo>
                    <a:pt x="2320247" y="772583"/>
                  </a:lnTo>
                  <a:lnTo>
                    <a:pt x="2311512" y="725362"/>
                  </a:lnTo>
                  <a:lnTo>
                    <a:pt x="2301806" y="678286"/>
                  </a:lnTo>
                  <a:lnTo>
                    <a:pt x="2291129" y="631371"/>
                  </a:lnTo>
                  <a:lnTo>
                    <a:pt x="2279482" y="584631"/>
                  </a:lnTo>
                  <a:lnTo>
                    <a:pt x="2266865" y="538083"/>
                  </a:lnTo>
                  <a:lnTo>
                    <a:pt x="2253276" y="491742"/>
                  </a:lnTo>
                  <a:lnTo>
                    <a:pt x="2238718" y="445623"/>
                  </a:lnTo>
                  <a:lnTo>
                    <a:pt x="2223188" y="399741"/>
                  </a:lnTo>
                  <a:lnTo>
                    <a:pt x="2206688" y="354111"/>
                  </a:lnTo>
                  <a:lnTo>
                    <a:pt x="2189217" y="308749"/>
                  </a:lnTo>
                  <a:lnTo>
                    <a:pt x="2170776" y="263670"/>
                  </a:lnTo>
                  <a:lnTo>
                    <a:pt x="2151364" y="218890"/>
                  </a:lnTo>
                  <a:lnTo>
                    <a:pt x="2130982" y="174423"/>
                  </a:lnTo>
                  <a:lnTo>
                    <a:pt x="2109629" y="130285"/>
                  </a:lnTo>
                  <a:lnTo>
                    <a:pt x="2087305" y="86492"/>
                  </a:lnTo>
                  <a:lnTo>
                    <a:pt x="2064011" y="43058"/>
                  </a:lnTo>
                  <a:lnTo>
                    <a:pt x="2039747" y="0"/>
                  </a:lnTo>
                  <a:close/>
                </a:path>
              </a:pathLst>
            </a:custGeom>
            <a:solidFill>
              <a:srgbClr val="EF4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905493" y="2748914"/>
              <a:ext cx="2355215" cy="2355850"/>
            </a:xfrm>
            <a:custGeom>
              <a:avLst/>
              <a:gdLst/>
              <a:ahLst/>
              <a:cxnLst/>
              <a:rect l="l" t="t" r="r" b="b"/>
              <a:pathLst>
                <a:path w="2355215" h="2355850">
                  <a:moveTo>
                    <a:pt x="2039747" y="0"/>
                  </a:moveTo>
                  <a:lnTo>
                    <a:pt x="2064011" y="43058"/>
                  </a:lnTo>
                  <a:lnTo>
                    <a:pt x="2087305" y="86492"/>
                  </a:lnTo>
                  <a:lnTo>
                    <a:pt x="2109629" y="130285"/>
                  </a:lnTo>
                  <a:lnTo>
                    <a:pt x="2130982" y="174423"/>
                  </a:lnTo>
                  <a:lnTo>
                    <a:pt x="2151364" y="218890"/>
                  </a:lnTo>
                  <a:lnTo>
                    <a:pt x="2170776" y="263670"/>
                  </a:lnTo>
                  <a:lnTo>
                    <a:pt x="2189217" y="308749"/>
                  </a:lnTo>
                  <a:lnTo>
                    <a:pt x="2206688" y="354111"/>
                  </a:lnTo>
                  <a:lnTo>
                    <a:pt x="2223188" y="399741"/>
                  </a:lnTo>
                  <a:lnTo>
                    <a:pt x="2238718" y="445623"/>
                  </a:lnTo>
                  <a:lnTo>
                    <a:pt x="2253276" y="491742"/>
                  </a:lnTo>
                  <a:lnTo>
                    <a:pt x="2266865" y="538083"/>
                  </a:lnTo>
                  <a:lnTo>
                    <a:pt x="2279482" y="584631"/>
                  </a:lnTo>
                  <a:lnTo>
                    <a:pt x="2291129" y="631371"/>
                  </a:lnTo>
                  <a:lnTo>
                    <a:pt x="2301806" y="678286"/>
                  </a:lnTo>
                  <a:lnTo>
                    <a:pt x="2311512" y="725362"/>
                  </a:lnTo>
                  <a:lnTo>
                    <a:pt x="2320247" y="772583"/>
                  </a:lnTo>
                  <a:lnTo>
                    <a:pt x="2328012" y="819934"/>
                  </a:lnTo>
                  <a:lnTo>
                    <a:pt x="2334806" y="867400"/>
                  </a:lnTo>
                  <a:lnTo>
                    <a:pt x="2340630" y="914966"/>
                  </a:lnTo>
                  <a:lnTo>
                    <a:pt x="2345483" y="962616"/>
                  </a:lnTo>
                  <a:lnTo>
                    <a:pt x="2349365" y="1010334"/>
                  </a:lnTo>
                  <a:lnTo>
                    <a:pt x="2352277" y="1058106"/>
                  </a:lnTo>
                  <a:lnTo>
                    <a:pt x="2354218" y="1105917"/>
                  </a:lnTo>
                  <a:lnTo>
                    <a:pt x="2355188" y="1153750"/>
                  </a:lnTo>
                  <a:lnTo>
                    <a:pt x="2355188" y="1201591"/>
                  </a:lnTo>
                  <a:lnTo>
                    <a:pt x="2354218" y="1249424"/>
                  </a:lnTo>
                  <a:lnTo>
                    <a:pt x="2352277" y="1297235"/>
                  </a:lnTo>
                  <a:lnTo>
                    <a:pt x="2349365" y="1345007"/>
                  </a:lnTo>
                  <a:lnTo>
                    <a:pt x="2345483" y="1392725"/>
                  </a:lnTo>
                  <a:lnTo>
                    <a:pt x="2340630" y="1440375"/>
                  </a:lnTo>
                  <a:lnTo>
                    <a:pt x="2334806" y="1487941"/>
                  </a:lnTo>
                  <a:lnTo>
                    <a:pt x="2328012" y="1535407"/>
                  </a:lnTo>
                  <a:lnTo>
                    <a:pt x="2320247" y="1582758"/>
                  </a:lnTo>
                  <a:lnTo>
                    <a:pt x="2311512" y="1629979"/>
                  </a:lnTo>
                  <a:lnTo>
                    <a:pt x="2301806" y="1677055"/>
                  </a:lnTo>
                  <a:lnTo>
                    <a:pt x="2291129" y="1723970"/>
                  </a:lnTo>
                  <a:lnTo>
                    <a:pt x="2279482" y="1770710"/>
                  </a:lnTo>
                  <a:lnTo>
                    <a:pt x="2266865" y="1817258"/>
                  </a:lnTo>
                  <a:lnTo>
                    <a:pt x="2253276" y="1863599"/>
                  </a:lnTo>
                  <a:lnTo>
                    <a:pt x="2238718" y="1909718"/>
                  </a:lnTo>
                  <a:lnTo>
                    <a:pt x="2223188" y="1955600"/>
                  </a:lnTo>
                  <a:lnTo>
                    <a:pt x="2206688" y="2001230"/>
                  </a:lnTo>
                  <a:lnTo>
                    <a:pt x="2189217" y="2046592"/>
                  </a:lnTo>
                  <a:lnTo>
                    <a:pt x="2170776" y="2091671"/>
                  </a:lnTo>
                  <a:lnTo>
                    <a:pt x="2151364" y="2136451"/>
                  </a:lnTo>
                  <a:lnTo>
                    <a:pt x="2130982" y="2180918"/>
                  </a:lnTo>
                  <a:lnTo>
                    <a:pt x="2109629" y="2225056"/>
                  </a:lnTo>
                  <a:lnTo>
                    <a:pt x="2087305" y="2268849"/>
                  </a:lnTo>
                  <a:lnTo>
                    <a:pt x="2064011" y="2312283"/>
                  </a:lnTo>
                  <a:lnTo>
                    <a:pt x="2039747" y="2355342"/>
                  </a:lnTo>
                  <a:lnTo>
                    <a:pt x="0" y="1177671"/>
                  </a:lnTo>
                  <a:lnTo>
                    <a:pt x="2039747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775317" y="3374510"/>
            <a:ext cx="1273175" cy="7353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Mealtime</a:t>
            </a:r>
            <a:endParaRPr sz="1000">
              <a:latin typeface="Calibri"/>
              <a:cs typeface="Calibri"/>
            </a:endParaRPr>
          </a:p>
          <a:p>
            <a:pPr marL="70485" marR="5080">
              <a:lnSpc>
                <a:spcPct val="91700"/>
              </a:lnSpc>
              <a:spcBef>
                <a:spcPts val="434"/>
              </a:spcBef>
            </a:pP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increase</a:t>
            </a:r>
            <a:r>
              <a:rPr sz="8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conversion</a:t>
            </a:r>
            <a:r>
              <a:rPr sz="8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rate,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Zomato</a:t>
            </a:r>
            <a:r>
              <a:rPr sz="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sends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lucrative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notifications</a:t>
            </a:r>
            <a:r>
              <a:rPr sz="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right</a:t>
            </a:r>
            <a:r>
              <a:rPr sz="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before 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local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sz="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mealtimes.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899143" y="3920235"/>
            <a:ext cx="2052955" cy="2368550"/>
            <a:chOff x="8899143" y="3920235"/>
            <a:chExt cx="2052955" cy="2368550"/>
          </a:xfrm>
        </p:grpSpPr>
        <p:sp>
          <p:nvSpPr>
            <p:cNvPr id="8" name="object 8"/>
            <p:cNvSpPr/>
            <p:nvPr/>
          </p:nvSpPr>
          <p:spPr>
            <a:xfrm>
              <a:off x="8905493" y="3926585"/>
              <a:ext cx="2040255" cy="2355850"/>
            </a:xfrm>
            <a:custGeom>
              <a:avLst/>
              <a:gdLst/>
              <a:ahLst/>
              <a:cxnLst/>
              <a:rect l="l" t="t" r="r" b="b"/>
              <a:pathLst>
                <a:path w="2040254" h="2355850">
                  <a:moveTo>
                    <a:pt x="0" y="0"/>
                  </a:moveTo>
                  <a:lnTo>
                    <a:pt x="0" y="2355341"/>
                  </a:lnTo>
                  <a:lnTo>
                    <a:pt x="49424" y="2354825"/>
                  </a:lnTo>
                  <a:lnTo>
                    <a:pt x="98687" y="2353281"/>
                  </a:lnTo>
                  <a:lnTo>
                    <a:pt x="147776" y="2350716"/>
                  </a:lnTo>
                  <a:lnTo>
                    <a:pt x="196678" y="2347139"/>
                  </a:lnTo>
                  <a:lnTo>
                    <a:pt x="245379" y="2342556"/>
                  </a:lnTo>
                  <a:lnTo>
                    <a:pt x="293866" y="2336977"/>
                  </a:lnTo>
                  <a:lnTo>
                    <a:pt x="342126" y="2330407"/>
                  </a:lnTo>
                  <a:lnTo>
                    <a:pt x="390146" y="2322856"/>
                  </a:lnTo>
                  <a:lnTo>
                    <a:pt x="437912" y="2314330"/>
                  </a:lnTo>
                  <a:lnTo>
                    <a:pt x="485411" y="2304838"/>
                  </a:lnTo>
                  <a:lnTo>
                    <a:pt x="532630" y="2294386"/>
                  </a:lnTo>
                  <a:lnTo>
                    <a:pt x="579556" y="2282983"/>
                  </a:lnTo>
                  <a:lnTo>
                    <a:pt x="626176" y="2270636"/>
                  </a:lnTo>
                  <a:lnTo>
                    <a:pt x="672476" y="2257353"/>
                  </a:lnTo>
                  <a:lnTo>
                    <a:pt x="718442" y="2243142"/>
                  </a:lnTo>
                  <a:lnTo>
                    <a:pt x="764063" y="2228010"/>
                  </a:lnTo>
                  <a:lnTo>
                    <a:pt x="809323" y="2211964"/>
                  </a:lnTo>
                  <a:lnTo>
                    <a:pt x="854212" y="2195013"/>
                  </a:lnTo>
                  <a:lnTo>
                    <a:pt x="898714" y="2177164"/>
                  </a:lnTo>
                  <a:lnTo>
                    <a:pt x="942817" y="2158425"/>
                  </a:lnTo>
                  <a:lnTo>
                    <a:pt x="986507" y="2138803"/>
                  </a:lnTo>
                  <a:lnTo>
                    <a:pt x="1029772" y="2118306"/>
                  </a:lnTo>
                  <a:lnTo>
                    <a:pt x="1072598" y="2096942"/>
                  </a:lnTo>
                  <a:lnTo>
                    <a:pt x="1114971" y="2074719"/>
                  </a:lnTo>
                  <a:lnTo>
                    <a:pt x="1156879" y="2051643"/>
                  </a:lnTo>
                  <a:lnTo>
                    <a:pt x="1198309" y="2027723"/>
                  </a:lnTo>
                  <a:lnTo>
                    <a:pt x="1239246" y="2002966"/>
                  </a:lnTo>
                  <a:lnTo>
                    <a:pt x="1279679" y="1977380"/>
                  </a:lnTo>
                  <a:lnTo>
                    <a:pt x="1319593" y="1950973"/>
                  </a:lnTo>
                  <a:lnTo>
                    <a:pt x="1358975" y="1923751"/>
                  </a:lnTo>
                  <a:lnTo>
                    <a:pt x="1397812" y="1895724"/>
                  </a:lnTo>
                  <a:lnTo>
                    <a:pt x="1436092" y="1866898"/>
                  </a:lnTo>
                  <a:lnTo>
                    <a:pt x="1473800" y="1837282"/>
                  </a:lnTo>
                  <a:lnTo>
                    <a:pt x="1510923" y="1806882"/>
                  </a:lnTo>
                  <a:lnTo>
                    <a:pt x="1547449" y="1775707"/>
                  </a:lnTo>
                  <a:lnTo>
                    <a:pt x="1583363" y="1743764"/>
                  </a:lnTo>
                  <a:lnTo>
                    <a:pt x="1618653" y="1711060"/>
                  </a:lnTo>
                  <a:lnTo>
                    <a:pt x="1653306" y="1677604"/>
                  </a:lnTo>
                  <a:lnTo>
                    <a:pt x="1687308" y="1643403"/>
                  </a:lnTo>
                  <a:lnTo>
                    <a:pt x="1720645" y="1608465"/>
                  </a:lnTo>
                  <a:lnTo>
                    <a:pt x="1753306" y="1572797"/>
                  </a:lnTo>
                  <a:lnTo>
                    <a:pt x="1785276" y="1536407"/>
                  </a:lnTo>
                  <a:lnTo>
                    <a:pt x="1816542" y="1499303"/>
                  </a:lnTo>
                  <a:lnTo>
                    <a:pt x="1847091" y="1461492"/>
                  </a:lnTo>
                  <a:lnTo>
                    <a:pt x="1876910" y="1422982"/>
                  </a:lnTo>
                  <a:lnTo>
                    <a:pt x="1905985" y="1383781"/>
                  </a:lnTo>
                  <a:lnTo>
                    <a:pt x="1934304" y="1343896"/>
                  </a:lnTo>
                  <a:lnTo>
                    <a:pt x="1961853" y="1303334"/>
                  </a:lnTo>
                  <a:lnTo>
                    <a:pt x="1988618" y="1262105"/>
                  </a:lnTo>
                  <a:lnTo>
                    <a:pt x="2014587" y="1220214"/>
                  </a:lnTo>
                  <a:lnTo>
                    <a:pt x="2039747" y="11776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4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05493" y="3926585"/>
              <a:ext cx="2040255" cy="2355850"/>
            </a:xfrm>
            <a:custGeom>
              <a:avLst/>
              <a:gdLst/>
              <a:ahLst/>
              <a:cxnLst/>
              <a:rect l="l" t="t" r="r" b="b"/>
              <a:pathLst>
                <a:path w="2040254" h="2355850">
                  <a:moveTo>
                    <a:pt x="2039747" y="1177670"/>
                  </a:moveTo>
                  <a:lnTo>
                    <a:pt x="2014587" y="1220214"/>
                  </a:lnTo>
                  <a:lnTo>
                    <a:pt x="1988618" y="1262105"/>
                  </a:lnTo>
                  <a:lnTo>
                    <a:pt x="1961853" y="1303334"/>
                  </a:lnTo>
                  <a:lnTo>
                    <a:pt x="1934304" y="1343896"/>
                  </a:lnTo>
                  <a:lnTo>
                    <a:pt x="1905985" y="1383781"/>
                  </a:lnTo>
                  <a:lnTo>
                    <a:pt x="1876910" y="1422982"/>
                  </a:lnTo>
                  <a:lnTo>
                    <a:pt x="1847091" y="1461492"/>
                  </a:lnTo>
                  <a:lnTo>
                    <a:pt x="1816542" y="1499303"/>
                  </a:lnTo>
                  <a:lnTo>
                    <a:pt x="1785276" y="1536407"/>
                  </a:lnTo>
                  <a:lnTo>
                    <a:pt x="1753306" y="1572797"/>
                  </a:lnTo>
                  <a:lnTo>
                    <a:pt x="1720645" y="1608465"/>
                  </a:lnTo>
                  <a:lnTo>
                    <a:pt x="1687308" y="1643403"/>
                  </a:lnTo>
                  <a:lnTo>
                    <a:pt x="1653306" y="1677604"/>
                  </a:lnTo>
                  <a:lnTo>
                    <a:pt x="1618653" y="1711060"/>
                  </a:lnTo>
                  <a:lnTo>
                    <a:pt x="1583363" y="1743764"/>
                  </a:lnTo>
                  <a:lnTo>
                    <a:pt x="1547449" y="1775707"/>
                  </a:lnTo>
                  <a:lnTo>
                    <a:pt x="1510923" y="1806882"/>
                  </a:lnTo>
                  <a:lnTo>
                    <a:pt x="1473800" y="1837282"/>
                  </a:lnTo>
                  <a:lnTo>
                    <a:pt x="1436092" y="1866898"/>
                  </a:lnTo>
                  <a:lnTo>
                    <a:pt x="1397812" y="1895724"/>
                  </a:lnTo>
                  <a:lnTo>
                    <a:pt x="1358975" y="1923751"/>
                  </a:lnTo>
                  <a:lnTo>
                    <a:pt x="1319593" y="1950973"/>
                  </a:lnTo>
                  <a:lnTo>
                    <a:pt x="1279679" y="1977380"/>
                  </a:lnTo>
                  <a:lnTo>
                    <a:pt x="1239246" y="2002966"/>
                  </a:lnTo>
                  <a:lnTo>
                    <a:pt x="1198309" y="2027723"/>
                  </a:lnTo>
                  <a:lnTo>
                    <a:pt x="1156879" y="2051643"/>
                  </a:lnTo>
                  <a:lnTo>
                    <a:pt x="1114971" y="2074719"/>
                  </a:lnTo>
                  <a:lnTo>
                    <a:pt x="1072598" y="2096942"/>
                  </a:lnTo>
                  <a:lnTo>
                    <a:pt x="1029772" y="2118306"/>
                  </a:lnTo>
                  <a:lnTo>
                    <a:pt x="986507" y="2138803"/>
                  </a:lnTo>
                  <a:lnTo>
                    <a:pt x="942817" y="2158425"/>
                  </a:lnTo>
                  <a:lnTo>
                    <a:pt x="898714" y="2177164"/>
                  </a:lnTo>
                  <a:lnTo>
                    <a:pt x="854212" y="2195013"/>
                  </a:lnTo>
                  <a:lnTo>
                    <a:pt x="809323" y="2211964"/>
                  </a:lnTo>
                  <a:lnTo>
                    <a:pt x="764063" y="2228010"/>
                  </a:lnTo>
                  <a:lnTo>
                    <a:pt x="718442" y="2243142"/>
                  </a:lnTo>
                  <a:lnTo>
                    <a:pt x="672476" y="2257353"/>
                  </a:lnTo>
                  <a:lnTo>
                    <a:pt x="626176" y="2270636"/>
                  </a:lnTo>
                  <a:lnTo>
                    <a:pt x="579556" y="2282983"/>
                  </a:lnTo>
                  <a:lnTo>
                    <a:pt x="532630" y="2294386"/>
                  </a:lnTo>
                  <a:lnTo>
                    <a:pt x="485411" y="2304838"/>
                  </a:lnTo>
                  <a:lnTo>
                    <a:pt x="437912" y="2314330"/>
                  </a:lnTo>
                  <a:lnTo>
                    <a:pt x="390146" y="2322856"/>
                  </a:lnTo>
                  <a:lnTo>
                    <a:pt x="342126" y="2330407"/>
                  </a:lnTo>
                  <a:lnTo>
                    <a:pt x="293866" y="2336977"/>
                  </a:lnTo>
                  <a:lnTo>
                    <a:pt x="245379" y="2342556"/>
                  </a:lnTo>
                  <a:lnTo>
                    <a:pt x="196678" y="2347139"/>
                  </a:lnTo>
                  <a:lnTo>
                    <a:pt x="147776" y="2350716"/>
                  </a:lnTo>
                  <a:lnTo>
                    <a:pt x="98687" y="2353281"/>
                  </a:lnTo>
                  <a:lnTo>
                    <a:pt x="49424" y="2354825"/>
                  </a:lnTo>
                  <a:lnTo>
                    <a:pt x="0" y="2355341"/>
                  </a:lnTo>
                  <a:lnTo>
                    <a:pt x="0" y="0"/>
                  </a:lnTo>
                  <a:lnTo>
                    <a:pt x="2039747" y="117767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956675" y="4692516"/>
            <a:ext cx="1360805" cy="84709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Items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0" dirty="0">
                <a:solidFill>
                  <a:srgbClr val="FFFFFF"/>
                </a:solidFill>
                <a:latin typeface="Calibri"/>
                <a:cs typeface="Calibri"/>
              </a:rPr>
              <a:t>Cart</a:t>
            </a:r>
            <a:endParaRPr sz="1000">
              <a:latin typeface="Calibri"/>
              <a:cs typeface="Calibri"/>
            </a:endParaRPr>
          </a:p>
          <a:p>
            <a:pPr marL="70485" marR="5080">
              <a:lnSpc>
                <a:spcPct val="91600"/>
              </a:lnSpc>
              <a:spcBef>
                <a:spcPts val="439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Notifications</a:t>
            </a:r>
            <a:r>
              <a:rPr sz="8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sent</a:t>
            </a:r>
            <a:r>
              <a:rPr sz="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added</a:t>
            </a:r>
            <a:r>
              <a:rPr sz="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items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his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cart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dropped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off.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Just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in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case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he</a:t>
            </a:r>
            <a:r>
              <a:rPr sz="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got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preoccupied</a:t>
            </a:r>
            <a:r>
              <a:rPr sz="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forgot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complete</a:t>
            </a:r>
            <a:r>
              <a:rPr sz="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his</a:t>
            </a:r>
            <a:r>
              <a:rPr sz="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order.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59396" y="3920235"/>
            <a:ext cx="2052955" cy="2368550"/>
            <a:chOff x="6859396" y="3920235"/>
            <a:chExt cx="2052955" cy="2368550"/>
          </a:xfrm>
        </p:grpSpPr>
        <p:sp>
          <p:nvSpPr>
            <p:cNvPr id="12" name="object 12"/>
            <p:cNvSpPr/>
            <p:nvPr/>
          </p:nvSpPr>
          <p:spPr>
            <a:xfrm>
              <a:off x="6865746" y="3926585"/>
              <a:ext cx="2040255" cy="2355850"/>
            </a:xfrm>
            <a:custGeom>
              <a:avLst/>
              <a:gdLst/>
              <a:ahLst/>
              <a:cxnLst/>
              <a:rect l="l" t="t" r="r" b="b"/>
              <a:pathLst>
                <a:path w="2040254" h="2355850">
                  <a:moveTo>
                    <a:pt x="2039747" y="0"/>
                  </a:moveTo>
                  <a:lnTo>
                    <a:pt x="0" y="1177670"/>
                  </a:lnTo>
                  <a:lnTo>
                    <a:pt x="25159" y="1220214"/>
                  </a:lnTo>
                  <a:lnTo>
                    <a:pt x="51128" y="1262105"/>
                  </a:lnTo>
                  <a:lnTo>
                    <a:pt x="77893" y="1303334"/>
                  </a:lnTo>
                  <a:lnTo>
                    <a:pt x="105442" y="1343896"/>
                  </a:lnTo>
                  <a:lnTo>
                    <a:pt x="133761" y="1383781"/>
                  </a:lnTo>
                  <a:lnTo>
                    <a:pt x="162836" y="1422982"/>
                  </a:lnTo>
                  <a:lnTo>
                    <a:pt x="192655" y="1461492"/>
                  </a:lnTo>
                  <a:lnTo>
                    <a:pt x="223204" y="1499303"/>
                  </a:lnTo>
                  <a:lnTo>
                    <a:pt x="254470" y="1536407"/>
                  </a:lnTo>
                  <a:lnTo>
                    <a:pt x="286440" y="1572797"/>
                  </a:lnTo>
                  <a:lnTo>
                    <a:pt x="319101" y="1608465"/>
                  </a:lnTo>
                  <a:lnTo>
                    <a:pt x="352438" y="1643403"/>
                  </a:lnTo>
                  <a:lnTo>
                    <a:pt x="386440" y="1677604"/>
                  </a:lnTo>
                  <a:lnTo>
                    <a:pt x="421093" y="1711060"/>
                  </a:lnTo>
                  <a:lnTo>
                    <a:pt x="456383" y="1743764"/>
                  </a:lnTo>
                  <a:lnTo>
                    <a:pt x="492297" y="1775707"/>
                  </a:lnTo>
                  <a:lnTo>
                    <a:pt x="528823" y="1806882"/>
                  </a:lnTo>
                  <a:lnTo>
                    <a:pt x="565946" y="1837282"/>
                  </a:lnTo>
                  <a:lnTo>
                    <a:pt x="603654" y="1866898"/>
                  </a:lnTo>
                  <a:lnTo>
                    <a:pt x="641934" y="1895724"/>
                  </a:lnTo>
                  <a:lnTo>
                    <a:pt x="680771" y="1923751"/>
                  </a:lnTo>
                  <a:lnTo>
                    <a:pt x="720153" y="1950973"/>
                  </a:lnTo>
                  <a:lnTo>
                    <a:pt x="760067" y="1977380"/>
                  </a:lnTo>
                  <a:lnTo>
                    <a:pt x="800500" y="2002966"/>
                  </a:lnTo>
                  <a:lnTo>
                    <a:pt x="841437" y="2027723"/>
                  </a:lnTo>
                  <a:lnTo>
                    <a:pt x="882867" y="2051643"/>
                  </a:lnTo>
                  <a:lnTo>
                    <a:pt x="924775" y="2074719"/>
                  </a:lnTo>
                  <a:lnTo>
                    <a:pt x="967148" y="2096942"/>
                  </a:lnTo>
                  <a:lnTo>
                    <a:pt x="1009974" y="2118306"/>
                  </a:lnTo>
                  <a:lnTo>
                    <a:pt x="1053239" y="2138803"/>
                  </a:lnTo>
                  <a:lnTo>
                    <a:pt x="1096929" y="2158425"/>
                  </a:lnTo>
                  <a:lnTo>
                    <a:pt x="1141032" y="2177164"/>
                  </a:lnTo>
                  <a:lnTo>
                    <a:pt x="1185534" y="2195013"/>
                  </a:lnTo>
                  <a:lnTo>
                    <a:pt x="1230423" y="2211964"/>
                  </a:lnTo>
                  <a:lnTo>
                    <a:pt x="1275683" y="2228010"/>
                  </a:lnTo>
                  <a:lnTo>
                    <a:pt x="1321304" y="2243142"/>
                  </a:lnTo>
                  <a:lnTo>
                    <a:pt x="1367270" y="2257353"/>
                  </a:lnTo>
                  <a:lnTo>
                    <a:pt x="1413570" y="2270636"/>
                  </a:lnTo>
                  <a:lnTo>
                    <a:pt x="1460190" y="2282983"/>
                  </a:lnTo>
                  <a:lnTo>
                    <a:pt x="1507116" y="2294386"/>
                  </a:lnTo>
                  <a:lnTo>
                    <a:pt x="1554335" y="2304838"/>
                  </a:lnTo>
                  <a:lnTo>
                    <a:pt x="1601834" y="2314330"/>
                  </a:lnTo>
                  <a:lnTo>
                    <a:pt x="1649600" y="2322856"/>
                  </a:lnTo>
                  <a:lnTo>
                    <a:pt x="1697620" y="2330407"/>
                  </a:lnTo>
                  <a:lnTo>
                    <a:pt x="1745880" y="2336977"/>
                  </a:lnTo>
                  <a:lnTo>
                    <a:pt x="1794367" y="2342556"/>
                  </a:lnTo>
                  <a:lnTo>
                    <a:pt x="1843068" y="2347139"/>
                  </a:lnTo>
                  <a:lnTo>
                    <a:pt x="1891970" y="2350716"/>
                  </a:lnTo>
                  <a:lnTo>
                    <a:pt x="1941059" y="2353281"/>
                  </a:lnTo>
                  <a:lnTo>
                    <a:pt x="1990322" y="2354825"/>
                  </a:lnTo>
                  <a:lnTo>
                    <a:pt x="2039747" y="2355341"/>
                  </a:lnTo>
                  <a:lnTo>
                    <a:pt x="2039747" y="0"/>
                  </a:lnTo>
                  <a:close/>
                </a:path>
              </a:pathLst>
            </a:custGeom>
            <a:solidFill>
              <a:srgbClr val="EF4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65746" y="3926585"/>
              <a:ext cx="2040255" cy="2355850"/>
            </a:xfrm>
            <a:custGeom>
              <a:avLst/>
              <a:gdLst/>
              <a:ahLst/>
              <a:cxnLst/>
              <a:rect l="l" t="t" r="r" b="b"/>
              <a:pathLst>
                <a:path w="2040254" h="2355850">
                  <a:moveTo>
                    <a:pt x="2039747" y="2355341"/>
                  </a:moveTo>
                  <a:lnTo>
                    <a:pt x="1990322" y="2354825"/>
                  </a:lnTo>
                  <a:lnTo>
                    <a:pt x="1941059" y="2353281"/>
                  </a:lnTo>
                  <a:lnTo>
                    <a:pt x="1891970" y="2350716"/>
                  </a:lnTo>
                  <a:lnTo>
                    <a:pt x="1843068" y="2347139"/>
                  </a:lnTo>
                  <a:lnTo>
                    <a:pt x="1794367" y="2342556"/>
                  </a:lnTo>
                  <a:lnTo>
                    <a:pt x="1745880" y="2336977"/>
                  </a:lnTo>
                  <a:lnTo>
                    <a:pt x="1697620" y="2330407"/>
                  </a:lnTo>
                  <a:lnTo>
                    <a:pt x="1649600" y="2322856"/>
                  </a:lnTo>
                  <a:lnTo>
                    <a:pt x="1601834" y="2314330"/>
                  </a:lnTo>
                  <a:lnTo>
                    <a:pt x="1554335" y="2304838"/>
                  </a:lnTo>
                  <a:lnTo>
                    <a:pt x="1507116" y="2294386"/>
                  </a:lnTo>
                  <a:lnTo>
                    <a:pt x="1460190" y="2282983"/>
                  </a:lnTo>
                  <a:lnTo>
                    <a:pt x="1413570" y="2270636"/>
                  </a:lnTo>
                  <a:lnTo>
                    <a:pt x="1367270" y="2257353"/>
                  </a:lnTo>
                  <a:lnTo>
                    <a:pt x="1321304" y="2243142"/>
                  </a:lnTo>
                  <a:lnTo>
                    <a:pt x="1275683" y="2228010"/>
                  </a:lnTo>
                  <a:lnTo>
                    <a:pt x="1230423" y="2211964"/>
                  </a:lnTo>
                  <a:lnTo>
                    <a:pt x="1185534" y="2195013"/>
                  </a:lnTo>
                  <a:lnTo>
                    <a:pt x="1141032" y="2177164"/>
                  </a:lnTo>
                  <a:lnTo>
                    <a:pt x="1096929" y="2158425"/>
                  </a:lnTo>
                  <a:lnTo>
                    <a:pt x="1053239" y="2138803"/>
                  </a:lnTo>
                  <a:lnTo>
                    <a:pt x="1009974" y="2118306"/>
                  </a:lnTo>
                  <a:lnTo>
                    <a:pt x="967148" y="2096942"/>
                  </a:lnTo>
                  <a:lnTo>
                    <a:pt x="924775" y="2074719"/>
                  </a:lnTo>
                  <a:lnTo>
                    <a:pt x="882867" y="2051643"/>
                  </a:lnTo>
                  <a:lnTo>
                    <a:pt x="841437" y="2027723"/>
                  </a:lnTo>
                  <a:lnTo>
                    <a:pt x="800500" y="2002966"/>
                  </a:lnTo>
                  <a:lnTo>
                    <a:pt x="760067" y="1977380"/>
                  </a:lnTo>
                  <a:lnTo>
                    <a:pt x="720153" y="1950973"/>
                  </a:lnTo>
                  <a:lnTo>
                    <a:pt x="680771" y="1923751"/>
                  </a:lnTo>
                  <a:lnTo>
                    <a:pt x="641934" y="1895724"/>
                  </a:lnTo>
                  <a:lnTo>
                    <a:pt x="603654" y="1866898"/>
                  </a:lnTo>
                  <a:lnTo>
                    <a:pt x="565946" y="1837282"/>
                  </a:lnTo>
                  <a:lnTo>
                    <a:pt x="528823" y="1806882"/>
                  </a:lnTo>
                  <a:lnTo>
                    <a:pt x="492297" y="1775707"/>
                  </a:lnTo>
                  <a:lnTo>
                    <a:pt x="456383" y="1743764"/>
                  </a:lnTo>
                  <a:lnTo>
                    <a:pt x="421093" y="1711060"/>
                  </a:lnTo>
                  <a:lnTo>
                    <a:pt x="386440" y="1677604"/>
                  </a:lnTo>
                  <a:lnTo>
                    <a:pt x="352438" y="1643403"/>
                  </a:lnTo>
                  <a:lnTo>
                    <a:pt x="319101" y="1608465"/>
                  </a:lnTo>
                  <a:lnTo>
                    <a:pt x="286440" y="1572797"/>
                  </a:lnTo>
                  <a:lnTo>
                    <a:pt x="254470" y="1536407"/>
                  </a:lnTo>
                  <a:lnTo>
                    <a:pt x="223204" y="1499303"/>
                  </a:lnTo>
                  <a:lnTo>
                    <a:pt x="192655" y="1461492"/>
                  </a:lnTo>
                  <a:lnTo>
                    <a:pt x="162836" y="1422982"/>
                  </a:lnTo>
                  <a:lnTo>
                    <a:pt x="133761" y="1383781"/>
                  </a:lnTo>
                  <a:lnTo>
                    <a:pt x="105442" y="1343896"/>
                  </a:lnTo>
                  <a:lnTo>
                    <a:pt x="77893" y="1303334"/>
                  </a:lnTo>
                  <a:lnTo>
                    <a:pt x="51128" y="1262105"/>
                  </a:lnTo>
                  <a:lnTo>
                    <a:pt x="25159" y="1220214"/>
                  </a:lnTo>
                  <a:lnTo>
                    <a:pt x="0" y="1177670"/>
                  </a:lnTo>
                  <a:lnTo>
                    <a:pt x="2039747" y="0"/>
                  </a:lnTo>
                  <a:lnTo>
                    <a:pt x="2039747" y="235534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481443" y="4692516"/>
            <a:ext cx="1348740" cy="95948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Occasions</a:t>
            </a:r>
            <a:endParaRPr sz="1000">
              <a:latin typeface="Calibri"/>
              <a:cs typeface="Calibri"/>
            </a:endParaRPr>
          </a:p>
          <a:p>
            <a:pPr marL="70485" marR="5080">
              <a:lnSpc>
                <a:spcPct val="91700"/>
              </a:lnSpc>
              <a:spcBef>
                <a:spcPts val="434"/>
              </a:spcBef>
            </a:pP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occasions</a:t>
            </a:r>
            <a:r>
              <a:rPr sz="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festivals,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Zomato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sends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wishes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right</a:t>
            </a:r>
            <a:r>
              <a:rPr sz="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timing,</a:t>
            </a:r>
            <a:r>
              <a:rPr sz="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tend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more,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sweets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guests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to meals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because 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they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feel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celebrating.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43954" y="2742564"/>
            <a:ext cx="2367915" cy="2368550"/>
            <a:chOff x="6543954" y="2742564"/>
            <a:chExt cx="2367915" cy="2368550"/>
          </a:xfrm>
        </p:grpSpPr>
        <p:sp>
          <p:nvSpPr>
            <p:cNvPr id="16" name="object 16"/>
            <p:cNvSpPr/>
            <p:nvPr/>
          </p:nvSpPr>
          <p:spPr>
            <a:xfrm>
              <a:off x="6550304" y="2748914"/>
              <a:ext cx="2355215" cy="2355850"/>
            </a:xfrm>
            <a:custGeom>
              <a:avLst/>
              <a:gdLst/>
              <a:ahLst/>
              <a:cxnLst/>
              <a:rect l="l" t="t" r="r" b="b"/>
              <a:pathLst>
                <a:path w="2355215" h="2355850">
                  <a:moveTo>
                    <a:pt x="315441" y="0"/>
                  </a:moveTo>
                  <a:lnTo>
                    <a:pt x="291177" y="43058"/>
                  </a:lnTo>
                  <a:lnTo>
                    <a:pt x="267882" y="86492"/>
                  </a:lnTo>
                  <a:lnTo>
                    <a:pt x="245559" y="130285"/>
                  </a:lnTo>
                  <a:lnTo>
                    <a:pt x="224206" y="174423"/>
                  </a:lnTo>
                  <a:lnTo>
                    <a:pt x="203824" y="218890"/>
                  </a:lnTo>
                  <a:lnTo>
                    <a:pt x="184412" y="263670"/>
                  </a:lnTo>
                  <a:lnTo>
                    <a:pt x="165970" y="308749"/>
                  </a:lnTo>
                  <a:lnTo>
                    <a:pt x="148500" y="354111"/>
                  </a:lnTo>
                  <a:lnTo>
                    <a:pt x="132000" y="399741"/>
                  </a:lnTo>
                  <a:lnTo>
                    <a:pt x="116470" y="445623"/>
                  </a:lnTo>
                  <a:lnTo>
                    <a:pt x="101912" y="491742"/>
                  </a:lnTo>
                  <a:lnTo>
                    <a:pt x="88323" y="538083"/>
                  </a:lnTo>
                  <a:lnTo>
                    <a:pt x="75706" y="584631"/>
                  </a:lnTo>
                  <a:lnTo>
                    <a:pt x="64058" y="631371"/>
                  </a:lnTo>
                  <a:lnTo>
                    <a:pt x="53382" y="678286"/>
                  </a:lnTo>
                  <a:lnTo>
                    <a:pt x="43676" y="725362"/>
                  </a:lnTo>
                  <a:lnTo>
                    <a:pt x="34941" y="772583"/>
                  </a:lnTo>
                  <a:lnTo>
                    <a:pt x="27176" y="819934"/>
                  </a:lnTo>
                  <a:lnTo>
                    <a:pt x="20382" y="867400"/>
                  </a:lnTo>
                  <a:lnTo>
                    <a:pt x="14558" y="914966"/>
                  </a:lnTo>
                  <a:lnTo>
                    <a:pt x="9705" y="962616"/>
                  </a:lnTo>
                  <a:lnTo>
                    <a:pt x="5823" y="1010334"/>
                  </a:lnTo>
                  <a:lnTo>
                    <a:pt x="2911" y="1058106"/>
                  </a:lnTo>
                  <a:lnTo>
                    <a:pt x="970" y="1105917"/>
                  </a:lnTo>
                  <a:lnTo>
                    <a:pt x="0" y="1153750"/>
                  </a:lnTo>
                  <a:lnTo>
                    <a:pt x="0" y="1201591"/>
                  </a:lnTo>
                  <a:lnTo>
                    <a:pt x="970" y="1249424"/>
                  </a:lnTo>
                  <a:lnTo>
                    <a:pt x="2911" y="1297235"/>
                  </a:lnTo>
                  <a:lnTo>
                    <a:pt x="5823" y="1345007"/>
                  </a:lnTo>
                  <a:lnTo>
                    <a:pt x="9705" y="1392725"/>
                  </a:lnTo>
                  <a:lnTo>
                    <a:pt x="14558" y="1440375"/>
                  </a:lnTo>
                  <a:lnTo>
                    <a:pt x="20382" y="1487941"/>
                  </a:lnTo>
                  <a:lnTo>
                    <a:pt x="27176" y="1535407"/>
                  </a:lnTo>
                  <a:lnTo>
                    <a:pt x="34941" y="1582758"/>
                  </a:lnTo>
                  <a:lnTo>
                    <a:pt x="43676" y="1629979"/>
                  </a:lnTo>
                  <a:lnTo>
                    <a:pt x="53382" y="1677055"/>
                  </a:lnTo>
                  <a:lnTo>
                    <a:pt x="64058" y="1723970"/>
                  </a:lnTo>
                  <a:lnTo>
                    <a:pt x="75706" y="1770710"/>
                  </a:lnTo>
                  <a:lnTo>
                    <a:pt x="88323" y="1817258"/>
                  </a:lnTo>
                  <a:lnTo>
                    <a:pt x="101912" y="1863599"/>
                  </a:lnTo>
                  <a:lnTo>
                    <a:pt x="116470" y="1909718"/>
                  </a:lnTo>
                  <a:lnTo>
                    <a:pt x="132000" y="1955600"/>
                  </a:lnTo>
                  <a:lnTo>
                    <a:pt x="148500" y="2001230"/>
                  </a:lnTo>
                  <a:lnTo>
                    <a:pt x="165970" y="2046592"/>
                  </a:lnTo>
                  <a:lnTo>
                    <a:pt x="184412" y="2091671"/>
                  </a:lnTo>
                  <a:lnTo>
                    <a:pt x="203824" y="2136451"/>
                  </a:lnTo>
                  <a:lnTo>
                    <a:pt x="224206" y="2180918"/>
                  </a:lnTo>
                  <a:lnTo>
                    <a:pt x="245559" y="2225056"/>
                  </a:lnTo>
                  <a:lnTo>
                    <a:pt x="267882" y="2268849"/>
                  </a:lnTo>
                  <a:lnTo>
                    <a:pt x="291177" y="2312283"/>
                  </a:lnTo>
                  <a:lnTo>
                    <a:pt x="315441" y="2355342"/>
                  </a:lnTo>
                  <a:lnTo>
                    <a:pt x="2355188" y="1177671"/>
                  </a:lnTo>
                  <a:lnTo>
                    <a:pt x="315441" y="0"/>
                  </a:lnTo>
                  <a:close/>
                </a:path>
              </a:pathLst>
            </a:custGeom>
            <a:solidFill>
              <a:srgbClr val="EF4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50304" y="2748914"/>
              <a:ext cx="2355215" cy="2355850"/>
            </a:xfrm>
            <a:custGeom>
              <a:avLst/>
              <a:gdLst/>
              <a:ahLst/>
              <a:cxnLst/>
              <a:rect l="l" t="t" r="r" b="b"/>
              <a:pathLst>
                <a:path w="2355215" h="2355850">
                  <a:moveTo>
                    <a:pt x="315441" y="2355342"/>
                  </a:moveTo>
                  <a:lnTo>
                    <a:pt x="291177" y="2312283"/>
                  </a:lnTo>
                  <a:lnTo>
                    <a:pt x="267882" y="2268849"/>
                  </a:lnTo>
                  <a:lnTo>
                    <a:pt x="245559" y="2225056"/>
                  </a:lnTo>
                  <a:lnTo>
                    <a:pt x="224206" y="2180918"/>
                  </a:lnTo>
                  <a:lnTo>
                    <a:pt x="203824" y="2136451"/>
                  </a:lnTo>
                  <a:lnTo>
                    <a:pt x="184412" y="2091671"/>
                  </a:lnTo>
                  <a:lnTo>
                    <a:pt x="165970" y="2046592"/>
                  </a:lnTo>
                  <a:lnTo>
                    <a:pt x="148500" y="2001230"/>
                  </a:lnTo>
                  <a:lnTo>
                    <a:pt x="132000" y="1955600"/>
                  </a:lnTo>
                  <a:lnTo>
                    <a:pt x="116470" y="1909718"/>
                  </a:lnTo>
                  <a:lnTo>
                    <a:pt x="101912" y="1863599"/>
                  </a:lnTo>
                  <a:lnTo>
                    <a:pt x="88323" y="1817258"/>
                  </a:lnTo>
                  <a:lnTo>
                    <a:pt x="75706" y="1770710"/>
                  </a:lnTo>
                  <a:lnTo>
                    <a:pt x="64058" y="1723970"/>
                  </a:lnTo>
                  <a:lnTo>
                    <a:pt x="53382" y="1677055"/>
                  </a:lnTo>
                  <a:lnTo>
                    <a:pt x="43676" y="1629979"/>
                  </a:lnTo>
                  <a:lnTo>
                    <a:pt x="34941" y="1582758"/>
                  </a:lnTo>
                  <a:lnTo>
                    <a:pt x="27176" y="1535407"/>
                  </a:lnTo>
                  <a:lnTo>
                    <a:pt x="20382" y="1487941"/>
                  </a:lnTo>
                  <a:lnTo>
                    <a:pt x="14558" y="1440375"/>
                  </a:lnTo>
                  <a:lnTo>
                    <a:pt x="9705" y="1392725"/>
                  </a:lnTo>
                  <a:lnTo>
                    <a:pt x="5823" y="1345007"/>
                  </a:lnTo>
                  <a:lnTo>
                    <a:pt x="2911" y="1297235"/>
                  </a:lnTo>
                  <a:lnTo>
                    <a:pt x="970" y="1249424"/>
                  </a:lnTo>
                  <a:lnTo>
                    <a:pt x="0" y="1201591"/>
                  </a:lnTo>
                  <a:lnTo>
                    <a:pt x="0" y="1153750"/>
                  </a:lnTo>
                  <a:lnTo>
                    <a:pt x="970" y="1105917"/>
                  </a:lnTo>
                  <a:lnTo>
                    <a:pt x="2911" y="1058106"/>
                  </a:lnTo>
                  <a:lnTo>
                    <a:pt x="5823" y="1010334"/>
                  </a:lnTo>
                  <a:lnTo>
                    <a:pt x="9705" y="962616"/>
                  </a:lnTo>
                  <a:lnTo>
                    <a:pt x="14558" y="914966"/>
                  </a:lnTo>
                  <a:lnTo>
                    <a:pt x="20382" y="867400"/>
                  </a:lnTo>
                  <a:lnTo>
                    <a:pt x="27176" y="819934"/>
                  </a:lnTo>
                  <a:lnTo>
                    <a:pt x="34941" y="772583"/>
                  </a:lnTo>
                  <a:lnTo>
                    <a:pt x="43676" y="725362"/>
                  </a:lnTo>
                  <a:lnTo>
                    <a:pt x="53382" y="678286"/>
                  </a:lnTo>
                  <a:lnTo>
                    <a:pt x="64058" y="631371"/>
                  </a:lnTo>
                  <a:lnTo>
                    <a:pt x="75706" y="584631"/>
                  </a:lnTo>
                  <a:lnTo>
                    <a:pt x="88323" y="538083"/>
                  </a:lnTo>
                  <a:lnTo>
                    <a:pt x="101912" y="491742"/>
                  </a:lnTo>
                  <a:lnTo>
                    <a:pt x="116470" y="445623"/>
                  </a:lnTo>
                  <a:lnTo>
                    <a:pt x="132000" y="399741"/>
                  </a:lnTo>
                  <a:lnTo>
                    <a:pt x="148500" y="354111"/>
                  </a:lnTo>
                  <a:lnTo>
                    <a:pt x="165970" y="308749"/>
                  </a:lnTo>
                  <a:lnTo>
                    <a:pt x="184412" y="263670"/>
                  </a:lnTo>
                  <a:lnTo>
                    <a:pt x="203824" y="218890"/>
                  </a:lnTo>
                  <a:lnTo>
                    <a:pt x="224206" y="174423"/>
                  </a:lnTo>
                  <a:lnTo>
                    <a:pt x="245559" y="130285"/>
                  </a:lnTo>
                  <a:lnTo>
                    <a:pt x="267882" y="86492"/>
                  </a:lnTo>
                  <a:lnTo>
                    <a:pt x="291177" y="43058"/>
                  </a:lnTo>
                  <a:lnTo>
                    <a:pt x="315441" y="0"/>
                  </a:lnTo>
                  <a:lnTo>
                    <a:pt x="2355188" y="1177671"/>
                  </a:lnTo>
                  <a:lnTo>
                    <a:pt x="315441" y="235534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623431" y="3374510"/>
            <a:ext cx="1405255" cy="84709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Offers</a:t>
            </a:r>
            <a:endParaRPr sz="1000">
              <a:latin typeface="Calibri"/>
              <a:cs typeface="Calibri"/>
            </a:endParaRPr>
          </a:p>
          <a:p>
            <a:pPr marL="70485" marR="5080">
              <a:lnSpc>
                <a:spcPct val="91600"/>
              </a:lnSpc>
              <a:spcBef>
                <a:spcPts val="439"/>
              </a:spcBef>
            </a:pP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Zomato</a:t>
            </a:r>
            <a:r>
              <a:rPr sz="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sends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notifications</a:t>
            </a:r>
            <a:r>
              <a:rPr sz="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relevant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offers. For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eg,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pattern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indicates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he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likes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coffee,</a:t>
            </a:r>
            <a:r>
              <a:rPr sz="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lets</a:t>
            </a:r>
            <a:r>
              <a:rPr sz="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send</a:t>
            </a:r>
            <a:r>
              <a:rPr sz="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him</a:t>
            </a:r>
            <a:r>
              <a:rPr sz="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coupon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sz="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around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snacks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time.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59396" y="1564894"/>
            <a:ext cx="2052955" cy="2368550"/>
            <a:chOff x="6859396" y="1564894"/>
            <a:chExt cx="2052955" cy="2368550"/>
          </a:xfrm>
        </p:grpSpPr>
        <p:sp>
          <p:nvSpPr>
            <p:cNvPr id="20" name="object 20"/>
            <p:cNvSpPr/>
            <p:nvPr/>
          </p:nvSpPr>
          <p:spPr>
            <a:xfrm>
              <a:off x="6865746" y="1571244"/>
              <a:ext cx="2040255" cy="2355850"/>
            </a:xfrm>
            <a:custGeom>
              <a:avLst/>
              <a:gdLst/>
              <a:ahLst/>
              <a:cxnLst/>
              <a:rect l="l" t="t" r="r" b="b"/>
              <a:pathLst>
                <a:path w="2040254" h="2355850">
                  <a:moveTo>
                    <a:pt x="2039747" y="0"/>
                  </a:moveTo>
                  <a:lnTo>
                    <a:pt x="1990322" y="516"/>
                  </a:lnTo>
                  <a:lnTo>
                    <a:pt x="1941059" y="2061"/>
                  </a:lnTo>
                  <a:lnTo>
                    <a:pt x="1891970" y="4625"/>
                  </a:lnTo>
                  <a:lnTo>
                    <a:pt x="1843068" y="8203"/>
                  </a:lnTo>
                  <a:lnTo>
                    <a:pt x="1794367" y="12785"/>
                  </a:lnTo>
                  <a:lnTo>
                    <a:pt x="1745880" y="18365"/>
                  </a:lnTo>
                  <a:lnTo>
                    <a:pt x="1697620" y="24935"/>
                  </a:lnTo>
                  <a:lnTo>
                    <a:pt x="1649600" y="32487"/>
                  </a:lnTo>
                  <a:lnTo>
                    <a:pt x="1601834" y="41013"/>
                  </a:lnTo>
                  <a:lnTo>
                    <a:pt x="1554335" y="50506"/>
                  </a:lnTo>
                  <a:lnTo>
                    <a:pt x="1507116" y="60958"/>
                  </a:lnTo>
                  <a:lnTo>
                    <a:pt x="1460190" y="72361"/>
                  </a:lnTo>
                  <a:lnTo>
                    <a:pt x="1413570" y="84708"/>
                  </a:lnTo>
                  <a:lnTo>
                    <a:pt x="1367270" y="97992"/>
                  </a:lnTo>
                  <a:lnTo>
                    <a:pt x="1321304" y="112204"/>
                  </a:lnTo>
                  <a:lnTo>
                    <a:pt x="1275683" y="127337"/>
                  </a:lnTo>
                  <a:lnTo>
                    <a:pt x="1230423" y="143383"/>
                  </a:lnTo>
                  <a:lnTo>
                    <a:pt x="1185534" y="160334"/>
                  </a:lnTo>
                  <a:lnTo>
                    <a:pt x="1141032" y="178183"/>
                  </a:lnTo>
                  <a:lnTo>
                    <a:pt x="1096929" y="196923"/>
                  </a:lnTo>
                  <a:lnTo>
                    <a:pt x="1053239" y="216545"/>
                  </a:lnTo>
                  <a:lnTo>
                    <a:pt x="1009974" y="237043"/>
                  </a:lnTo>
                  <a:lnTo>
                    <a:pt x="967148" y="258407"/>
                  </a:lnTo>
                  <a:lnTo>
                    <a:pt x="924775" y="280631"/>
                  </a:lnTo>
                  <a:lnTo>
                    <a:pt x="882867" y="303708"/>
                  </a:lnTo>
                  <a:lnTo>
                    <a:pt x="841437" y="327628"/>
                  </a:lnTo>
                  <a:lnTo>
                    <a:pt x="800500" y="352385"/>
                  </a:lnTo>
                  <a:lnTo>
                    <a:pt x="760067" y="377971"/>
                  </a:lnTo>
                  <a:lnTo>
                    <a:pt x="720153" y="404379"/>
                  </a:lnTo>
                  <a:lnTo>
                    <a:pt x="680771" y="431600"/>
                  </a:lnTo>
                  <a:lnTo>
                    <a:pt x="641934" y="459628"/>
                  </a:lnTo>
                  <a:lnTo>
                    <a:pt x="603654" y="488454"/>
                  </a:lnTo>
                  <a:lnTo>
                    <a:pt x="565946" y="518070"/>
                  </a:lnTo>
                  <a:lnTo>
                    <a:pt x="528823" y="548470"/>
                  </a:lnTo>
                  <a:lnTo>
                    <a:pt x="492297" y="579645"/>
                  </a:lnTo>
                  <a:lnTo>
                    <a:pt x="456383" y="611588"/>
                  </a:lnTo>
                  <a:lnTo>
                    <a:pt x="421093" y="644292"/>
                  </a:lnTo>
                  <a:lnTo>
                    <a:pt x="386440" y="677747"/>
                  </a:lnTo>
                  <a:lnTo>
                    <a:pt x="352438" y="711948"/>
                  </a:lnTo>
                  <a:lnTo>
                    <a:pt x="319101" y="746886"/>
                  </a:lnTo>
                  <a:lnTo>
                    <a:pt x="286440" y="782553"/>
                  </a:lnTo>
                  <a:lnTo>
                    <a:pt x="254470" y="818943"/>
                  </a:lnTo>
                  <a:lnTo>
                    <a:pt x="223204" y="856046"/>
                  </a:lnTo>
                  <a:lnTo>
                    <a:pt x="192655" y="893857"/>
                  </a:lnTo>
                  <a:lnTo>
                    <a:pt x="162836" y="932366"/>
                  </a:lnTo>
                  <a:lnTo>
                    <a:pt x="133761" y="971566"/>
                  </a:lnTo>
                  <a:lnTo>
                    <a:pt x="105442" y="1011450"/>
                  </a:lnTo>
                  <a:lnTo>
                    <a:pt x="77893" y="1052011"/>
                  </a:lnTo>
                  <a:lnTo>
                    <a:pt x="51128" y="1093239"/>
                  </a:lnTo>
                  <a:lnTo>
                    <a:pt x="25159" y="1135128"/>
                  </a:lnTo>
                  <a:lnTo>
                    <a:pt x="0" y="1177670"/>
                  </a:lnTo>
                  <a:lnTo>
                    <a:pt x="2039747" y="2355341"/>
                  </a:lnTo>
                  <a:lnTo>
                    <a:pt x="2039747" y="0"/>
                  </a:lnTo>
                  <a:close/>
                </a:path>
              </a:pathLst>
            </a:custGeom>
            <a:solidFill>
              <a:srgbClr val="EF4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65746" y="1571244"/>
              <a:ext cx="2040255" cy="2355850"/>
            </a:xfrm>
            <a:custGeom>
              <a:avLst/>
              <a:gdLst/>
              <a:ahLst/>
              <a:cxnLst/>
              <a:rect l="l" t="t" r="r" b="b"/>
              <a:pathLst>
                <a:path w="2040254" h="2355850">
                  <a:moveTo>
                    <a:pt x="0" y="1177670"/>
                  </a:moveTo>
                  <a:lnTo>
                    <a:pt x="25159" y="1135128"/>
                  </a:lnTo>
                  <a:lnTo>
                    <a:pt x="51128" y="1093239"/>
                  </a:lnTo>
                  <a:lnTo>
                    <a:pt x="77893" y="1052011"/>
                  </a:lnTo>
                  <a:lnTo>
                    <a:pt x="105442" y="1011450"/>
                  </a:lnTo>
                  <a:lnTo>
                    <a:pt x="133761" y="971566"/>
                  </a:lnTo>
                  <a:lnTo>
                    <a:pt x="162836" y="932366"/>
                  </a:lnTo>
                  <a:lnTo>
                    <a:pt x="192655" y="893857"/>
                  </a:lnTo>
                  <a:lnTo>
                    <a:pt x="223204" y="856046"/>
                  </a:lnTo>
                  <a:lnTo>
                    <a:pt x="254470" y="818943"/>
                  </a:lnTo>
                  <a:lnTo>
                    <a:pt x="286440" y="782553"/>
                  </a:lnTo>
                  <a:lnTo>
                    <a:pt x="319101" y="746886"/>
                  </a:lnTo>
                  <a:lnTo>
                    <a:pt x="352438" y="711948"/>
                  </a:lnTo>
                  <a:lnTo>
                    <a:pt x="386440" y="677747"/>
                  </a:lnTo>
                  <a:lnTo>
                    <a:pt x="421093" y="644292"/>
                  </a:lnTo>
                  <a:lnTo>
                    <a:pt x="456383" y="611588"/>
                  </a:lnTo>
                  <a:lnTo>
                    <a:pt x="492297" y="579645"/>
                  </a:lnTo>
                  <a:lnTo>
                    <a:pt x="528823" y="548470"/>
                  </a:lnTo>
                  <a:lnTo>
                    <a:pt x="565946" y="518070"/>
                  </a:lnTo>
                  <a:lnTo>
                    <a:pt x="603654" y="488454"/>
                  </a:lnTo>
                  <a:lnTo>
                    <a:pt x="641934" y="459628"/>
                  </a:lnTo>
                  <a:lnTo>
                    <a:pt x="680771" y="431600"/>
                  </a:lnTo>
                  <a:lnTo>
                    <a:pt x="720153" y="404379"/>
                  </a:lnTo>
                  <a:lnTo>
                    <a:pt x="760067" y="377971"/>
                  </a:lnTo>
                  <a:lnTo>
                    <a:pt x="800500" y="352385"/>
                  </a:lnTo>
                  <a:lnTo>
                    <a:pt x="841437" y="327628"/>
                  </a:lnTo>
                  <a:lnTo>
                    <a:pt x="882867" y="303708"/>
                  </a:lnTo>
                  <a:lnTo>
                    <a:pt x="924775" y="280631"/>
                  </a:lnTo>
                  <a:lnTo>
                    <a:pt x="967148" y="258407"/>
                  </a:lnTo>
                  <a:lnTo>
                    <a:pt x="1009974" y="237043"/>
                  </a:lnTo>
                  <a:lnTo>
                    <a:pt x="1053239" y="216545"/>
                  </a:lnTo>
                  <a:lnTo>
                    <a:pt x="1096929" y="196923"/>
                  </a:lnTo>
                  <a:lnTo>
                    <a:pt x="1141032" y="178183"/>
                  </a:lnTo>
                  <a:lnTo>
                    <a:pt x="1185534" y="160334"/>
                  </a:lnTo>
                  <a:lnTo>
                    <a:pt x="1230423" y="143383"/>
                  </a:lnTo>
                  <a:lnTo>
                    <a:pt x="1275683" y="127337"/>
                  </a:lnTo>
                  <a:lnTo>
                    <a:pt x="1321304" y="112204"/>
                  </a:lnTo>
                  <a:lnTo>
                    <a:pt x="1367270" y="97992"/>
                  </a:lnTo>
                  <a:lnTo>
                    <a:pt x="1413570" y="84708"/>
                  </a:lnTo>
                  <a:lnTo>
                    <a:pt x="1460190" y="72361"/>
                  </a:lnTo>
                  <a:lnTo>
                    <a:pt x="1507116" y="60958"/>
                  </a:lnTo>
                  <a:lnTo>
                    <a:pt x="1554335" y="50506"/>
                  </a:lnTo>
                  <a:lnTo>
                    <a:pt x="1601834" y="41013"/>
                  </a:lnTo>
                  <a:lnTo>
                    <a:pt x="1649600" y="32487"/>
                  </a:lnTo>
                  <a:lnTo>
                    <a:pt x="1697620" y="24935"/>
                  </a:lnTo>
                  <a:lnTo>
                    <a:pt x="1745880" y="18365"/>
                  </a:lnTo>
                  <a:lnTo>
                    <a:pt x="1794367" y="12785"/>
                  </a:lnTo>
                  <a:lnTo>
                    <a:pt x="1843068" y="8203"/>
                  </a:lnTo>
                  <a:lnTo>
                    <a:pt x="1891970" y="4625"/>
                  </a:lnTo>
                  <a:lnTo>
                    <a:pt x="1941059" y="2061"/>
                  </a:lnTo>
                  <a:lnTo>
                    <a:pt x="1990322" y="516"/>
                  </a:lnTo>
                  <a:lnTo>
                    <a:pt x="2039747" y="0"/>
                  </a:lnTo>
                  <a:lnTo>
                    <a:pt x="2039747" y="2355341"/>
                  </a:lnTo>
                  <a:lnTo>
                    <a:pt x="0" y="117767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481443" y="2000116"/>
            <a:ext cx="1217930" cy="7359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1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Tracking</a:t>
            </a:r>
            <a:endParaRPr sz="1000">
              <a:latin typeface="Calibri"/>
              <a:cs typeface="Calibri"/>
            </a:endParaRPr>
          </a:p>
          <a:p>
            <a:pPr marL="70485" marR="5080" indent="-58419">
              <a:lnSpc>
                <a:spcPct val="91800"/>
              </a:lnSpc>
              <a:spcBef>
                <a:spcPts val="434"/>
              </a:spcBef>
            </a:pP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Zomato</a:t>
            </a:r>
            <a:r>
              <a:rPr sz="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sends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notifications</a:t>
            </a:r>
            <a:r>
              <a:rPr sz="8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placed</a:t>
            </a:r>
            <a:r>
              <a:rPr sz="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order.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part</a:t>
            </a:r>
            <a:r>
              <a:rPr sz="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progress</a:t>
            </a:r>
            <a:r>
              <a:rPr sz="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update.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2301" y="192023"/>
            <a:ext cx="1013713" cy="17830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04666" y="207263"/>
            <a:ext cx="834961" cy="178307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4249039" y="192023"/>
            <a:ext cx="1204595" cy="178435"/>
            <a:chOff x="4249039" y="192023"/>
            <a:chExt cx="1204595" cy="178435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9547" y="192023"/>
              <a:ext cx="1203909" cy="17830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249039" y="353440"/>
              <a:ext cx="1111250" cy="3175"/>
            </a:xfrm>
            <a:custGeom>
              <a:avLst/>
              <a:gdLst/>
              <a:ahLst/>
              <a:cxnLst/>
              <a:rect l="l" t="t" r="r" b="b"/>
              <a:pathLst>
                <a:path w="1111250" h="3175">
                  <a:moveTo>
                    <a:pt x="1110996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1110996" y="3047"/>
                  </a:lnTo>
                  <a:lnTo>
                    <a:pt x="11109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46725" y="197485"/>
            <a:ext cx="1519174" cy="17830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85914" y="197230"/>
            <a:ext cx="2014854" cy="178308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36658" y="197230"/>
            <a:ext cx="982891" cy="178308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0" y="9144"/>
            <a:ext cx="12192000" cy="861060"/>
            <a:chOff x="0" y="9144"/>
            <a:chExt cx="12192000" cy="861060"/>
          </a:xfrm>
        </p:grpSpPr>
        <p:sp>
          <p:nvSpPr>
            <p:cNvPr id="32" name="object 32"/>
            <p:cNvSpPr/>
            <p:nvPr/>
          </p:nvSpPr>
          <p:spPr>
            <a:xfrm>
              <a:off x="0" y="847344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3191" y="9144"/>
              <a:ext cx="861059" cy="861059"/>
            </a:xfrm>
            <a:prstGeom prst="rect">
              <a:avLst/>
            </a:prstGeom>
          </p:spPr>
        </p:pic>
      </p:grpSp>
      <p:sp>
        <p:nvSpPr>
          <p:cNvPr id="34" name="object 34"/>
          <p:cNvSpPr/>
          <p:nvPr/>
        </p:nvSpPr>
        <p:spPr>
          <a:xfrm>
            <a:off x="400811" y="920496"/>
            <a:ext cx="5204460" cy="5771515"/>
          </a:xfrm>
          <a:custGeom>
            <a:avLst/>
            <a:gdLst/>
            <a:ahLst/>
            <a:cxnLst/>
            <a:rect l="l" t="t" r="r" b="b"/>
            <a:pathLst>
              <a:path w="5204460" h="5771515">
                <a:moveTo>
                  <a:pt x="4337050" y="0"/>
                </a:moveTo>
                <a:lnTo>
                  <a:pt x="867422" y="0"/>
                </a:lnTo>
                <a:lnTo>
                  <a:pt x="819830" y="1283"/>
                </a:lnTo>
                <a:lnTo>
                  <a:pt x="772908" y="5090"/>
                </a:lnTo>
                <a:lnTo>
                  <a:pt x="726724" y="11353"/>
                </a:lnTo>
                <a:lnTo>
                  <a:pt x="681342" y="20007"/>
                </a:lnTo>
                <a:lnTo>
                  <a:pt x="636830" y="30985"/>
                </a:lnTo>
                <a:lnTo>
                  <a:pt x="593252" y="44222"/>
                </a:lnTo>
                <a:lnTo>
                  <a:pt x="550677" y="59651"/>
                </a:lnTo>
                <a:lnTo>
                  <a:pt x="509169" y="77206"/>
                </a:lnTo>
                <a:lnTo>
                  <a:pt x="468795" y="96821"/>
                </a:lnTo>
                <a:lnTo>
                  <a:pt x="429621" y="118429"/>
                </a:lnTo>
                <a:lnTo>
                  <a:pt x="391713" y="141966"/>
                </a:lnTo>
                <a:lnTo>
                  <a:pt x="355137" y="167363"/>
                </a:lnTo>
                <a:lnTo>
                  <a:pt x="319960" y="194556"/>
                </a:lnTo>
                <a:lnTo>
                  <a:pt x="286247" y="223478"/>
                </a:lnTo>
                <a:lnTo>
                  <a:pt x="254065" y="254063"/>
                </a:lnTo>
                <a:lnTo>
                  <a:pt x="223479" y="286245"/>
                </a:lnTo>
                <a:lnTo>
                  <a:pt x="194557" y="319957"/>
                </a:lnTo>
                <a:lnTo>
                  <a:pt x="167364" y="355134"/>
                </a:lnTo>
                <a:lnTo>
                  <a:pt x="141966" y="391709"/>
                </a:lnTo>
                <a:lnTo>
                  <a:pt x="118430" y="429617"/>
                </a:lnTo>
                <a:lnTo>
                  <a:pt x="96821" y="468791"/>
                </a:lnTo>
                <a:lnTo>
                  <a:pt x="77206" y="509164"/>
                </a:lnTo>
                <a:lnTo>
                  <a:pt x="59651" y="550671"/>
                </a:lnTo>
                <a:lnTo>
                  <a:pt x="44222" y="593246"/>
                </a:lnTo>
                <a:lnTo>
                  <a:pt x="30985" y="636822"/>
                </a:lnTo>
                <a:lnTo>
                  <a:pt x="20007" y="681334"/>
                </a:lnTo>
                <a:lnTo>
                  <a:pt x="11353" y="726714"/>
                </a:lnTo>
                <a:lnTo>
                  <a:pt x="5090" y="772898"/>
                </a:lnTo>
                <a:lnTo>
                  <a:pt x="1283" y="819818"/>
                </a:lnTo>
                <a:lnTo>
                  <a:pt x="0" y="867409"/>
                </a:lnTo>
                <a:lnTo>
                  <a:pt x="0" y="4903965"/>
                </a:lnTo>
                <a:lnTo>
                  <a:pt x="1283" y="4951557"/>
                </a:lnTo>
                <a:lnTo>
                  <a:pt x="5090" y="4998479"/>
                </a:lnTo>
                <a:lnTo>
                  <a:pt x="11353" y="5044663"/>
                </a:lnTo>
                <a:lnTo>
                  <a:pt x="20007" y="5090045"/>
                </a:lnTo>
                <a:lnTo>
                  <a:pt x="30985" y="5134557"/>
                </a:lnTo>
                <a:lnTo>
                  <a:pt x="44222" y="5178135"/>
                </a:lnTo>
                <a:lnTo>
                  <a:pt x="59651" y="5220710"/>
                </a:lnTo>
                <a:lnTo>
                  <a:pt x="77206" y="5262218"/>
                </a:lnTo>
                <a:lnTo>
                  <a:pt x="96821" y="5302592"/>
                </a:lnTo>
                <a:lnTo>
                  <a:pt x="118430" y="5341766"/>
                </a:lnTo>
                <a:lnTo>
                  <a:pt x="141966" y="5379674"/>
                </a:lnTo>
                <a:lnTo>
                  <a:pt x="167364" y="5416250"/>
                </a:lnTo>
                <a:lnTo>
                  <a:pt x="194557" y="5451427"/>
                </a:lnTo>
                <a:lnTo>
                  <a:pt x="223479" y="5485140"/>
                </a:lnTo>
                <a:lnTo>
                  <a:pt x="254065" y="5517322"/>
                </a:lnTo>
                <a:lnTo>
                  <a:pt x="286247" y="5547908"/>
                </a:lnTo>
                <a:lnTo>
                  <a:pt x="319960" y="5576830"/>
                </a:lnTo>
                <a:lnTo>
                  <a:pt x="355137" y="5604023"/>
                </a:lnTo>
                <a:lnTo>
                  <a:pt x="391713" y="5629421"/>
                </a:lnTo>
                <a:lnTo>
                  <a:pt x="429621" y="5652957"/>
                </a:lnTo>
                <a:lnTo>
                  <a:pt x="468795" y="5674566"/>
                </a:lnTo>
                <a:lnTo>
                  <a:pt x="509169" y="5694181"/>
                </a:lnTo>
                <a:lnTo>
                  <a:pt x="550677" y="5711736"/>
                </a:lnTo>
                <a:lnTo>
                  <a:pt x="593252" y="5727165"/>
                </a:lnTo>
                <a:lnTo>
                  <a:pt x="636830" y="5740402"/>
                </a:lnTo>
                <a:lnTo>
                  <a:pt x="681342" y="5751380"/>
                </a:lnTo>
                <a:lnTo>
                  <a:pt x="726724" y="5760034"/>
                </a:lnTo>
                <a:lnTo>
                  <a:pt x="772908" y="5766297"/>
                </a:lnTo>
                <a:lnTo>
                  <a:pt x="819830" y="5770104"/>
                </a:lnTo>
                <a:lnTo>
                  <a:pt x="867422" y="5771388"/>
                </a:lnTo>
                <a:lnTo>
                  <a:pt x="4337050" y="5771388"/>
                </a:lnTo>
                <a:lnTo>
                  <a:pt x="4384641" y="5770104"/>
                </a:lnTo>
                <a:lnTo>
                  <a:pt x="4431561" y="5766297"/>
                </a:lnTo>
                <a:lnTo>
                  <a:pt x="4477745" y="5760034"/>
                </a:lnTo>
                <a:lnTo>
                  <a:pt x="4523125" y="5751380"/>
                </a:lnTo>
                <a:lnTo>
                  <a:pt x="4567637" y="5740402"/>
                </a:lnTo>
                <a:lnTo>
                  <a:pt x="4611213" y="5727165"/>
                </a:lnTo>
                <a:lnTo>
                  <a:pt x="4653788" y="5711736"/>
                </a:lnTo>
                <a:lnTo>
                  <a:pt x="4695295" y="5694181"/>
                </a:lnTo>
                <a:lnTo>
                  <a:pt x="4735668" y="5674566"/>
                </a:lnTo>
                <a:lnTo>
                  <a:pt x="4774842" y="5652957"/>
                </a:lnTo>
                <a:lnTo>
                  <a:pt x="4812750" y="5629421"/>
                </a:lnTo>
                <a:lnTo>
                  <a:pt x="4849325" y="5604023"/>
                </a:lnTo>
                <a:lnTo>
                  <a:pt x="4884502" y="5576830"/>
                </a:lnTo>
                <a:lnTo>
                  <a:pt x="4918214" y="5547908"/>
                </a:lnTo>
                <a:lnTo>
                  <a:pt x="4950396" y="5517322"/>
                </a:lnTo>
                <a:lnTo>
                  <a:pt x="4980981" y="5485140"/>
                </a:lnTo>
                <a:lnTo>
                  <a:pt x="5009903" y="5451427"/>
                </a:lnTo>
                <a:lnTo>
                  <a:pt x="5037096" y="5416250"/>
                </a:lnTo>
                <a:lnTo>
                  <a:pt x="5062493" y="5379674"/>
                </a:lnTo>
                <a:lnTo>
                  <a:pt x="5086030" y="5341766"/>
                </a:lnTo>
                <a:lnTo>
                  <a:pt x="5107638" y="5302592"/>
                </a:lnTo>
                <a:lnTo>
                  <a:pt x="5127253" y="5262218"/>
                </a:lnTo>
                <a:lnTo>
                  <a:pt x="5144808" y="5220710"/>
                </a:lnTo>
                <a:lnTo>
                  <a:pt x="5160237" y="5178135"/>
                </a:lnTo>
                <a:lnTo>
                  <a:pt x="5173474" y="5134557"/>
                </a:lnTo>
                <a:lnTo>
                  <a:pt x="5184452" y="5090045"/>
                </a:lnTo>
                <a:lnTo>
                  <a:pt x="5193106" y="5044663"/>
                </a:lnTo>
                <a:lnTo>
                  <a:pt x="5199369" y="4998479"/>
                </a:lnTo>
                <a:lnTo>
                  <a:pt x="5203176" y="4951557"/>
                </a:lnTo>
                <a:lnTo>
                  <a:pt x="5204460" y="4903965"/>
                </a:lnTo>
                <a:lnTo>
                  <a:pt x="5204460" y="867409"/>
                </a:lnTo>
                <a:lnTo>
                  <a:pt x="5203176" y="819818"/>
                </a:lnTo>
                <a:lnTo>
                  <a:pt x="5199369" y="772898"/>
                </a:lnTo>
                <a:lnTo>
                  <a:pt x="5193106" y="726714"/>
                </a:lnTo>
                <a:lnTo>
                  <a:pt x="5184452" y="681334"/>
                </a:lnTo>
                <a:lnTo>
                  <a:pt x="5173474" y="636822"/>
                </a:lnTo>
                <a:lnTo>
                  <a:pt x="5160237" y="593246"/>
                </a:lnTo>
                <a:lnTo>
                  <a:pt x="5144808" y="550671"/>
                </a:lnTo>
                <a:lnTo>
                  <a:pt x="5127253" y="509164"/>
                </a:lnTo>
                <a:lnTo>
                  <a:pt x="5107638" y="468791"/>
                </a:lnTo>
                <a:lnTo>
                  <a:pt x="5086030" y="429617"/>
                </a:lnTo>
                <a:lnTo>
                  <a:pt x="5062493" y="391709"/>
                </a:lnTo>
                <a:lnTo>
                  <a:pt x="5037096" y="355134"/>
                </a:lnTo>
                <a:lnTo>
                  <a:pt x="5009903" y="319957"/>
                </a:lnTo>
                <a:lnTo>
                  <a:pt x="4980981" y="286245"/>
                </a:lnTo>
                <a:lnTo>
                  <a:pt x="4950396" y="254063"/>
                </a:lnTo>
                <a:lnTo>
                  <a:pt x="4918214" y="223478"/>
                </a:lnTo>
                <a:lnTo>
                  <a:pt x="4884502" y="194556"/>
                </a:lnTo>
                <a:lnTo>
                  <a:pt x="4849325" y="167363"/>
                </a:lnTo>
                <a:lnTo>
                  <a:pt x="4812750" y="141966"/>
                </a:lnTo>
                <a:lnTo>
                  <a:pt x="4774842" y="118429"/>
                </a:lnTo>
                <a:lnTo>
                  <a:pt x="4735668" y="96821"/>
                </a:lnTo>
                <a:lnTo>
                  <a:pt x="4695295" y="77206"/>
                </a:lnTo>
                <a:lnTo>
                  <a:pt x="4653788" y="59651"/>
                </a:lnTo>
                <a:lnTo>
                  <a:pt x="4611213" y="44222"/>
                </a:lnTo>
                <a:lnTo>
                  <a:pt x="4567637" y="30985"/>
                </a:lnTo>
                <a:lnTo>
                  <a:pt x="4523125" y="20007"/>
                </a:lnTo>
                <a:lnTo>
                  <a:pt x="4477745" y="11353"/>
                </a:lnTo>
                <a:lnTo>
                  <a:pt x="4431561" y="5090"/>
                </a:lnTo>
                <a:lnTo>
                  <a:pt x="4384641" y="1283"/>
                </a:lnTo>
                <a:lnTo>
                  <a:pt x="4337050" y="0"/>
                </a:lnTo>
                <a:close/>
              </a:path>
            </a:pathLst>
          </a:custGeom>
          <a:solidFill>
            <a:srgbClr val="EF4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Rahul</a:t>
            </a:r>
          </a:p>
          <a:p>
            <a:pPr marL="12700" marR="5080">
              <a:lnSpc>
                <a:spcPct val="100000"/>
              </a:lnSpc>
            </a:pPr>
            <a:r>
              <a:rPr dirty="0"/>
              <a:t>24,</a:t>
            </a:r>
            <a:r>
              <a:rPr spc="-70" dirty="0"/>
              <a:t> </a:t>
            </a:r>
            <a:r>
              <a:rPr dirty="0"/>
              <a:t>Working</a:t>
            </a:r>
            <a:r>
              <a:rPr spc="-55" dirty="0"/>
              <a:t> </a:t>
            </a:r>
            <a:r>
              <a:rPr spc="-10" dirty="0"/>
              <a:t>Professional Gurgaon,</a:t>
            </a:r>
            <a:r>
              <a:rPr spc="-50" dirty="0"/>
              <a:t> </a:t>
            </a:r>
            <a:r>
              <a:rPr spc="-20" dirty="0"/>
              <a:t>India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699617" y="2362327"/>
            <a:ext cx="470852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Description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works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Scientist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tech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company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so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tech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savvy.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Being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busy,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cook.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Needs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orders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meals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almost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everyday.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Likes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maintain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his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physique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also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satisfies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occasional cravings.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Finds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physically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buying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takeouts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hassle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consuming.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99617" y="4491990"/>
            <a:ext cx="475805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Pain</a:t>
            </a:r>
            <a:r>
              <a:rPr sz="18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Points: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Delivery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Speed.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Also,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spends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deciding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eat.</a:t>
            </a:r>
            <a:endParaRPr sz="1800">
              <a:latin typeface="Calibri"/>
              <a:cs typeface="Calibri"/>
            </a:endParaRPr>
          </a:p>
          <a:p>
            <a:pPr marL="12700" marR="117475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Healthy,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warm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nutritious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food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day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readily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available,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unable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cook.</a:t>
            </a:r>
            <a:endParaRPr sz="1800">
              <a:latin typeface="Calibri"/>
              <a:cs typeface="Calibri"/>
            </a:endParaRPr>
          </a:p>
          <a:p>
            <a:pPr marL="12700" marR="2476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Needs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recommend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food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cuisines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places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satisfy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cravings.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8" name="object 3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4483" y="1083563"/>
            <a:ext cx="1336548" cy="1214627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162543" y="3642359"/>
            <a:ext cx="1455420" cy="4861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2301" y="192023"/>
            <a:ext cx="1013713" cy="17830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04666" y="207263"/>
            <a:ext cx="834961" cy="17830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49546" y="207263"/>
            <a:ext cx="1142822" cy="17830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512689" y="207263"/>
            <a:ext cx="1599565" cy="178435"/>
            <a:chOff x="5512689" y="207263"/>
            <a:chExt cx="1599565" cy="17843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3578" y="207263"/>
              <a:ext cx="1598168" cy="17830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512689" y="368807"/>
              <a:ext cx="1504315" cy="3175"/>
            </a:xfrm>
            <a:custGeom>
              <a:avLst/>
              <a:gdLst/>
              <a:ahLst/>
              <a:cxnLst/>
              <a:rect l="l" t="t" r="r" b="b"/>
              <a:pathLst>
                <a:path w="1504315" h="3175">
                  <a:moveTo>
                    <a:pt x="150418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1504188" y="3047"/>
                  </a:lnTo>
                  <a:lnTo>
                    <a:pt x="15041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34681" y="196595"/>
            <a:ext cx="2014854" cy="17830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90633" y="192023"/>
            <a:ext cx="982891" cy="17830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-3175" y="9144"/>
            <a:ext cx="12198350" cy="1781810"/>
            <a:chOff x="-3175" y="9144"/>
            <a:chExt cx="12198350" cy="1781810"/>
          </a:xfrm>
        </p:grpSpPr>
        <p:sp>
          <p:nvSpPr>
            <p:cNvPr id="11" name="object 11"/>
            <p:cNvSpPr/>
            <p:nvPr/>
          </p:nvSpPr>
          <p:spPr>
            <a:xfrm>
              <a:off x="0" y="847344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3191" y="9144"/>
              <a:ext cx="861059" cy="86105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775460" y="879347"/>
              <a:ext cx="2265045" cy="905510"/>
            </a:xfrm>
            <a:custGeom>
              <a:avLst/>
              <a:gdLst/>
              <a:ahLst/>
              <a:cxnLst/>
              <a:rect l="l" t="t" r="r" b="b"/>
              <a:pathLst>
                <a:path w="2265045" h="905510">
                  <a:moveTo>
                    <a:pt x="1812036" y="0"/>
                  </a:moveTo>
                  <a:lnTo>
                    <a:pt x="0" y="0"/>
                  </a:lnTo>
                  <a:lnTo>
                    <a:pt x="452627" y="452627"/>
                  </a:lnTo>
                  <a:lnTo>
                    <a:pt x="0" y="905255"/>
                  </a:lnTo>
                  <a:lnTo>
                    <a:pt x="1812036" y="905255"/>
                  </a:lnTo>
                  <a:lnTo>
                    <a:pt x="2264664" y="452627"/>
                  </a:lnTo>
                  <a:lnTo>
                    <a:pt x="1812036" y="0"/>
                  </a:lnTo>
                  <a:close/>
                </a:path>
              </a:pathLst>
            </a:custGeom>
            <a:solidFill>
              <a:srgbClr val="EF4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75460" y="879347"/>
              <a:ext cx="2265045" cy="905510"/>
            </a:xfrm>
            <a:custGeom>
              <a:avLst/>
              <a:gdLst/>
              <a:ahLst/>
              <a:cxnLst/>
              <a:rect l="l" t="t" r="r" b="b"/>
              <a:pathLst>
                <a:path w="2265045" h="905510">
                  <a:moveTo>
                    <a:pt x="0" y="0"/>
                  </a:moveTo>
                  <a:lnTo>
                    <a:pt x="1812036" y="0"/>
                  </a:lnTo>
                  <a:lnTo>
                    <a:pt x="2264664" y="452627"/>
                  </a:lnTo>
                  <a:lnTo>
                    <a:pt x="1812036" y="905255"/>
                  </a:lnTo>
                  <a:lnTo>
                    <a:pt x="0" y="905255"/>
                  </a:lnTo>
                  <a:lnTo>
                    <a:pt x="452627" y="45262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314701" y="996441"/>
            <a:ext cx="1240155" cy="6115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104775">
              <a:lnSpc>
                <a:spcPts val="2210"/>
              </a:lnSpc>
              <a:spcBef>
                <a:spcPts val="33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Order Notification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06697" y="872997"/>
            <a:ext cx="2277745" cy="918210"/>
            <a:chOff x="3806697" y="872997"/>
            <a:chExt cx="2277745" cy="918210"/>
          </a:xfrm>
        </p:grpSpPr>
        <p:sp>
          <p:nvSpPr>
            <p:cNvPr id="17" name="object 17"/>
            <p:cNvSpPr/>
            <p:nvPr/>
          </p:nvSpPr>
          <p:spPr>
            <a:xfrm>
              <a:off x="3813047" y="879347"/>
              <a:ext cx="2265045" cy="905510"/>
            </a:xfrm>
            <a:custGeom>
              <a:avLst/>
              <a:gdLst/>
              <a:ahLst/>
              <a:cxnLst/>
              <a:rect l="l" t="t" r="r" b="b"/>
              <a:pathLst>
                <a:path w="2265045" h="905510">
                  <a:moveTo>
                    <a:pt x="1812036" y="0"/>
                  </a:moveTo>
                  <a:lnTo>
                    <a:pt x="0" y="0"/>
                  </a:lnTo>
                  <a:lnTo>
                    <a:pt x="452627" y="452627"/>
                  </a:lnTo>
                  <a:lnTo>
                    <a:pt x="0" y="905255"/>
                  </a:lnTo>
                  <a:lnTo>
                    <a:pt x="1812036" y="905255"/>
                  </a:lnTo>
                  <a:lnTo>
                    <a:pt x="2264664" y="452627"/>
                  </a:lnTo>
                  <a:lnTo>
                    <a:pt x="1812036" y="0"/>
                  </a:lnTo>
                  <a:close/>
                </a:path>
              </a:pathLst>
            </a:custGeom>
            <a:solidFill>
              <a:srgbClr val="EF4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13047" y="879347"/>
              <a:ext cx="2265045" cy="905510"/>
            </a:xfrm>
            <a:custGeom>
              <a:avLst/>
              <a:gdLst/>
              <a:ahLst/>
              <a:cxnLst/>
              <a:rect l="l" t="t" r="r" b="b"/>
              <a:pathLst>
                <a:path w="2265045" h="905510">
                  <a:moveTo>
                    <a:pt x="0" y="0"/>
                  </a:moveTo>
                  <a:lnTo>
                    <a:pt x="1812036" y="0"/>
                  </a:lnTo>
                  <a:lnTo>
                    <a:pt x="2264664" y="452627"/>
                  </a:lnTo>
                  <a:lnTo>
                    <a:pt x="1812036" y="905255"/>
                  </a:lnTo>
                  <a:lnTo>
                    <a:pt x="0" y="905255"/>
                  </a:lnTo>
                  <a:lnTo>
                    <a:pt x="452627" y="45262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612894" y="1136141"/>
            <a:ext cx="7181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Search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844285" y="872997"/>
            <a:ext cx="2277745" cy="918210"/>
            <a:chOff x="5844285" y="872997"/>
            <a:chExt cx="2277745" cy="918210"/>
          </a:xfrm>
        </p:grpSpPr>
        <p:sp>
          <p:nvSpPr>
            <p:cNvPr id="21" name="object 21"/>
            <p:cNvSpPr/>
            <p:nvPr/>
          </p:nvSpPr>
          <p:spPr>
            <a:xfrm>
              <a:off x="5850635" y="879347"/>
              <a:ext cx="2265045" cy="905510"/>
            </a:xfrm>
            <a:custGeom>
              <a:avLst/>
              <a:gdLst/>
              <a:ahLst/>
              <a:cxnLst/>
              <a:rect l="l" t="t" r="r" b="b"/>
              <a:pathLst>
                <a:path w="2265045" h="905510">
                  <a:moveTo>
                    <a:pt x="1812036" y="0"/>
                  </a:moveTo>
                  <a:lnTo>
                    <a:pt x="0" y="0"/>
                  </a:lnTo>
                  <a:lnTo>
                    <a:pt x="452627" y="452627"/>
                  </a:lnTo>
                  <a:lnTo>
                    <a:pt x="0" y="905255"/>
                  </a:lnTo>
                  <a:lnTo>
                    <a:pt x="1812036" y="905255"/>
                  </a:lnTo>
                  <a:lnTo>
                    <a:pt x="2264664" y="452627"/>
                  </a:lnTo>
                  <a:lnTo>
                    <a:pt x="1812036" y="0"/>
                  </a:lnTo>
                  <a:close/>
                </a:path>
              </a:pathLst>
            </a:custGeom>
            <a:solidFill>
              <a:srgbClr val="EF4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50635" y="879347"/>
              <a:ext cx="2265045" cy="905510"/>
            </a:xfrm>
            <a:custGeom>
              <a:avLst/>
              <a:gdLst/>
              <a:ahLst/>
              <a:cxnLst/>
              <a:rect l="l" t="t" r="r" b="b"/>
              <a:pathLst>
                <a:path w="2265045" h="905510">
                  <a:moveTo>
                    <a:pt x="0" y="0"/>
                  </a:moveTo>
                  <a:lnTo>
                    <a:pt x="1812036" y="0"/>
                  </a:lnTo>
                  <a:lnTo>
                    <a:pt x="2264664" y="452627"/>
                  </a:lnTo>
                  <a:lnTo>
                    <a:pt x="1812036" y="905255"/>
                  </a:lnTo>
                  <a:lnTo>
                    <a:pt x="0" y="905255"/>
                  </a:lnTo>
                  <a:lnTo>
                    <a:pt x="452627" y="45262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694678" y="1136141"/>
            <a:ext cx="6299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881873" y="872997"/>
            <a:ext cx="2275840" cy="918210"/>
            <a:chOff x="7881873" y="872997"/>
            <a:chExt cx="2275840" cy="918210"/>
          </a:xfrm>
        </p:grpSpPr>
        <p:sp>
          <p:nvSpPr>
            <p:cNvPr id="25" name="object 25"/>
            <p:cNvSpPr/>
            <p:nvPr/>
          </p:nvSpPr>
          <p:spPr>
            <a:xfrm>
              <a:off x="7888223" y="879347"/>
              <a:ext cx="2263140" cy="905510"/>
            </a:xfrm>
            <a:custGeom>
              <a:avLst/>
              <a:gdLst/>
              <a:ahLst/>
              <a:cxnLst/>
              <a:rect l="l" t="t" r="r" b="b"/>
              <a:pathLst>
                <a:path w="2263140" h="905510">
                  <a:moveTo>
                    <a:pt x="1810511" y="0"/>
                  </a:moveTo>
                  <a:lnTo>
                    <a:pt x="0" y="0"/>
                  </a:lnTo>
                  <a:lnTo>
                    <a:pt x="452627" y="452627"/>
                  </a:lnTo>
                  <a:lnTo>
                    <a:pt x="0" y="905255"/>
                  </a:lnTo>
                  <a:lnTo>
                    <a:pt x="1810511" y="905255"/>
                  </a:lnTo>
                  <a:lnTo>
                    <a:pt x="2263140" y="452627"/>
                  </a:lnTo>
                  <a:lnTo>
                    <a:pt x="1810511" y="0"/>
                  </a:lnTo>
                  <a:close/>
                </a:path>
              </a:pathLst>
            </a:custGeom>
            <a:solidFill>
              <a:srgbClr val="EF4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888223" y="879347"/>
              <a:ext cx="2263140" cy="905510"/>
            </a:xfrm>
            <a:custGeom>
              <a:avLst/>
              <a:gdLst/>
              <a:ahLst/>
              <a:cxnLst/>
              <a:rect l="l" t="t" r="r" b="b"/>
              <a:pathLst>
                <a:path w="2263140" h="905510">
                  <a:moveTo>
                    <a:pt x="0" y="0"/>
                  </a:moveTo>
                  <a:lnTo>
                    <a:pt x="1810511" y="0"/>
                  </a:lnTo>
                  <a:lnTo>
                    <a:pt x="2263140" y="452627"/>
                  </a:lnTo>
                  <a:lnTo>
                    <a:pt x="1810511" y="905255"/>
                  </a:lnTo>
                  <a:lnTo>
                    <a:pt x="0" y="905255"/>
                  </a:lnTo>
                  <a:lnTo>
                    <a:pt x="452627" y="45262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427846" y="996441"/>
            <a:ext cx="1240155" cy="6115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260350">
              <a:lnSpc>
                <a:spcPts val="2210"/>
              </a:lnSpc>
              <a:spcBef>
                <a:spcPts val="33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In-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App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Notification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919461" y="872997"/>
            <a:ext cx="2275840" cy="918210"/>
            <a:chOff x="9919461" y="872997"/>
            <a:chExt cx="2275840" cy="918210"/>
          </a:xfrm>
        </p:grpSpPr>
        <p:sp>
          <p:nvSpPr>
            <p:cNvPr id="29" name="object 29"/>
            <p:cNvSpPr/>
            <p:nvPr/>
          </p:nvSpPr>
          <p:spPr>
            <a:xfrm>
              <a:off x="9925811" y="879347"/>
              <a:ext cx="2263140" cy="905510"/>
            </a:xfrm>
            <a:custGeom>
              <a:avLst/>
              <a:gdLst/>
              <a:ahLst/>
              <a:cxnLst/>
              <a:rect l="l" t="t" r="r" b="b"/>
              <a:pathLst>
                <a:path w="2263140" h="905510">
                  <a:moveTo>
                    <a:pt x="1810512" y="0"/>
                  </a:moveTo>
                  <a:lnTo>
                    <a:pt x="0" y="0"/>
                  </a:lnTo>
                  <a:lnTo>
                    <a:pt x="452628" y="452627"/>
                  </a:lnTo>
                  <a:lnTo>
                    <a:pt x="0" y="905255"/>
                  </a:lnTo>
                  <a:lnTo>
                    <a:pt x="1810512" y="905255"/>
                  </a:lnTo>
                  <a:lnTo>
                    <a:pt x="2263140" y="452627"/>
                  </a:lnTo>
                  <a:lnTo>
                    <a:pt x="1810512" y="0"/>
                  </a:lnTo>
                  <a:close/>
                </a:path>
              </a:pathLst>
            </a:custGeom>
            <a:solidFill>
              <a:srgbClr val="EF4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925811" y="879347"/>
              <a:ext cx="2263140" cy="905510"/>
            </a:xfrm>
            <a:custGeom>
              <a:avLst/>
              <a:gdLst/>
              <a:ahLst/>
              <a:cxnLst/>
              <a:rect l="l" t="t" r="r" b="b"/>
              <a:pathLst>
                <a:path w="2263140" h="905510">
                  <a:moveTo>
                    <a:pt x="0" y="0"/>
                  </a:moveTo>
                  <a:lnTo>
                    <a:pt x="1810512" y="0"/>
                  </a:lnTo>
                  <a:lnTo>
                    <a:pt x="2263140" y="452627"/>
                  </a:lnTo>
                  <a:lnTo>
                    <a:pt x="1810512" y="905255"/>
                  </a:lnTo>
                  <a:lnTo>
                    <a:pt x="0" y="905255"/>
                  </a:lnTo>
                  <a:lnTo>
                    <a:pt x="452628" y="45262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0465434" y="996441"/>
            <a:ext cx="1240155" cy="6115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73025">
              <a:lnSpc>
                <a:spcPts val="2210"/>
              </a:lnSpc>
              <a:spcBef>
                <a:spcPts val="33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Post</a:t>
            </a:r>
            <a:r>
              <a:rPr sz="20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order Notification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0" y="1951101"/>
            <a:ext cx="2071370" cy="882015"/>
            <a:chOff x="0" y="1951101"/>
            <a:chExt cx="2071370" cy="882015"/>
          </a:xfrm>
        </p:grpSpPr>
        <p:sp>
          <p:nvSpPr>
            <p:cNvPr id="33" name="object 33"/>
            <p:cNvSpPr/>
            <p:nvPr/>
          </p:nvSpPr>
          <p:spPr>
            <a:xfrm>
              <a:off x="0" y="2278380"/>
              <a:ext cx="2071370" cy="554990"/>
            </a:xfrm>
            <a:custGeom>
              <a:avLst/>
              <a:gdLst/>
              <a:ahLst/>
              <a:cxnLst/>
              <a:rect l="l" t="t" r="r" b="b"/>
              <a:pathLst>
                <a:path w="2071370" h="554989">
                  <a:moveTo>
                    <a:pt x="2071116" y="0"/>
                  </a:moveTo>
                  <a:lnTo>
                    <a:pt x="0" y="0"/>
                  </a:lnTo>
                  <a:lnTo>
                    <a:pt x="0" y="554736"/>
                  </a:lnTo>
                  <a:lnTo>
                    <a:pt x="2071116" y="554736"/>
                  </a:lnTo>
                  <a:lnTo>
                    <a:pt x="2071116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96418" y="1960626"/>
              <a:ext cx="1449705" cy="649605"/>
            </a:xfrm>
            <a:custGeom>
              <a:avLst/>
              <a:gdLst/>
              <a:ahLst/>
              <a:cxnLst/>
              <a:rect l="l" t="t" r="r" b="b"/>
              <a:pathLst>
                <a:path w="1449705" h="649605">
                  <a:moveTo>
                    <a:pt x="1341120" y="0"/>
                  </a:moveTo>
                  <a:lnTo>
                    <a:pt x="108204" y="0"/>
                  </a:lnTo>
                  <a:lnTo>
                    <a:pt x="66088" y="8495"/>
                  </a:lnTo>
                  <a:lnTo>
                    <a:pt x="31694" y="31670"/>
                  </a:lnTo>
                  <a:lnTo>
                    <a:pt x="8504" y="66061"/>
                  </a:lnTo>
                  <a:lnTo>
                    <a:pt x="0" y="108203"/>
                  </a:lnTo>
                  <a:lnTo>
                    <a:pt x="0" y="541020"/>
                  </a:lnTo>
                  <a:lnTo>
                    <a:pt x="8504" y="583162"/>
                  </a:lnTo>
                  <a:lnTo>
                    <a:pt x="31694" y="617553"/>
                  </a:lnTo>
                  <a:lnTo>
                    <a:pt x="66088" y="640728"/>
                  </a:lnTo>
                  <a:lnTo>
                    <a:pt x="108204" y="649224"/>
                  </a:lnTo>
                  <a:lnTo>
                    <a:pt x="1341120" y="649224"/>
                  </a:lnTo>
                  <a:lnTo>
                    <a:pt x="1383262" y="640728"/>
                  </a:lnTo>
                  <a:lnTo>
                    <a:pt x="1417653" y="617553"/>
                  </a:lnTo>
                  <a:lnTo>
                    <a:pt x="1440828" y="583162"/>
                  </a:lnTo>
                  <a:lnTo>
                    <a:pt x="1449324" y="541020"/>
                  </a:lnTo>
                  <a:lnTo>
                    <a:pt x="1449324" y="108203"/>
                  </a:lnTo>
                  <a:lnTo>
                    <a:pt x="1440828" y="66061"/>
                  </a:lnTo>
                  <a:lnTo>
                    <a:pt x="1417653" y="31670"/>
                  </a:lnTo>
                  <a:lnTo>
                    <a:pt x="1383262" y="8495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EF4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96418" y="1960626"/>
              <a:ext cx="1449705" cy="649605"/>
            </a:xfrm>
            <a:custGeom>
              <a:avLst/>
              <a:gdLst/>
              <a:ahLst/>
              <a:cxnLst/>
              <a:rect l="l" t="t" r="r" b="b"/>
              <a:pathLst>
                <a:path w="1449705" h="649605">
                  <a:moveTo>
                    <a:pt x="0" y="108203"/>
                  </a:moveTo>
                  <a:lnTo>
                    <a:pt x="8504" y="66061"/>
                  </a:lnTo>
                  <a:lnTo>
                    <a:pt x="31694" y="31670"/>
                  </a:lnTo>
                  <a:lnTo>
                    <a:pt x="66088" y="8495"/>
                  </a:lnTo>
                  <a:lnTo>
                    <a:pt x="108204" y="0"/>
                  </a:lnTo>
                  <a:lnTo>
                    <a:pt x="1341120" y="0"/>
                  </a:lnTo>
                  <a:lnTo>
                    <a:pt x="1383262" y="8495"/>
                  </a:lnTo>
                  <a:lnTo>
                    <a:pt x="1417653" y="31670"/>
                  </a:lnTo>
                  <a:lnTo>
                    <a:pt x="1440828" y="66061"/>
                  </a:lnTo>
                  <a:lnTo>
                    <a:pt x="1449324" y="108203"/>
                  </a:lnTo>
                  <a:lnTo>
                    <a:pt x="1449324" y="541020"/>
                  </a:lnTo>
                  <a:lnTo>
                    <a:pt x="1440828" y="583162"/>
                  </a:lnTo>
                  <a:lnTo>
                    <a:pt x="1417653" y="617553"/>
                  </a:lnTo>
                  <a:lnTo>
                    <a:pt x="1383262" y="640728"/>
                  </a:lnTo>
                  <a:lnTo>
                    <a:pt x="1341120" y="649224"/>
                  </a:lnTo>
                  <a:lnTo>
                    <a:pt x="108204" y="649224"/>
                  </a:lnTo>
                  <a:lnTo>
                    <a:pt x="66088" y="640728"/>
                  </a:lnTo>
                  <a:lnTo>
                    <a:pt x="31694" y="617553"/>
                  </a:lnTo>
                  <a:lnTo>
                    <a:pt x="8504" y="583162"/>
                  </a:lnTo>
                  <a:lnTo>
                    <a:pt x="0" y="541020"/>
                  </a:lnTo>
                  <a:lnTo>
                    <a:pt x="0" y="108203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0" y="2937129"/>
            <a:ext cx="2071370" cy="2799715"/>
            <a:chOff x="0" y="2937129"/>
            <a:chExt cx="2071370" cy="2799715"/>
          </a:xfrm>
        </p:grpSpPr>
        <p:sp>
          <p:nvSpPr>
            <p:cNvPr id="37" name="object 37"/>
            <p:cNvSpPr/>
            <p:nvPr/>
          </p:nvSpPr>
          <p:spPr>
            <a:xfrm>
              <a:off x="0" y="3276600"/>
              <a:ext cx="2071370" cy="554990"/>
            </a:xfrm>
            <a:custGeom>
              <a:avLst/>
              <a:gdLst/>
              <a:ahLst/>
              <a:cxnLst/>
              <a:rect l="l" t="t" r="r" b="b"/>
              <a:pathLst>
                <a:path w="2071370" h="554989">
                  <a:moveTo>
                    <a:pt x="2071116" y="0"/>
                  </a:moveTo>
                  <a:lnTo>
                    <a:pt x="0" y="0"/>
                  </a:lnTo>
                  <a:lnTo>
                    <a:pt x="0" y="554736"/>
                  </a:lnTo>
                  <a:lnTo>
                    <a:pt x="2071116" y="554736"/>
                  </a:lnTo>
                  <a:lnTo>
                    <a:pt x="2071116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4893" y="2946654"/>
              <a:ext cx="1449705" cy="649605"/>
            </a:xfrm>
            <a:custGeom>
              <a:avLst/>
              <a:gdLst/>
              <a:ahLst/>
              <a:cxnLst/>
              <a:rect l="l" t="t" r="r" b="b"/>
              <a:pathLst>
                <a:path w="1449705" h="649604">
                  <a:moveTo>
                    <a:pt x="1341120" y="0"/>
                  </a:moveTo>
                  <a:lnTo>
                    <a:pt x="108204" y="0"/>
                  </a:lnTo>
                  <a:lnTo>
                    <a:pt x="66088" y="8495"/>
                  </a:lnTo>
                  <a:lnTo>
                    <a:pt x="31694" y="31670"/>
                  </a:lnTo>
                  <a:lnTo>
                    <a:pt x="8504" y="66061"/>
                  </a:lnTo>
                  <a:lnTo>
                    <a:pt x="0" y="108204"/>
                  </a:lnTo>
                  <a:lnTo>
                    <a:pt x="0" y="541020"/>
                  </a:lnTo>
                  <a:lnTo>
                    <a:pt x="8504" y="583162"/>
                  </a:lnTo>
                  <a:lnTo>
                    <a:pt x="31694" y="617553"/>
                  </a:lnTo>
                  <a:lnTo>
                    <a:pt x="66088" y="640728"/>
                  </a:lnTo>
                  <a:lnTo>
                    <a:pt x="108204" y="649224"/>
                  </a:lnTo>
                  <a:lnTo>
                    <a:pt x="1341120" y="649224"/>
                  </a:lnTo>
                  <a:lnTo>
                    <a:pt x="1383262" y="640728"/>
                  </a:lnTo>
                  <a:lnTo>
                    <a:pt x="1417653" y="617553"/>
                  </a:lnTo>
                  <a:lnTo>
                    <a:pt x="1440828" y="583162"/>
                  </a:lnTo>
                  <a:lnTo>
                    <a:pt x="1449324" y="541020"/>
                  </a:lnTo>
                  <a:lnTo>
                    <a:pt x="1449324" y="108204"/>
                  </a:lnTo>
                  <a:lnTo>
                    <a:pt x="1440828" y="66061"/>
                  </a:lnTo>
                  <a:lnTo>
                    <a:pt x="1417653" y="31670"/>
                  </a:lnTo>
                  <a:lnTo>
                    <a:pt x="1383262" y="8495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EF4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94893" y="2946654"/>
              <a:ext cx="1449705" cy="649605"/>
            </a:xfrm>
            <a:custGeom>
              <a:avLst/>
              <a:gdLst/>
              <a:ahLst/>
              <a:cxnLst/>
              <a:rect l="l" t="t" r="r" b="b"/>
              <a:pathLst>
                <a:path w="1449705" h="649604">
                  <a:moveTo>
                    <a:pt x="0" y="108204"/>
                  </a:moveTo>
                  <a:lnTo>
                    <a:pt x="8504" y="66061"/>
                  </a:lnTo>
                  <a:lnTo>
                    <a:pt x="31694" y="31670"/>
                  </a:lnTo>
                  <a:lnTo>
                    <a:pt x="66088" y="8495"/>
                  </a:lnTo>
                  <a:lnTo>
                    <a:pt x="108204" y="0"/>
                  </a:lnTo>
                  <a:lnTo>
                    <a:pt x="1341120" y="0"/>
                  </a:lnTo>
                  <a:lnTo>
                    <a:pt x="1383262" y="8495"/>
                  </a:lnTo>
                  <a:lnTo>
                    <a:pt x="1417653" y="31670"/>
                  </a:lnTo>
                  <a:lnTo>
                    <a:pt x="1440828" y="66061"/>
                  </a:lnTo>
                  <a:lnTo>
                    <a:pt x="1449324" y="108204"/>
                  </a:lnTo>
                  <a:lnTo>
                    <a:pt x="1449324" y="541020"/>
                  </a:lnTo>
                  <a:lnTo>
                    <a:pt x="1440828" y="583162"/>
                  </a:lnTo>
                  <a:lnTo>
                    <a:pt x="1417653" y="617553"/>
                  </a:lnTo>
                  <a:lnTo>
                    <a:pt x="1383262" y="640728"/>
                  </a:lnTo>
                  <a:lnTo>
                    <a:pt x="1341120" y="649224"/>
                  </a:lnTo>
                  <a:lnTo>
                    <a:pt x="108204" y="649224"/>
                  </a:lnTo>
                  <a:lnTo>
                    <a:pt x="66088" y="640728"/>
                  </a:lnTo>
                  <a:lnTo>
                    <a:pt x="31694" y="617553"/>
                  </a:lnTo>
                  <a:lnTo>
                    <a:pt x="8504" y="583162"/>
                  </a:lnTo>
                  <a:lnTo>
                    <a:pt x="0" y="541020"/>
                  </a:lnTo>
                  <a:lnTo>
                    <a:pt x="0" y="10820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0" y="4184904"/>
              <a:ext cx="2071370" cy="554990"/>
            </a:xfrm>
            <a:custGeom>
              <a:avLst/>
              <a:gdLst/>
              <a:ahLst/>
              <a:cxnLst/>
              <a:rect l="l" t="t" r="r" b="b"/>
              <a:pathLst>
                <a:path w="2071370" h="554989">
                  <a:moveTo>
                    <a:pt x="2071116" y="0"/>
                  </a:moveTo>
                  <a:lnTo>
                    <a:pt x="0" y="0"/>
                  </a:lnTo>
                  <a:lnTo>
                    <a:pt x="0" y="554736"/>
                  </a:lnTo>
                  <a:lnTo>
                    <a:pt x="2071116" y="554736"/>
                  </a:lnTo>
                  <a:lnTo>
                    <a:pt x="2071116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82702" y="3792474"/>
              <a:ext cx="1449705" cy="559435"/>
            </a:xfrm>
            <a:custGeom>
              <a:avLst/>
              <a:gdLst/>
              <a:ahLst/>
              <a:cxnLst/>
              <a:rect l="l" t="t" r="r" b="b"/>
              <a:pathLst>
                <a:path w="1449705" h="559435">
                  <a:moveTo>
                    <a:pt x="1356105" y="0"/>
                  </a:moveTo>
                  <a:lnTo>
                    <a:pt x="93218" y="0"/>
                  </a:lnTo>
                  <a:lnTo>
                    <a:pt x="56932" y="7332"/>
                  </a:lnTo>
                  <a:lnTo>
                    <a:pt x="27301" y="27320"/>
                  </a:lnTo>
                  <a:lnTo>
                    <a:pt x="7325" y="56953"/>
                  </a:lnTo>
                  <a:lnTo>
                    <a:pt x="0" y="93218"/>
                  </a:lnTo>
                  <a:lnTo>
                    <a:pt x="0" y="466089"/>
                  </a:lnTo>
                  <a:lnTo>
                    <a:pt x="7325" y="502354"/>
                  </a:lnTo>
                  <a:lnTo>
                    <a:pt x="27301" y="531987"/>
                  </a:lnTo>
                  <a:lnTo>
                    <a:pt x="56932" y="551975"/>
                  </a:lnTo>
                  <a:lnTo>
                    <a:pt x="93218" y="559307"/>
                  </a:lnTo>
                  <a:lnTo>
                    <a:pt x="1356105" y="559307"/>
                  </a:lnTo>
                  <a:lnTo>
                    <a:pt x="1392370" y="551975"/>
                  </a:lnTo>
                  <a:lnTo>
                    <a:pt x="1422003" y="531987"/>
                  </a:lnTo>
                  <a:lnTo>
                    <a:pt x="1441991" y="502354"/>
                  </a:lnTo>
                  <a:lnTo>
                    <a:pt x="1449323" y="466089"/>
                  </a:lnTo>
                  <a:lnTo>
                    <a:pt x="1449323" y="93218"/>
                  </a:lnTo>
                  <a:lnTo>
                    <a:pt x="1441991" y="56953"/>
                  </a:lnTo>
                  <a:lnTo>
                    <a:pt x="1422003" y="27320"/>
                  </a:lnTo>
                  <a:lnTo>
                    <a:pt x="1392370" y="7332"/>
                  </a:lnTo>
                  <a:lnTo>
                    <a:pt x="1356105" y="0"/>
                  </a:lnTo>
                  <a:close/>
                </a:path>
              </a:pathLst>
            </a:custGeom>
            <a:solidFill>
              <a:srgbClr val="EF4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82702" y="3792474"/>
              <a:ext cx="1449705" cy="559435"/>
            </a:xfrm>
            <a:custGeom>
              <a:avLst/>
              <a:gdLst/>
              <a:ahLst/>
              <a:cxnLst/>
              <a:rect l="l" t="t" r="r" b="b"/>
              <a:pathLst>
                <a:path w="1449705" h="559435">
                  <a:moveTo>
                    <a:pt x="0" y="93218"/>
                  </a:moveTo>
                  <a:lnTo>
                    <a:pt x="7325" y="56953"/>
                  </a:lnTo>
                  <a:lnTo>
                    <a:pt x="27301" y="27320"/>
                  </a:lnTo>
                  <a:lnTo>
                    <a:pt x="56932" y="7332"/>
                  </a:lnTo>
                  <a:lnTo>
                    <a:pt x="93218" y="0"/>
                  </a:lnTo>
                  <a:lnTo>
                    <a:pt x="1356105" y="0"/>
                  </a:lnTo>
                  <a:lnTo>
                    <a:pt x="1392370" y="7332"/>
                  </a:lnTo>
                  <a:lnTo>
                    <a:pt x="1422003" y="27320"/>
                  </a:lnTo>
                  <a:lnTo>
                    <a:pt x="1441991" y="56953"/>
                  </a:lnTo>
                  <a:lnTo>
                    <a:pt x="1449323" y="93218"/>
                  </a:lnTo>
                  <a:lnTo>
                    <a:pt x="1449323" y="466089"/>
                  </a:lnTo>
                  <a:lnTo>
                    <a:pt x="1441991" y="502354"/>
                  </a:lnTo>
                  <a:lnTo>
                    <a:pt x="1422003" y="531987"/>
                  </a:lnTo>
                  <a:lnTo>
                    <a:pt x="1392370" y="551975"/>
                  </a:lnTo>
                  <a:lnTo>
                    <a:pt x="1356105" y="559307"/>
                  </a:lnTo>
                  <a:lnTo>
                    <a:pt x="93218" y="559307"/>
                  </a:lnTo>
                  <a:lnTo>
                    <a:pt x="56932" y="551975"/>
                  </a:lnTo>
                  <a:lnTo>
                    <a:pt x="27301" y="531987"/>
                  </a:lnTo>
                  <a:lnTo>
                    <a:pt x="7325" y="502354"/>
                  </a:lnTo>
                  <a:lnTo>
                    <a:pt x="0" y="466089"/>
                  </a:lnTo>
                  <a:lnTo>
                    <a:pt x="0" y="93218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0" y="5183124"/>
              <a:ext cx="2071370" cy="553720"/>
            </a:xfrm>
            <a:custGeom>
              <a:avLst/>
              <a:gdLst/>
              <a:ahLst/>
              <a:cxnLst/>
              <a:rect l="l" t="t" r="r" b="b"/>
              <a:pathLst>
                <a:path w="2071370" h="553720">
                  <a:moveTo>
                    <a:pt x="2071116" y="0"/>
                  </a:moveTo>
                  <a:lnTo>
                    <a:pt x="0" y="0"/>
                  </a:lnTo>
                  <a:lnTo>
                    <a:pt x="0" y="553212"/>
                  </a:lnTo>
                  <a:lnTo>
                    <a:pt x="2071116" y="553212"/>
                  </a:lnTo>
                  <a:lnTo>
                    <a:pt x="2071116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73558" y="4703826"/>
              <a:ext cx="1449705" cy="649605"/>
            </a:xfrm>
            <a:custGeom>
              <a:avLst/>
              <a:gdLst/>
              <a:ahLst/>
              <a:cxnLst/>
              <a:rect l="l" t="t" r="r" b="b"/>
              <a:pathLst>
                <a:path w="1449705" h="649604">
                  <a:moveTo>
                    <a:pt x="1341120" y="0"/>
                  </a:moveTo>
                  <a:lnTo>
                    <a:pt x="108204" y="0"/>
                  </a:lnTo>
                  <a:lnTo>
                    <a:pt x="66088" y="8495"/>
                  </a:lnTo>
                  <a:lnTo>
                    <a:pt x="31694" y="31670"/>
                  </a:lnTo>
                  <a:lnTo>
                    <a:pt x="8504" y="66061"/>
                  </a:lnTo>
                  <a:lnTo>
                    <a:pt x="0" y="108204"/>
                  </a:lnTo>
                  <a:lnTo>
                    <a:pt x="0" y="541020"/>
                  </a:lnTo>
                  <a:lnTo>
                    <a:pt x="8504" y="583162"/>
                  </a:lnTo>
                  <a:lnTo>
                    <a:pt x="31694" y="617553"/>
                  </a:lnTo>
                  <a:lnTo>
                    <a:pt x="66088" y="640728"/>
                  </a:lnTo>
                  <a:lnTo>
                    <a:pt x="108204" y="649224"/>
                  </a:lnTo>
                  <a:lnTo>
                    <a:pt x="1341120" y="649224"/>
                  </a:lnTo>
                  <a:lnTo>
                    <a:pt x="1383262" y="640728"/>
                  </a:lnTo>
                  <a:lnTo>
                    <a:pt x="1417653" y="617553"/>
                  </a:lnTo>
                  <a:lnTo>
                    <a:pt x="1440828" y="583162"/>
                  </a:lnTo>
                  <a:lnTo>
                    <a:pt x="1449324" y="541020"/>
                  </a:lnTo>
                  <a:lnTo>
                    <a:pt x="1449324" y="108204"/>
                  </a:lnTo>
                  <a:lnTo>
                    <a:pt x="1440828" y="66061"/>
                  </a:lnTo>
                  <a:lnTo>
                    <a:pt x="1417653" y="31670"/>
                  </a:lnTo>
                  <a:lnTo>
                    <a:pt x="1383262" y="8495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EF4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3558" y="4703826"/>
              <a:ext cx="1449705" cy="649605"/>
            </a:xfrm>
            <a:custGeom>
              <a:avLst/>
              <a:gdLst/>
              <a:ahLst/>
              <a:cxnLst/>
              <a:rect l="l" t="t" r="r" b="b"/>
              <a:pathLst>
                <a:path w="1449705" h="649604">
                  <a:moveTo>
                    <a:pt x="0" y="108204"/>
                  </a:moveTo>
                  <a:lnTo>
                    <a:pt x="8504" y="66061"/>
                  </a:lnTo>
                  <a:lnTo>
                    <a:pt x="31694" y="31670"/>
                  </a:lnTo>
                  <a:lnTo>
                    <a:pt x="66088" y="8495"/>
                  </a:lnTo>
                  <a:lnTo>
                    <a:pt x="108204" y="0"/>
                  </a:lnTo>
                  <a:lnTo>
                    <a:pt x="1341120" y="0"/>
                  </a:lnTo>
                  <a:lnTo>
                    <a:pt x="1383262" y="8495"/>
                  </a:lnTo>
                  <a:lnTo>
                    <a:pt x="1417653" y="31670"/>
                  </a:lnTo>
                  <a:lnTo>
                    <a:pt x="1440828" y="66061"/>
                  </a:lnTo>
                  <a:lnTo>
                    <a:pt x="1449324" y="108204"/>
                  </a:lnTo>
                  <a:lnTo>
                    <a:pt x="1449324" y="541020"/>
                  </a:lnTo>
                  <a:lnTo>
                    <a:pt x="1440828" y="583162"/>
                  </a:lnTo>
                  <a:lnTo>
                    <a:pt x="1417653" y="617553"/>
                  </a:lnTo>
                  <a:lnTo>
                    <a:pt x="1383262" y="640728"/>
                  </a:lnTo>
                  <a:lnTo>
                    <a:pt x="1341120" y="649224"/>
                  </a:lnTo>
                  <a:lnTo>
                    <a:pt x="108204" y="649224"/>
                  </a:lnTo>
                  <a:lnTo>
                    <a:pt x="66088" y="640728"/>
                  </a:lnTo>
                  <a:lnTo>
                    <a:pt x="31694" y="617553"/>
                  </a:lnTo>
                  <a:lnTo>
                    <a:pt x="8504" y="583162"/>
                  </a:lnTo>
                  <a:lnTo>
                    <a:pt x="0" y="541020"/>
                  </a:lnTo>
                  <a:lnTo>
                    <a:pt x="0" y="10820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63118" y="2070861"/>
            <a:ext cx="1266190" cy="310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530" algn="ctr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Goal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45"/>
              </a:spcBef>
            </a:pPr>
            <a:endParaRPr sz="2200">
              <a:latin typeface="Calibri"/>
              <a:cs typeface="Calibri"/>
            </a:endParaRPr>
          </a:p>
          <a:p>
            <a:pPr marL="41910" algn="ctr">
              <a:lnSpc>
                <a:spcPct val="100000"/>
              </a:lnSpc>
              <a:spcBef>
                <a:spcPts val="5"/>
              </a:spcBef>
            </a:pP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2200">
              <a:latin typeface="Calibri"/>
              <a:cs typeface="Calibri"/>
            </a:endParaRPr>
          </a:p>
          <a:p>
            <a:pPr marL="20955" algn="ctr">
              <a:lnSpc>
                <a:spcPct val="100000"/>
              </a:lnSpc>
            </a:pP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Feeling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15"/>
              </a:spcBef>
            </a:pPr>
            <a:endParaRPr sz="2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Pain</a:t>
            </a:r>
            <a:r>
              <a:rPr sz="2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Points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0" y="5873877"/>
            <a:ext cx="2071370" cy="861060"/>
            <a:chOff x="0" y="5873877"/>
            <a:chExt cx="2071370" cy="861060"/>
          </a:xfrm>
        </p:grpSpPr>
        <p:sp>
          <p:nvSpPr>
            <p:cNvPr id="48" name="object 48"/>
            <p:cNvSpPr/>
            <p:nvPr/>
          </p:nvSpPr>
          <p:spPr>
            <a:xfrm>
              <a:off x="0" y="6179820"/>
              <a:ext cx="2071370" cy="554990"/>
            </a:xfrm>
            <a:custGeom>
              <a:avLst/>
              <a:gdLst/>
              <a:ahLst/>
              <a:cxnLst/>
              <a:rect l="l" t="t" r="r" b="b"/>
              <a:pathLst>
                <a:path w="2071370" h="554990">
                  <a:moveTo>
                    <a:pt x="2071116" y="0"/>
                  </a:moveTo>
                  <a:lnTo>
                    <a:pt x="0" y="0"/>
                  </a:lnTo>
                  <a:lnTo>
                    <a:pt x="0" y="554735"/>
                  </a:lnTo>
                  <a:lnTo>
                    <a:pt x="2071116" y="554735"/>
                  </a:lnTo>
                  <a:lnTo>
                    <a:pt x="2071116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68986" y="5883402"/>
              <a:ext cx="1449705" cy="649605"/>
            </a:xfrm>
            <a:custGeom>
              <a:avLst/>
              <a:gdLst/>
              <a:ahLst/>
              <a:cxnLst/>
              <a:rect l="l" t="t" r="r" b="b"/>
              <a:pathLst>
                <a:path w="1449705" h="649604">
                  <a:moveTo>
                    <a:pt x="1341120" y="0"/>
                  </a:moveTo>
                  <a:lnTo>
                    <a:pt x="108204" y="0"/>
                  </a:lnTo>
                  <a:lnTo>
                    <a:pt x="66088" y="8504"/>
                  </a:lnTo>
                  <a:lnTo>
                    <a:pt x="31694" y="31694"/>
                  </a:lnTo>
                  <a:lnTo>
                    <a:pt x="8504" y="66088"/>
                  </a:lnTo>
                  <a:lnTo>
                    <a:pt x="0" y="108204"/>
                  </a:lnTo>
                  <a:lnTo>
                    <a:pt x="0" y="541020"/>
                  </a:lnTo>
                  <a:lnTo>
                    <a:pt x="8504" y="583135"/>
                  </a:lnTo>
                  <a:lnTo>
                    <a:pt x="31694" y="617529"/>
                  </a:lnTo>
                  <a:lnTo>
                    <a:pt x="66088" y="640719"/>
                  </a:lnTo>
                  <a:lnTo>
                    <a:pt x="108204" y="649224"/>
                  </a:lnTo>
                  <a:lnTo>
                    <a:pt x="1341120" y="649224"/>
                  </a:lnTo>
                  <a:lnTo>
                    <a:pt x="1383262" y="640719"/>
                  </a:lnTo>
                  <a:lnTo>
                    <a:pt x="1417653" y="617529"/>
                  </a:lnTo>
                  <a:lnTo>
                    <a:pt x="1440828" y="583135"/>
                  </a:lnTo>
                  <a:lnTo>
                    <a:pt x="1449324" y="541020"/>
                  </a:lnTo>
                  <a:lnTo>
                    <a:pt x="1449324" y="108204"/>
                  </a:lnTo>
                  <a:lnTo>
                    <a:pt x="1440828" y="66088"/>
                  </a:lnTo>
                  <a:lnTo>
                    <a:pt x="1417653" y="31694"/>
                  </a:lnTo>
                  <a:lnTo>
                    <a:pt x="1383262" y="8504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EF4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68986" y="5883402"/>
              <a:ext cx="1449705" cy="649605"/>
            </a:xfrm>
            <a:custGeom>
              <a:avLst/>
              <a:gdLst/>
              <a:ahLst/>
              <a:cxnLst/>
              <a:rect l="l" t="t" r="r" b="b"/>
              <a:pathLst>
                <a:path w="1449705" h="649604">
                  <a:moveTo>
                    <a:pt x="0" y="108204"/>
                  </a:moveTo>
                  <a:lnTo>
                    <a:pt x="8504" y="66088"/>
                  </a:lnTo>
                  <a:lnTo>
                    <a:pt x="31694" y="31694"/>
                  </a:lnTo>
                  <a:lnTo>
                    <a:pt x="66088" y="8504"/>
                  </a:lnTo>
                  <a:lnTo>
                    <a:pt x="108204" y="0"/>
                  </a:lnTo>
                  <a:lnTo>
                    <a:pt x="1341120" y="0"/>
                  </a:lnTo>
                  <a:lnTo>
                    <a:pt x="1383262" y="8504"/>
                  </a:lnTo>
                  <a:lnTo>
                    <a:pt x="1417653" y="31694"/>
                  </a:lnTo>
                  <a:lnTo>
                    <a:pt x="1440828" y="66088"/>
                  </a:lnTo>
                  <a:lnTo>
                    <a:pt x="1449324" y="108204"/>
                  </a:lnTo>
                  <a:lnTo>
                    <a:pt x="1449324" y="541020"/>
                  </a:lnTo>
                  <a:lnTo>
                    <a:pt x="1440828" y="583135"/>
                  </a:lnTo>
                  <a:lnTo>
                    <a:pt x="1417653" y="617529"/>
                  </a:lnTo>
                  <a:lnTo>
                    <a:pt x="1383262" y="640719"/>
                  </a:lnTo>
                  <a:lnTo>
                    <a:pt x="1341120" y="649224"/>
                  </a:lnTo>
                  <a:lnTo>
                    <a:pt x="108204" y="649224"/>
                  </a:lnTo>
                  <a:lnTo>
                    <a:pt x="66088" y="640719"/>
                  </a:lnTo>
                  <a:lnTo>
                    <a:pt x="31694" y="617529"/>
                  </a:lnTo>
                  <a:lnTo>
                    <a:pt x="8504" y="583135"/>
                  </a:lnTo>
                  <a:lnTo>
                    <a:pt x="0" y="541020"/>
                  </a:lnTo>
                  <a:lnTo>
                    <a:pt x="0" y="10820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56082" y="5994908"/>
            <a:ext cx="10718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Solutions</a:t>
            </a:r>
            <a:endParaRPr sz="2200">
              <a:latin typeface="Calibri"/>
              <a:cs typeface="Calibri"/>
            </a:endParaRPr>
          </a:p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1773427" y="1819529"/>
          <a:ext cx="10417174" cy="51955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3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3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3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3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34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44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Read</a:t>
                      </a:r>
                      <a:r>
                        <a:rPr sz="1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Notification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400" spc="-35" dirty="0">
                          <a:latin typeface="Calibri"/>
                          <a:cs typeface="Calibri"/>
                        </a:rPr>
                        <a:t>Tap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Notification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R w="12700">
                      <a:solidFill>
                        <a:srgbClr val="000000"/>
                      </a:solidFill>
                      <a:prstDash val="dot"/>
                    </a:lnR>
                    <a:lnB w="1270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77825" marR="93345" indent="-287020">
                        <a:lnSpc>
                          <a:spcPct val="100000"/>
                        </a:lnSpc>
                        <a:spcBef>
                          <a:spcPts val="270"/>
                        </a:spcBef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Search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menu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if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notification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hits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sweet spot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Look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offers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dot"/>
                    </a:lnL>
                    <a:lnR w="12700">
                      <a:solidFill>
                        <a:srgbClr val="000000"/>
                      </a:solidFill>
                      <a:prstDash val="dot"/>
                    </a:lnR>
                    <a:lnB w="1270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orders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food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12700">
                      <a:solidFill>
                        <a:srgbClr val="000000"/>
                      </a:solidFill>
                      <a:prstDash val="dot"/>
                    </a:lnL>
                    <a:lnR w="12700">
                      <a:solidFill>
                        <a:srgbClr val="000000"/>
                      </a:solidFill>
                      <a:prstDash val="dot"/>
                    </a:lnR>
                    <a:lnB w="1270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79095" marR="370840" indent="-287020">
                        <a:lnSpc>
                          <a:spcPct val="100000"/>
                        </a:lnSpc>
                        <a:spcBef>
                          <a:spcPts val="270"/>
                        </a:spcBef>
                        <a:buFont typeface="Arial MT"/>
                        <a:buChar char="•"/>
                        <a:tabLst>
                          <a:tab pos="379095" algn="l"/>
                        </a:tabLst>
                      </a:pPr>
                      <a:r>
                        <a:rPr sz="1400" spc="-6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prompt</a:t>
                      </a:r>
                      <a:r>
                        <a:rPr sz="1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coupon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been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applied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Payment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37909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status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updates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dot"/>
                    </a:lnL>
                    <a:lnR w="12700">
                      <a:solidFill>
                        <a:srgbClr val="000000"/>
                      </a:solidFill>
                      <a:prstDash val="dot"/>
                    </a:lnR>
                    <a:lnB w="1270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79095" indent="-286385">
                        <a:lnSpc>
                          <a:spcPct val="100000"/>
                        </a:lnSpc>
                        <a:spcBef>
                          <a:spcPts val="1110"/>
                        </a:spcBef>
                        <a:buFont typeface="Arial MT"/>
                        <a:buChar char="•"/>
                        <a:tabLst>
                          <a:tab pos="379095" algn="l"/>
                        </a:tabLst>
                      </a:pPr>
                      <a:r>
                        <a:rPr sz="1400" spc="-35" dirty="0">
                          <a:latin typeface="Calibri"/>
                          <a:cs typeface="Calibri"/>
                        </a:rPr>
                        <a:t>ETA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status.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37909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909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Contact</a:t>
                      </a:r>
                      <a:r>
                        <a:rPr sz="1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delivery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37909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partner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dot"/>
                    </a:lnL>
                    <a:lnB w="1270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2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400" spc="-35" dirty="0">
                          <a:latin typeface="Calibri"/>
                          <a:cs typeface="Calibri"/>
                        </a:rPr>
                        <a:t>Tap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Notification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Collapse</a:t>
                      </a:r>
                      <a:r>
                        <a:rPr sz="1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Notification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R w="12700">
                      <a:solidFill>
                        <a:srgbClr val="000000"/>
                      </a:solidFill>
                      <a:prstDash val="dot"/>
                    </a:lnR>
                    <a:lnT w="12700">
                      <a:solidFill>
                        <a:srgbClr val="000000"/>
                      </a:solidFill>
                      <a:prstDash val="dot"/>
                    </a:lnT>
                    <a:lnB w="1270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Launches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app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Searches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food</a:t>
                      </a:r>
                      <a:r>
                        <a:rPr sz="1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items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dot"/>
                    </a:lnL>
                    <a:lnR w="12700">
                      <a:solidFill>
                        <a:srgbClr val="000000"/>
                      </a:solidFill>
                      <a:prstDash val="dot"/>
                    </a:lnR>
                    <a:lnT w="12700">
                      <a:solidFill>
                        <a:srgbClr val="000000"/>
                      </a:solidFill>
                      <a:prstDash val="dot"/>
                    </a:lnT>
                    <a:lnB w="1270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075" marR="391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UJ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Add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cart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payment.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dot"/>
                    </a:lnL>
                    <a:lnR w="12700">
                      <a:solidFill>
                        <a:srgbClr val="000000"/>
                      </a:solidFill>
                      <a:prstDash val="dot"/>
                    </a:lnR>
                    <a:lnT w="12700">
                      <a:solidFill>
                        <a:srgbClr val="000000"/>
                      </a:solidFill>
                      <a:prstDash val="dot"/>
                    </a:lnT>
                    <a:lnB w="1270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075" marR="1860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35" dirty="0">
                          <a:latin typeface="Calibri"/>
                          <a:cs typeface="Calibri"/>
                        </a:rPr>
                        <a:t>Tap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prompt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go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to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orders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tab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track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order.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dot"/>
                    </a:lnL>
                    <a:lnR w="12700">
                      <a:solidFill>
                        <a:srgbClr val="000000"/>
                      </a:solidFill>
                      <a:prstDash val="dot"/>
                    </a:lnR>
                    <a:lnT w="12700">
                      <a:solidFill>
                        <a:srgbClr val="000000"/>
                      </a:solidFill>
                      <a:prstDash val="dot"/>
                    </a:lnT>
                    <a:lnB w="1270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79095" marR="257175" indent="-287020">
                        <a:lnSpc>
                          <a:spcPct val="100000"/>
                        </a:lnSpc>
                        <a:spcBef>
                          <a:spcPts val="275"/>
                        </a:spcBef>
                        <a:buFont typeface="Arial MT"/>
                        <a:buChar char="•"/>
                        <a:tabLst>
                          <a:tab pos="37909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Checks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notifications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updates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379095" marR="35687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909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Contact</a:t>
                      </a:r>
                      <a:r>
                        <a:rPr sz="1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support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in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case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trouble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dot"/>
                    </a:lnL>
                    <a:lnT w="12700">
                      <a:solidFill>
                        <a:srgbClr val="000000"/>
                      </a:solidFill>
                      <a:prstDash val="dot"/>
                    </a:lnT>
                    <a:lnB w="1270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Loved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Notification:</a:t>
                      </a:r>
                      <a:r>
                        <a:rPr sz="1400" spc="-10" dirty="0">
                          <a:latin typeface="Segoe UI Emoji"/>
                          <a:cs typeface="Segoe UI Emoji"/>
                        </a:rPr>
                        <a:t>😋</a:t>
                      </a:r>
                      <a:endParaRPr sz="1400">
                        <a:latin typeface="Segoe UI Emoji"/>
                        <a:cs typeface="Segoe UI Emoji"/>
                      </a:endParaRPr>
                    </a:p>
                    <a:p>
                      <a:pPr marL="17526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Found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spam:</a:t>
                      </a:r>
                      <a:r>
                        <a:rPr sz="1400" spc="-10" dirty="0">
                          <a:latin typeface="Segoe UI Emoji"/>
                          <a:cs typeface="Segoe UI Emoji"/>
                        </a:rPr>
                        <a:t>🙄</a:t>
                      </a:r>
                      <a:endParaRPr sz="1400">
                        <a:latin typeface="Segoe UI Emoji"/>
                        <a:cs typeface="Segoe UI Emoji"/>
                      </a:endParaRPr>
                    </a:p>
                  </a:txBody>
                  <a:tcPr marL="0" marR="0" marT="142875" marB="0">
                    <a:lnR w="12700">
                      <a:solidFill>
                        <a:srgbClr val="000000"/>
                      </a:solidFill>
                      <a:prstDash val="dot"/>
                    </a:lnR>
                    <a:lnT w="12700">
                      <a:solidFill>
                        <a:srgbClr val="000000"/>
                      </a:solidFill>
                      <a:prstDash val="dot"/>
                    </a:lnT>
                    <a:lnB w="1270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400" spc="-990" dirty="0">
                          <a:latin typeface="Segoe UI Emoji"/>
                          <a:cs typeface="Segoe UI Emoji"/>
                        </a:rPr>
                        <a:t>☺️</a:t>
                      </a:r>
                      <a:endParaRPr sz="1400">
                        <a:latin typeface="Segoe UI Emoji"/>
                        <a:cs typeface="Segoe UI Emoj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dot"/>
                    </a:lnL>
                    <a:lnR w="12700">
                      <a:solidFill>
                        <a:srgbClr val="000000"/>
                      </a:solidFill>
                      <a:prstDash val="dot"/>
                    </a:lnR>
                    <a:lnT w="12700">
                      <a:solidFill>
                        <a:srgbClr val="000000"/>
                      </a:solidFill>
                      <a:prstDash val="dot"/>
                    </a:lnT>
                    <a:lnB w="1270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1+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outlets:</a:t>
                      </a:r>
                      <a:r>
                        <a:rPr sz="1400" spc="-10" dirty="0">
                          <a:latin typeface="Segoe UI Emoji"/>
                          <a:cs typeface="Segoe UI Emoji"/>
                        </a:rPr>
                        <a:t>😕</a:t>
                      </a:r>
                      <a:endParaRPr sz="1400">
                        <a:latin typeface="Segoe UI Emoji"/>
                        <a:cs typeface="Segoe UI Emoji"/>
                      </a:endParaRPr>
                    </a:p>
                    <a:p>
                      <a:pPr marL="16383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outlet: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990" dirty="0">
                          <a:latin typeface="Segoe UI Emoji"/>
                          <a:cs typeface="Segoe UI Emoji"/>
                        </a:rPr>
                        <a:t>☺️</a:t>
                      </a:r>
                      <a:endParaRPr sz="1400">
                        <a:latin typeface="Segoe UI Emoji"/>
                        <a:cs typeface="Segoe UI Emoj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000000"/>
                      </a:solidFill>
                      <a:prstDash val="dot"/>
                    </a:lnL>
                    <a:lnR w="12700">
                      <a:solidFill>
                        <a:srgbClr val="000000"/>
                      </a:solidFill>
                      <a:prstDash val="dot"/>
                    </a:lnR>
                    <a:lnT w="12700">
                      <a:solidFill>
                        <a:srgbClr val="000000"/>
                      </a:solidFill>
                      <a:prstDash val="dot"/>
                    </a:lnT>
                    <a:lnB w="1270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400" spc="-990" dirty="0">
                          <a:latin typeface="Segoe UI Emoji"/>
                          <a:cs typeface="Segoe UI Emoji"/>
                        </a:rPr>
                        <a:t>☺️</a:t>
                      </a:r>
                      <a:endParaRPr sz="1400">
                        <a:latin typeface="Segoe UI Emoji"/>
                        <a:cs typeface="Segoe UI Emoj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dot"/>
                    </a:lnL>
                    <a:lnR w="12700">
                      <a:solidFill>
                        <a:srgbClr val="000000"/>
                      </a:solidFill>
                      <a:prstDash val="dot"/>
                    </a:lnR>
                    <a:lnT w="12700">
                      <a:solidFill>
                        <a:srgbClr val="000000"/>
                      </a:solidFill>
                      <a:prstDash val="dot"/>
                    </a:lnT>
                    <a:lnB w="1270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186055" marR="175260" algn="ctr">
                        <a:lnSpc>
                          <a:spcPct val="100099"/>
                        </a:lnSpc>
                        <a:spcBef>
                          <a:spcPts val="284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Successful</a:t>
                      </a:r>
                      <a:r>
                        <a:rPr sz="14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75" dirty="0">
                          <a:latin typeface="Calibri"/>
                          <a:cs typeface="Calibri"/>
                        </a:rPr>
                        <a:t>order:</a:t>
                      </a:r>
                      <a:r>
                        <a:rPr sz="1400" spc="75" dirty="0">
                          <a:latin typeface="Segoe UI Emoji"/>
                          <a:cs typeface="Segoe UI Emoji"/>
                        </a:rPr>
                        <a:t>😁🍴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delayed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unnotified:</a:t>
                      </a:r>
                      <a:r>
                        <a:rPr sz="1400" spc="-10" dirty="0">
                          <a:latin typeface="Segoe UI Emoji"/>
                          <a:cs typeface="Segoe UI Emoji"/>
                        </a:rPr>
                        <a:t>😠</a:t>
                      </a:r>
                      <a:endParaRPr sz="1400">
                        <a:latin typeface="Segoe UI Emoji"/>
                        <a:cs typeface="Segoe UI Emoji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000000"/>
                      </a:solidFill>
                      <a:prstDash val="dot"/>
                    </a:lnL>
                    <a:lnT w="12700">
                      <a:solidFill>
                        <a:srgbClr val="000000"/>
                      </a:solidFill>
                      <a:prstDash val="dot"/>
                    </a:lnT>
                    <a:lnB w="1270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8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1440" marR="15621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People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find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repeated irrelevant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notifications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spam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R w="12700">
                      <a:solidFill>
                        <a:srgbClr val="000000"/>
                      </a:solidFill>
                      <a:prstDash val="dot"/>
                    </a:lnR>
                    <a:lnT w="12700">
                      <a:solidFill>
                        <a:srgbClr val="000000"/>
                      </a:solidFill>
                      <a:prstDash val="dot"/>
                    </a:lnT>
                    <a:lnB w="1270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275"/>
                        </a:spcBef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surge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fee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400" spc="-40" dirty="0">
                          <a:latin typeface="Calibri"/>
                          <a:cs typeface="Calibri"/>
                        </a:rPr>
                        <a:t>Too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many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choices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377825" marR="17272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Cannot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see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which restaurants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coupon applies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dot"/>
                    </a:lnL>
                    <a:lnR w="12700">
                      <a:solidFill>
                        <a:srgbClr val="000000"/>
                      </a:solidFill>
                      <a:prstDash val="dot"/>
                    </a:lnR>
                    <a:lnT w="12700">
                      <a:solidFill>
                        <a:srgbClr val="000000"/>
                      </a:solidFill>
                      <a:prstDash val="dot"/>
                    </a:lnT>
                    <a:lnB w="1270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075" marR="20002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separately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outlet.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000000"/>
                      </a:solidFill>
                      <a:prstDash val="dot"/>
                    </a:lnL>
                    <a:lnR w="12700">
                      <a:solidFill>
                        <a:srgbClr val="000000"/>
                      </a:solidFill>
                      <a:prstDash val="dot"/>
                    </a:lnR>
                    <a:lnT w="12700">
                      <a:solidFill>
                        <a:srgbClr val="000000"/>
                      </a:solidFill>
                      <a:prstDash val="dot"/>
                    </a:lnT>
                    <a:lnB w="1270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075" marR="10858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notification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prompting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list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available coupons.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dot"/>
                    </a:lnL>
                    <a:lnR w="12700">
                      <a:solidFill>
                        <a:srgbClr val="000000"/>
                      </a:solidFill>
                      <a:prstDash val="dot"/>
                    </a:lnR>
                    <a:lnT w="12700">
                      <a:solidFill>
                        <a:srgbClr val="000000"/>
                      </a:solidFill>
                      <a:prstDash val="dot"/>
                    </a:lnT>
                    <a:lnB w="12700">
                      <a:solidFill>
                        <a:srgbClr val="000000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710" marR="203200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Notification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not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updated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case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delays.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000000"/>
                      </a:solidFill>
                      <a:prstDash val="dot"/>
                    </a:lnL>
                    <a:lnT w="12700">
                      <a:solidFill>
                        <a:srgbClr val="000000"/>
                      </a:solidFill>
                      <a:prstDash val="dot"/>
                    </a:lnT>
                    <a:lnB w="12700">
                      <a:solidFill>
                        <a:srgbClr val="000000"/>
                      </a:solidFill>
                      <a:prstDash val="dot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8570">
                <a:tc>
                  <a:txBody>
                    <a:bodyPr/>
                    <a:lstStyle/>
                    <a:p>
                      <a:pPr marL="91440" marR="10604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User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customisation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400" spc="3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he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repeatedly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swipes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then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don’t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send.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Prompt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opt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in/out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first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visit.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7950" marB="0">
                    <a:lnR w="12700">
                      <a:solidFill>
                        <a:srgbClr val="000000"/>
                      </a:solidFill>
                      <a:prstDash val="dot"/>
                    </a:lnR>
                    <a:lnT w="12700">
                      <a:solidFill>
                        <a:srgbClr val="000000"/>
                      </a:solidFill>
                      <a:prstDash val="dot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Send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notification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when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surge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fee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low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dot"/>
                    </a:lnL>
                    <a:lnR w="12700">
                      <a:solidFill>
                        <a:srgbClr val="000000"/>
                      </a:solidFill>
                      <a:prstDash val="dot"/>
                    </a:lnR>
                    <a:lnT w="12700">
                      <a:solidFill>
                        <a:srgbClr val="000000"/>
                      </a:solidFill>
                      <a:prstDash val="dot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075" marR="33718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Allow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‘Add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Cart’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ordering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multiple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outlets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single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order.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000000"/>
                      </a:solidFill>
                      <a:prstDash val="dot"/>
                    </a:lnL>
                    <a:lnR w="12700">
                      <a:solidFill>
                        <a:srgbClr val="000000"/>
                      </a:solidFill>
                      <a:prstDash val="dot"/>
                    </a:lnR>
                    <a:lnT w="12700">
                      <a:solidFill>
                        <a:srgbClr val="000000"/>
                      </a:solidFill>
                      <a:prstDash val="dot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075" marR="36322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this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prompt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ensure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user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doesn’t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miss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it.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000000"/>
                      </a:solidFill>
                      <a:prstDash val="dot"/>
                    </a:lnL>
                    <a:lnR w="12700">
                      <a:solidFill>
                        <a:srgbClr val="000000"/>
                      </a:solidFill>
                      <a:prstDash val="dot"/>
                    </a:lnR>
                    <a:lnT w="12700">
                      <a:solidFill>
                        <a:srgbClr val="000000"/>
                      </a:solidFill>
                      <a:prstDash val="dot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710" marR="13652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notify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case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delay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reason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revised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ETA.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000000"/>
                      </a:solidFill>
                      <a:prstDash val="dot"/>
                    </a:lnL>
                    <a:lnT w="12700">
                      <a:solidFill>
                        <a:srgbClr val="000000"/>
                      </a:solidFill>
                      <a:prstDash val="dot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504" y="4117847"/>
            <a:ext cx="6385560" cy="2426335"/>
          </a:xfrm>
          <a:custGeom>
            <a:avLst/>
            <a:gdLst/>
            <a:ahLst/>
            <a:cxnLst/>
            <a:rect l="l" t="t" r="r" b="b"/>
            <a:pathLst>
              <a:path w="6385559" h="2426334">
                <a:moveTo>
                  <a:pt x="5981192" y="0"/>
                </a:moveTo>
                <a:lnTo>
                  <a:pt x="404380" y="0"/>
                </a:lnTo>
                <a:lnTo>
                  <a:pt x="357222" y="2721"/>
                </a:lnTo>
                <a:lnTo>
                  <a:pt x="311661" y="10682"/>
                </a:lnTo>
                <a:lnTo>
                  <a:pt x="268001" y="23580"/>
                </a:lnTo>
                <a:lnTo>
                  <a:pt x="226545" y="41110"/>
                </a:lnTo>
                <a:lnTo>
                  <a:pt x="187598" y="62970"/>
                </a:lnTo>
                <a:lnTo>
                  <a:pt x="151462" y="88854"/>
                </a:lnTo>
                <a:lnTo>
                  <a:pt x="118441" y="118459"/>
                </a:lnTo>
                <a:lnTo>
                  <a:pt x="88839" y="151481"/>
                </a:lnTo>
                <a:lnTo>
                  <a:pt x="62958" y="187617"/>
                </a:lnTo>
                <a:lnTo>
                  <a:pt x="41102" y="226563"/>
                </a:lnTo>
                <a:lnTo>
                  <a:pt x="23575" y="268015"/>
                </a:lnTo>
                <a:lnTo>
                  <a:pt x="10680" y="311669"/>
                </a:lnTo>
                <a:lnTo>
                  <a:pt x="2720" y="357221"/>
                </a:lnTo>
                <a:lnTo>
                  <a:pt x="0" y="404368"/>
                </a:lnTo>
                <a:lnTo>
                  <a:pt x="0" y="2021827"/>
                </a:lnTo>
                <a:lnTo>
                  <a:pt x="2720" y="2068985"/>
                </a:lnTo>
                <a:lnTo>
                  <a:pt x="10680" y="2114546"/>
                </a:lnTo>
                <a:lnTo>
                  <a:pt x="23575" y="2158206"/>
                </a:lnTo>
                <a:lnTo>
                  <a:pt x="41102" y="2199662"/>
                </a:lnTo>
                <a:lnTo>
                  <a:pt x="62958" y="2238609"/>
                </a:lnTo>
                <a:lnTo>
                  <a:pt x="88839" y="2274745"/>
                </a:lnTo>
                <a:lnTo>
                  <a:pt x="118441" y="2307766"/>
                </a:lnTo>
                <a:lnTo>
                  <a:pt x="151462" y="2337368"/>
                </a:lnTo>
                <a:lnTo>
                  <a:pt x="187598" y="2363249"/>
                </a:lnTo>
                <a:lnTo>
                  <a:pt x="226545" y="2385105"/>
                </a:lnTo>
                <a:lnTo>
                  <a:pt x="268001" y="2402632"/>
                </a:lnTo>
                <a:lnTo>
                  <a:pt x="311661" y="2415527"/>
                </a:lnTo>
                <a:lnTo>
                  <a:pt x="357222" y="2423487"/>
                </a:lnTo>
                <a:lnTo>
                  <a:pt x="404380" y="2426208"/>
                </a:lnTo>
                <a:lnTo>
                  <a:pt x="5981192" y="2426208"/>
                </a:lnTo>
                <a:lnTo>
                  <a:pt x="6028338" y="2423487"/>
                </a:lnTo>
                <a:lnTo>
                  <a:pt x="6073890" y="2415527"/>
                </a:lnTo>
                <a:lnTo>
                  <a:pt x="6117544" y="2402632"/>
                </a:lnTo>
                <a:lnTo>
                  <a:pt x="6158996" y="2385105"/>
                </a:lnTo>
                <a:lnTo>
                  <a:pt x="6197942" y="2363249"/>
                </a:lnTo>
                <a:lnTo>
                  <a:pt x="6234078" y="2337368"/>
                </a:lnTo>
                <a:lnTo>
                  <a:pt x="6267100" y="2307766"/>
                </a:lnTo>
                <a:lnTo>
                  <a:pt x="6296705" y="2274745"/>
                </a:lnTo>
                <a:lnTo>
                  <a:pt x="6322589" y="2238609"/>
                </a:lnTo>
                <a:lnTo>
                  <a:pt x="6344449" y="2199662"/>
                </a:lnTo>
                <a:lnTo>
                  <a:pt x="6361979" y="2158206"/>
                </a:lnTo>
                <a:lnTo>
                  <a:pt x="6374877" y="2114546"/>
                </a:lnTo>
                <a:lnTo>
                  <a:pt x="6382838" y="2068985"/>
                </a:lnTo>
                <a:lnTo>
                  <a:pt x="6385560" y="2021827"/>
                </a:lnTo>
                <a:lnTo>
                  <a:pt x="6385560" y="404368"/>
                </a:lnTo>
                <a:lnTo>
                  <a:pt x="6382838" y="357221"/>
                </a:lnTo>
                <a:lnTo>
                  <a:pt x="6374877" y="311669"/>
                </a:lnTo>
                <a:lnTo>
                  <a:pt x="6361979" y="268015"/>
                </a:lnTo>
                <a:lnTo>
                  <a:pt x="6344449" y="226563"/>
                </a:lnTo>
                <a:lnTo>
                  <a:pt x="6322589" y="187617"/>
                </a:lnTo>
                <a:lnTo>
                  <a:pt x="6296705" y="151481"/>
                </a:lnTo>
                <a:lnTo>
                  <a:pt x="6267100" y="118459"/>
                </a:lnTo>
                <a:lnTo>
                  <a:pt x="6234078" y="88854"/>
                </a:lnTo>
                <a:lnTo>
                  <a:pt x="6197942" y="62970"/>
                </a:lnTo>
                <a:lnTo>
                  <a:pt x="6158996" y="41110"/>
                </a:lnTo>
                <a:lnTo>
                  <a:pt x="6117544" y="23580"/>
                </a:lnTo>
                <a:lnTo>
                  <a:pt x="6073890" y="10682"/>
                </a:lnTo>
                <a:lnTo>
                  <a:pt x="6028338" y="2721"/>
                </a:lnTo>
                <a:lnTo>
                  <a:pt x="5981192" y="0"/>
                </a:lnTo>
                <a:close/>
              </a:path>
            </a:pathLst>
          </a:custGeom>
          <a:solidFill>
            <a:srgbClr val="EF4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9254" y="207263"/>
            <a:ext cx="1013713" cy="17830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04666" y="207263"/>
            <a:ext cx="834961" cy="1783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52595" y="207263"/>
            <a:ext cx="1142822" cy="1783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11419" y="207263"/>
            <a:ext cx="1518793" cy="17830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149718" y="207263"/>
            <a:ext cx="2138045" cy="178435"/>
            <a:chOff x="7149718" y="207263"/>
            <a:chExt cx="2138045" cy="17843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50607" y="207263"/>
              <a:ext cx="2137155" cy="17830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149718" y="368807"/>
              <a:ext cx="2051685" cy="3175"/>
            </a:xfrm>
            <a:custGeom>
              <a:avLst/>
              <a:gdLst/>
              <a:ahLst/>
              <a:cxnLst/>
              <a:rect l="l" t="t" r="r" b="b"/>
              <a:pathLst>
                <a:path w="2051684" h="3175">
                  <a:moveTo>
                    <a:pt x="2051303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2051303" y="3047"/>
                  </a:lnTo>
                  <a:lnTo>
                    <a:pt x="20513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16795" y="207263"/>
            <a:ext cx="982560" cy="178307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9144"/>
            <a:ext cx="12192000" cy="861060"/>
            <a:chOff x="0" y="9144"/>
            <a:chExt cx="12192000" cy="861060"/>
          </a:xfrm>
        </p:grpSpPr>
        <p:sp>
          <p:nvSpPr>
            <p:cNvPr id="12" name="object 12"/>
            <p:cNvSpPr/>
            <p:nvPr/>
          </p:nvSpPr>
          <p:spPr>
            <a:xfrm>
              <a:off x="0" y="847344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3191" y="9144"/>
              <a:ext cx="861059" cy="86105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12800" y="4287265"/>
            <a:ext cx="2992755" cy="186182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800" dirty="0">
                <a:latin typeface="Calibri"/>
                <a:cs typeface="Calibri"/>
              </a:rPr>
              <a:t>Notification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Timing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5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timing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notification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really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crucial.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Zomato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takes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care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delivery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notification about relatable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food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right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time.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33215" y="4849367"/>
            <a:ext cx="2877312" cy="1138428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222504" y="1135380"/>
            <a:ext cx="7251700" cy="2894330"/>
          </a:xfrm>
          <a:custGeom>
            <a:avLst/>
            <a:gdLst/>
            <a:ahLst/>
            <a:cxnLst/>
            <a:rect l="l" t="t" r="r" b="b"/>
            <a:pathLst>
              <a:path w="7251700" h="2894329">
                <a:moveTo>
                  <a:pt x="6768846" y="0"/>
                </a:moveTo>
                <a:lnTo>
                  <a:pt x="482358" y="0"/>
                </a:lnTo>
                <a:lnTo>
                  <a:pt x="435904" y="2207"/>
                </a:lnTo>
                <a:lnTo>
                  <a:pt x="390700" y="8695"/>
                </a:lnTo>
                <a:lnTo>
                  <a:pt x="346947" y="19261"/>
                </a:lnTo>
                <a:lnTo>
                  <a:pt x="304847" y="33704"/>
                </a:lnTo>
                <a:lnTo>
                  <a:pt x="264603" y="51822"/>
                </a:lnTo>
                <a:lnTo>
                  <a:pt x="226417" y="73412"/>
                </a:lnTo>
                <a:lnTo>
                  <a:pt x="190490" y="98273"/>
                </a:lnTo>
                <a:lnTo>
                  <a:pt x="157026" y="126203"/>
                </a:lnTo>
                <a:lnTo>
                  <a:pt x="126226" y="156999"/>
                </a:lnTo>
                <a:lnTo>
                  <a:pt x="98293" y="190461"/>
                </a:lnTo>
                <a:lnTo>
                  <a:pt x="73428" y="226385"/>
                </a:lnTo>
                <a:lnTo>
                  <a:pt x="51834" y="264571"/>
                </a:lnTo>
                <a:lnTo>
                  <a:pt x="33713" y="304815"/>
                </a:lnTo>
                <a:lnTo>
                  <a:pt x="19266" y="346917"/>
                </a:lnTo>
                <a:lnTo>
                  <a:pt x="8697" y="390674"/>
                </a:lnTo>
                <a:lnTo>
                  <a:pt x="2208" y="435884"/>
                </a:lnTo>
                <a:lnTo>
                  <a:pt x="0" y="482346"/>
                </a:lnTo>
                <a:lnTo>
                  <a:pt x="0" y="2411730"/>
                </a:lnTo>
                <a:lnTo>
                  <a:pt x="2208" y="2458191"/>
                </a:lnTo>
                <a:lnTo>
                  <a:pt x="8697" y="2503401"/>
                </a:lnTo>
                <a:lnTo>
                  <a:pt x="19266" y="2547158"/>
                </a:lnTo>
                <a:lnTo>
                  <a:pt x="33713" y="2589260"/>
                </a:lnTo>
                <a:lnTo>
                  <a:pt x="51834" y="2629504"/>
                </a:lnTo>
                <a:lnTo>
                  <a:pt x="73428" y="2667690"/>
                </a:lnTo>
                <a:lnTo>
                  <a:pt x="98293" y="2703614"/>
                </a:lnTo>
                <a:lnTo>
                  <a:pt x="126226" y="2737076"/>
                </a:lnTo>
                <a:lnTo>
                  <a:pt x="157026" y="2767872"/>
                </a:lnTo>
                <a:lnTo>
                  <a:pt x="190490" y="2795802"/>
                </a:lnTo>
                <a:lnTo>
                  <a:pt x="226417" y="2820663"/>
                </a:lnTo>
                <a:lnTo>
                  <a:pt x="264603" y="2842253"/>
                </a:lnTo>
                <a:lnTo>
                  <a:pt x="304847" y="2860371"/>
                </a:lnTo>
                <a:lnTo>
                  <a:pt x="346947" y="2874814"/>
                </a:lnTo>
                <a:lnTo>
                  <a:pt x="390700" y="2885380"/>
                </a:lnTo>
                <a:lnTo>
                  <a:pt x="435904" y="2891868"/>
                </a:lnTo>
                <a:lnTo>
                  <a:pt x="482358" y="2894076"/>
                </a:lnTo>
                <a:lnTo>
                  <a:pt x="6768846" y="2894076"/>
                </a:lnTo>
                <a:lnTo>
                  <a:pt x="6815307" y="2891868"/>
                </a:lnTo>
                <a:lnTo>
                  <a:pt x="6860517" y="2885380"/>
                </a:lnTo>
                <a:lnTo>
                  <a:pt x="6904274" y="2874814"/>
                </a:lnTo>
                <a:lnTo>
                  <a:pt x="6946376" y="2860371"/>
                </a:lnTo>
                <a:lnTo>
                  <a:pt x="6986620" y="2842253"/>
                </a:lnTo>
                <a:lnTo>
                  <a:pt x="7024806" y="2820663"/>
                </a:lnTo>
                <a:lnTo>
                  <a:pt x="7060730" y="2795802"/>
                </a:lnTo>
                <a:lnTo>
                  <a:pt x="7094192" y="2767872"/>
                </a:lnTo>
                <a:lnTo>
                  <a:pt x="7124988" y="2737076"/>
                </a:lnTo>
                <a:lnTo>
                  <a:pt x="7152918" y="2703614"/>
                </a:lnTo>
                <a:lnTo>
                  <a:pt x="7177779" y="2667690"/>
                </a:lnTo>
                <a:lnTo>
                  <a:pt x="7199369" y="2629504"/>
                </a:lnTo>
                <a:lnTo>
                  <a:pt x="7217487" y="2589260"/>
                </a:lnTo>
                <a:lnTo>
                  <a:pt x="7231930" y="2547158"/>
                </a:lnTo>
                <a:lnTo>
                  <a:pt x="7242496" y="2503401"/>
                </a:lnTo>
                <a:lnTo>
                  <a:pt x="7248984" y="2458191"/>
                </a:lnTo>
                <a:lnTo>
                  <a:pt x="7251192" y="2411730"/>
                </a:lnTo>
                <a:lnTo>
                  <a:pt x="7251192" y="482346"/>
                </a:lnTo>
                <a:lnTo>
                  <a:pt x="7248984" y="435884"/>
                </a:lnTo>
                <a:lnTo>
                  <a:pt x="7242496" y="390674"/>
                </a:lnTo>
                <a:lnTo>
                  <a:pt x="7231930" y="346917"/>
                </a:lnTo>
                <a:lnTo>
                  <a:pt x="7217487" y="304815"/>
                </a:lnTo>
                <a:lnTo>
                  <a:pt x="7199369" y="264571"/>
                </a:lnTo>
                <a:lnTo>
                  <a:pt x="7177779" y="226385"/>
                </a:lnTo>
                <a:lnTo>
                  <a:pt x="7152918" y="190461"/>
                </a:lnTo>
                <a:lnTo>
                  <a:pt x="7124988" y="156999"/>
                </a:lnTo>
                <a:lnTo>
                  <a:pt x="7094192" y="126203"/>
                </a:lnTo>
                <a:lnTo>
                  <a:pt x="7060730" y="98273"/>
                </a:lnTo>
                <a:lnTo>
                  <a:pt x="7024806" y="73412"/>
                </a:lnTo>
                <a:lnTo>
                  <a:pt x="6986620" y="51822"/>
                </a:lnTo>
                <a:lnTo>
                  <a:pt x="6946376" y="33704"/>
                </a:lnTo>
                <a:lnTo>
                  <a:pt x="6904274" y="19261"/>
                </a:lnTo>
                <a:lnTo>
                  <a:pt x="6860517" y="8695"/>
                </a:lnTo>
                <a:lnTo>
                  <a:pt x="6815307" y="2207"/>
                </a:lnTo>
                <a:lnTo>
                  <a:pt x="6768846" y="0"/>
                </a:lnTo>
                <a:close/>
              </a:path>
            </a:pathLst>
          </a:custGeom>
          <a:solidFill>
            <a:srgbClr val="EF4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71931" y="1194366"/>
            <a:ext cx="3956050" cy="269748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890"/>
              </a:spcBef>
            </a:pPr>
            <a:r>
              <a:rPr sz="1800" spc="-10" dirty="0">
                <a:latin typeface="Calibri"/>
                <a:cs typeface="Calibri"/>
              </a:rPr>
              <a:t>Relatable,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engaging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witty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content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witty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content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great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marketing strategy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stand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out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compared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regular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notifications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will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increase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CTR.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might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play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various psychological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factors,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give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validation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right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ultimately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giving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them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little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push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they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place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order.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653528" y="1016508"/>
            <a:ext cx="4495800" cy="5434965"/>
          </a:xfrm>
          <a:custGeom>
            <a:avLst/>
            <a:gdLst/>
            <a:ahLst/>
            <a:cxnLst/>
            <a:rect l="l" t="t" r="r" b="b"/>
            <a:pathLst>
              <a:path w="4495800" h="5434965">
                <a:moveTo>
                  <a:pt x="3746500" y="0"/>
                </a:moveTo>
                <a:lnTo>
                  <a:pt x="749300" y="0"/>
                </a:lnTo>
                <a:lnTo>
                  <a:pt x="701919" y="1474"/>
                </a:lnTo>
                <a:lnTo>
                  <a:pt x="655321" y="5839"/>
                </a:lnTo>
                <a:lnTo>
                  <a:pt x="609593" y="13006"/>
                </a:lnTo>
                <a:lnTo>
                  <a:pt x="564822" y="22887"/>
                </a:lnTo>
                <a:lnTo>
                  <a:pt x="521098" y="35396"/>
                </a:lnTo>
                <a:lnTo>
                  <a:pt x="478507" y="50443"/>
                </a:lnTo>
                <a:lnTo>
                  <a:pt x="437137" y="67942"/>
                </a:lnTo>
                <a:lnTo>
                  <a:pt x="397077" y="87804"/>
                </a:lnTo>
                <a:lnTo>
                  <a:pt x="358413" y="109941"/>
                </a:lnTo>
                <a:lnTo>
                  <a:pt x="321235" y="134266"/>
                </a:lnTo>
                <a:lnTo>
                  <a:pt x="285629" y="160690"/>
                </a:lnTo>
                <a:lnTo>
                  <a:pt x="251684" y="189127"/>
                </a:lnTo>
                <a:lnTo>
                  <a:pt x="219487" y="219487"/>
                </a:lnTo>
                <a:lnTo>
                  <a:pt x="189127" y="251684"/>
                </a:lnTo>
                <a:lnTo>
                  <a:pt x="160690" y="285629"/>
                </a:lnTo>
                <a:lnTo>
                  <a:pt x="134266" y="321235"/>
                </a:lnTo>
                <a:lnTo>
                  <a:pt x="109941" y="358413"/>
                </a:lnTo>
                <a:lnTo>
                  <a:pt x="87804" y="397077"/>
                </a:lnTo>
                <a:lnTo>
                  <a:pt x="67942" y="437137"/>
                </a:lnTo>
                <a:lnTo>
                  <a:pt x="50443" y="478507"/>
                </a:lnTo>
                <a:lnTo>
                  <a:pt x="35396" y="521098"/>
                </a:lnTo>
                <a:lnTo>
                  <a:pt x="22887" y="564822"/>
                </a:lnTo>
                <a:lnTo>
                  <a:pt x="13006" y="609593"/>
                </a:lnTo>
                <a:lnTo>
                  <a:pt x="5839" y="655321"/>
                </a:lnTo>
                <a:lnTo>
                  <a:pt x="1474" y="701919"/>
                </a:lnTo>
                <a:lnTo>
                  <a:pt x="0" y="749300"/>
                </a:lnTo>
                <a:lnTo>
                  <a:pt x="0" y="4685271"/>
                </a:lnTo>
                <a:lnTo>
                  <a:pt x="1474" y="4732658"/>
                </a:lnTo>
                <a:lnTo>
                  <a:pt x="5839" y="4779262"/>
                </a:lnTo>
                <a:lnTo>
                  <a:pt x="13006" y="4824995"/>
                </a:lnTo>
                <a:lnTo>
                  <a:pt x="22887" y="4869770"/>
                </a:lnTo>
                <a:lnTo>
                  <a:pt x="35396" y="4913498"/>
                </a:lnTo>
                <a:lnTo>
                  <a:pt x="50443" y="4956091"/>
                </a:lnTo>
                <a:lnTo>
                  <a:pt x="67942" y="4997463"/>
                </a:lnTo>
                <a:lnTo>
                  <a:pt x="87804" y="5037524"/>
                </a:lnTo>
                <a:lnTo>
                  <a:pt x="109941" y="5076189"/>
                </a:lnTo>
                <a:lnTo>
                  <a:pt x="134266" y="5113367"/>
                </a:lnTo>
                <a:lnTo>
                  <a:pt x="160690" y="5148973"/>
                </a:lnTo>
                <a:lnTo>
                  <a:pt x="189127" y="5182917"/>
                </a:lnTo>
                <a:lnTo>
                  <a:pt x="219487" y="5215113"/>
                </a:lnTo>
                <a:lnTo>
                  <a:pt x="251684" y="5245473"/>
                </a:lnTo>
                <a:lnTo>
                  <a:pt x="285629" y="5273908"/>
                </a:lnTo>
                <a:lnTo>
                  <a:pt x="321235" y="5300330"/>
                </a:lnTo>
                <a:lnTo>
                  <a:pt x="358413" y="5324653"/>
                </a:lnTo>
                <a:lnTo>
                  <a:pt x="397077" y="5346789"/>
                </a:lnTo>
                <a:lnTo>
                  <a:pt x="437137" y="5366649"/>
                </a:lnTo>
                <a:lnTo>
                  <a:pt x="478507" y="5384146"/>
                </a:lnTo>
                <a:lnTo>
                  <a:pt x="521098" y="5399191"/>
                </a:lnTo>
                <a:lnTo>
                  <a:pt x="564822" y="5411699"/>
                </a:lnTo>
                <a:lnTo>
                  <a:pt x="609593" y="5421579"/>
                </a:lnTo>
                <a:lnTo>
                  <a:pt x="655321" y="5428745"/>
                </a:lnTo>
                <a:lnTo>
                  <a:pt x="701919" y="5433109"/>
                </a:lnTo>
                <a:lnTo>
                  <a:pt x="749300" y="5434583"/>
                </a:lnTo>
                <a:lnTo>
                  <a:pt x="3746500" y="5434583"/>
                </a:lnTo>
                <a:lnTo>
                  <a:pt x="3793880" y="5433109"/>
                </a:lnTo>
                <a:lnTo>
                  <a:pt x="3840478" y="5428745"/>
                </a:lnTo>
                <a:lnTo>
                  <a:pt x="3886206" y="5421579"/>
                </a:lnTo>
                <a:lnTo>
                  <a:pt x="3930977" y="5411699"/>
                </a:lnTo>
                <a:lnTo>
                  <a:pt x="3974701" y="5399191"/>
                </a:lnTo>
                <a:lnTo>
                  <a:pt x="4017292" y="5384146"/>
                </a:lnTo>
                <a:lnTo>
                  <a:pt x="4058662" y="5366649"/>
                </a:lnTo>
                <a:lnTo>
                  <a:pt x="4098722" y="5346789"/>
                </a:lnTo>
                <a:lnTo>
                  <a:pt x="4137386" y="5324653"/>
                </a:lnTo>
                <a:lnTo>
                  <a:pt x="4174564" y="5300330"/>
                </a:lnTo>
                <a:lnTo>
                  <a:pt x="4210170" y="5273908"/>
                </a:lnTo>
                <a:lnTo>
                  <a:pt x="4244115" y="5245473"/>
                </a:lnTo>
                <a:lnTo>
                  <a:pt x="4276312" y="5215113"/>
                </a:lnTo>
                <a:lnTo>
                  <a:pt x="4306672" y="5182917"/>
                </a:lnTo>
                <a:lnTo>
                  <a:pt x="4335109" y="5148973"/>
                </a:lnTo>
                <a:lnTo>
                  <a:pt x="4361533" y="5113367"/>
                </a:lnTo>
                <a:lnTo>
                  <a:pt x="4385858" y="5076189"/>
                </a:lnTo>
                <a:lnTo>
                  <a:pt x="4407995" y="5037524"/>
                </a:lnTo>
                <a:lnTo>
                  <a:pt x="4427857" y="4997463"/>
                </a:lnTo>
                <a:lnTo>
                  <a:pt x="4445356" y="4956091"/>
                </a:lnTo>
                <a:lnTo>
                  <a:pt x="4460403" y="4913498"/>
                </a:lnTo>
                <a:lnTo>
                  <a:pt x="4472912" y="4869770"/>
                </a:lnTo>
                <a:lnTo>
                  <a:pt x="4482793" y="4824995"/>
                </a:lnTo>
                <a:lnTo>
                  <a:pt x="4489960" y="4779262"/>
                </a:lnTo>
                <a:lnTo>
                  <a:pt x="4494325" y="4732658"/>
                </a:lnTo>
                <a:lnTo>
                  <a:pt x="4495800" y="4685271"/>
                </a:lnTo>
                <a:lnTo>
                  <a:pt x="4495800" y="749300"/>
                </a:lnTo>
                <a:lnTo>
                  <a:pt x="4494325" y="701919"/>
                </a:lnTo>
                <a:lnTo>
                  <a:pt x="4489960" y="655321"/>
                </a:lnTo>
                <a:lnTo>
                  <a:pt x="4482793" y="609593"/>
                </a:lnTo>
                <a:lnTo>
                  <a:pt x="4472912" y="564822"/>
                </a:lnTo>
                <a:lnTo>
                  <a:pt x="4460403" y="521098"/>
                </a:lnTo>
                <a:lnTo>
                  <a:pt x="4445356" y="478507"/>
                </a:lnTo>
                <a:lnTo>
                  <a:pt x="4427857" y="437137"/>
                </a:lnTo>
                <a:lnTo>
                  <a:pt x="4407995" y="397077"/>
                </a:lnTo>
                <a:lnTo>
                  <a:pt x="4385858" y="358413"/>
                </a:lnTo>
                <a:lnTo>
                  <a:pt x="4361533" y="321235"/>
                </a:lnTo>
                <a:lnTo>
                  <a:pt x="4335109" y="285629"/>
                </a:lnTo>
                <a:lnTo>
                  <a:pt x="4306672" y="251684"/>
                </a:lnTo>
                <a:lnTo>
                  <a:pt x="4276312" y="219487"/>
                </a:lnTo>
                <a:lnTo>
                  <a:pt x="4244115" y="189127"/>
                </a:lnTo>
                <a:lnTo>
                  <a:pt x="4210170" y="160690"/>
                </a:lnTo>
                <a:lnTo>
                  <a:pt x="4174564" y="134266"/>
                </a:lnTo>
                <a:lnTo>
                  <a:pt x="4137386" y="109941"/>
                </a:lnTo>
                <a:lnTo>
                  <a:pt x="4098722" y="87804"/>
                </a:lnTo>
                <a:lnTo>
                  <a:pt x="4058662" y="67942"/>
                </a:lnTo>
                <a:lnTo>
                  <a:pt x="4017292" y="50443"/>
                </a:lnTo>
                <a:lnTo>
                  <a:pt x="3974701" y="35396"/>
                </a:lnTo>
                <a:lnTo>
                  <a:pt x="3930977" y="22887"/>
                </a:lnTo>
                <a:lnTo>
                  <a:pt x="3886206" y="13006"/>
                </a:lnTo>
                <a:lnTo>
                  <a:pt x="3840478" y="5839"/>
                </a:lnTo>
                <a:lnTo>
                  <a:pt x="3793880" y="1474"/>
                </a:lnTo>
                <a:lnTo>
                  <a:pt x="3746500" y="0"/>
                </a:lnTo>
                <a:close/>
              </a:path>
            </a:pathLst>
          </a:custGeom>
          <a:solidFill>
            <a:srgbClr val="EF4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4486655" y="1463039"/>
            <a:ext cx="2784475" cy="2289175"/>
            <a:chOff x="4486655" y="1463039"/>
            <a:chExt cx="2784475" cy="2289175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86655" y="1463039"/>
              <a:ext cx="2775204" cy="97383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95799" y="2714243"/>
              <a:ext cx="2775204" cy="1037843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924545" y="1048765"/>
            <a:ext cx="3061970" cy="5154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43890">
              <a:lnSpc>
                <a:spcPct val="1346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Order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update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Notification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wont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feel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12700" marR="105219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follow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up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regularly,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they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wont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feel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ghosted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these notifications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delivered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them.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If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major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updates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‘order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picked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up’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‘on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way’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given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user,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decreases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effort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follow-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up.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dramatically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increases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value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feels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increases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retention.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983723" y="1604772"/>
            <a:ext cx="1985772" cy="32202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8555" y="1390269"/>
            <a:ext cx="6039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North</a:t>
            </a:r>
            <a:r>
              <a:rPr sz="2400" spc="-6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Star</a:t>
            </a:r>
            <a:r>
              <a:rPr sz="2400" spc="-8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Metric:</a:t>
            </a:r>
            <a:r>
              <a:rPr sz="2400" spc="-8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Notification</a:t>
            </a:r>
            <a:r>
              <a:rPr sz="2400" spc="-7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Click</a:t>
            </a:r>
            <a:r>
              <a:rPr sz="2400" spc="-6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through</a:t>
            </a:r>
            <a:r>
              <a:rPr sz="2400" spc="-6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Calibri Light"/>
                <a:cs typeface="Calibri Light"/>
              </a:rPr>
              <a:t>Rate</a:t>
            </a:r>
            <a:endParaRPr sz="2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1322" y="2040382"/>
            <a:ext cx="5930900" cy="383667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marR="451484" indent="-228600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CTR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#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Users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tapped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notification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total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#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users notification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ts val="2280"/>
              </a:lnSpc>
              <a:buFont typeface="Arial MT"/>
              <a:buChar char="•"/>
              <a:tabLst>
                <a:tab pos="240665" algn="l"/>
              </a:tabLst>
            </a:pPr>
            <a:r>
              <a:rPr sz="2000" spc="-10" dirty="0">
                <a:latin typeface="Calibri"/>
                <a:cs typeface="Calibri"/>
              </a:rPr>
              <a:t>Conversion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rate: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#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users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transacting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#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users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who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received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notification.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ts val="2280"/>
              </a:lnSpc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ARPU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revenue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generated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week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active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sz="2000" spc="-10" dirty="0">
                <a:latin typeface="Calibri"/>
                <a:cs typeface="Calibri"/>
              </a:rPr>
              <a:t>transacting users.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55"/>
              </a:spcBef>
            </a:pP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ts val="2160"/>
              </a:lnSpc>
              <a:buFont typeface="Arial MT"/>
              <a:buChar char="•"/>
              <a:tabLst>
                <a:tab pos="241300" algn="l"/>
              </a:tabLst>
            </a:pPr>
            <a:r>
              <a:rPr sz="2000" spc="-10" dirty="0">
                <a:latin typeface="Calibri"/>
                <a:cs typeface="Calibri"/>
              </a:rPr>
              <a:t>Retention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(#Cx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month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#Cx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acquired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during </a:t>
            </a:r>
            <a:r>
              <a:rPr sz="2000" dirty="0">
                <a:latin typeface="Calibri"/>
                <a:cs typeface="Calibri"/>
              </a:rPr>
              <a:t>month)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#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Cx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start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month.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97471" y="2040382"/>
            <a:ext cx="4860925" cy="30340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marR="34925" indent="-228600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Frequency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Notifications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 </a:t>
            </a:r>
            <a:r>
              <a:rPr sz="2000" dirty="0">
                <a:latin typeface="Calibri"/>
                <a:cs typeface="Calibri"/>
              </a:rPr>
              <a:t>measured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monitoring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CTR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across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intervals.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2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ts val="2160"/>
              </a:lnSpc>
              <a:buFont typeface="Arial MT"/>
              <a:buChar char="•"/>
              <a:tabLst>
                <a:tab pos="241300" algn="l"/>
              </a:tabLst>
            </a:pPr>
            <a:r>
              <a:rPr sz="2000" spc="-10" dirty="0">
                <a:latin typeface="Calibri"/>
                <a:cs typeface="Calibri"/>
              </a:rPr>
              <a:t>Engagement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rate: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per day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4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ts val="2280"/>
              </a:lnSpc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Uninstall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#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uninstalls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#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notifications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sz="2000" spc="-20" dirty="0">
                <a:latin typeface="Calibri"/>
                <a:cs typeface="Calibri"/>
              </a:rPr>
              <a:t>sent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909</Words>
  <Application>Microsoft Office PowerPoint</Application>
  <PresentationFormat>Widescreen</PresentationFormat>
  <Paragraphs>124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 MT</vt:lpstr>
      <vt:lpstr>Calibri</vt:lpstr>
      <vt:lpstr>Calibri Light</vt:lpstr>
      <vt:lpstr>Segoe UI Emoji</vt:lpstr>
      <vt:lpstr>Times New Roman</vt:lpstr>
      <vt:lpstr>Office Theme</vt:lpstr>
      <vt:lpstr>PowerPoint Presentation</vt:lpstr>
      <vt:lpstr>PowerPoint Presentation</vt:lpstr>
      <vt:lpstr>Rahul 24, Working Professional Gurgaon, India</vt:lpstr>
      <vt:lpstr>PowerPoint Presentation</vt:lpstr>
      <vt:lpstr>PowerPoint Presentation</vt:lpstr>
      <vt:lpstr>North Star Metric: Notification Click through Rate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Mayank Kumar</dc:creator>
  <cp:lastModifiedBy>Mayank Kumar</cp:lastModifiedBy>
  <cp:revision>1</cp:revision>
  <dcterms:created xsi:type="dcterms:W3CDTF">2026-05-21T11:09:11Z</dcterms:created>
  <dcterms:modified xsi:type="dcterms:W3CDTF">2026-05-21T11:12:44Z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2022-12-23T00:00:00Z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2026-05-21T00:00:00Z</vt:filetime>
  </property>
  <property fmtid="{D5CDD505-2E9C-101B-9397-08002B2CF9AE}" pid="5" name="Producer">
    <vt:lpwstr>Microsoft® PowerPoint® for Microsoft 365</vt:lpwstr>
  </property>
</Properties>
</file>