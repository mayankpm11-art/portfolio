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0241" y="1668602"/>
            <a:ext cx="681291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z="6000" spc="-275" dirty="0">
                <a:solidFill>
                  <a:srgbClr val="E40913"/>
                </a:solidFill>
                <a:latin typeface="Tahoma"/>
                <a:cs typeface="Tahoma"/>
              </a:rPr>
              <a:t>NETFLIX</a:t>
            </a:r>
            <a:endParaRPr sz="6000">
              <a:latin typeface="Tahoma"/>
              <a:cs typeface="Tahoma"/>
            </a:endParaRPr>
          </a:p>
          <a:p>
            <a:pPr algn="ctr">
              <a:lnSpc>
                <a:spcPts val="6840"/>
              </a:lnSpc>
            </a:pPr>
            <a:r>
              <a:rPr sz="6000" spc="-125" dirty="0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sz="6000" spc="-6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0" spc="-15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6000" spc="-6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0" spc="-290" dirty="0">
                <a:solidFill>
                  <a:srgbClr val="FFFFFF"/>
                </a:solidFill>
                <a:latin typeface="Tahoma"/>
                <a:cs typeface="Tahoma"/>
              </a:rPr>
              <a:t>Onboarding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2165" y="3733800"/>
            <a:ext cx="2947670" cy="43665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2400" spc="-75" dirty="0">
                <a:solidFill>
                  <a:srgbClr val="E70913"/>
                </a:solidFill>
                <a:latin typeface="Tahoma"/>
                <a:cs typeface="Tahoma"/>
              </a:rPr>
              <a:t>Product</a:t>
            </a:r>
            <a:r>
              <a:rPr sz="2400" spc="-195" dirty="0">
                <a:solidFill>
                  <a:srgbClr val="E70913"/>
                </a:solidFill>
                <a:latin typeface="Tahoma"/>
                <a:cs typeface="Tahoma"/>
              </a:rPr>
              <a:t> </a:t>
            </a:r>
            <a:r>
              <a:rPr sz="2400" spc="-145" dirty="0">
                <a:solidFill>
                  <a:srgbClr val="E70913"/>
                </a:solidFill>
                <a:latin typeface="Tahoma"/>
                <a:cs typeface="Tahoma"/>
              </a:rPr>
              <a:t>Teardown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55419" cy="5379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87000" y="6067043"/>
            <a:ext cx="1809114" cy="423193"/>
          </a:xfrm>
          <a:prstGeom prst="rect">
            <a:avLst/>
          </a:prstGeom>
          <a:solidFill>
            <a:srgbClr val="0C0C0C"/>
          </a:solidFill>
        </p:spPr>
        <p:txBody>
          <a:bodyPr vert="horz" wrap="square" lIns="0" tIns="14478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1140"/>
              </a:spcBef>
            </a:pPr>
            <a:r>
              <a:rPr lang="en-IN" sz="1800" spc="-80" dirty="0">
                <a:solidFill>
                  <a:srgbClr val="FFFFFF"/>
                </a:solidFill>
                <a:latin typeface="Tahoma"/>
                <a:cs typeface="Tahoma"/>
              </a:rPr>
              <a:t>Mayank Kumar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4413" y="137540"/>
            <a:ext cx="9607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Introduction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23514" y="135382"/>
            <a:ext cx="702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91305" y="130810"/>
            <a:ext cx="986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Persona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61357" y="145160"/>
            <a:ext cx="13011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Journey</a:t>
            </a:r>
            <a:r>
              <a:rPr sz="1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Map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0304" y="145160"/>
            <a:ext cx="1793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r>
              <a:rPr sz="1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21471" y="148539"/>
            <a:ext cx="8661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8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3180" y="854456"/>
            <a:ext cx="8253095" cy="23583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73660" indent="-228600">
              <a:lnSpc>
                <a:spcPts val="2160"/>
              </a:lnSpc>
              <a:spcBef>
                <a:spcPts val="375"/>
              </a:spcBef>
              <a:buClr>
                <a:srgbClr val="FFFFFF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spc="-18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20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20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American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subscription</a:t>
            </a:r>
            <a:r>
              <a:rPr sz="20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streaming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founded</a:t>
            </a:r>
            <a:r>
              <a:rPr sz="20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back</a:t>
            </a:r>
            <a:r>
              <a:rPr sz="20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1997,</a:t>
            </a:r>
            <a:r>
              <a:rPr sz="20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based 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ahoma"/>
                <a:cs typeface="Tahoma"/>
              </a:rPr>
              <a:t>Los</a:t>
            </a:r>
            <a:r>
              <a:rPr sz="20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Gatos,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California.</a:t>
            </a:r>
            <a:endParaRPr sz="2000">
              <a:latin typeface="Tahoma"/>
              <a:cs typeface="Tahoma"/>
            </a:endParaRPr>
          </a:p>
          <a:p>
            <a:pPr marL="241300" marR="5080" indent="-228600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80" dirty="0">
                <a:solidFill>
                  <a:srgbClr val="FFFFFF"/>
                </a:solidFill>
                <a:latin typeface="Tahoma"/>
                <a:cs typeface="Tahoma"/>
              </a:rPr>
              <a:t>It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0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streaming</a:t>
            </a:r>
            <a:r>
              <a:rPr sz="20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giant</a:t>
            </a:r>
            <a:r>
              <a:rPr sz="20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20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220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million</a:t>
            </a:r>
            <a:r>
              <a:rPr sz="20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paid</a:t>
            </a:r>
            <a:r>
              <a:rPr sz="20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subscribers</a:t>
            </a:r>
            <a:r>
              <a:rPr sz="20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worldwide</a:t>
            </a:r>
            <a:r>
              <a:rPr sz="20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(2022) 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Tahoma"/>
                <a:cs typeface="Tahoma"/>
              </a:rPr>
              <a:t>revenue</a:t>
            </a:r>
            <a:r>
              <a:rPr sz="20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$</a:t>
            </a:r>
            <a:r>
              <a:rPr sz="20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30</a:t>
            </a:r>
            <a:r>
              <a:rPr sz="20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billion</a:t>
            </a:r>
            <a:r>
              <a:rPr sz="20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(2021)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presence</a:t>
            </a:r>
            <a:r>
              <a:rPr sz="20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currently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ahoma"/>
                <a:cs typeface="Tahoma"/>
              </a:rPr>
              <a:t>190+</a:t>
            </a:r>
            <a:r>
              <a:rPr sz="20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countries,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0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15,000</a:t>
            </a:r>
            <a:r>
              <a:rPr sz="20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20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titles</a:t>
            </a:r>
            <a:endParaRPr sz="2000">
              <a:latin typeface="Tahoma"/>
              <a:cs typeface="Tahoma"/>
            </a:endParaRPr>
          </a:p>
          <a:p>
            <a:pPr marL="241300">
              <a:lnSpc>
                <a:spcPts val="2280"/>
              </a:lnSpc>
            </a:pPr>
            <a:r>
              <a:rPr sz="2000" spc="-6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0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30" dirty="0">
                <a:solidFill>
                  <a:srgbClr val="FFFFFF"/>
                </a:solidFill>
                <a:latin typeface="Tahoma"/>
                <a:cs typeface="Tahoma"/>
              </a:rPr>
              <a:t>30+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languages!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2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20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main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competitors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include: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" y="2910839"/>
            <a:ext cx="2607564" cy="5562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56" y="867155"/>
            <a:ext cx="2607564" cy="19552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8844" y="5413654"/>
            <a:ext cx="28975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E60913"/>
                </a:solidFill>
                <a:latin typeface="Tahoma"/>
                <a:cs typeface="Tahoma"/>
              </a:rPr>
              <a:t>Did</a:t>
            </a:r>
            <a:r>
              <a:rPr sz="1800" spc="-190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E60913"/>
                </a:solidFill>
                <a:latin typeface="Tahoma"/>
                <a:cs typeface="Tahoma"/>
              </a:rPr>
              <a:t>you</a:t>
            </a:r>
            <a:r>
              <a:rPr sz="1800" spc="-180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E60913"/>
                </a:solidFill>
                <a:latin typeface="Tahoma"/>
                <a:cs typeface="Tahoma"/>
              </a:rPr>
              <a:t>know?</a:t>
            </a:r>
            <a:endParaRPr sz="1800">
              <a:latin typeface="Tahoma"/>
              <a:cs typeface="Tahoma"/>
            </a:endParaRPr>
          </a:p>
          <a:p>
            <a:pPr marL="12065" marR="5080" algn="ctr">
              <a:lnSpc>
                <a:spcPct val="100000"/>
              </a:lnSpc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average,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Netflix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subscribers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spend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3+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hours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per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day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consuming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content?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40835" y="3287267"/>
            <a:ext cx="1668780" cy="8915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6523" y="3201923"/>
            <a:ext cx="1041653" cy="10965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67371" y="3188207"/>
            <a:ext cx="1487424" cy="990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93123" y="3188207"/>
            <a:ext cx="1882139" cy="9906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5549" y="3569334"/>
            <a:ext cx="306578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60913"/>
                </a:solidFill>
                <a:latin typeface="Calibri"/>
                <a:cs typeface="Calibri"/>
              </a:rPr>
              <a:t>“At</a:t>
            </a:r>
            <a:r>
              <a:rPr sz="1800" spc="-40" dirty="0">
                <a:solidFill>
                  <a:srgbClr val="E6091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60913"/>
                </a:solidFill>
                <a:latin typeface="Calibri"/>
                <a:cs typeface="Calibri"/>
              </a:rPr>
              <a:t>Netflix,</a:t>
            </a:r>
            <a:r>
              <a:rPr sz="1800" spc="-15" dirty="0">
                <a:solidFill>
                  <a:srgbClr val="E6091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entertain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world.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Whatever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taste,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matter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live,</a:t>
            </a:r>
            <a:endParaRPr sz="1800">
              <a:latin typeface="Calibri"/>
              <a:cs typeface="Calibri"/>
            </a:endParaRPr>
          </a:p>
          <a:p>
            <a:pPr marL="12700" marR="27749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give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best-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in-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TV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shows,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movies,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documentaries.”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95802" y="4399533"/>
            <a:ext cx="4598670" cy="6718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484"/>
              </a:spcBef>
            </a:pPr>
            <a:r>
              <a:rPr sz="1800" spc="-80" dirty="0">
                <a:solidFill>
                  <a:srgbClr val="E60913"/>
                </a:solidFill>
                <a:latin typeface="Tahoma"/>
                <a:cs typeface="Tahoma"/>
              </a:rPr>
              <a:t>Value</a:t>
            </a:r>
            <a:r>
              <a:rPr sz="1800" spc="-150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E60913"/>
                </a:solidFill>
                <a:latin typeface="Tahoma"/>
                <a:cs typeface="Tahoma"/>
              </a:rPr>
              <a:t>Propositions: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provide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quality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entertainment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24x7.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5802" y="5320410"/>
            <a:ext cx="458279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Access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vast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diverse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library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content.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demand,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24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7,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no-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ad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service.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Possibility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binge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watching.</a:t>
            </a:r>
            <a:endParaRPr sz="1800">
              <a:latin typeface="Tahoma"/>
              <a:cs typeface="Tahoma"/>
            </a:endParaRPr>
          </a:p>
          <a:p>
            <a:pPr marL="299085" marR="1524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Personalised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list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recommendations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based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watches.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01659" y="5319776"/>
            <a:ext cx="37141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Original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content.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accounts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allowing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personalised</a:t>
            </a:r>
            <a:endParaRPr sz="180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</a:pP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family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member.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Access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device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internet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73552" y="3550920"/>
            <a:ext cx="0" cy="3111500"/>
          </a:xfrm>
          <a:custGeom>
            <a:avLst/>
            <a:gdLst/>
            <a:ahLst/>
            <a:cxnLst/>
            <a:rect l="l" t="t" r="r" b="b"/>
            <a:pathLst>
              <a:path h="3111500">
                <a:moveTo>
                  <a:pt x="0" y="0"/>
                </a:moveTo>
                <a:lnTo>
                  <a:pt x="0" y="3111182"/>
                </a:lnTo>
              </a:path>
            </a:pathLst>
          </a:custGeom>
          <a:ln w="635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455419" cy="53797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534413" y="148539"/>
            <a:ext cx="9036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2522" y="145160"/>
            <a:ext cx="744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Overview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29025" y="145160"/>
            <a:ext cx="986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Persona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32984" y="148539"/>
            <a:ext cx="13011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Journey</a:t>
            </a:r>
            <a:r>
              <a:rPr sz="1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Map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5460" y="145160"/>
            <a:ext cx="1793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r>
              <a:rPr sz="1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77808" y="145160"/>
            <a:ext cx="8655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28816" y="880872"/>
            <a:ext cx="5206365" cy="5560060"/>
          </a:xfrm>
          <a:custGeom>
            <a:avLst/>
            <a:gdLst/>
            <a:ahLst/>
            <a:cxnLst/>
            <a:rect l="l" t="t" r="r" b="b"/>
            <a:pathLst>
              <a:path w="5206365" h="5560060">
                <a:moveTo>
                  <a:pt x="4338319" y="0"/>
                </a:moveTo>
                <a:lnTo>
                  <a:pt x="867663" y="0"/>
                </a:lnTo>
                <a:lnTo>
                  <a:pt x="820060" y="1283"/>
                </a:lnTo>
                <a:lnTo>
                  <a:pt x="773127" y="5091"/>
                </a:lnTo>
                <a:lnTo>
                  <a:pt x="726930" y="11356"/>
                </a:lnTo>
                <a:lnTo>
                  <a:pt x="681537" y="20013"/>
                </a:lnTo>
                <a:lnTo>
                  <a:pt x="637013" y="30995"/>
                </a:lnTo>
                <a:lnTo>
                  <a:pt x="593425" y="44236"/>
                </a:lnTo>
                <a:lnTo>
                  <a:pt x="550838" y="59670"/>
                </a:lnTo>
                <a:lnTo>
                  <a:pt x="509319" y="77231"/>
                </a:lnTo>
                <a:lnTo>
                  <a:pt x="468934" y="96852"/>
                </a:lnTo>
                <a:lnTo>
                  <a:pt x="429749" y="118467"/>
                </a:lnTo>
                <a:lnTo>
                  <a:pt x="391830" y="142011"/>
                </a:lnTo>
                <a:lnTo>
                  <a:pt x="355244" y="167416"/>
                </a:lnTo>
                <a:lnTo>
                  <a:pt x="320056" y="194617"/>
                </a:lnTo>
                <a:lnTo>
                  <a:pt x="286334" y="223548"/>
                </a:lnTo>
                <a:lnTo>
                  <a:pt x="254142" y="254142"/>
                </a:lnTo>
                <a:lnTo>
                  <a:pt x="223548" y="286334"/>
                </a:lnTo>
                <a:lnTo>
                  <a:pt x="194617" y="320056"/>
                </a:lnTo>
                <a:lnTo>
                  <a:pt x="167416" y="355244"/>
                </a:lnTo>
                <a:lnTo>
                  <a:pt x="142011" y="391830"/>
                </a:lnTo>
                <a:lnTo>
                  <a:pt x="118467" y="429749"/>
                </a:lnTo>
                <a:lnTo>
                  <a:pt x="96852" y="468934"/>
                </a:lnTo>
                <a:lnTo>
                  <a:pt x="77231" y="509319"/>
                </a:lnTo>
                <a:lnTo>
                  <a:pt x="59670" y="550838"/>
                </a:lnTo>
                <a:lnTo>
                  <a:pt x="44236" y="593425"/>
                </a:lnTo>
                <a:lnTo>
                  <a:pt x="30995" y="637013"/>
                </a:lnTo>
                <a:lnTo>
                  <a:pt x="20013" y="681537"/>
                </a:lnTo>
                <a:lnTo>
                  <a:pt x="11356" y="726930"/>
                </a:lnTo>
                <a:lnTo>
                  <a:pt x="5091" y="773127"/>
                </a:lnTo>
                <a:lnTo>
                  <a:pt x="1283" y="820060"/>
                </a:lnTo>
                <a:lnTo>
                  <a:pt x="0" y="867663"/>
                </a:lnTo>
                <a:lnTo>
                  <a:pt x="0" y="4691888"/>
                </a:lnTo>
                <a:lnTo>
                  <a:pt x="1283" y="4739492"/>
                </a:lnTo>
                <a:lnTo>
                  <a:pt x="5091" y="4786427"/>
                </a:lnTo>
                <a:lnTo>
                  <a:pt x="11356" y="4832624"/>
                </a:lnTo>
                <a:lnTo>
                  <a:pt x="20013" y="4878018"/>
                </a:lnTo>
                <a:lnTo>
                  <a:pt x="30995" y="4922542"/>
                </a:lnTo>
                <a:lnTo>
                  <a:pt x="44236" y="4966131"/>
                </a:lnTo>
                <a:lnTo>
                  <a:pt x="59670" y="5008718"/>
                </a:lnTo>
                <a:lnTo>
                  <a:pt x="77231" y="5050238"/>
                </a:lnTo>
                <a:lnTo>
                  <a:pt x="96852" y="5090623"/>
                </a:lnTo>
                <a:lnTo>
                  <a:pt x="118467" y="5129808"/>
                </a:lnTo>
                <a:lnTo>
                  <a:pt x="142011" y="5167727"/>
                </a:lnTo>
                <a:lnTo>
                  <a:pt x="167416" y="5204313"/>
                </a:lnTo>
                <a:lnTo>
                  <a:pt x="194617" y="5239500"/>
                </a:lnTo>
                <a:lnTo>
                  <a:pt x="223548" y="5273222"/>
                </a:lnTo>
                <a:lnTo>
                  <a:pt x="254142" y="5305413"/>
                </a:lnTo>
                <a:lnTo>
                  <a:pt x="286334" y="5336007"/>
                </a:lnTo>
                <a:lnTo>
                  <a:pt x="320056" y="5364938"/>
                </a:lnTo>
                <a:lnTo>
                  <a:pt x="355244" y="5392139"/>
                </a:lnTo>
                <a:lnTo>
                  <a:pt x="391830" y="5417544"/>
                </a:lnTo>
                <a:lnTo>
                  <a:pt x="429749" y="5441087"/>
                </a:lnTo>
                <a:lnTo>
                  <a:pt x="468934" y="5462702"/>
                </a:lnTo>
                <a:lnTo>
                  <a:pt x="509319" y="5482322"/>
                </a:lnTo>
                <a:lnTo>
                  <a:pt x="550838" y="5499883"/>
                </a:lnTo>
                <a:lnTo>
                  <a:pt x="593425" y="5515316"/>
                </a:lnTo>
                <a:lnTo>
                  <a:pt x="637013" y="5528557"/>
                </a:lnTo>
                <a:lnTo>
                  <a:pt x="681537" y="5539538"/>
                </a:lnTo>
                <a:lnTo>
                  <a:pt x="726930" y="5548195"/>
                </a:lnTo>
                <a:lnTo>
                  <a:pt x="773127" y="5554460"/>
                </a:lnTo>
                <a:lnTo>
                  <a:pt x="820060" y="5558268"/>
                </a:lnTo>
                <a:lnTo>
                  <a:pt x="867663" y="5559552"/>
                </a:lnTo>
                <a:lnTo>
                  <a:pt x="4338319" y="5559552"/>
                </a:lnTo>
                <a:lnTo>
                  <a:pt x="4385923" y="5558268"/>
                </a:lnTo>
                <a:lnTo>
                  <a:pt x="4432856" y="5554460"/>
                </a:lnTo>
                <a:lnTo>
                  <a:pt x="4479053" y="5548195"/>
                </a:lnTo>
                <a:lnTo>
                  <a:pt x="4524446" y="5539538"/>
                </a:lnTo>
                <a:lnTo>
                  <a:pt x="4568970" y="5528557"/>
                </a:lnTo>
                <a:lnTo>
                  <a:pt x="4612558" y="5515316"/>
                </a:lnTo>
                <a:lnTo>
                  <a:pt x="4655145" y="5499883"/>
                </a:lnTo>
                <a:lnTo>
                  <a:pt x="4696664" y="5482322"/>
                </a:lnTo>
                <a:lnTo>
                  <a:pt x="4737049" y="5462702"/>
                </a:lnTo>
                <a:lnTo>
                  <a:pt x="4776234" y="5441087"/>
                </a:lnTo>
                <a:lnTo>
                  <a:pt x="4814153" y="5417544"/>
                </a:lnTo>
                <a:lnTo>
                  <a:pt x="4850739" y="5392139"/>
                </a:lnTo>
                <a:lnTo>
                  <a:pt x="4885927" y="5364938"/>
                </a:lnTo>
                <a:lnTo>
                  <a:pt x="4919649" y="5336007"/>
                </a:lnTo>
                <a:lnTo>
                  <a:pt x="4951841" y="5305413"/>
                </a:lnTo>
                <a:lnTo>
                  <a:pt x="4982435" y="5273222"/>
                </a:lnTo>
                <a:lnTo>
                  <a:pt x="5011366" y="5239500"/>
                </a:lnTo>
                <a:lnTo>
                  <a:pt x="5038567" y="5204313"/>
                </a:lnTo>
                <a:lnTo>
                  <a:pt x="5063972" y="5167727"/>
                </a:lnTo>
                <a:lnTo>
                  <a:pt x="5087516" y="5129808"/>
                </a:lnTo>
                <a:lnTo>
                  <a:pt x="5109131" y="5090623"/>
                </a:lnTo>
                <a:lnTo>
                  <a:pt x="5128752" y="5050238"/>
                </a:lnTo>
                <a:lnTo>
                  <a:pt x="5146313" y="5008718"/>
                </a:lnTo>
                <a:lnTo>
                  <a:pt x="5161747" y="4966131"/>
                </a:lnTo>
                <a:lnTo>
                  <a:pt x="5174988" y="4922542"/>
                </a:lnTo>
                <a:lnTo>
                  <a:pt x="5185970" y="4878018"/>
                </a:lnTo>
                <a:lnTo>
                  <a:pt x="5194627" y="4832624"/>
                </a:lnTo>
                <a:lnTo>
                  <a:pt x="5200892" y="4786427"/>
                </a:lnTo>
                <a:lnTo>
                  <a:pt x="5204700" y="4739492"/>
                </a:lnTo>
                <a:lnTo>
                  <a:pt x="5205983" y="4691888"/>
                </a:lnTo>
                <a:lnTo>
                  <a:pt x="5205983" y="867663"/>
                </a:lnTo>
                <a:lnTo>
                  <a:pt x="5204700" y="820060"/>
                </a:lnTo>
                <a:lnTo>
                  <a:pt x="5200892" y="773127"/>
                </a:lnTo>
                <a:lnTo>
                  <a:pt x="5194627" y="726930"/>
                </a:lnTo>
                <a:lnTo>
                  <a:pt x="5185970" y="681537"/>
                </a:lnTo>
                <a:lnTo>
                  <a:pt x="5174988" y="637013"/>
                </a:lnTo>
                <a:lnTo>
                  <a:pt x="5161747" y="593425"/>
                </a:lnTo>
                <a:lnTo>
                  <a:pt x="5146313" y="550838"/>
                </a:lnTo>
                <a:lnTo>
                  <a:pt x="5128752" y="509319"/>
                </a:lnTo>
                <a:lnTo>
                  <a:pt x="5109131" y="468934"/>
                </a:lnTo>
                <a:lnTo>
                  <a:pt x="5087516" y="429749"/>
                </a:lnTo>
                <a:lnTo>
                  <a:pt x="5063972" y="391830"/>
                </a:lnTo>
                <a:lnTo>
                  <a:pt x="5038567" y="355244"/>
                </a:lnTo>
                <a:lnTo>
                  <a:pt x="5011366" y="320056"/>
                </a:lnTo>
                <a:lnTo>
                  <a:pt x="4982435" y="286334"/>
                </a:lnTo>
                <a:lnTo>
                  <a:pt x="4951841" y="254142"/>
                </a:lnTo>
                <a:lnTo>
                  <a:pt x="4919649" y="223548"/>
                </a:lnTo>
                <a:lnTo>
                  <a:pt x="4885927" y="194617"/>
                </a:lnTo>
                <a:lnTo>
                  <a:pt x="4850739" y="167416"/>
                </a:lnTo>
                <a:lnTo>
                  <a:pt x="4814153" y="142011"/>
                </a:lnTo>
                <a:lnTo>
                  <a:pt x="4776234" y="118467"/>
                </a:lnTo>
                <a:lnTo>
                  <a:pt x="4737049" y="96852"/>
                </a:lnTo>
                <a:lnTo>
                  <a:pt x="4696664" y="77231"/>
                </a:lnTo>
                <a:lnTo>
                  <a:pt x="4655145" y="59670"/>
                </a:lnTo>
                <a:lnTo>
                  <a:pt x="4612558" y="44236"/>
                </a:lnTo>
                <a:lnTo>
                  <a:pt x="4568970" y="30995"/>
                </a:lnTo>
                <a:lnTo>
                  <a:pt x="4524446" y="20013"/>
                </a:lnTo>
                <a:lnTo>
                  <a:pt x="4479053" y="11356"/>
                </a:lnTo>
                <a:lnTo>
                  <a:pt x="4432856" y="5091"/>
                </a:lnTo>
                <a:lnTo>
                  <a:pt x="4385923" y="1283"/>
                </a:lnTo>
                <a:lnTo>
                  <a:pt x="433831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885444"/>
            <a:ext cx="5206365" cy="5771515"/>
          </a:xfrm>
          <a:custGeom>
            <a:avLst/>
            <a:gdLst/>
            <a:ahLst/>
            <a:cxnLst/>
            <a:rect l="l" t="t" r="r" b="b"/>
            <a:pathLst>
              <a:path w="5206365" h="5771515">
                <a:moveTo>
                  <a:pt x="4338320" y="0"/>
                </a:moveTo>
                <a:lnTo>
                  <a:pt x="867663" y="0"/>
                </a:lnTo>
                <a:lnTo>
                  <a:pt x="820059" y="1283"/>
                </a:lnTo>
                <a:lnTo>
                  <a:pt x="773124" y="5091"/>
                </a:lnTo>
                <a:lnTo>
                  <a:pt x="726927" y="11356"/>
                </a:lnTo>
                <a:lnTo>
                  <a:pt x="681533" y="20013"/>
                </a:lnTo>
                <a:lnTo>
                  <a:pt x="637009" y="30995"/>
                </a:lnTo>
                <a:lnTo>
                  <a:pt x="593420" y="44236"/>
                </a:lnTo>
                <a:lnTo>
                  <a:pt x="550833" y="59670"/>
                </a:lnTo>
                <a:lnTo>
                  <a:pt x="509313" y="77231"/>
                </a:lnTo>
                <a:lnTo>
                  <a:pt x="468928" y="96852"/>
                </a:lnTo>
                <a:lnTo>
                  <a:pt x="429743" y="118467"/>
                </a:lnTo>
                <a:lnTo>
                  <a:pt x="391824" y="142011"/>
                </a:lnTo>
                <a:lnTo>
                  <a:pt x="355238" y="167416"/>
                </a:lnTo>
                <a:lnTo>
                  <a:pt x="320051" y="194617"/>
                </a:lnTo>
                <a:lnTo>
                  <a:pt x="286329" y="223548"/>
                </a:lnTo>
                <a:lnTo>
                  <a:pt x="254138" y="254142"/>
                </a:lnTo>
                <a:lnTo>
                  <a:pt x="223544" y="286334"/>
                </a:lnTo>
                <a:lnTo>
                  <a:pt x="194613" y="320056"/>
                </a:lnTo>
                <a:lnTo>
                  <a:pt x="167412" y="355244"/>
                </a:lnTo>
                <a:lnTo>
                  <a:pt x="142007" y="391830"/>
                </a:lnTo>
                <a:lnTo>
                  <a:pt x="118464" y="429749"/>
                </a:lnTo>
                <a:lnTo>
                  <a:pt x="96849" y="468934"/>
                </a:lnTo>
                <a:lnTo>
                  <a:pt x="77229" y="509319"/>
                </a:lnTo>
                <a:lnTo>
                  <a:pt x="59668" y="550838"/>
                </a:lnTo>
                <a:lnTo>
                  <a:pt x="44235" y="593425"/>
                </a:lnTo>
                <a:lnTo>
                  <a:pt x="30994" y="637013"/>
                </a:lnTo>
                <a:lnTo>
                  <a:pt x="20013" y="681537"/>
                </a:lnTo>
                <a:lnTo>
                  <a:pt x="11356" y="726930"/>
                </a:lnTo>
                <a:lnTo>
                  <a:pt x="5091" y="773127"/>
                </a:lnTo>
                <a:lnTo>
                  <a:pt x="1283" y="820060"/>
                </a:lnTo>
                <a:lnTo>
                  <a:pt x="0" y="867663"/>
                </a:lnTo>
                <a:lnTo>
                  <a:pt x="0" y="4903698"/>
                </a:lnTo>
                <a:lnTo>
                  <a:pt x="1283" y="4951306"/>
                </a:lnTo>
                <a:lnTo>
                  <a:pt x="5091" y="4998242"/>
                </a:lnTo>
                <a:lnTo>
                  <a:pt x="11356" y="5044441"/>
                </a:lnTo>
                <a:lnTo>
                  <a:pt x="20013" y="5089837"/>
                </a:lnTo>
                <a:lnTo>
                  <a:pt x="30994" y="5134363"/>
                </a:lnTo>
                <a:lnTo>
                  <a:pt x="44235" y="5177954"/>
                </a:lnTo>
                <a:lnTo>
                  <a:pt x="59668" y="5220543"/>
                </a:lnTo>
                <a:lnTo>
                  <a:pt x="77229" y="5262064"/>
                </a:lnTo>
                <a:lnTo>
                  <a:pt x="96849" y="5302450"/>
                </a:lnTo>
                <a:lnTo>
                  <a:pt x="118464" y="5341636"/>
                </a:lnTo>
                <a:lnTo>
                  <a:pt x="142007" y="5379556"/>
                </a:lnTo>
                <a:lnTo>
                  <a:pt x="167412" y="5416143"/>
                </a:lnTo>
                <a:lnTo>
                  <a:pt x="194613" y="5451331"/>
                </a:lnTo>
                <a:lnTo>
                  <a:pt x="223544" y="5485054"/>
                </a:lnTo>
                <a:lnTo>
                  <a:pt x="254138" y="5517246"/>
                </a:lnTo>
                <a:lnTo>
                  <a:pt x="286329" y="5547841"/>
                </a:lnTo>
                <a:lnTo>
                  <a:pt x="320051" y="5576772"/>
                </a:lnTo>
                <a:lnTo>
                  <a:pt x="355238" y="5603973"/>
                </a:lnTo>
                <a:lnTo>
                  <a:pt x="391824" y="5629378"/>
                </a:lnTo>
                <a:lnTo>
                  <a:pt x="429743" y="5652922"/>
                </a:lnTo>
                <a:lnTo>
                  <a:pt x="468928" y="5674537"/>
                </a:lnTo>
                <a:lnTo>
                  <a:pt x="509313" y="5694158"/>
                </a:lnTo>
                <a:lnTo>
                  <a:pt x="550833" y="5711718"/>
                </a:lnTo>
                <a:lnTo>
                  <a:pt x="593420" y="5727152"/>
                </a:lnTo>
                <a:lnTo>
                  <a:pt x="637009" y="5740393"/>
                </a:lnTo>
                <a:lnTo>
                  <a:pt x="681533" y="5751374"/>
                </a:lnTo>
                <a:lnTo>
                  <a:pt x="726927" y="5760031"/>
                </a:lnTo>
                <a:lnTo>
                  <a:pt x="773124" y="5766296"/>
                </a:lnTo>
                <a:lnTo>
                  <a:pt x="820059" y="5770104"/>
                </a:lnTo>
                <a:lnTo>
                  <a:pt x="867663" y="5771388"/>
                </a:lnTo>
                <a:lnTo>
                  <a:pt x="4338320" y="5771388"/>
                </a:lnTo>
                <a:lnTo>
                  <a:pt x="4385923" y="5770104"/>
                </a:lnTo>
                <a:lnTo>
                  <a:pt x="4432856" y="5766296"/>
                </a:lnTo>
                <a:lnTo>
                  <a:pt x="4479053" y="5760031"/>
                </a:lnTo>
                <a:lnTo>
                  <a:pt x="4524446" y="5751374"/>
                </a:lnTo>
                <a:lnTo>
                  <a:pt x="4568970" y="5740393"/>
                </a:lnTo>
                <a:lnTo>
                  <a:pt x="4612558" y="5727152"/>
                </a:lnTo>
                <a:lnTo>
                  <a:pt x="4655145" y="5711718"/>
                </a:lnTo>
                <a:lnTo>
                  <a:pt x="4696664" y="5694158"/>
                </a:lnTo>
                <a:lnTo>
                  <a:pt x="4737049" y="5674537"/>
                </a:lnTo>
                <a:lnTo>
                  <a:pt x="4776234" y="5652922"/>
                </a:lnTo>
                <a:lnTo>
                  <a:pt x="4814153" y="5629378"/>
                </a:lnTo>
                <a:lnTo>
                  <a:pt x="4850739" y="5603973"/>
                </a:lnTo>
                <a:lnTo>
                  <a:pt x="4885927" y="5576772"/>
                </a:lnTo>
                <a:lnTo>
                  <a:pt x="4919649" y="5547841"/>
                </a:lnTo>
                <a:lnTo>
                  <a:pt x="4951841" y="5517246"/>
                </a:lnTo>
                <a:lnTo>
                  <a:pt x="4982435" y="5485054"/>
                </a:lnTo>
                <a:lnTo>
                  <a:pt x="5011366" y="5451331"/>
                </a:lnTo>
                <a:lnTo>
                  <a:pt x="5038567" y="5416143"/>
                </a:lnTo>
                <a:lnTo>
                  <a:pt x="5063972" y="5379556"/>
                </a:lnTo>
                <a:lnTo>
                  <a:pt x="5087516" y="5341636"/>
                </a:lnTo>
                <a:lnTo>
                  <a:pt x="5109131" y="5302450"/>
                </a:lnTo>
                <a:lnTo>
                  <a:pt x="5128752" y="5262064"/>
                </a:lnTo>
                <a:lnTo>
                  <a:pt x="5146313" y="5220543"/>
                </a:lnTo>
                <a:lnTo>
                  <a:pt x="5161747" y="5177954"/>
                </a:lnTo>
                <a:lnTo>
                  <a:pt x="5174988" y="5134363"/>
                </a:lnTo>
                <a:lnTo>
                  <a:pt x="5185970" y="5089837"/>
                </a:lnTo>
                <a:lnTo>
                  <a:pt x="5194627" y="5044441"/>
                </a:lnTo>
                <a:lnTo>
                  <a:pt x="5200892" y="4998242"/>
                </a:lnTo>
                <a:lnTo>
                  <a:pt x="5204700" y="4951306"/>
                </a:lnTo>
                <a:lnTo>
                  <a:pt x="5205984" y="4903698"/>
                </a:lnTo>
                <a:lnTo>
                  <a:pt x="5205984" y="867663"/>
                </a:lnTo>
                <a:lnTo>
                  <a:pt x="5204700" y="820060"/>
                </a:lnTo>
                <a:lnTo>
                  <a:pt x="5200892" y="773127"/>
                </a:lnTo>
                <a:lnTo>
                  <a:pt x="5194627" y="726930"/>
                </a:lnTo>
                <a:lnTo>
                  <a:pt x="5185970" y="681537"/>
                </a:lnTo>
                <a:lnTo>
                  <a:pt x="5174988" y="637013"/>
                </a:lnTo>
                <a:lnTo>
                  <a:pt x="5161747" y="593425"/>
                </a:lnTo>
                <a:lnTo>
                  <a:pt x="5146313" y="550838"/>
                </a:lnTo>
                <a:lnTo>
                  <a:pt x="5128752" y="509319"/>
                </a:lnTo>
                <a:lnTo>
                  <a:pt x="5109131" y="468934"/>
                </a:lnTo>
                <a:lnTo>
                  <a:pt x="5087516" y="429749"/>
                </a:lnTo>
                <a:lnTo>
                  <a:pt x="5063972" y="391830"/>
                </a:lnTo>
                <a:lnTo>
                  <a:pt x="5038567" y="355244"/>
                </a:lnTo>
                <a:lnTo>
                  <a:pt x="5011366" y="320056"/>
                </a:lnTo>
                <a:lnTo>
                  <a:pt x="4982435" y="286334"/>
                </a:lnTo>
                <a:lnTo>
                  <a:pt x="4951841" y="254142"/>
                </a:lnTo>
                <a:lnTo>
                  <a:pt x="4919649" y="223548"/>
                </a:lnTo>
                <a:lnTo>
                  <a:pt x="4885927" y="194617"/>
                </a:lnTo>
                <a:lnTo>
                  <a:pt x="4850739" y="167416"/>
                </a:lnTo>
                <a:lnTo>
                  <a:pt x="4814153" y="142011"/>
                </a:lnTo>
                <a:lnTo>
                  <a:pt x="4776234" y="118467"/>
                </a:lnTo>
                <a:lnTo>
                  <a:pt x="4737049" y="96852"/>
                </a:lnTo>
                <a:lnTo>
                  <a:pt x="4696664" y="77231"/>
                </a:lnTo>
                <a:lnTo>
                  <a:pt x="4655145" y="59670"/>
                </a:lnTo>
                <a:lnTo>
                  <a:pt x="4612558" y="44236"/>
                </a:lnTo>
                <a:lnTo>
                  <a:pt x="4568970" y="30995"/>
                </a:lnTo>
                <a:lnTo>
                  <a:pt x="4524446" y="20013"/>
                </a:lnTo>
                <a:lnTo>
                  <a:pt x="4479053" y="11356"/>
                </a:lnTo>
                <a:lnTo>
                  <a:pt x="4432856" y="5091"/>
                </a:lnTo>
                <a:lnTo>
                  <a:pt x="4385923" y="1283"/>
                </a:lnTo>
                <a:lnTo>
                  <a:pt x="433832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9023" y="950975"/>
            <a:ext cx="1943862" cy="25778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783" y="990600"/>
            <a:ext cx="1905762" cy="25687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80894" y="1054049"/>
            <a:ext cx="1939289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Matthew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Perry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20,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College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Student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Pasadena,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California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Lives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Campus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at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Caltech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1890" y="1058417"/>
            <a:ext cx="201803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Courteney</a:t>
            </a: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Cox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26,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Business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Analyst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SF,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California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Lives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Apartment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roommate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455419" cy="5379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34413" y="148539"/>
            <a:ext cx="9036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2522" y="145160"/>
            <a:ext cx="702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71494" y="145160"/>
            <a:ext cx="103631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User</a:t>
            </a:r>
            <a:r>
              <a:rPr sz="1400" b="1" u="sng" spc="-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Persona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634" y="148539"/>
            <a:ext cx="13011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Journey</a:t>
            </a:r>
            <a:r>
              <a:rPr sz="1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Map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49365" y="145160"/>
            <a:ext cx="1793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r>
              <a:rPr sz="1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71713" y="145160"/>
            <a:ext cx="8636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6549" y="2532126"/>
            <a:ext cx="4868545" cy="3977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00000"/>
                </a:solidFill>
                <a:latin typeface="Tahoma"/>
                <a:cs typeface="Tahoma"/>
              </a:rPr>
              <a:t>Behaviour:</a:t>
            </a:r>
            <a:endParaRPr sz="1800">
              <a:latin typeface="Tahoma"/>
              <a:cs typeface="Tahoma"/>
            </a:endParaRPr>
          </a:p>
          <a:p>
            <a:pPr marL="723265">
              <a:lnSpc>
                <a:spcPct val="100000"/>
              </a:lnSpc>
            </a:pP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Studies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goes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classes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day.</a:t>
            </a:r>
            <a:endParaRPr sz="1800">
              <a:latin typeface="Tahoma"/>
              <a:cs typeface="Tahoma"/>
            </a:endParaRPr>
          </a:p>
          <a:p>
            <a:pPr marL="723265" marR="1892300">
              <a:lnSpc>
                <a:spcPct val="127800"/>
              </a:lnSpc>
            </a:pP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Binges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night.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Low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disposable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income.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800" spc="-70" dirty="0">
                <a:solidFill>
                  <a:srgbClr val="C00000"/>
                </a:solidFill>
                <a:latin typeface="Tahoma"/>
                <a:cs typeface="Tahoma"/>
              </a:rPr>
              <a:t>Pain</a:t>
            </a:r>
            <a:r>
              <a:rPr sz="1800" spc="-1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Tahoma"/>
                <a:cs typeface="Tahoma"/>
              </a:rPr>
              <a:t>Points:</a:t>
            </a:r>
            <a:endParaRPr sz="1800">
              <a:latin typeface="Tahoma"/>
              <a:cs typeface="Tahoma"/>
            </a:endParaRPr>
          </a:p>
          <a:p>
            <a:pPr marL="551815">
              <a:lnSpc>
                <a:spcPct val="100000"/>
              </a:lnSpc>
            </a:pP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Finding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next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show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watch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easily.</a:t>
            </a:r>
            <a:endParaRPr sz="1800">
              <a:latin typeface="Tahoma"/>
              <a:cs typeface="Tahoma"/>
            </a:endParaRPr>
          </a:p>
          <a:p>
            <a:pPr marL="551815" marR="5080">
              <a:lnSpc>
                <a:spcPct val="100000"/>
              </a:lnSpc>
              <a:spcBef>
                <a:spcPts val="605"/>
              </a:spcBef>
            </a:pP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Good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UI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supporting</a:t>
            </a:r>
            <a:r>
              <a:rPr sz="18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binging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progress</a:t>
            </a:r>
            <a:r>
              <a:rPr sz="18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track,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next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episode,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episode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list.</a:t>
            </a:r>
            <a:endParaRPr sz="1800">
              <a:latin typeface="Tahoma"/>
              <a:cs typeface="Tahoma"/>
            </a:endParaRPr>
          </a:p>
          <a:p>
            <a:pPr marL="551815" marR="51435">
              <a:lnSpc>
                <a:spcPct val="100000"/>
              </a:lnSpc>
              <a:spcBef>
                <a:spcPts val="60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Needs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place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where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he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share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account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family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optimise</a:t>
            </a:r>
            <a:r>
              <a:rPr sz="18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ahoma"/>
                <a:cs typeface="Tahoma"/>
              </a:rPr>
              <a:t>budget;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but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also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keep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it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personalised.</a:t>
            </a:r>
            <a:endParaRPr sz="1800">
              <a:latin typeface="Tahoma"/>
              <a:cs typeface="Tahoma"/>
            </a:endParaRPr>
          </a:p>
          <a:p>
            <a:pPr marL="551815" marR="464820">
              <a:lnSpc>
                <a:spcPct val="100000"/>
              </a:lnSpc>
              <a:spcBef>
                <a:spcPts val="60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Needs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cross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platform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so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he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can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continue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watching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during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class</a:t>
            </a: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breaks.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39814" y="2610358"/>
            <a:ext cx="4670425" cy="379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00000"/>
                </a:solidFill>
                <a:latin typeface="Tahoma"/>
                <a:cs typeface="Tahoma"/>
              </a:rPr>
              <a:t>Behaviour:</a:t>
            </a:r>
            <a:endParaRPr sz="1800">
              <a:latin typeface="Tahoma"/>
              <a:cs typeface="Tahoma"/>
            </a:endParaRPr>
          </a:p>
          <a:p>
            <a:pPr marL="692150">
              <a:lnSpc>
                <a:spcPct val="100000"/>
              </a:lnSpc>
            </a:pP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Watches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2-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episodes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unwind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692150">
              <a:lnSpc>
                <a:spcPct val="100000"/>
              </a:lnSpc>
            </a:pP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weekday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night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8-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hrs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weekends.</a:t>
            </a:r>
            <a:endParaRPr sz="1800">
              <a:latin typeface="Tahoma"/>
              <a:cs typeface="Tahoma"/>
            </a:endParaRPr>
          </a:p>
          <a:p>
            <a:pPr marL="692150">
              <a:lnSpc>
                <a:spcPts val="1755"/>
              </a:lnSpc>
              <a:spcBef>
                <a:spcPts val="600"/>
              </a:spcBef>
            </a:pP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Considerable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entertainment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budget.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1755"/>
              </a:lnSpc>
            </a:pPr>
            <a:r>
              <a:rPr sz="1800" spc="-70" dirty="0">
                <a:solidFill>
                  <a:srgbClr val="C00000"/>
                </a:solidFill>
                <a:latin typeface="Tahoma"/>
                <a:cs typeface="Tahoma"/>
              </a:rPr>
              <a:t>Pain</a:t>
            </a:r>
            <a:r>
              <a:rPr sz="1800" spc="-1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Tahoma"/>
                <a:cs typeface="Tahoma"/>
              </a:rPr>
              <a:t>Points:</a:t>
            </a:r>
            <a:endParaRPr sz="1800">
              <a:latin typeface="Tahoma"/>
              <a:cs typeface="Tahoma"/>
            </a:endParaRPr>
          </a:p>
          <a:p>
            <a:pPr marL="660400" marR="5080" algn="just">
              <a:lnSpc>
                <a:spcPct val="100000"/>
              </a:lnSpc>
            </a:pP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Deciding</a:t>
            </a:r>
            <a:r>
              <a:rPr sz="18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watch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needs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place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keep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recommendations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friends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family</a:t>
            </a:r>
            <a:r>
              <a:rPr sz="1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ahoma"/>
                <a:cs typeface="Tahoma"/>
              </a:rPr>
              <a:t>get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good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recommendations.</a:t>
            </a:r>
            <a:endParaRPr sz="1800">
              <a:latin typeface="Tahoma"/>
              <a:cs typeface="Tahoma"/>
            </a:endParaRPr>
          </a:p>
          <a:p>
            <a:pPr marL="660400" marR="144780" algn="just">
              <a:lnSpc>
                <a:spcPct val="100000"/>
              </a:lnSpc>
              <a:spcBef>
                <a:spcPts val="600"/>
              </a:spcBef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Find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something</a:t>
            </a:r>
            <a:r>
              <a:rPr sz="180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watch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easily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Needs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minimise</a:t>
            </a:r>
            <a:r>
              <a:rPr sz="18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r>
              <a:rPr sz="1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wasted</a:t>
            </a:r>
            <a:r>
              <a:rPr sz="1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deciding</a:t>
            </a:r>
            <a:r>
              <a:rPr sz="18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watch.</a:t>
            </a:r>
            <a:endParaRPr sz="1800">
              <a:latin typeface="Tahoma"/>
              <a:cs typeface="Tahoma"/>
            </a:endParaRPr>
          </a:p>
          <a:p>
            <a:pPr marL="660400" algn="just">
              <a:lnSpc>
                <a:spcPct val="100000"/>
              </a:lnSpc>
              <a:spcBef>
                <a:spcPts val="605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Needs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4k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watch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TV.</a:t>
            </a:r>
            <a:endParaRPr sz="1800">
              <a:latin typeface="Tahoma"/>
              <a:cs typeface="Tahoma"/>
            </a:endParaRPr>
          </a:p>
          <a:p>
            <a:pPr marL="660400" algn="just">
              <a:lnSpc>
                <a:spcPct val="100000"/>
              </a:lnSpc>
              <a:spcBef>
                <a:spcPts val="60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Needs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progress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tracking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episodes.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55419" cy="5379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34413" y="148539"/>
            <a:ext cx="9036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2522" y="145160"/>
            <a:ext cx="702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1494" y="145160"/>
            <a:ext cx="986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Persona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978" y="145160"/>
            <a:ext cx="1375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User</a:t>
            </a:r>
            <a:r>
              <a:rPr sz="1400" b="1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Journey</a:t>
            </a:r>
            <a:r>
              <a:rPr sz="1400" b="1" u="sng" spc="-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Map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6161" y="145160"/>
            <a:ext cx="1793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r>
              <a:rPr sz="1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0033" y="145160"/>
            <a:ext cx="8636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4310" y="1735073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113029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29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29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79"/>
                </a:lnTo>
                <a:lnTo>
                  <a:pt x="113029" y="678179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29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4034" y="1910334"/>
            <a:ext cx="557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Doing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1262" y="3749802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79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30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905" y="3925570"/>
            <a:ext cx="782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Thinking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3537" y="4947665"/>
            <a:ext cx="1839595" cy="678180"/>
          </a:xfrm>
          <a:custGeom>
            <a:avLst/>
            <a:gdLst/>
            <a:ahLst/>
            <a:cxnLst/>
            <a:rect l="l" t="t" r="r" b="b"/>
            <a:pathLst>
              <a:path w="1839595" h="678179">
                <a:moveTo>
                  <a:pt x="0" y="113029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726438" y="0"/>
                </a:lnTo>
                <a:lnTo>
                  <a:pt x="1770459" y="8874"/>
                </a:lnTo>
                <a:lnTo>
                  <a:pt x="1806384" y="33083"/>
                </a:lnTo>
                <a:lnTo>
                  <a:pt x="1830593" y="69008"/>
                </a:lnTo>
                <a:lnTo>
                  <a:pt x="1839468" y="113029"/>
                </a:lnTo>
                <a:lnTo>
                  <a:pt x="1839468" y="565149"/>
                </a:lnTo>
                <a:lnTo>
                  <a:pt x="1830593" y="609171"/>
                </a:lnTo>
                <a:lnTo>
                  <a:pt x="1806384" y="645096"/>
                </a:lnTo>
                <a:lnTo>
                  <a:pt x="1770459" y="669305"/>
                </a:lnTo>
                <a:lnTo>
                  <a:pt x="1726438" y="678179"/>
                </a:lnTo>
                <a:lnTo>
                  <a:pt x="113030" y="678179"/>
                </a:lnTo>
                <a:lnTo>
                  <a:pt x="69035" y="669305"/>
                </a:lnTo>
                <a:lnTo>
                  <a:pt x="33107" y="645096"/>
                </a:lnTo>
                <a:lnTo>
                  <a:pt x="8883" y="609171"/>
                </a:lnTo>
                <a:lnTo>
                  <a:pt x="0" y="565149"/>
                </a:lnTo>
                <a:lnTo>
                  <a:pt x="0" y="113029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8949" y="5124069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Feeling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18866" y="544830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0"/>
                </a:moveTo>
                <a:lnTo>
                  <a:pt x="1498854" y="0"/>
                </a:lnTo>
                <a:lnTo>
                  <a:pt x="1837944" y="339090"/>
                </a:lnTo>
                <a:lnTo>
                  <a:pt x="1498854" y="678180"/>
                </a:lnTo>
                <a:lnTo>
                  <a:pt x="0" y="67818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-3175" y="816736"/>
            <a:ext cx="11991340" cy="6044565"/>
            <a:chOff x="-3175" y="816736"/>
            <a:chExt cx="11991340" cy="6044565"/>
          </a:xfrm>
        </p:grpSpPr>
        <p:sp>
          <p:nvSpPr>
            <p:cNvPr id="17" name="object 17"/>
            <p:cNvSpPr/>
            <p:nvPr/>
          </p:nvSpPr>
          <p:spPr>
            <a:xfrm>
              <a:off x="0" y="819911"/>
              <a:ext cx="11984990" cy="6038215"/>
            </a:xfrm>
            <a:custGeom>
              <a:avLst/>
              <a:gdLst/>
              <a:ahLst/>
              <a:cxnLst/>
              <a:rect l="l" t="t" r="r" b="b"/>
              <a:pathLst>
                <a:path w="11984990" h="6038215">
                  <a:moveTo>
                    <a:pt x="2418588" y="35051"/>
                  </a:moveTo>
                  <a:lnTo>
                    <a:pt x="2418588" y="6037645"/>
                  </a:lnTo>
                </a:path>
                <a:path w="11984990" h="6038215">
                  <a:moveTo>
                    <a:pt x="0" y="4888992"/>
                  </a:moveTo>
                  <a:lnTo>
                    <a:pt x="11872087" y="4888992"/>
                  </a:lnTo>
                </a:path>
                <a:path w="11984990" h="6038215">
                  <a:moveTo>
                    <a:pt x="0" y="4009644"/>
                  </a:moveTo>
                  <a:lnTo>
                    <a:pt x="11872087" y="4009644"/>
                  </a:lnTo>
                </a:path>
                <a:path w="11984990" h="6038215">
                  <a:moveTo>
                    <a:pt x="112776" y="2709672"/>
                  </a:moveTo>
                  <a:lnTo>
                    <a:pt x="11984863" y="2709672"/>
                  </a:lnTo>
                </a:path>
                <a:path w="11984990" h="6038215">
                  <a:moveTo>
                    <a:pt x="5672328" y="35051"/>
                  </a:moveTo>
                  <a:lnTo>
                    <a:pt x="5672328" y="6037645"/>
                  </a:lnTo>
                </a:path>
                <a:path w="11984990" h="6038215">
                  <a:moveTo>
                    <a:pt x="8849868" y="0"/>
                  </a:moveTo>
                  <a:lnTo>
                    <a:pt x="8849868" y="6002594"/>
                  </a:lnTo>
                </a:path>
              </a:pathLst>
            </a:custGeom>
            <a:ln w="635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9755" y="1315211"/>
              <a:ext cx="1827275" cy="8549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7379" y="1565147"/>
              <a:ext cx="3134868" cy="147218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481832" y="719454"/>
            <a:ext cx="9410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Discovery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1262" y="6038850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79">
                <a:moveTo>
                  <a:pt x="0" y="113029"/>
                </a:moveTo>
                <a:lnTo>
                  <a:pt x="8883" y="69035"/>
                </a:lnTo>
                <a:lnTo>
                  <a:pt x="33107" y="33107"/>
                </a:lnTo>
                <a:lnTo>
                  <a:pt x="69035" y="8883"/>
                </a:lnTo>
                <a:lnTo>
                  <a:pt x="113030" y="0"/>
                </a:lnTo>
                <a:lnTo>
                  <a:pt x="1724914" y="0"/>
                </a:lnTo>
                <a:lnTo>
                  <a:pt x="1768935" y="8883"/>
                </a:lnTo>
                <a:lnTo>
                  <a:pt x="1804860" y="33107"/>
                </a:lnTo>
                <a:lnTo>
                  <a:pt x="1829069" y="69035"/>
                </a:lnTo>
                <a:lnTo>
                  <a:pt x="1837944" y="113029"/>
                </a:lnTo>
                <a:lnTo>
                  <a:pt x="1837944" y="565137"/>
                </a:lnTo>
                <a:lnTo>
                  <a:pt x="1829069" y="609131"/>
                </a:lnTo>
                <a:lnTo>
                  <a:pt x="1804860" y="645059"/>
                </a:lnTo>
                <a:lnTo>
                  <a:pt x="1768935" y="669284"/>
                </a:lnTo>
                <a:lnTo>
                  <a:pt x="1724914" y="678167"/>
                </a:lnTo>
                <a:lnTo>
                  <a:pt x="113030" y="678167"/>
                </a:lnTo>
                <a:lnTo>
                  <a:pt x="69035" y="669284"/>
                </a:lnTo>
                <a:lnTo>
                  <a:pt x="33107" y="645059"/>
                </a:lnTo>
                <a:lnTo>
                  <a:pt x="8883" y="609131"/>
                </a:lnTo>
                <a:lnTo>
                  <a:pt x="0" y="565137"/>
                </a:lnTo>
                <a:lnTo>
                  <a:pt x="0" y="113029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83793" y="6214973"/>
            <a:ext cx="1047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Pain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6985" y="3644595"/>
            <a:ext cx="29724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UI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looks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cool!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could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6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needed.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Unlimited?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Amazing!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has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so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many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perks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my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local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lang!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20185" y="4838191"/>
            <a:ext cx="7937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0" dirty="0">
                <a:solidFill>
                  <a:srgbClr val="FFFFFF"/>
                </a:solidFill>
                <a:latin typeface="Segoe UI Emoji"/>
                <a:cs typeface="Segoe UI Emoji"/>
              </a:rPr>
              <a:t>🤩</a:t>
            </a:r>
            <a:endParaRPr sz="4400">
              <a:latin typeface="Segoe UI Emoji"/>
              <a:cs typeface="Segoe UI Emoj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46985" y="5842203"/>
            <a:ext cx="27889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Most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sites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these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days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allow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signup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options.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Google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/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phone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no.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FB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83707" y="3644595"/>
            <a:ext cx="26409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It’s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personalised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multi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platform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compatible?</a:t>
            </a: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Wow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that’s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great!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55714" y="4829047"/>
            <a:ext cx="7937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045" dirty="0">
                <a:solidFill>
                  <a:srgbClr val="FFFFFF"/>
                </a:solidFill>
                <a:latin typeface="Segoe UI Emoji"/>
                <a:cs typeface="Segoe UI Emoji"/>
              </a:rPr>
              <a:t>☺️</a:t>
            </a:r>
            <a:endParaRPr sz="4400">
              <a:latin typeface="Segoe UI Emoji"/>
              <a:cs typeface="Segoe UI Emoj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616707" y="646430"/>
            <a:ext cx="9450705" cy="2865120"/>
            <a:chOff x="2616707" y="646430"/>
            <a:chExt cx="9450705" cy="286512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01683" y="1560576"/>
              <a:ext cx="3165348" cy="14767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16707" y="2196083"/>
              <a:ext cx="1853183" cy="131521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329933" y="659130"/>
              <a:ext cx="1838325" cy="678180"/>
            </a:xfrm>
            <a:custGeom>
              <a:avLst/>
              <a:gdLst/>
              <a:ahLst/>
              <a:cxnLst/>
              <a:rect l="l" t="t" r="r" b="b"/>
              <a:pathLst>
                <a:path w="1838325" h="678180">
                  <a:moveTo>
                    <a:pt x="0" y="0"/>
                  </a:moveTo>
                  <a:lnTo>
                    <a:pt x="1498854" y="0"/>
                  </a:lnTo>
                  <a:lnTo>
                    <a:pt x="1837943" y="339090"/>
                  </a:lnTo>
                  <a:lnTo>
                    <a:pt x="1498854" y="678180"/>
                  </a:lnTo>
                  <a:lnTo>
                    <a:pt x="0" y="678180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E609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988043" y="3644595"/>
            <a:ext cx="25723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Password?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Hope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isn’t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long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process.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Also,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6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hope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10" dirty="0">
                <a:solidFill>
                  <a:srgbClr val="FFFFFF"/>
                </a:solidFill>
                <a:latin typeface="Tahoma"/>
                <a:cs typeface="Tahoma"/>
              </a:rPr>
              <a:t>I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don’t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forget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my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password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70338" y="4841494"/>
            <a:ext cx="7937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0" dirty="0">
                <a:solidFill>
                  <a:srgbClr val="FFFFFF"/>
                </a:solidFill>
                <a:latin typeface="Segoe UI Emoji"/>
                <a:cs typeface="Segoe UI Emoji"/>
              </a:rPr>
              <a:t>😐</a:t>
            </a:r>
            <a:endParaRPr sz="4400">
              <a:latin typeface="Segoe UI Emoji"/>
              <a:cs typeface="Segoe UI Emoj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80678" y="5807151"/>
            <a:ext cx="288925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1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1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ahoma"/>
                <a:cs typeface="Tahoma"/>
              </a:rPr>
              <a:t>sign</a:t>
            </a:r>
            <a:r>
              <a:rPr sz="1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r>
              <a:rPr sz="1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options,</a:t>
            </a:r>
            <a:r>
              <a:rPr sz="14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this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password</a:t>
            </a:r>
            <a:r>
              <a:rPr sz="1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step</a:t>
            </a:r>
            <a:r>
              <a:rPr sz="1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would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easier</a:t>
            </a:r>
            <a:r>
              <a:rPr sz="14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through 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OTP</a:t>
            </a:r>
            <a:r>
              <a:rPr sz="1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Third</a:t>
            </a:r>
            <a:r>
              <a:rPr sz="1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ahoma"/>
                <a:cs typeface="Tahoma"/>
              </a:rPr>
              <a:t>party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authentication</a:t>
            </a:r>
            <a:r>
              <a:rPr sz="1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through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Google</a:t>
            </a:r>
            <a:r>
              <a:rPr sz="14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4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Facebook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90486" y="834644"/>
            <a:ext cx="94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Setting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614154" y="656081"/>
            <a:ext cx="1839595" cy="680085"/>
          </a:xfrm>
          <a:custGeom>
            <a:avLst/>
            <a:gdLst/>
            <a:ahLst/>
            <a:cxnLst/>
            <a:rect l="l" t="t" r="r" b="b"/>
            <a:pathLst>
              <a:path w="1839595" h="680085">
                <a:moveTo>
                  <a:pt x="0" y="0"/>
                </a:moveTo>
                <a:lnTo>
                  <a:pt x="1499616" y="0"/>
                </a:lnTo>
                <a:lnTo>
                  <a:pt x="1839468" y="339851"/>
                </a:lnTo>
                <a:lnTo>
                  <a:pt x="1499616" y="679703"/>
                </a:lnTo>
                <a:lnTo>
                  <a:pt x="0" y="6797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983851" y="694690"/>
            <a:ext cx="932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155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Email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&amp;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Password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55419" cy="5379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34413" y="148539"/>
            <a:ext cx="9036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2522" y="145160"/>
            <a:ext cx="702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1494" y="145160"/>
            <a:ext cx="986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Persona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978" y="145160"/>
            <a:ext cx="1375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User</a:t>
            </a:r>
            <a:r>
              <a:rPr sz="1400" b="1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Journey</a:t>
            </a:r>
            <a:r>
              <a:rPr sz="1400" b="1" u="sng" spc="-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Map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6161" y="145160"/>
            <a:ext cx="1793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r>
              <a:rPr sz="1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0033" y="145160"/>
            <a:ext cx="8655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8213" y="1786889"/>
            <a:ext cx="1839595" cy="678180"/>
          </a:xfrm>
          <a:custGeom>
            <a:avLst/>
            <a:gdLst/>
            <a:ahLst/>
            <a:cxnLst/>
            <a:rect l="l" t="t" r="r" b="b"/>
            <a:pathLst>
              <a:path w="1839595" h="678180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29" y="0"/>
                </a:lnTo>
                <a:lnTo>
                  <a:pt x="1726438" y="0"/>
                </a:lnTo>
                <a:lnTo>
                  <a:pt x="1770459" y="8874"/>
                </a:lnTo>
                <a:lnTo>
                  <a:pt x="1806384" y="33083"/>
                </a:lnTo>
                <a:lnTo>
                  <a:pt x="1830593" y="69008"/>
                </a:lnTo>
                <a:lnTo>
                  <a:pt x="1839468" y="113030"/>
                </a:lnTo>
                <a:lnTo>
                  <a:pt x="1839468" y="565150"/>
                </a:lnTo>
                <a:lnTo>
                  <a:pt x="1830593" y="609171"/>
                </a:lnTo>
                <a:lnTo>
                  <a:pt x="1806384" y="645096"/>
                </a:lnTo>
                <a:lnTo>
                  <a:pt x="1770459" y="669305"/>
                </a:lnTo>
                <a:lnTo>
                  <a:pt x="1726438" y="678180"/>
                </a:lnTo>
                <a:lnTo>
                  <a:pt x="113029" y="678180"/>
                </a:lnTo>
                <a:lnTo>
                  <a:pt x="69035" y="669305"/>
                </a:lnTo>
                <a:lnTo>
                  <a:pt x="33107" y="645096"/>
                </a:lnTo>
                <a:lnTo>
                  <a:pt x="8883" y="609171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8852" y="1962150"/>
            <a:ext cx="557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Doing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1262" y="3731514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79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30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905" y="3906773"/>
            <a:ext cx="782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Thinking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9737" y="4895850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79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30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3930" y="5071364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Feeling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13170" y="593598"/>
            <a:ext cx="1839595" cy="678180"/>
          </a:xfrm>
          <a:custGeom>
            <a:avLst/>
            <a:gdLst/>
            <a:ahLst/>
            <a:cxnLst/>
            <a:rect l="l" t="t" r="r" b="b"/>
            <a:pathLst>
              <a:path w="1839595" h="678180">
                <a:moveTo>
                  <a:pt x="0" y="0"/>
                </a:moveTo>
                <a:lnTo>
                  <a:pt x="1500377" y="0"/>
                </a:lnTo>
                <a:lnTo>
                  <a:pt x="1839468" y="339089"/>
                </a:lnTo>
                <a:lnTo>
                  <a:pt x="1500377" y="678179"/>
                </a:lnTo>
                <a:lnTo>
                  <a:pt x="0" y="67817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09601" y="838072"/>
            <a:ext cx="11886565" cy="6022975"/>
            <a:chOff x="109601" y="838072"/>
            <a:chExt cx="11886565" cy="6022975"/>
          </a:xfrm>
        </p:grpSpPr>
        <p:sp>
          <p:nvSpPr>
            <p:cNvPr id="17" name="object 17"/>
            <p:cNvSpPr/>
            <p:nvPr/>
          </p:nvSpPr>
          <p:spPr>
            <a:xfrm>
              <a:off x="112776" y="841247"/>
              <a:ext cx="11880215" cy="6016625"/>
            </a:xfrm>
            <a:custGeom>
              <a:avLst/>
              <a:gdLst/>
              <a:ahLst/>
              <a:cxnLst/>
              <a:rect l="l" t="t" r="r" b="b"/>
              <a:pathLst>
                <a:path w="11880215" h="6016625">
                  <a:moveTo>
                    <a:pt x="2305812" y="13715"/>
                  </a:moveTo>
                  <a:lnTo>
                    <a:pt x="2305812" y="6016309"/>
                  </a:lnTo>
                </a:path>
                <a:path w="11880215" h="6016625">
                  <a:moveTo>
                    <a:pt x="0" y="4812792"/>
                  </a:moveTo>
                  <a:lnTo>
                    <a:pt x="11872087" y="4812792"/>
                  </a:lnTo>
                </a:path>
                <a:path w="11880215" h="6016625">
                  <a:moveTo>
                    <a:pt x="7619" y="3938016"/>
                  </a:moveTo>
                  <a:lnTo>
                    <a:pt x="11879707" y="3938016"/>
                  </a:lnTo>
                </a:path>
                <a:path w="11880215" h="6016625">
                  <a:moveTo>
                    <a:pt x="0" y="2688336"/>
                  </a:moveTo>
                  <a:lnTo>
                    <a:pt x="11872087" y="2688336"/>
                  </a:lnTo>
                </a:path>
                <a:path w="11880215" h="6016625">
                  <a:moveTo>
                    <a:pt x="5547360" y="0"/>
                  </a:moveTo>
                  <a:lnTo>
                    <a:pt x="5547360" y="6002594"/>
                  </a:lnTo>
                </a:path>
                <a:path w="11880215" h="6016625">
                  <a:moveTo>
                    <a:pt x="8727948" y="13715"/>
                  </a:moveTo>
                  <a:lnTo>
                    <a:pt x="8727948" y="6016309"/>
                  </a:lnTo>
                </a:path>
              </a:pathLst>
            </a:custGeom>
            <a:ln w="6350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8211" y="1501139"/>
              <a:ext cx="3116580" cy="145694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550914" y="768172"/>
            <a:ext cx="1194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Choose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9737" y="5971794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79">
                <a:moveTo>
                  <a:pt x="0" y="113029"/>
                </a:moveTo>
                <a:lnTo>
                  <a:pt x="8883" y="69035"/>
                </a:lnTo>
                <a:lnTo>
                  <a:pt x="33107" y="33107"/>
                </a:lnTo>
                <a:lnTo>
                  <a:pt x="69035" y="8883"/>
                </a:lnTo>
                <a:lnTo>
                  <a:pt x="113030" y="0"/>
                </a:lnTo>
                <a:lnTo>
                  <a:pt x="1724914" y="0"/>
                </a:lnTo>
                <a:lnTo>
                  <a:pt x="1768935" y="8883"/>
                </a:lnTo>
                <a:lnTo>
                  <a:pt x="1804860" y="33107"/>
                </a:lnTo>
                <a:lnTo>
                  <a:pt x="1829069" y="69035"/>
                </a:lnTo>
                <a:lnTo>
                  <a:pt x="1837944" y="113029"/>
                </a:lnTo>
                <a:lnTo>
                  <a:pt x="1837944" y="565137"/>
                </a:lnTo>
                <a:lnTo>
                  <a:pt x="1829069" y="609137"/>
                </a:lnTo>
                <a:lnTo>
                  <a:pt x="1804860" y="645064"/>
                </a:lnTo>
                <a:lnTo>
                  <a:pt x="1768935" y="669286"/>
                </a:lnTo>
                <a:lnTo>
                  <a:pt x="1724914" y="678167"/>
                </a:lnTo>
                <a:lnTo>
                  <a:pt x="113030" y="678167"/>
                </a:lnTo>
                <a:lnTo>
                  <a:pt x="69035" y="669286"/>
                </a:lnTo>
                <a:lnTo>
                  <a:pt x="33107" y="645064"/>
                </a:lnTo>
                <a:lnTo>
                  <a:pt x="8883" y="609137"/>
                </a:lnTo>
                <a:lnTo>
                  <a:pt x="0" y="565137"/>
                </a:lnTo>
                <a:lnTo>
                  <a:pt x="0" y="113029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2269" y="6147612"/>
            <a:ext cx="1049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Pain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73782" y="3716528"/>
            <a:ext cx="2734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Cancel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anytime?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That’s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good!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No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ads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all?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would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be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convenient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65067" y="4812614"/>
            <a:ext cx="8629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320" dirty="0">
                <a:solidFill>
                  <a:srgbClr val="FFFFFF"/>
                </a:solidFill>
                <a:latin typeface="Segoe UI Emoji"/>
                <a:cs typeface="Segoe UI Emoji"/>
              </a:rPr>
              <a:t>☺️</a:t>
            </a:r>
            <a:endParaRPr sz="4800">
              <a:latin typeface="Segoe UI Emoji"/>
              <a:cs typeface="Segoe UI Emoj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051301" y="652526"/>
            <a:ext cx="9026525" cy="2818130"/>
            <a:chOff x="3051301" y="652526"/>
            <a:chExt cx="9026525" cy="281813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21679" y="1405127"/>
              <a:ext cx="2819400" cy="206502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58072" y="1501140"/>
              <a:ext cx="3119628" cy="145694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064001" y="665226"/>
              <a:ext cx="1839595" cy="678180"/>
            </a:xfrm>
            <a:custGeom>
              <a:avLst/>
              <a:gdLst/>
              <a:ahLst/>
              <a:cxnLst/>
              <a:rect l="l" t="t" r="r" b="b"/>
              <a:pathLst>
                <a:path w="1839595" h="678180">
                  <a:moveTo>
                    <a:pt x="0" y="0"/>
                  </a:moveTo>
                  <a:lnTo>
                    <a:pt x="1500377" y="0"/>
                  </a:lnTo>
                  <a:lnTo>
                    <a:pt x="1839468" y="339089"/>
                  </a:lnTo>
                  <a:lnTo>
                    <a:pt x="1500377" y="678179"/>
                  </a:lnTo>
                  <a:lnTo>
                    <a:pt x="0" y="67817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609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845555" y="3716528"/>
            <a:ext cx="2835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Wow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these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plans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pricey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compared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platforms.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Hope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worth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it.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02889" y="839851"/>
            <a:ext cx="1189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Choose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598914" y="543305"/>
            <a:ext cx="1839595" cy="680085"/>
          </a:xfrm>
          <a:custGeom>
            <a:avLst/>
            <a:gdLst/>
            <a:ahLst/>
            <a:cxnLst/>
            <a:rect l="l" t="t" r="r" b="b"/>
            <a:pathLst>
              <a:path w="1839595" h="680085">
                <a:moveTo>
                  <a:pt x="0" y="0"/>
                </a:moveTo>
                <a:lnTo>
                  <a:pt x="1499615" y="0"/>
                </a:lnTo>
                <a:lnTo>
                  <a:pt x="1839467" y="339852"/>
                </a:lnTo>
                <a:lnTo>
                  <a:pt x="1499615" y="679704"/>
                </a:lnTo>
                <a:lnTo>
                  <a:pt x="0" y="67970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015855" y="581914"/>
            <a:ext cx="838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1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Payment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Options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56856" y="4824425"/>
            <a:ext cx="8629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Segoe UI Emoji"/>
                <a:cs typeface="Segoe UI Emoji"/>
              </a:rPr>
              <a:t>😓</a:t>
            </a:r>
            <a:endParaRPr sz="4800">
              <a:latin typeface="Segoe UI Emoji"/>
              <a:cs typeface="Segoe UI Emoj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50178" y="5636158"/>
            <a:ext cx="30238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No</a:t>
            </a:r>
            <a:r>
              <a:rPr sz="1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economical</a:t>
            </a:r>
            <a:r>
              <a:rPr sz="16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85" dirty="0">
                <a:solidFill>
                  <a:srgbClr val="FFFFFF"/>
                </a:solidFill>
                <a:latin typeface="Tahoma"/>
                <a:cs typeface="Tahoma"/>
              </a:rPr>
              <a:t>pricing;</a:t>
            </a:r>
            <a:r>
              <a:rPr sz="1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Tahoma"/>
                <a:cs typeface="Tahoma"/>
              </a:rPr>
              <a:t>no</a:t>
            </a:r>
            <a:r>
              <a:rPr sz="1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ahoma"/>
                <a:cs typeface="Tahoma"/>
              </a:rPr>
              <a:t>option</a:t>
            </a:r>
            <a:r>
              <a:rPr sz="16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600" spc="-55" dirty="0">
                <a:solidFill>
                  <a:srgbClr val="FFFFFF"/>
                </a:solidFill>
                <a:latin typeface="Tahoma"/>
                <a:cs typeface="Tahoma"/>
              </a:rPr>
              <a:t>trial</a:t>
            </a:r>
            <a:r>
              <a:rPr sz="16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r>
              <a:rPr sz="16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Tahoma"/>
                <a:cs typeface="Tahoma"/>
              </a:rPr>
              <a:t>anymore</a:t>
            </a:r>
            <a:r>
              <a:rPr sz="16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6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16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customer </a:t>
            </a:r>
            <a:r>
              <a:rPr sz="1600" spc="-70" dirty="0">
                <a:solidFill>
                  <a:srgbClr val="FFFFFF"/>
                </a:solidFill>
                <a:latin typeface="Tahoma"/>
                <a:cs typeface="Tahoma"/>
              </a:rPr>
              <a:t>understand</a:t>
            </a:r>
            <a:r>
              <a:rPr sz="16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Tahoma"/>
                <a:cs typeface="Tahoma"/>
              </a:rPr>
              <a:t>price</a:t>
            </a:r>
            <a:r>
              <a:rPr sz="1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85" dirty="0">
                <a:solidFill>
                  <a:srgbClr val="FFFFFF"/>
                </a:solidFill>
                <a:latin typeface="Tahoma"/>
                <a:cs typeface="Tahoma"/>
              </a:rPr>
              <a:t>point;</a:t>
            </a:r>
            <a:r>
              <a:rPr sz="1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Tahoma"/>
                <a:cs typeface="Tahoma"/>
              </a:rPr>
              <a:t>no</a:t>
            </a:r>
            <a:r>
              <a:rPr sz="16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plan </a:t>
            </a:r>
            <a:r>
              <a:rPr sz="1600" spc="-50" dirty="0">
                <a:solidFill>
                  <a:srgbClr val="FFFFFF"/>
                </a:solidFill>
                <a:latin typeface="Tahoma"/>
                <a:cs typeface="Tahoma"/>
              </a:rPr>
              <a:t>which</a:t>
            </a:r>
            <a:r>
              <a:rPr sz="16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allows</a:t>
            </a:r>
            <a:r>
              <a:rPr sz="16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Tahoma"/>
                <a:cs typeface="Tahoma"/>
              </a:rPr>
              <a:t>few</a:t>
            </a:r>
            <a:r>
              <a:rPr sz="16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Tahoma"/>
                <a:cs typeface="Tahoma"/>
              </a:rPr>
              <a:t>ads</a:t>
            </a:r>
            <a:r>
              <a:rPr sz="16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16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discount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rate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24947" y="4824425"/>
            <a:ext cx="8629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Segoe UI Emoji"/>
                <a:cs typeface="Segoe UI Emoji"/>
              </a:rPr>
              <a:t>😥</a:t>
            </a:r>
            <a:endParaRPr sz="4800">
              <a:latin typeface="Segoe UI Emoji"/>
              <a:cs typeface="Segoe UI Emoj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929496" y="5684316"/>
            <a:ext cx="29038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Should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also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assurance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payment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info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safely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saved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month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month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auto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payment.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27972" y="3649471"/>
            <a:ext cx="28752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Even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18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18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say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transaction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safe,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why</a:t>
            </a:r>
            <a:r>
              <a:rPr sz="18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8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18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saving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card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info?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safe?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55419" cy="5379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34413" y="148539"/>
            <a:ext cx="9036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2522" y="145160"/>
            <a:ext cx="702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1494" y="145160"/>
            <a:ext cx="986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Persona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978" y="145160"/>
            <a:ext cx="1375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User</a:t>
            </a:r>
            <a:r>
              <a:rPr sz="1400" b="1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Journey</a:t>
            </a:r>
            <a:r>
              <a:rPr sz="1400" b="1" u="sng" spc="-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Map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6161" y="145160"/>
            <a:ext cx="1793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r>
              <a:rPr sz="1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0033" y="145160"/>
            <a:ext cx="8655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9737" y="1642110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113029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29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79"/>
                </a:lnTo>
                <a:lnTo>
                  <a:pt x="113030" y="678179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29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9462" y="1816684"/>
            <a:ext cx="558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Doing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9737" y="3858005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79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30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6686" y="4033266"/>
            <a:ext cx="782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Thinking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9737" y="5054346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79">
                <a:moveTo>
                  <a:pt x="0" y="113029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30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29"/>
                </a:lnTo>
                <a:lnTo>
                  <a:pt x="1837944" y="565137"/>
                </a:lnTo>
                <a:lnTo>
                  <a:pt x="1829069" y="609131"/>
                </a:lnTo>
                <a:lnTo>
                  <a:pt x="1804860" y="645059"/>
                </a:lnTo>
                <a:lnTo>
                  <a:pt x="1768935" y="669284"/>
                </a:lnTo>
                <a:lnTo>
                  <a:pt x="1724914" y="678167"/>
                </a:lnTo>
                <a:lnTo>
                  <a:pt x="113030" y="678167"/>
                </a:lnTo>
                <a:lnTo>
                  <a:pt x="69035" y="669284"/>
                </a:lnTo>
                <a:lnTo>
                  <a:pt x="33107" y="645059"/>
                </a:lnTo>
                <a:lnTo>
                  <a:pt x="8883" y="609131"/>
                </a:lnTo>
                <a:lnTo>
                  <a:pt x="0" y="565137"/>
                </a:lnTo>
                <a:lnTo>
                  <a:pt x="0" y="113029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3930" y="5230748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Feeling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49345" y="703326"/>
            <a:ext cx="1839595" cy="678180"/>
          </a:xfrm>
          <a:custGeom>
            <a:avLst/>
            <a:gdLst/>
            <a:ahLst/>
            <a:cxnLst/>
            <a:rect l="l" t="t" r="r" b="b"/>
            <a:pathLst>
              <a:path w="1839595" h="678180">
                <a:moveTo>
                  <a:pt x="0" y="0"/>
                </a:moveTo>
                <a:lnTo>
                  <a:pt x="1500378" y="0"/>
                </a:lnTo>
                <a:lnTo>
                  <a:pt x="1839468" y="339089"/>
                </a:lnTo>
                <a:lnTo>
                  <a:pt x="1500378" y="678179"/>
                </a:lnTo>
                <a:lnTo>
                  <a:pt x="0" y="67817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776" y="841247"/>
            <a:ext cx="11872595" cy="6016625"/>
          </a:xfrm>
          <a:custGeom>
            <a:avLst/>
            <a:gdLst/>
            <a:ahLst/>
            <a:cxnLst/>
            <a:rect l="l" t="t" r="r" b="b"/>
            <a:pathLst>
              <a:path w="11872595" h="6016625">
                <a:moveTo>
                  <a:pt x="2305812" y="13715"/>
                </a:moveTo>
                <a:lnTo>
                  <a:pt x="2305812" y="6016309"/>
                </a:lnTo>
              </a:path>
              <a:path w="11872595" h="6016625">
                <a:moveTo>
                  <a:pt x="0" y="5029200"/>
                </a:moveTo>
                <a:lnTo>
                  <a:pt x="11872087" y="5029200"/>
                </a:lnTo>
              </a:path>
              <a:path w="11872595" h="6016625">
                <a:moveTo>
                  <a:pt x="0" y="4090416"/>
                </a:moveTo>
                <a:lnTo>
                  <a:pt x="11872087" y="4090416"/>
                </a:lnTo>
              </a:path>
              <a:path w="11872595" h="6016625">
                <a:moveTo>
                  <a:pt x="0" y="2688336"/>
                </a:moveTo>
                <a:lnTo>
                  <a:pt x="11872087" y="2688336"/>
                </a:lnTo>
              </a:path>
              <a:path w="11872595" h="6016625">
                <a:moveTo>
                  <a:pt x="5547360" y="0"/>
                </a:moveTo>
                <a:lnTo>
                  <a:pt x="5547360" y="6002594"/>
                </a:lnTo>
              </a:path>
              <a:path w="11872595" h="6016625">
                <a:moveTo>
                  <a:pt x="8727948" y="13715"/>
                </a:moveTo>
                <a:lnTo>
                  <a:pt x="8727948" y="6016309"/>
                </a:lnTo>
              </a:path>
            </a:pathLst>
          </a:custGeom>
          <a:ln w="6350">
            <a:solidFill>
              <a:srgbClr val="FFFFF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95878" y="741679"/>
            <a:ext cx="775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5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Choose 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9737" y="6008370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79">
                <a:moveTo>
                  <a:pt x="0" y="113029"/>
                </a:moveTo>
                <a:lnTo>
                  <a:pt x="8883" y="69035"/>
                </a:lnTo>
                <a:lnTo>
                  <a:pt x="33107" y="33107"/>
                </a:lnTo>
                <a:lnTo>
                  <a:pt x="69035" y="8883"/>
                </a:lnTo>
                <a:lnTo>
                  <a:pt x="113030" y="0"/>
                </a:lnTo>
                <a:lnTo>
                  <a:pt x="1724914" y="0"/>
                </a:lnTo>
                <a:lnTo>
                  <a:pt x="1768935" y="8883"/>
                </a:lnTo>
                <a:lnTo>
                  <a:pt x="1804860" y="33107"/>
                </a:lnTo>
                <a:lnTo>
                  <a:pt x="1829069" y="69035"/>
                </a:lnTo>
                <a:lnTo>
                  <a:pt x="1837944" y="113029"/>
                </a:lnTo>
                <a:lnTo>
                  <a:pt x="1837944" y="565137"/>
                </a:lnTo>
                <a:lnTo>
                  <a:pt x="1829069" y="609137"/>
                </a:lnTo>
                <a:lnTo>
                  <a:pt x="1804860" y="645064"/>
                </a:lnTo>
                <a:lnTo>
                  <a:pt x="1768935" y="669286"/>
                </a:lnTo>
                <a:lnTo>
                  <a:pt x="1724914" y="678167"/>
                </a:lnTo>
                <a:lnTo>
                  <a:pt x="113030" y="678167"/>
                </a:lnTo>
                <a:lnTo>
                  <a:pt x="69035" y="669286"/>
                </a:lnTo>
                <a:lnTo>
                  <a:pt x="33107" y="645064"/>
                </a:lnTo>
                <a:lnTo>
                  <a:pt x="8883" y="609137"/>
                </a:lnTo>
                <a:lnTo>
                  <a:pt x="0" y="565137"/>
                </a:lnTo>
                <a:lnTo>
                  <a:pt x="0" y="113029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83793" y="6184798"/>
            <a:ext cx="1049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Pain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73782" y="3716528"/>
            <a:ext cx="27781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really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great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recommendation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experience?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choose?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65067" y="4972608"/>
            <a:ext cx="862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Segoe UI Emoji"/>
                <a:cs typeface="Segoe UI Emoji"/>
              </a:rPr>
              <a:t>🤔</a:t>
            </a:r>
            <a:endParaRPr sz="4800">
              <a:latin typeface="Segoe UI Emoji"/>
              <a:cs typeface="Segoe UI Emoj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68161" y="3677539"/>
            <a:ext cx="27705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Really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hope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endParaRPr sz="18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recommendation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ahoma"/>
                <a:cs typeface="Tahoma"/>
              </a:rPr>
              <a:t>engine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good</a:t>
            </a:r>
            <a:r>
              <a:rPr sz="18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18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say,</a:t>
            </a:r>
            <a:r>
              <a:rPr sz="18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8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18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pretty pricey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after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25267" y="715009"/>
            <a:ext cx="9439910" cy="2553970"/>
            <a:chOff x="2525267" y="715009"/>
            <a:chExt cx="9439910" cy="255397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5267" y="1554479"/>
              <a:ext cx="3017520" cy="17145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8235" y="1543812"/>
              <a:ext cx="3113532" cy="172211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42832" y="1546859"/>
              <a:ext cx="3022092" cy="171907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63461" y="727709"/>
              <a:ext cx="1839595" cy="678180"/>
            </a:xfrm>
            <a:custGeom>
              <a:avLst/>
              <a:gdLst/>
              <a:ahLst/>
              <a:cxnLst/>
              <a:rect l="l" t="t" r="r" b="b"/>
              <a:pathLst>
                <a:path w="1839595" h="678180">
                  <a:moveTo>
                    <a:pt x="0" y="0"/>
                  </a:moveTo>
                  <a:lnTo>
                    <a:pt x="1500378" y="0"/>
                  </a:lnTo>
                  <a:lnTo>
                    <a:pt x="1839467" y="339089"/>
                  </a:lnTo>
                  <a:lnTo>
                    <a:pt x="1500378" y="678179"/>
                  </a:lnTo>
                  <a:lnTo>
                    <a:pt x="0" y="67817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609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47509" y="902665"/>
            <a:ext cx="900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Preparing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620250" y="727709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113029"/>
                </a:moveTo>
                <a:lnTo>
                  <a:pt x="8874" y="69008"/>
                </a:lnTo>
                <a:lnTo>
                  <a:pt x="33083" y="33083"/>
                </a:lnTo>
                <a:lnTo>
                  <a:pt x="69008" y="8874"/>
                </a:lnTo>
                <a:lnTo>
                  <a:pt x="113029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29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79"/>
                </a:lnTo>
                <a:lnTo>
                  <a:pt x="113029" y="678179"/>
                </a:lnTo>
                <a:lnTo>
                  <a:pt x="69008" y="669288"/>
                </a:lnTo>
                <a:lnTo>
                  <a:pt x="33083" y="645048"/>
                </a:lnTo>
                <a:lnTo>
                  <a:pt x="8874" y="609117"/>
                </a:lnTo>
                <a:lnTo>
                  <a:pt x="0" y="565150"/>
                </a:lnTo>
                <a:lnTo>
                  <a:pt x="0" y="113029"/>
                </a:lnTo>
                <a:close/>
              </a:path>
            </a:pathLst>
          </a:custGeom>
          <a:ln w="25400">
            <a:solidFill>
              <a:srgbClr val="E609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249027" y="902665"/>
            <a:ext cx="582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Done!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69756" y="3677539"/>
            <a:ext cx="29267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Wow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recommendations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are 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good,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amazing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intuitive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UI.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Very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diverse</a:t>
            </a:r>
            <a:r>
              <a:rPr sz="1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quality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content!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6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am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glad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6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chose</a:t>
            </a:r>
            <a:r>
              <a:rPr sz="18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this!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145014" y="4983886"/>
            <a:ext cx="8629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Segoe UI Emoji"/>
                <a:cs typeface="Segoe UI Emoji"/>
              </a:rPr>
              <a:t>🤩</a:t>
            </a:r>
            <a:endParaRPr sz="4800">
              <a:latin typeface="Segoe UI Emoji"/>
              <a:cs typeface="Segoe UI Emoj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56856" y="5002784"/>
            <a:ext cx="8629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FFFF"/>
                </a:solidFill>
                <a:latin typeface="Segoe UI Emoji"/>
                <a:cs typeface="Segoe UI Emoji"/>
              </a:rPr>
              <a:t>😣</a:t>
            </a:r>
            <a:endParaRPr sz="4800">
              <a:latin typeface="Segoe UI Emoji"/>
              <a:cs typeface="Segoe UI Emoj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27807" y="6039408"/>
            <a:ext cx="2920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Should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different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choices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TV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shows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Movies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4413" y="148539"/>
            <a:ext cx="9036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2522" y="145160"/>
            <a:ext cx="702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1494" y="145160"/>
            <a:ext cx="986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Persona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6978" y="145160"/>
            <a:ext cx="13011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Journey</a:t>
            </a:r>
            <a:r>
              <a:rPr sz="1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Map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1420" y="145160"/>
            <a:ext cx="19113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User</a:t>
            </a:r>
            <a:r>
              <a:rPr sz="1400" b="1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Experience</a:t>
            </a:r>
            <a:r>
              <a:rPr sz="1400" b="1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Insights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0033" y="145160"/>
            <a:ext cx="8655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55419" cy="5379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431542" y="1278128"/>
            <a:ext cx="1153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90" dirty="0">
                <a:solidFill>
                  <a:srgbClr val="E60913"/>
                </a:solidFill>
                <a:latin typeface="Trebuchet MS"/>
                <a:cs typeface="Trebuchet MS"/>
              </a:rPr>
              <a:t>The</a:t>
            </a:r>
            <a:r>
              <a:rPr sz="2400" b="1" spc="-160" dirty="0">
                <a:solidFill>
                  <a:srgbClr val="E60913"/>
                </a:solidFill>
                <a:latin typeface="Trebuchet MS"/>
                <a:cs typeface="Trebuchet MS"/>
              </a:rPr>
              <a:t> </a:t>
            </a:r>
            <a:r>
              <a:rPr sz="2400" b="1" spc="-50" dirty="0">
                <a:solidFill>
                  <a:srgbClr val="E60913"/>
                </a:solidFill>
                <a:latin typeface="Trebuchet MS"/>
                <a:cs typeface="Trebuchet MS"/>
              </a:rPr>
              <a:t>Pros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8244" y="1845564"/>
            <a:ext cx="5158740" cy="4116704"/>
          </a:xfrm>
          <a:custGeom>
            <a:avLst/>
            <a:gdLst/>
            <a:ahLst/>
            <a:cxnLst/>
            <a:rect l="l" t="t" r="r" b="b"/>
            <a:pathLst>
              <a:path w="5158740" h="4116704">
                <a:moveTo>
                  <a:pt x="0" y="664083"/>
                </a:moveTo>
                <a:lnTo>
                  <a:pt x="1667" y="616655"/>
                </a:lnTo>
                <a:lnTo>
                  <a:pt x="6594" y="570127"/>
                </a:lnTo>
                <a:lnTo>
                  <a:pt x="14669" y="524613"/>
                </a:lnTo>
                <a:lnTo>
                  <a:pt x="25779" y="480223"/>
                </a:lnTo>
                <a:lnTo>
                  <a:pt x="39811" y="437071"/>
                </a:lnTo>
                <a:lnTo>
                  <a:pt x="56654" y="395268"/>
                </a:lnTo>
                <a:lnTo>
                  <a:pt x="76195" y="354927"/>
                </a:lnTo>
                <a:lnTo>
                  <a:pt x="98322" y="316161"/>
                </a:lnTo>
                <a:lnTo>
                  <a:pt x="122922" y="279082"/>
                </a:lnTo>
                <a:lnTo>
                  <a:pt x="149883" y="243801"/>
                </a:lnTo>
                <a:lnTo>
                  <a:pt x="179092" y="210432"/>
                </a:lnTo>
                <a:lnTo>
                  <a:pt x="210437" y="179088"/>
                </a:lnTo>
                <a:lnTo>
                  <a:pt x="243807" y="149879"/>
                </a:lnTo>
                <a:lnTo>
                  <a:pt x="279087" y="122918"/>
                </a:lnTo>
                <a:lnTo>
                  <a:pt x="316167" y="98319"/>
                </a:lnTo>
                <a:lnTo>
                  <a:pt x="354933" y="76193"/>
                </a:lnTo>
                <a:lnTo>
                  <a:pt x="395273" y="56653"/>
                </a:lnTo>
                <a:lnTo>
                  <a:pt x="437076" y="39810"/>
                </a:lnTo>
                <a:lnTo>
                  <a:pt x="480228" y="25778"/>
                </a:lnTo>
                <a:lnTo>
                  <a:pt x="524616" y="14668"/>
                </a:lnTo>
                <a:lnTo>
                  <a:pt x="570130" y="6594"/>
                </a:lnTo>
                <a:lnTo>
                  <a:pt x="616656" y="1667"/>
                </a:lnTo>
                <a:lnTo>
                  <a:pt x="664083" y="0"/>
                </a:lnTo>
                <a:lnTo>
                  <a:pt x="4494657" y="0"/>
                </a:lnTo>
                <a:lnTo>
                  <a:pt x="4542084" y="1667"/>
                </a:lnTo>
                <a:lnTo>
                  <a:pt x="4588612" y="6594"/>
                </a:lnTo>
                <a:lnTo>
                  <a:pt x="4634126" y="14668"/>
                </a:lnTo>
                <a:lnTo>
                  <a:pt x="4678516" y="25778"/>
                </a:lnTo>
                <a:lnTo>
                  <a:pt x="4721668" y="39810"/>
                </a:lnTo>
                <a:lnTo>
                  <a:pt x="4763471" y="56653"/>
                </a:lnTo>
                <a:lnTo>
                  <a:pt x="4803812" y="76193"/>
                </a:lnTo>
                <a:lnTo>
                  <a:pt x="4842578" y="98319"/>
                </a:lnTo>
                <a:lnTo>
                  <a:pt x="4879657" y="122918"/>
                </a:lnTo>
                <a:lnTo>
                  <a:pt x="4914938" y="149879"/>
                </a:lnTo>
                <a:lnTo>
                  <a:pt x="4948307" y="179088"/>
                </a:lnTo>
                <a:lnTo>
                  <a:pt x="4979651" y="210432"/>
                </a:lnTo>
                <a:lnTo>
                  <a:pt x="5008860" y="243801"/>
                </a:lnTo>
                <a:lnTo>
                  <a:pt x="5035821" y="279082"/>
                </a:lnTo>
                <a:lnTo>
                  <a:pt x="5060420" y="316161"/>
                </a:lnTo>
                <a:lnTo>
                  <a:pt x="5082546" y="354927"/>
                </a:lnTo>
                <a:lnTo>
                  <a:pt x="5102086" y="395268"/>
                </a:lnTo>
                <a:lnTo>
                  <a:pt x="5118929" y="437071"/>
                </a:lnTo>
                <a:lnTo>
                  <a:pt x="5132961" y="480223"/>
                </a:lnTo>
                <a:lnTo>
                  <a:pt x="5144071" y="524613"/>
                </a:lnTo>
                <a:lnTo>
                  <a:pt x="5152145" y="570127"/>
                </a:lnTo>
                <a:lnTo>
                  <a:pt x="5157072" y="616655"/>
                </a:lnTo>
                <a:lnTo>
                  <a:pt x="5158740" y="664083"/>
                </a:lnTo>
                <a:lnTo>
                  <a:pt x="5158740" y="3452241"/>
                </a:lnTo>
                <a:lnTo>
                  <a:pt x="5157072" y="3499667"/>
                </a:lnTo>
                <a:lnTo>
                  <a:pt x="5152145" y="3546193"/>
                </a:lnTo>
                <a:lnTo>
                  <a:pt x="5144071" y="3591707"/>
                </a:lnTo>
                <a:lnTo>
                  <a:pt x="5132961" y="3636095"/>
                </a:lnTo>
                <a:lnTo>
                  <a:pt x="5118929" y="3679247"/>
                </a:lnTo>
                <a:lnTo>
                  <a:pt x="5102086" y="3721050"/>
                </a:lnTo>
                <a:lnTo>
                  <a:pt x="5082546" y="3761390"/>
                </a:lnTo>
                <a:lnTo>
                  <a:pt x="5060420" y="3800156"/>
                </a:lnTo>
                <a:lnTo>
                  <a:pt x="5035821" y="3837236"/>
                </a:lnTo>
                <a:lnTo>
                  <a:pt x="5008860" y="3872516"/>
                </a:lnTo>
                <a:lnTo>
                  <a:pt x="4979651" y="3905886"/>
                </a:lnTo>
                <a:lnTo>
                  <a:pt x="4948307" y="3937231"/>
                </a:lnTo>
                <a:lnTo>
                  <a:pt x="4914938" y="3966440"/>
                </a:lnTo>
                <a:lnTo>
                  <a:pt x="4879657" y="3993401"/>
                </a:lnTo>
                <a:lnTo>
                  <a:pt x="4842578" y="4018001"/>
                </a:lnTo>
                <a:lnTo>
                  <a:pt x="4803812" y="4040128"/>
                </a:lnTo>
                <a:lnTo>
                  <a:pt x="4763471" y="4059669"/>
                </a:lnTo>
                <a:lnTo>
                  <a:pt x="4721668" y="4076512"/>
                </a:lnTo>
                <a:lnTo>
                  <a:pt x="4678516" y="4090544"/>
                </a:lnTo>
                <a:lnTo>
                  <a:pt x="4634126" y="4101654"/>
                </a:lnTo>
                <a:lnTo>
                  <a:pt x="4588612" y="4109729"/>
                </a:lnTo>
                <a:lnTo>
                  <a:pt x="4542084" y="4114656"/>
                </a:lnTo>
                <a:lnTo>
                  <a:pt x="4494657" y="4116324"/>
                </a:lnTo>
                <a:lnTo>
                  <a:pt x="664083" y="4116324"/>
                </a:lnTo>
                <a:lnTo>
                  <a:pt x="616656" y="4114656"/>
                </a:lnTo>
                <a:lnTo>
                  <a:pt x="570130" y="4109729"/>
                </a:lnTo>
                <a:lnTo>
                  <a:pt x="524616" y="4101654"/>
                </a:lnTo>
                <a:lnTo>
                  <a:pt x="480228" y="4090544"/>
                </a:lnTo>
                <a:lnTo>
                  <a:pt x="437076" y="4076512"/>
                </a:lnTo>
                <a:lnTo>
                  <a:pt x="395273" y="4059669"/>
                </a:lnTo>
                <a:lnTo>
                  <a:pt x="354933" y="4040128"/>
                </a:lnTo>
                <a:lnTo>
                  <a:pt x="316167" y="4018001"/>
                </a:lnTo>
                <a:lnTo>
                  <a:pt x="279087" y="3993401"/>
                </a:lnTo>
                <a:lnTo>
                  <a:pt x="243807" y="3966440"/>
                </a:lnTo>
                <a:lnTo>
                  <a:pt x="210437" y="3937231"/>
                </a:lnTo>
                <a:lnTo>
                  <a:pt x="179092" y="3905886"/>
                </a:lnTo>
                <a:lnTo>
                  <a:pt x="149883" y="3872516"/>
                </a:lnTo>
                <a:lnTo>
                  <a:pt x="122922" y="3837236"/>
                </a:lnTo>
                <a:lnTo>
                  <a:pt x="98322" y="3800156"/>
                </a:lnTo>
                <a:lnTo>
                  <a:pt x="76195" y="3761390"/>
                </a:lnTo>
                <a:lnTo>
                  <a:pt x="56654" y="3721050"/>
                </a:lnTo>
                <a:lnTo>
                  <a:pt x="39811" y="3679247"/>
                </a:lnTo>
                <a:lnTo>
                  <a:pt x="25779" y="3636095"/>
                </a:lnTo>
                <a:lnTo>
                  <a:pt x="14669" y="3591707"/>
                </a:lnTo>
                <a:lnTo>
                  <a:pt x="6594" y="3546193"/>
                </a:lnTo>
                <a:lnTo>
                  <a:pt x="1667" y="3499667"/>
                </a:lnTo>
                <a:lnTo>
                  <a:pt x="0" y="3452241"/>
                </a:lnTo>
                <a:lnTo>
                  <a:pt x="0" y="664083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1751" y="2007235"/>
            <a:ext cx="4554855" cy="360235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1300" marR="5080" indent="-228600">
              <a:lnSpc>
                <a:spcPts val="1820"/>
              </a:lnSpc>
              <a:spcBef>
                <a:spcPts val="54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Diverse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content,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relatable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specific content.</a:t>
            </a:r>
            <a:r>
              <a:rPr sz="1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Genres,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Language,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Netflix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exclusive content,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Quality,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Intuitive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UI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etc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class!</a:t>
            </a:r>
            <a:endParaRPr sz="1900">
              <a:latin typeface="Calibri"/>
              <a:cs typeface="Calibri"/>
            </a:endParaRPr>
          </a:p>
          <a:p>
            <a:pPr marL="241300" marR="48260" indent="-228600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Netflix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offers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organisation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its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personalisation.</a:t>
            </a:r>
            <a:endParaRPr sz="1900">
              <a:latin typeface="Calibri"/>
              <a:cs typeface="Calibri"/>
            </a:endParaRPr>
          </a:p>
          <a:p>
            <a:pPr marL="241300" marR="138430" indent="-228600">
              <a:lnSpc>
                <a:spcPts val="18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recommendation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lives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its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endParaRPr sz="1900">
              <a:latin typeface="Calibri"/>
              <a:cs typeface="Calibri"/>
            </a:endParaRPr>
          </a:p>
          <a:p>
            <a:pPr marL="241300" marR="39370" indent="-228600">
              <a:lnSpc>
                <a:spcPct val="801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boarding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device,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requirement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accessing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other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factor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authentication</a:t>
            </a:r>
            <a:endParaRPr sz="1900">
              <a:latin typeface="Calibri"/>
              <a:cs typeface="Calibri"/>
            </a:endParaRPr>
          </a:p>
          <a:p>
            <a:pPr marL="241300" marR="288290" indent="-228600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curve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non-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existent.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59902" y="1278128"/>
            <a:ext cx="1246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90" dirty="0">
                <a:solidFill>
                  <a:srgbClr val="E60913"/>
                </a:solidFill>
                <a:latin typeface="Trebuchet MS"/>
                <a:cs typeface="Trebuchet MS"/>
              </a:rPr>
              <a:t>The</a:t>
            </a:r>
            <a:r>
              <a:rPr sz="2400" b="1" spc="-160" dirty="0">
                <a:solidFill>
                  <a:srgbClr val="E60913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E60913"/>
                </a:solidFill>
                <a:latin typeface="Trebuchet MS"/>
                <a:cs typeface="Trebuchet MS"/>
              </a:rPr>
              <a:t>Cons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01155" y="1845564"/>
            <a:ext cx="5562600" cy="4116704"/>
          </a:xfrm>
          <a:custGeom>
            <a:avLst/>
            <a:gdLst/>
            <a:ahLst/>
            <a:cxnLst/>
            <a:rect l="l" t="t" r="r" b="b"/>
            <a:pathLst>
              <a:path w="5562600" h="4116704">
                <a:moveTo>
                  <a:pt x="0" y="686053"/>
                </a:moveTo>
                <a:lnTo>
                  <a:pt x="1722" y="637065"/>
                </a:lnTo>
                <a:lnTo>
                  <a:pt x="6814" y="589005"/>
                </a:lnTo>
                <a:lnTo>
                  <a:pt x="15157" y="541990"/>
                </a:lnTo>
                <a:lnTo>
                  <a:pt x="26636" y="496136"/>
                </a:lnTo>
                <a:lnTo>
                  <a:pt x="41135" y="451559"/>
                </a:lnTo>
                <a:lnTo>
                  <a:pt x="58537" y="408375"/>
                </a:lnTo>
                <a:lnTo>
                  <a:pt x="78727" y="366701"/>
                </a:lnTo>
                <a:lnTo>
                  <a:pt x="101588" y="326652"/>
                </a:lnTo>
                <a:lnTo>
                  <a:pt x="127005" y="288345"/>
                </a:lnTo>
                <a:lnTo>
                  <a:pt x="154860" y="251896"/>
                </a:lnTo>
                <a:lnTo>
                  <a:pt x="185038" y="217422"/>
                </a:lnTo>
                <a:lnTo>
                  <a:pt x="217422" y="185038"/>
                </a:lnTo>
                <a:lnTo>
                  <a:pt x="251896" y="154860"/>
                </a:lnTo>
                <a:lnTo>
                  <a:pt x="288345" y="127005"/>
                </a:lnTo>
                <a:lnTo>
                  <a:pt x="326652" y="101588"/>
                </a:lnTo>
                <a:lnTo>
                  <a:pt x="366701" y="78727"/>
                </a:lnTo>
                <a:lnTo>
                  <a:pt x="408375" y="58537"/>
                </a:lnTo>
                <a:lnTo>
                  <a:pt x="451559" y="41135"/>
                </a:lnTo>
                <a:lnTo>
                  <a:pt x="496136" y="26636"/>
                </a:lnTo>
                <a:lnTo>
                  <a:pt x="541990" y="15157"/>
                </a:lnTo>
                <a:lnTo>
                  <a:pt x="589005" y="6814"/>
                </a:lnTo>
                <a:lnTo>
                  <a:pt x="637065" y="1722"/>
                </a:lnTo>
                <a:lnTo>
                  <a:pt x="686053" y="0"/>
                </a:lnTo>
                <a:lnTo>
                  <a:pt x="4876546" y="0"/>
                </a:lnTo>
                <a:lnTo>
                  <a:pt x="4925534" y="1722"/>
                </a:lnTo>
                <a:lnTo>
                  <a:pt x="4973594" y="6814"/>
                </a:lnTo>
                <a:lnTo>
                  <a:pt x="5020609" y="15157"/>
                </a:lnTo>
                <a:lnTo>
                  <a:pt x="5066463" y="26636"/>
                </a:lnTo>
                <a:lnTo>
                  <a:pt x="5111040" y="41135"/>
                </a:lnTo>
                <a:lnTo>
                  <a:pt x="5154224" y="58537"/>
                </a:lnTo>
                <a:lnTo>
                  <a:pt x="5195898" y="78727"/>
                </a:lnTo>
                <a:lnTo>
                  <a:pt x="5235947" y="101588"/>
                </a:lnTo>
                <a:lnTo>
                  <a:pt x="5274254" y="127005"/>
                </a:lnTo>
                <a:lnTo>
                  <a:pt x="5310703" y="154860"/>
                </a:lnTo>
                <a:lnTo>
                  <a:pt x="5345177" y="185038"/>
                </a:lnTo>
                <a:lnTo>
                  <a:pt x="5377561" y="217422"/>
                </a:lnTo>
                <a:lnTo>
                  <a:pt x="5407739" y="251896"/>
                </a:lnTo>
                <a:lnTo>
                  <a:pt x="5435594" y="288345"/>
                </a:lnTo>
                <a:lnTo>
                  <a:pt x="5461011" y="326652"/>
                </a:lnTo>
                <a:lnTo>
                  <a:pt x="5483872" y="366701"/>
                </a:lnTo>
                <a:lnTo>
                  <a:pt x="5504062" y="408375"/>
                </a:lnTo>
                <a:lnTo>
                  <a:pt x="5521464" y="451559"/>
                </a:lnTo>
                <a:lnTo>
                  <a:pt x="5535963" y="496136"/>
                </a:lnTo>
                <a:lnTo>
                  <a:pt x="5547442" y="541990"/>
                </a:lnTo>
                <a:lnTo>
                  <a:pt x="5555785" y="589005"/>
                </a:lnTo>
                <a:lnTo>
                  <a:pt x="5560877" y="637065"/>
                </a:lnTo>
                <a:lnTo>
                  <a:pt x="5562600" y="686053"/>
                </a:lnTo>
                <a:lnTo>
                  <a:pt x="5562600" y="3430270"/>
                </a:lnTo>
                <a:lnTo>
                  <a:pt x="5560877" y="3479264"/>
                </a:lnTo>
                <a:lnTo>
                  <a:pt x="5555785" y="3527329"/>
                </a:lnTo>
                <a:lnTo>
                  <a:pt x="5547442" y="3574348"/>
                </a:lnTo>
                <a:lnTo>
                  <a:pt x="5535963" y="3620205"/>
                </a:lnTo>
                <a:lnTo>
                  <a:pt x="5521464" y="3664784"/>
                </a:lnTo>
                <a:lnTo>
                  <a:pt x="5504062" y="3707970"/>
                </a:lnTo>
                <a:lnTo>
                  <a:pt x="5483872" y="3749645"/>
                </a:lnTo>
                <a:lnTo>
                  <a:pt x="5461011" y="3789693"/>
                </a:lnTo>
                <a:lnTo>
                  <a:pt x="5435594" y="3828000"/>
                </a:lnTo>
                <a:lnTo>
                  <a:pt x="5407739" y="3864448"/>
                </a:lnTo>
                <a:lnTo>
                  <a:pt x="5377561" y="3898921"/>
                </a:lnTo>
                <a:lnTo>
                  <a:pt x="5345177" y="3931304"/>
                </a:lnTo>
                <a:lnTo>
                  <a:pt x="5310703" y="3961480"/>
                </a:lnTo>
                <a:lnTo>
                  <a:pt x="5274254" y="3989333"/>
                </a:lnTo>
                <a:lnTo>
                  <a:pt x="5235947" y="4014747"/>
                </a:lnTo>
                <a:lnTo>
                  <a:pt x="5195898" y="4037605"/>
                </a:lnTo>
                <a:lnTo>
                  <a:pt x="5154224" y="4057793"/>
                </a:lnTo>
                <a:lnTo>
                  <a:pt x="5111040" y="4075194"/>
                </a:lnTo>
                <a:lnTo>
                  <a:pt x="5066463" y="4089691"/>
                </a:lnTo>
                <a:lnTo>
                  <a:pt x="5020609" y="4101168"/>
                </a:lnTo>
                <a:lnTo>
                  <a:pt x="4973594" y="4109511"/>
                </a:lnTo>
                <a:lnTo>
                  <a:pt x="4925534" y="4114601"/>
                </a:lnTo>
                <a:lnTo>
                  <a:pt x="4876546" y="4116324"/>
                </a:lnTo>
                <a:lnTo>
                  <a:pt x="686053" y="4116324"/>
                </a:lnTo>
                <a:lnTo>
                  <a:pt x="637065" y="4114601"/>
                </a:lnTo>
                <a:lnTo>
                  <a:pt x="589005" y="4109511"/>
                </a:lnTo>
                <a:lnTo>
                  <a:pt x="541990" y="4101168"/>
                </a:lnTo>
                <a:lnTo>
                  <a:pt x="496136" y="4089691"/>
                </a:lnTo>
                <a:lnTo>
                  <a:pt x="451559" y="4075194"/>
                </a:lnTo>
                <a:lnTo>
                  <a:pt x="408375" y="4057793"/>
                </a:lnTo>
                <a:lnTo>
                  <a:pt x="366701" y="4037605"/>
                </a:lnTo>
                <a:lnTo>
                  <a:pt x="326652" y="4014747"/>
                </a:lnTo>
                <a:lnTo>
                  <a:pt x="288345" y="3989333"/>
                </a:lnTo>
                <a:lnTo>
                  <a:pt x="251896" y="3961480"/>
                </a:lnTo>
                <a:lnTo>
                  <a:pt x="217422" y="3931304"/>
                </a:lnTo>
                <a:lnTo>
                  <a:pt x="185038" y="3898921"/>
                </a:lnTo>
                <a:lnTo>
                  <a:pt x="154860" y="3864448"/>
                </a:lnTo>
                <a:lnTo>
                  <a:pt x="127005" y="3828000"/>
                </a:lnTo>
                <a:lnTo>
                  <a:pt x="101588" y="3789693"/>
                </a:lnTo>
                <a:lnTo>
                  <a:pt x="78727" y="3749645"/>
                </a:lnTo>
                <a:lnTo>
                  <a:pt x="58537" y="3707970"/>
                </a:lnTo>
                <a:lnTo>
                  <a:pt x="41135" y="3664784"/>
                </a:lnTo>
                <a:lnTo>
                  <a:pt x="26636" y="3620205"/>
                </a:lnTo>
                <a:lnTo>
                  <a:pt x="15157" y="3574348"/>
                </a:lnTo>
                <a:lnTo>
                  <a:pt x="6814" y="3527329"/>
                </a:lnTo>
                <a:lnTo>
                  <a:pt x="1722" y="3479264"/>
                </a:lnTo>
                <a:lnTo>
                  <a:pt x="0" y="3430270"/>
                </a:lnTo>
                <a:lnTo>
                  <a:pt x="0" y="686053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82334" y="2013585"/>
            <a:ext cx="4906645" cy="2549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 algn="just">
              <a:lnSpc>
                <a:spcPts val="205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watch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few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international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content.</a:t>
            </a:r>
            <a:endParaRPr sz="1900">
              <a:latin typeface="Calibri"/>
              <a:cs typeface="Calibri"/>
            </a:endParaRPr>
          </a:p>
          <a:p>
            <a:pPr marL="240665" algn="just">
              <a:lnSpc>
                <a:spcPts val="2050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option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“Browse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Region”.</a:t>
            </a:r>
            <a:endParaRPr sz="1900">
              <a:latin typeface="Calibri"/>
              <a:cs typeface="Calibri"/>
            </a:endParaRPr>
          </a:p>
          <a:p>
            <a:pPr marL="238760" marR="6985" indent="-226695" algn="just">
              <a:lnSpc>
                <a:spcPct val="80100"/>
              </a:lnSpc>
              <a:spcBef>
                <a:spcPts val="99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organisation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“My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List”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feature.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just 	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appears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chronological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added 	content.</a:t>
            </a:r>
            <a:endParaRPr sz="1900">
              <a:latin typeface="Calibri"/>
              <a:cs typeface="Calibri"/>
            </a:endParaRPr>
          </a:p>
          <a:p>
            <a:pPr marL="240665" marR="485140" indent="-228600">
              <a:lnSpc>
                <a:spcPts val="182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include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few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important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like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character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x-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ray,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day’s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ts val="2050"/>
              </a:lnSpc>
              <a:spcBef>
                <a:spcPts val="56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social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aspect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interface,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endParaRPr sz="1900">
              <a:latin typeface="Calibri"/>
              <a:cs typeface="Calibri"/>
            </a:endParaRPr>
          </a:p>
          <a:p>
            <a:pPr marL="240665">
              <a:lnSpc>
                <a:spcPts val="2050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friends,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rate,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review,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watch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party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4413" y="148539"/>
            <a:ext cx="9036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2522" y="145160"/>
            <a:ext cx="702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1494" y="145160"/>
            <a:ext cx="986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Persona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6978" y="145160"/>
            <a:ext cx="13011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Journey</a:t>
            </a:r>
            <a:r>
              <a:rPr sz="1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Map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1420" y="145160"/>
            <a:ext cx="19100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User</a:t>
            </a:r>
            <a:r>
              <a:rPr sz="1400" b="1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Experience</a:t>
            </a:r>
            <a:r>
              <a:rPr sz="1400" b="1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Insights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0033" y="145160"/>
            <a:ext cx="8636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"/>
            <a:ext cx="1455419" cy="53797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63372" y="971803"/>
            <a:ext cx="10567670" cy="5041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0" dirty="0">
                <a:solidFill>
                  <a:srgbClr val="E60913"/>
                </a:solidFill>
                <a:latin typeface="Tahoma"/>
                <a:cs typeface="Tahoma"/>
              </a:rPr>
              <a:t>UI</a:t>
            </a:r>
            <a:r>
              <a:rPr sz="2400" spc="-225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E60913"/>
                </a:solidFill>
                <a:latin typeface="Tahoma"/>
                <a:cs typeface="Tahoma"/>
              </a:rPr>
              <a:t>Elements</a:t>
            </a:r>
            <a:r>
              <a:rPr sz="2400" spc="-225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Stood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Out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30"/>
              </a:spcBef>
            </a:pP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180" dirty="0">
                <a:solidFill>
                  <a:srgbClr val="E60913"/>
                </a:solidFill>
                <a:latin typeface="Tahoma"/>
                <a:cs typeface="Tahoma"/>
              </a:rPr>
              <a:t>UI</a:t>
            </a:r>
            <a:r>
              <a:rPr sz="2400" spc="-225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120" dirty="0">
                <a:solidFill>
                  <a:srgbClr val="E60913"/>
                </a:solidFill>
                <a:latin typeface="Tahoma"/>
                <a:cs typeface="Tahoma"/>
              </a:rPr>
              <a:t>&amp;</a:t>
            </a:r>
            <a:r>
              <a:rPr sz="2400" spc="-240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E60913"/>
                </a:solidFill>
                <a:latin typeface="Tahoma"/>
                <a:cs typeface="Tahoma"/>
              </a:rPr>
              <a:t>Navigation</a:t>
            </a:r>
            <a:r>
              <a:rPr sz="2400" spc="-195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really</a:t>
            </a:r>
            <a:r>
              <a:rPr sz="24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friendly</a:t>
            </a:r>
            <a:r>
              <a:rPr sz="24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Tahoma"/>
                <a:cs typeface="Tahoma"/>
              </a:rPr>
              <a:t>improving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overall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experience!</a:t>
            </a:r>
            <a:endParaRPr sz="2400">
              <a:latin typeface="Tahoma"/>
              <a:cs typeface="Tahoma"/>
            </a:endParaRPr>
          </a:p>
          <a:p>
            <a:pPr marL="355600" marR="212725" indent="-342900">
              <a:lnSpc>
                <a:spcPct val="100000"/>
              </a:lnSpc>
              <a:spcBef>
                <a:spcPts val="288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0" dirty="0">
                <a:solidFill>
                  <a:srgbClr val="E60913"/>
                </a:solidFill>
                <a:latin typeface="Tahoma"/>
                <a:cs typeface="Tahoma"/>
              </a:rPr>
              <a:t>On</a:t>
            </a:r>
            <a:r>
              <a:rPr sz="2400" spc="-229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135" dirty="0">
                <a:solidFill>
                  <a:srgbClr val="E60913"/>
                </a:solidFill>
                <a:latin typeface="Tahoma"/>
                <a:cs typeface="Tahoma"/>
              </a:rPr>
              <a:t>keeping</a:t>
            </a:r>
            <a:r>
              <a:rPr sz="2400" spc="-229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cursor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title,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preview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played,</a:t>
            </a:r>
            <a:r>
              <a:rPr sz="24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which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helps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24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Tahoma"/>
                <a:cs typeface="Tahoma"/>
              </a:rPr>
              <a:t>judge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if 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he</a:t>
            </a:r>
            <a:r>
              <a:rPr sz="2400" spc="-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wants</a:t>
            </a:r>
            <a:r>
              <a:rPr sz="24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watch</a:t>
            </a:r>
            <a:r>
              <a:rPr sz="24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24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now</a:t>
            </a:r>
            <a:r>
              <a:rPr sz="24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4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later</a:t>
            </a:r>
            <a:endParaRPr sz="24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spc="-100" dirty="0">
                <a:solidFill>
                  <a:srgbClr val="E60913"/>
                </a:solidFill>
                <a:latin typeface="Tahoma"/>
                <a:cs typeface="Tahoma"/>
              </a:rPr>
              <a:t>On</a:t>
            </a:r>
            <a:r>
              <a:rPr sz="2400" spc="-229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E60913"/>
                </a:solidFill>
                <a:latin typeface="Tahoma"/>
                <a:cs typeface="Tahoma"/>
              </a:rPr>
              <a:t>clicking</a:t>
            </a:r>
            <a:r>
              <a:rPr sz="2400" spc="-225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‘episodes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info’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button,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we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24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see</a:t>
            </a:r>
            <a:r>
              <a:rPr sz="24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little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window</a:t>
            </a:r>
            <a:r>
              <a:rPr sz="24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4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Tahoma"/>
                <a:cs typeface="Tahoma"/>
              </a:rPr>
              <a:t>details,</a:t>
            </a:r>
            <a:r>
              <a:rPr sz="24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not 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navigating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another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window</a:t>
            </a:r>
            <a:r>
              <a:rPr sz="24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simply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start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playing</a:t>
            </a:r>
            <a:r>
              <a:rPr sz="240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title.</a:t>
            </a:r>
            <a:r>
              <a:rPr sz="24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helps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24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conveniently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browse</a:t>
            </a:r>
            <a:r>
              <a:rPr sz="24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r>
              <a:rPr sz="24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summaries</a:t>
            </a:r>
            <a:r>
              <a:rPr sz="24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4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details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without</a:t>
            </a:r>
            <a:r>
              <a:rPr sz="24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feeling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overwhelmed</a:t>
            </a:r>
            <a:r>
              <a:rPr sz="24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repeated</a:t>
            </a:r>
            <a:r>
              <a:rPr sz="24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window</a:t>
            </a:r>
            <a:r>
              <a:rPr sz="24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navigation.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-105" dirty="0">
                <a:solidFill>
                  <a:srgbClr val="E60913"/>
                </a:solidFill>
                <a:latin typeface="Tahoma"/>
                <a:cs typeface="Tahoma"/>
              </a:rPr>
              <a:t>When</a:t>
            </a:r>
            <a:r>
              <a:rPr sz="2400" spc="-240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E60913"/>
                </a:solidFill>
                <a:latin typeface="Tahoma"/>
                <a:cs typeface="Tahoma"/>
              </a:rPr>
              <a:t>clicking</a:t>
            </a:r>
            <a:r>
              <a:rPr sz="2400" spc="-225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next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button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while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browsing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24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row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titles,</a:t>
            </a:r>
            <a:r>
              <a:rPr sz="24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small</a:t>
            </a:r>
            <a:endParaRPr sz="2400">
              <a:latin typeface="Tahoma"/>
              <a:cs typeface="Tahoma"/>
            </a:endParaRPr>
          </a:p>
          <a:p>
            <a:pPr marL="355600" marR="260985">
              <a:lnSpc>
                <a:spcPct val="100000"/>
              </a:lnSpc>
            </a:pP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progress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bar</a:t>
            </a:r>
            <a:r>
              <a:rPr sz="240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displayed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top,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helping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Tahoma"/>
                <a:cs typeface="Tahoma"/>
              </a:rPr>
              <a:t>judge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Tahoma"/>
                <a:cs typeface="Tahoma"/>
              </a:rPr>
              <a:t>amount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4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titles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present 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accurately</a:t>
            </a:r>
            <a:r>
              <a:rPr sz="24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know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Tahoma"/>
                <a:cs typeface="Tahoma"/>
              </a:rPr>
              <a:t>when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24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4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repeated</a:t>
            </a:r>
            <a:r>
              <a:rPr sz="24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24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beginning.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4413" y="148539"/>
            <a:ext cx="9036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2522" y="145160"/>
            <a:ext cx="702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1494" y="145160"/>
            <a:ext cx="986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Persona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6978" y="145160"/>
            <a:ext cx="13011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Journey</a:t>
            </a:r>
            <a:r>
              <a:rPr sz="1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Map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1420" y="145160"/>
            <a:ext cx="1793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r>
              <a:rPr sz="1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84591" y="145160"/>
            <a:ext cx="9201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Key</a:t>
            </a:r>
            <a:r>
              <a:rPr sz="1400" b="1" u="sng" spc="-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Metrics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55419" cy="5379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18768" y="2190368"/>
            <a:ext cx="4916170" cy="371094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marR="499109" indent="-228600">
              <a:lnSpc>
                <a:spcPct val="7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Measuring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log-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who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watched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length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piece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ts val="2265"/>
              </a:lnSpc>
              <a:spcBef>
                <a:spcPts val="31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Acquisition:</a:t>
            </a:r>
            <a:endParaRPr sz="1900">
              <a:latin typeface="Calibri"/>
              <a:cs typeface="Calibri"/>
            </a:endParaRPr>
          </a:p>
          <a:p>
            <a:pPr marL="469265">
              <a:lnSpc>
                <a:spcPts val="1760"/>
              </a:lnSpc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#Qualifiedleads;</a:t>
            </a:r>
            <a:r>
              <a:rPr sz="15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#Signups;</a:t>
            </a:r>
            <a:endParaRPr sz="1500">
              <a:latin typeface="Calibri"/>
              <a:cs typeface="Calibri"/>
            </a:endParaRPr>
          </a:p>
          <a:p>
            <a:pPr marL="469265" marR="719455">
              <a:lnSpc>
                <a:spcPct val="70000"/>
              </a:lnSpc>
              <a:spcBef>
                <a:spcPts val="515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Acquisition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marketing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#users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acquired</a:t>
            </a:r>
            <a:endParaRPr sz="1500">
              <a:latin typeface="Calibri"/>
              <a:cs typeface="Calibri"/>
            </a:endParaRPr>
          </a:p>
          <a:p>
            <a:pPr marL="241300" marR="94615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Retention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(Remaining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users)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(Initial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no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users)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1900">
              <a:latin typeface="Calibri"/>
              <a:cs typeface="Calibri"/>
            </a:endParaRPr>
          </a:p>
          <a:p>
            <a:pPr marL="241300" marR="616585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Lifetime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Avg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Trxn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x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Retention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Period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Lifetime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LTV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Profit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Margin</a:t>
            </a:r>
            <a:endParaRPr sz="190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onboarding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tickets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span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7036" y="922782"/>
            <a:ext cx="6833870" cy="1213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2000" spc="-70" dirty="0">
                <a:solidFill>
                  <a:srgbClr val="E60913"/>
                </a:solidFill>
                <a:latin typeface="Tahoma"/>
                <a:cs typeface="Tahoma"/>
              </a:rPr>
              <a:t>North</a:t>
            </a:r>
            <a:r>
              <a:rPr sz="2000" spc="-204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E60913"/>
                </a:solidFill>
                <a:latin typeface="Tahoma"/>
                <a:cs typeface="Tahoma"/>
              </a:rPr>
              <a:t>Star</a:t>
            </a:r>
            <a:r>
              <a:rPr sz="2000" spc="-180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E60913"/>
                </a:solidFill>
                <a:latin typeface="Tahoma"/>
                <a:cs typeface="Tahoma"/>
              </a:rPr>
              <a:t>Metric:</a:t>
            </a:r>
            <a:r>
              <a:rPr sz="2000" spc="-145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Netflix's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North</a:t>
            </a:r>
            <a:r>
              <a:rPr sz="20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Star</a:t>
            </a:r>
            <a:r>
              <a:rPr sz="20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Metric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0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ahoma"/>
                <a:cs typeface="Tahoma"/>
              </a:rPr>
              <a:t>“User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Watch</a:t>
            </a:r>
            <a:r>
              <a:rPr sz="20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Time”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2000">
              <a:latin typeface="Tahoma"/>
              <a:cs typeface="Tahoma"/>
            </a:endParaRPr>
          </a:p>
          <a:p>
            <a:pPr marR="39370" algn="r">
              <a:lnSpc>
                <a:spcPct val="100000"/>
              </a:lnSpc>
              <a:tabLst>
                <a:tab pos="5335905" algn="l"/>
              </a:tabLst>
            </a:pPr>
            <a:r>
              <a:rPr sz="2400" spc="-40" dirty="0">
                <a:solidFill>
                  <a:srgbClr val="E60913"/>
                </a:solidFill>
                <a:latin typeface="Tahoma"/>
                <a:cs typeface="Tahoma"/>
              </a:rPr>
              <a:t>L1</a:t>
            </a:r>
            <a:r>
              <a:rPr sz="2400" spc="-254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400" spc="-40" dirty="0">
                <a:solidFill>
                  <a:srgbClr val="E60913"/>
                </a:solidFill>
                <a:latin typeface="Tahoma"/>
                <a:cs typeface="Tahoma"/>
              </a:rPr>
              <a:t>L2</a:t>
            </a:r>
            <a:r>
              <a:rPr sz="2400" spc="-254" dirty="0">
                <a:solidFill>
                  <a:srgbClr val="E60913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1828" y="2190368"/>
            <a:ext cx="132016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Awareness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9029" y="2473833"/>
            <a:ext cx="2008505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178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#Website</a:t>
            </a:r>
            <a:r>
              <a:rPr sz="1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visits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ts val="1780"/>
              </a:lnSpc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spent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828" y="2966085"/>
            <a:ext cx="2922905" cy="539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265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Acquisition</a:t>
            </a:r>
            <a:endParaRPr sz="1900">
              <a:latin typeface="Calibri"/>
              <a:cs typeface="Calibri"/>
            </a:endParaRPr>
          </a:p>
          <a:p>
            <a:pPr marL="697865" lvl="1" indent="-227965">
              <a:lnSpc>
                <a:spcPts val="1785"/>
              </a:lnSpc>
              <a:buFont typeface="Arial MT"/>
              <a:buChar char="•"/>
              <a:tabLst>
                <a:tab pos="697865" algn="l"/>
              </a:tabLst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#Downloads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#Installations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1828" y="3518992"/>
            <a:ext cx="12433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09029" y="3804666"/>
            <a:ext cx="4199890" cy="63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178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#Steps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onboarding</a:t>
            </a:r>
            <a:r>
              <a:rPr sz="15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50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52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Completion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#Users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finished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onboarding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#Users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onboarding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cohort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1828" y="4456938"/>
            <a:ext cx="5005070" cy="14338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Engagement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#active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cohort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#users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cohort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cohort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onboarding started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ts val="2265"/>
              </a:lnSpc>
              <a:spcBef>
                <a:spcPts val="31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endParaRPr sz="1900">
              <a:latin typeface="Calibri"/>
              <a:cs typeface="Calibri"/>
            </a:endParaRPr>
          </a:p>
          <a:p>
            <a:pPr marL="698500" marR="151130" lvl="1" indent="-228600">
              <a:lnSpc>
                <a:spcPct val="7000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Free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Trial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conversion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#users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#users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free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trail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1260</Words>
  <Application>Microsoft Office PowerPoint</Application>
  <PresentationFormat>Widescreen</PresentationFormat>
  <Paragraphs>193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 MT</vt:lpstr>
      <vt:lpstr>Calibri</vt:lpstr>
      <vt:lpstr>Segoe UI Emoji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Kumar</dc:creator>
  <cp:lastModifiedBy>Mayank Kumar</cp:lastModifiedBy>
  <cp:revision>1</cp:revision>
  <dcterms:created xsi:type="dcterms:W3CDTF">2026-05-21T11:36:14Z</dcterms:created>
  <dcterms:modified xsi:type="dcterms:W3CDTF">2026-05-21T12:56:37Z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2026-05-21T00:00:00Z</vt:filetime>
  </property>
  <property fmtid="{D5CDD505-2E9C-101B-9397-08002B2CF9AE}" pid="5" name="Producer">
    <vt:lpwstr>Microsoft® PowerPoint® for Microsoft 365</vt:lpwstr>
  </property>
</Properties>
</file>