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E92D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162301" y="192023"/>
            <a:ext cx="1013713" cy="1783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67429" y="743966"/>
            <a:ext cx="7562215" cy="902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0749" y="1481073"/>
            <a:ext cx="7910195" cy="414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F6E03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20.jpg"/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12" Type="http://schemas.openxmlformats.org/officeDocument/2006/relationships/image" Target="../media/image19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18.png"/><Relationship Id="rId5" Type="http://schemas.openxmlformats.org/officeDocument/2006/relationships/image" Target="../media/image7.png"/><Relationship Id="rId10" Type="http://schemas.openxmlformats.org/officeDocument/2006/relationships/image" Target="../media/image17.jpg"/><Relationship Id="rId4" Type="http://schemas.openxmlformats.org/officeDocument/2006/relationships/image" Target="../media/image6.png"/><Relationship Id="rId9" Type="http://schemas.openxmlformats.org/officeDocument/2006/relationships/image" Target="../media/image16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24.jpg"/><Relationship Id="rId4" Type="http://schemas.openxmlformats.org/officeDocument/2006/relationships/image" Target="../media/image6.png"/><Relationship Id="rId9" Type="http://schemas.openxmlformats.org/officeDocument/2006/relationships/image" Target="../media/image23.jp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26" Type="http://schemas.openxmlformats.org/officeDocument/2006/relationships/image" Target="../media/image45.png"/><Relationship Id="rId39" Type="http://schemas.openxmlformats.org/officeDocument/2006/relationships/image" Target="../media/image58.png"/><Relationship Id="rId21" Type="http://schemas.openxmlformats.org/officeDocument/2006/relationships/image" Target="../media/image40.png"/><Relationship Id="rId34" Type="http://schemas.openxmlformats.org/officeDocument/2006/relationships/image" Target="../media/image53.png"/><Relationship Id="rId42" Type="http://schemas.openxmlformats.org/officeDocument/2006/relationships/image" Target="../media/image61.png"/><Relationship Id="rId47" Type="http://schemas.openxmlformats.org/officeDocument/2006/relationships/image" Target="../media/image66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6" Type="http://schemas.openxmlformats.org/officeDocument/2006/relationships/image" Target="../media/image35.pn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11" Type="http://schemas.openxmlformats.org/officeDocument/2006/relationships/image" Target="../media/image30.png"/><Relationship Id="rId24" Type="http://schemas.openxmlformats.org/officeDocument/2006/relationships/image" Target="../media/image43.png"/><Relationship Id="rId32" Type="http://schemas.openxmlformats.org/officeDocument/2006/relationships/image" Target="../media/image51.png"/><Relationship Id="rId37" Type="http://schemas.openxmlformats.org/officeDocument/2006/relationships/image" Target="../media/image56.png"/><Relationship Id="rId40" Type="http://schemas.openxmlformats.org/officeDocument/2006/relationships/image" Target="../media/image59.png"/><Relationship Id="rId45" Type="http://schemas.openxmlformats.org/officeDocument/2006/relationships/image" Target="../media/image64.png"/><Relationship Id="rId5" Type="http://schemas.openxmlformats.org/officeDocument/2006/relationships/image" Target="../media/image7.png"/><Relationship Id="rId15" Type="http://schemas.openxmlformats.org/officeDocument/2006/relationships/image" Target="../media/image34.png"/><Relationship Id="rId23" Type="http://schemas.openxmlformats.org/officeDocument/2006/relationships/image" Target="../media/image42.png"/><Relationship Id="rId28" Type="http://schemas.openxmlformats.org/officeDocument/2006/relationships/image" Target="../media/image47.png"/><Relationship Id="rId36" Type="http://schemas.openxmlformats.org/officeDocument/2006/relationships/image" Target="../media/image55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31" Type="http://schemas.openxmlformats.org/officeDocument/2006/relationships/image" Target="../media/image50.png"/><Relationship Id="rId44" Type="http://schemas.openxmlformats.org/officeDocument/2006/relationships/image" Target="../media/image63.png"/><Relationship Id="rId4" Type="http://schemas.openxmlformats.org/officeDocument/2006/relationships/image" Target="../media/image6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Relationship Id="rId22" Type="http://schemas.openxmlformats.org/officeDocument/2006/relationships/image" Target="../media/image41.png"/><Relationship Id="rId27" Type="http://schemas.openxmlformats.org/officeDocument/2006/relationships/image" Target="../media/image46.png"/><Relationship Id="rId30" Type="http://schemas.openxmlformats.org/officeDocument/2006/relationships/image" Target="../media/image49.png"/><Relationship Id="rId35" Type="http://schemas.openxmlformats.org/officeDocument/2006/relationships/image" Target="../media/image54.png"/><Relationship Id="rId43" Type="http://schemas.openxmlformats.org/officeDocument/2006/relationships/image" Target="../media/image62.png"/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5" Type="http://schemas.openxmlformats.org/officeDocument/2006/relationships/image" Target="../media/image44.png"/><Relationship Id="rId33" Type="http://schemas.openxmlformats.org/officeDocument/2006/relationships/image" Target="../media/image52.png"/><Relationship Id="rId38" Type="http://schemas.openxmlformats.org/officeDocument/2006/relationships/image" Target="../media/image57.png"/><Relationship Id="rId46" Type="http://schemas.openxmlformats.org/officeDocument/2006/relationships/image" Target="../media/image65.png"/><Relationship Id="rId20" Type="http://schemas.openxmlformats.org/officeDocument/2006/relationships/image" Target="../media/image39.png"/><Relationship Id="rId41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jpg"/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10" Type="http://schemas.openxmlformats.org/officeDocument/2006/relationships/image" Target="../media/image72.jpg"/><Relationship Id="rId4" Type="http://schemas.openxmlformats.org/officeDocument/2006/relationships/image" Target="../media/image67.png"/><Relationship Id="rId9" Type="http://schemas.openxmlformats.org/officeDocument/2006/relationships/image" Target="../media/image7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jpg"/><Relationship Id="rId3" Type="http://schemas.openxmlformats.org/officeDocument/2006/relationships/image" Target="../media/image73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7.jpg"/><Relationship Id="rId4" Type="http://schemas.openxmlformats.org/officeDocument/2006/relationships/image" Target="../media/image67.png"/><Relationship Id="rId9" Type="http://schemas.openxmlformats.org/officeDocument/2006/relationships/image" Target="../media/image76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jpg"/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9.png"/><Relationship Id="rId11" Type="http://schemas.openxmlformats.org/officeDocument/2006/relationships/image" Target="../media/image81.jpg"/><Relationship Id="rId5" Type="http://schemas.openxmlformats.org/officeDocument/2006/relationships/image" Target="../media/image68.png"/><Relationship Id="rId10" Type="http://schemas.openxmlformats.org/officeDocument/2006/relationships/image" Target="../media/image80.jpg"/><Relationship Id="rId4" Type="http://schemas.openxmlformats.org/officeDocument/2006/relationships/image" Target="../media/image67.png"/><Relationship Id="rId9" Type="http://schemas.openxmlformats.org/officeDocument/2006/relationships/image" Target="../media/image7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1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42998" y="207263"/>
              <a:ext cx="1078102" cy="17830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42617" y="368808"/>
              <a:ext cx="995680" cy="3175"/>
            </a:xfrm>
            <a:custGeom>
              <a:avLst/>
              <a:gdLst/>
              <a:ahLst/>
              <a:cxnLst/>
              <a:rect l="l" t="t" r="r" b="b"/>
              <a:pathLst>
                <a:path w="995680" h="3175">
                  <a:moveTo>
                    <a:pt x="995171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995171" y="3047"/>
                  </a:lnTo>
                  <a:lnTo>
                    <a:pt x="995171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43021" y="193878"/>
              <a:ext cx="834961" cy="17861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88282" y="207263"/>
              <a:ext cx="1142491" cy="1783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6725" y="197230"/>
              <a:ext cx="1519174" cy="1783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85914" y="197230"/>
              <a:ext cx="2014854" cy="17830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336658" y="197230"/>
              <a:ext cx="982891" cy="1783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0" y="726948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6E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30773" y="2699511"/>
              <a:ext cx="3914647" cy="559308"/>
            </a:xfrm>
            <a:prstGeom prst="rect">
              <a:avLst/>
            </a:prstGeom>
          </p:spPr>
        </p:pic>
        <p:pic>
          <p:nvPicPr>
            <p:cNvPr id="13" name="object 13" descr="Computer Icons User Profile Avatar PNG, Clipart, Avatar, Black, Black And  White, Circle, Computer Icons Free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71631" y="5733287"/>
              <a:ext cx="1166622" cy="11224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rcRect t="1" r="22835" b="-10423"/>
            <a:stretch>
              <a:fillRect/>
            </a:stretch>
          </p:blipFill>
          <p:spPr>
            <a:xfrm>
              <a:off x="5497564" y="3318148"/>
              <a:ext cx="2086610" cy="281034"/>
            </a:xfrm>
            <a:prstGeom prst="rect">
              <a:avLst/>
            </a:prstGeom>
          </p:spPr>
        </p:pic>
        <p:pic>
          <p:nvPicPr>
            <p:cNvPr id="22" name="object 22" descr="Why did Flipkart change its logo? - Quora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65076" y="2520822"/>
              <a:ext cx="2990850" cy="916686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7BD2F5B1-9AD7-E359-30C7-CD4172F6A684}"/>
              </a:ext>
            </a:extLst>
          </p:cNvPr>
          <p:cNvSpPr txBox="1"/>
          <p:nvPr/>
        </p:nvSpPr>
        <p:spPr>
          <a:xfrm>
            <a:off x="10700170" y="6267330"/>
            <a:ext cx="1618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Mayank Kumar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4032" y="207263"/>
            <a:ext cx="876935" cy="178435"/>
            <a:chOff x="3304032" y="207263"/>
            <a:chExt cx="876935" cy="178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667" y="207263"/>
              <a:ext cx="876109" cy="1783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032" y="368807"/>
              <a:ext cx="779145" cy="3175"/>
            </a:xfrm>
            <a:custGeom>
              <a:avLst/>
              <a:gdLst/>
              <a:ahLst/>
              <a:cxnLst/>
              <a:rect l="l" t="t" r="r" b="b"/>
              <a:pathLst>
                <a:path w="779145" h="3175">
                  <a:moveTo>
                    <a:pt x="778763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778763" y="3047"/>
                  </a:lnTo>
                  <a:lnTo>
                    <a:pt x="778763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282" y="207263"/>
            <a:ext cx="1142491" cy="17830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Why did Flipkart change its logo? - Quor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667"/>
            <a:ext cx="2082545" cy="6377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728" y="806195"/>
            <a:ext cx="5337048" cy="185775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952231" y="2782823"/>
            <a:ext cx="3677412" cy="204368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50037" y="962025"/>
            <a:ext cx="11614785" cy="360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4482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Flipkart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Indian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commerce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company,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founded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back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2007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Sachin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Binny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Bansal.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Incorporated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Singapore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headquartered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Bangalore,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company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started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online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book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sales,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later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entering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other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categories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consumer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electronics,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fashion,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home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essentials,</a:t>
            </a:r>
            <a:r>
              <a:rPr sz="18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groceries,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lifestyle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products.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Currently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over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80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million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across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80+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categories.</a:t>
            </a:r>
            <a:endParaRPr sz="1800">
              <a:latin typeface="Calibri"/>
              <a:cs typeface="Calibri"/>
            </a:endParaRPr>
          </a:p>
          <a:p>
            <a:pPr marL="12700" marR="5844540">
              <a:lnSpc>
                <a:spcPct val="100000"/>
              </a:lnSpc>
              <a:spcBef>
                <a:spcPts val="13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total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2022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was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43,357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crore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was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reported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past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fiscal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year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2020-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2021;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25%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than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revenue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fiscal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year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2020</a:t>
            </a:r>
            <a:endParaRPr sz="1800">
              <a:latin typeface="Calibri"/>
              <a:cs typeface="Calibri"/>
            </a:endParaRPr>
          </a:p>
          <a:p>
            <a:pPr marL="12700" marR="575056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March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2017,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Flipkart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held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39.5%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market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share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India's e-commerce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industry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increased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60%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(For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flipkart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group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2021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festive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sales).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4220" y="4836667"/>
            <a:ext cx="12331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6E03B"/>
                </a:solidFill>
                <a:latin typeface="Calibri"/>
                <a:cs typeface="Calibri"/>
              </a:rPr>
              <a:t>Competitors: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5" name="object 15" descr="Amazon dark Logo PNG Transparent &amp; SVG Vector - Freebie Supply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65175" y="5187696"/>
            <a:ext cx="1053084" cy="885443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234695" y="6007608"/>
            <a:ext cx="2295525" cy="751840"/>
            <a:chOff x="234695" y="6007608"/>
            <a:chExt cx="2295525" cy="751840"/>
          </a:xfrm>
        </p:grpSpPr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4695" y="6131052"/>
              <a:ext cx="1133856" cy="62788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95984" y="6007608"/>
              <a:ext cx="1133855" cy="704088"/>
            </a:xfrm>
            <a:prstGeom prst="rect">
              <a:avLst/>
            </a:prstGeom>
          </p:spPr>
        </p:pic>
      </p:grpSp>
      <p:pic>
        <p:nvPicPr>
          <p:cNvPr id="19" name="object 19" descr="Image result for tatacliq logo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95983" y="5187696"/>
            <a:ext cx="1344167" cy="70408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278504" y="4819650"/>
            <a:ext cx="18243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Value</a:t>
            </a:r>
            <a:r>
              <a:rPr sz="1800" spc="-3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6E03B"/>
                </a:solidFill>
                <a:latin typeface="Calibri"/>
                <a:cs typeface="Calibri"/>
              </a:rPr>
              <a:t>Propositions: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278504" y="5093665"/>
            <a:ext cx="15093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Accessibility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Convenience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Price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14950" y="5093665"/>
            <a:ext cx="16319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Risk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reduction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Brand/Status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592948" y="5021326"/>
            <a:ext cx="2363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Mission</a:t>
            </a:r>
            <a:r>
              <a:rPr sz="1800" spc="-4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6E03B"/>
                </a:solidFill>
                <a:latin typeface="Calibri"/>
                <a:cs typeface="Calibri"/>
              </a:rPr>
              <a:t>Statement: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“Ab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wish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hogi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poori!”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592948" y="5844336"/>
            <a:ext cx="43548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6E03B"/>
                </a:solidFill>
                <a:latin typeface="Calibri"/>
                <a:cs typeface="Calibri"/>
              </a:rPr>
              <a:t>Vision: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largest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commerce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marketplace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India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04032" y="207263"/>
            <a:ext cx="876935" cy="178435"/>
            <a:chOff x="3304032" y="207263"/>
            <a:chExt cx="876935" cy="178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04667" y="207263"/>
              <a:ext cx="876109" cy="17830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304032" y="368807"/>
              <a:ext cx="779145" cy="3175"/>
            </a:xfrm>
            <a:custGeom>
              <a:avLst/>
              <a:gdLst/>
              <a:ahLst/>
              <a:cxnLst/>
              <a:rect l="l" t="t" r="r" b="b"/>
              <a:pathLst>
                <a:path w="779145" h="3175">
                  <a:moveTo>
                    <a:pt x="778763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778763" y="3047"/>
                  </a:lnTo>
                  <a:lnTo>
                    <a:pt x="778763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88282" y="197230"/>
            <a:ext cx="1142491" cy="1783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Why did Flipkart change its logo? - Quor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667"/>
            <a:ext cx="2082545" cy="6377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9247" y="1030224"/>
            <a:ext cx="3200400" cy="18303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575547" y="1552955"/>
            <a:ext cx="2855976" cy="1824227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3716" y="4788408"/>
            <a:ext cx="12178665" cy="0"/>
          </a:xfrm>
          <a:custGeom>
            <a:avLst/>
            <a:gdLst/>
            <a:ahLst/>
            <a:cxnLst/>
            <a:rect l="l" t="t" r="r" b="b"/>
            <a:pathLst>
              <a:path w="12178665">
                <a:moveTo>
                  <a:pt x="0" y="0"/>
                </a:moveTo>
                <a:lnTo>
                  <a:pt x="12178665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4563" y="4807077"/>
            <a:ext cx="4509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User</a:t>
            </a:r>
            <a:r>
              <a:rPr sz="1800" spc="-30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Action</a:t>
            </a:r>
            <a:r>
              <a:rPr sz="1800" spc="-1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Flow</a:t>
            </a:r>
            <a:r>
              <a:rPr sz="1800" spc="-30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before</a:t>
            </a:r>
            <a:r>
              <a:rPr sz="1800" spc="-2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opening</a:t>
            </a:r>
            <a:r>
              <a:rPr sz="1800" spc="-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app</a:t>
            </a:r>
            <a:r>
              <a:rPr sz="1800" spc="-2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6E03B"/>
                </a:solidFill>
                <a:latin typeface="Calibri"/>
                <a:cs typeface="Calibri"/>
              </a:rPr>
              <a:t>for</a:t>
            </a:r>
            <a:r>
              <a:rPr sz="1800" spc="-20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6E03B"/>
                </a:solidFill>
                <a:latin typeface="Calibri"/>
                <a:cs typeface="Calibri"/>
              </a:rPr>
              <a:t>return: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8469" y="5278882"/>
            <a:ext cx="1181735" cy="911860"/>
            <a:chOff x="458469" y="5278882"/>
            <a:chExt cx="1181735" cy="911860"/>
          </a:xfrm>
        </p:grpSpPr>
        <p:sp>
          <p:nvSpPr>
            <p:cNvPr id="16" name="object 16"/>
            <p:cNvSpPr/>
            <p:nvPr/>
          </p:nvSpPr>
          <p:spPr>
            <a:xfrm>
              <a:off x="464819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5" h="899160">
                  <a:moveTo>
                    <a:pt x="1078992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5" y="899160"/>
                  </a:lnTo>
                  <a:lnTo>
                    <a:pt x="1078992" y="899160"/>
                  </a:lnTo>
                  <a:lnTo>
                    <a:pt x="1113990" y="892093"/>
                  </a:lnTo>
                  <a:lnTo>
                    <a:pt x="1142571" y="872823"/>
                  </a:lnTo>
                  <a:lnTo>
                    <a:pt x="1161841" y="844242"/>
                  </a:lnTo>
                  <a:lnTo>
                    <a:pt x="1168908" y="809244"/>
                  </a:lnTo>
                  <a:lnTo>
                    <a:pt x="1168908" y="89916"/>
                  </a:lnTo>
                  <a:lnTo>
                    <a:pt x="1161841" y="54917"/>
                  </a:lnTo>
                  <a:lnTo>
                    <a:pt x="1142571" y="26336"/>
                  </a:lnTo>
                  <a:lnTo>
                    <a:pt x="1113990" y="7066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819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5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5" y="0"/>
                  </a:lnTo>
                  <a:lnTo>
                    <a:pt x="1078992" y="0"/>
                  </a:lnTo>
                  <a:lnTo>
                    <a:pt x="1113990" y="7066"/>
                  </a:lnTo>
                  <a:lnTo>
                    <a:pt x="1142571" y="26336"/>
                  </a:lnTo>
                  <a:lnTo>
                    <a:pt x="1161841" y="54917"/>
                  </a:lnTo>
                  <a:lnTo>
                    <a:pt x="1168908" y="89916"/>
                  </a:lnTo>
                  <a:lnTo>
                    <a:pt x="1168908" y="809244"/>
                  </a:lnTo>
                  <a:lnTo>
                    <a:pt x="1161841" y="844242"/>
                  </a:lnTo>
                  <a:lnTo>
                    <a:pt x="1142571" y="872823"/>
                  </a:lnTo>
                  <a:lnTo>
                    <a:pt x="1113990" y="892093"/>
                  </a:lnTo>
                  <a:lnTo>
                    <a:pt x="1078992" y="899160"/>
                  </a:lnTo>
                  <a:lnTo>
                    <a:pt x="89915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60323" y="5605373"/>
            <a:ext cx="9772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Collects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Order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49551" y="5590032"/>
            <a:ext cx="248920" cy="289560"/>
          </a:xfrm>
          <a:custGeom>
            <a:avLst/>
            <a:gdLst/>
            <a:ahLst/>
            <a:cxnLst/>
            <a:rect l="l" t="t" r="r" b="b"/>
            <a:pathLst>
              <a:path w="248919" h="289560">
                <a:moveTo>
                  <a:pt x="124206" y="0"/>
                </a:moveTo>
                <a:lnTo>
                  <a:pt x="124206" y="57912"/>
                </a:lnTo>
                <a:lnTo>
                  <a:pt x="0" y="57912"/>
                </a:lnTo>
                <a:lnTo>
                  <a:pt x="0" y="231648"/>
                </a:lnTo>
                <a:lnTo>
                  <a:pt x="124206" y="231648"/>
                </a:lnTo>
                <a:lnTo>
                  <a:pt x="124206" y="289560"/>
                </a:lnTo>
                <a:lnTo>
                  <a:pt x="248412" y="144780"/>
                </a:lnTo>
                <a:lnTo>
                  <a:pt x="124206" y="0"/>
                </a:lnTo>
                <a:close/>
              </a:path>
            </a:pathLst>
          </a:custGeom>
          <a:solidFill>
            <a:srgbClr val="F6E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2093722" y="5278882"/>
            <a:ext cx="1181735" cy="911860"/>
            <a:chOff x="2093722" y="5278882"/>
            <a:chExt cx="1181735" cy="911860"/>
          </a:xfrm>
        </p:grpSpPr>
        <p:sp>
          <p:nvSpPr>
            <p:cNvPr id="21" name="object 21"/>
            <p:cNvSpPr/>
            <p:nvPr/>
          </p:nvSpPr>
          <p:spPr>
            <a:xfrm>
              <a:off x="2100072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5" h="899160">
                  <a:moveTo>
                    <a:pt x="1078991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5" y="899160"/>
                  </a:lnTo>
                  <a:lnTo>
                    <a:pt x="1078991" y="899160"/>
                  </a:lnTo>
                  <a:lnTo>
                    <a:pt x="1113990" y="892093"/>
                  </a:lnTo>
                  <a:lnTo>
                    <a:pt x="1142571" y="872823"/>
                  </a:lnTo>
                  <a:lnTo>
                    <a:pt x="1161841" y="844242"/>
                  </a:lnTo>
                  <a:lnTo>
                    <a:pt x="1168907" y="809244"/>
                  </a:lnTo>
                  <a:lnTo>
                    <a:pt x="1168907" y="89916"/>
                  </a:lnTo>
                  <a:lnTo>
                    <a:pt x="1161841" y="54917"/>
                  </a:lnTo>
                  <a:lnTo>
                    <a:pt x="1142571" y="26336"/>
                  </a:lnTo>
                  <a:lnTo>
                    <a:pt x="1113990" y="7066"/>
                  </a:lnTo>
                  <a:lnTo>
                    <a:pt x="10789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100072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5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5" y="0"/>
                  </a:lnTo>
                  <a:lnTo>
                    <a:pt x="1078991" y="0"/>
                  </a:lnTo>
                  <a:lnTo>
                    <a:pt x="1113990" y="7066"/>
                  </a:lnTo>
                  <a:lnTo>
                    <a:pt x="1142571" y="26336"/>
                  </a:lnTo>
                  <a:lnTo>
                    <a:pt x="1161841" y="54917"/>
                  </a:lnTo>
                  <a:lnTo>
                    <a:pt x="1168907" y="89916"/>
                  </a:lnTo>
                  <a:lnTo>
                    <a:pt x="1168907" y="809244"/>
                  </a:lnTo>
                  <a:lnTo>
                    <a:pt x="1161841" y="844242"/>
                  </a:lnTo>
                  <a:lnTo>
                    <a:pt x="1142571" y="872823"/>
                  </a:lnTo>
                  <a:lnTo>
                    <a:pt x="1113990" y="892093"/>
                  </a:lnTo>
                  <a:lnTo>
                    <a:pt x="1078991" y="899160"/>
                  </a:lnTo>
                  <a:lnTo>
                    <a:pt x="89915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235835" y="5605373"/>
            <a:ext cx="8991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Checks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Items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386328" y="5590032"/>
            <a:ext cx="247015" cy="289560"/>
          </a:xfrm>
          <a:custGeom>
            <a:avLst/>
            <a:gdLst/>
            <a:ahLst/>
            <a:cxnLst/>
            <a:rect l="l" t="t" r="r" b="b"/>
            <a:pathLst>
              <a:path w="247014" h="289560">
                <a:moveTo>
                  <a:pt x="123444" y="0"/>
                </a:moveTo>
                <a:lnTo>
                  <a:pt x="123444" y="57912"/>
                </a:lnTo>
                <a:lnTo>
                  <a:pt x="0" y="57912"/>
                </a:lnTo>
                <a:lnTo>
                  <a:pt x="0" y="231648"/>
                </a:lnTo>
                <a:lnTo>
                  <a:pt x="123444" y="231648"/>
                </a:lnTo>
                <a:lnTo>
                  <a:pt x="123444" y="289560"/>
                </a:lnTo>
                <a:lnTo>
                  <a:pt x="246887" y="144780"/>
                </a:lnTo>
                <a:lnTo>
                  <a:pt x="123444" y="0"/>
                </a:lnTo>
                <a:close/>
              </a:path>
            </a:pathLst>
          </a:custGeom>
          <a:solidFill>
            <a:srgbClr val="F6E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3730497" y="5278882"/>
            <a:ext cx="1180465" cy="911860"/>
            <a:chOff x="3730497" y="5278882"/>
            <a:chExt cx="1180465" cy="911860"/>
          </a:xfrm>
        </p:grpSpPr>
        <p:sp>
          <p:nvSpPr>
            <p:cNvPr id="26" name="object 26"/>
            <p:cNvSpPr/>
            <p:nvPr/>
          </p:nvSpPr>
          <p:spPr>
            <a:xfrm>
              <a:off x="3736847" y="5285232"/>
              <a:ext cx="1167765" cy="899160"/>
            </a:xfrm>
            <a:custGeom>
              <a:avLst/>
              <a:gdLst/>
              <a:ahLst/>
              <a:cxnLst/>
              <a:rect l="l" t="t" r="r" b="b"/>
              <a:pathLst>
                <a:path w="1167764" h="899160">
                  <a:moveTo>
                    <a:pt x="1077467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5" y="899160"/>
                  </a:lnTo>
                  <a:lnTo>
                    <a:pt x="1077467" y="899160"/>
                  </a:lnTo>
                  <a:lnTo>
                    <a:pt x="1112466" y="892093"/>
                  </a:lnTo>
                  <a:lnTo>
                    <a:pt x="1141047" y="872823"/>
                  </a:lnTo>
                  <a:lnTo>
                    <a:pt x="1160317" y="844242"/>
                  </a:lnTo>
                  <a:lnTo>
                    <a:pt x="1167384" y="809244"/>
                  </a:lnTo>
                  <a:lnTo>
                    <a:pt x="1167384" y="89916"/>
                  </a:lnTo>
                  <a:lnTo>
                    <a:pt x="1160317" y="54917"/>
                  </a:lnTo>
                  <a:lnTo>
                    <a:pt x="1141047" y="26336"/>
                  </a:lnTo>
                  <a:lnTo>
                    <a:pt x="1112466" y="7066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36847" y="5285232"/>
              <a:ext cx="1167765" cy="899160"/>
            </a:xfrm>
            <a:custGeom>
              <a:avLst/>
              <a:gdLst/>
              <a:ahLst/>
              <a:cxnLst/>
              <a:rect l="l" t="t" r="r" b="b"/>
              <a:pathLst>
                <a:path w="1167764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5" y="0"/>
                  </a:lnTo>
                  <a:lnTo>
                    <a:pt x="1077467" y="0"/>
                  </a:lnTo>
                  <a:lnTo>
                    <a:pt x="1112466" y="7066"/>
                  </a:lnTo>
                  <a:lnTo>
                    <a:pt x="1141047" y="26336"/>
                  </a:lnTo>
                  <a:lnTo>
                    <a:pt x="1160317" y="54917"/>
                  </a:lnTo>
                  <a:lnTo>
                    <a:pt x="1167384" y="89916"/>
                  </a:lnTo>
                  <a:lnTo>
                    <a:pt x="1167384" y="809244"/>
                  </a:lnTo>
                  <a:lnTo>
                    <a:pt x="1160317" y="844242"/>
                  </a:lnTo>
                  <a:lnTo>
                    <a:pt x="1141047" y="872823"/>
                  </a:lnTo>
                  <a:lnTo>
                    <a:pt x="1112466" y="892093"/>
                  </a:lnTo>
                  <a:lnTo>
                    <a:pt x="1077467" y="899160"/>
                  </a:lnTo>
                  <a:lnTo>
                    <a:pt x="89915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831716" y="5605373"/>
            <a:ext cx="97726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latin typeface="Calibri"/>
                <a:cs typeface="Calibri"/>
              </a:rPr>
              <a:t>Collects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Order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021579" y="5590032"/>
            <a:ext cx="247015" cy="289560"/>
          </a:xfrm>
          <a:custGeom>
            <a:avLst/>
            <a:gdLst/>
            <a:ahLst/>
            <a:cxnLst/>
            <a:rect l="l" t="t" r="r" b="b"/>
            <a:pathLst>
              <a:path w="247014" h="289560">
                <a:moveTo>
                  <a:pt x="123444" y="0"/>
                </a:moveTo>
                <a:lnTo>
                  <a:pt x="123444" y="57912"/>
                </a:lnTo>
                <a:lnTo>
                  <a:pt x="0" y="57912"/>
                </a:lnTo>
                <a:lnTo>
                  <a:pt x="0" y="231648"/>
                </a:lnTo>
                <a:lnTo>
                  <a:pt x="123444" y="231648"/>
                </a:lnTo>
                <a:lnTo>
                  <a:pt x="123444" y="289560"/>
                </a:lnTo>
                <a:lnTo>
                  <a:pt x="246887" y="144780"/>
                </a:lnTo>
                <a:lnTo>
                  <a:pt x="123444" y="0"/>
                </a:lnTo>
                <a:close/>
              </a:path>
            </a:pathLst>
          </a:custGeom>
          <a:solidFill>
            <a:srgbClr val="F6E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5365750" y="5278882"/>
            <a:ext cx="1180465" cy="911860"/>
            <a:chOff x="5365750" y="5278882"/>
            <a:chExt cx="1180465" cy="911860"/>
          </a:xfrm>
        </p:grpSpPr>
        <p:sp>
          <p:nvSpPr>
            <p:cNvPr id="31" name="object 31"/>
            <p:cNvSpPr/>
            <p:nvPr/>
          </p:nvSpPr>
          <p:spPr>
            <a:xfrm>
              <a:off x="5372100" y="5285232"/>
              <a:ext cx="1167765" cy="899160"/>
            </a:xfrm>
            <a:custGeom>
              <a:avLst/>
              <a:gdLst/>
              <a:ahLst/>
              <a:cxnLst/>
              <a:rect l="l" t="t" r="r" b="b"/>
              <a:pathLst>
                <a:path w="1167765" h="899160">
                  <a:moveTo>
                    <a:pt x="1077467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5" y="899160"/>
                  </a:lnTo>
                  <a:lnTo>
                    <a:pt x="1077467" y="899160"/>
                  </a:lnTo>
                  <a:lnTo>
                    <a:pt x="1112466" y="892093"/>
                  </a:lnTo>
                  <a:lnTo>
                    <a:pt x="1141047" y="872823"/>
                  </a:lnTo>
                  <a:lnTo>
                    <a:pt x="1160317" y="844242"/>
                  </a:lnTo>
                  <a:lnTo>
                    <a:pt x="1167383" y="809244"/>
                  </a:lnTo>
                  <a:lnTo>
                    <a:pt x="1167383" y="89916"/>
                  </a:lnTo>
                  <a:lnTo>
                    <a:pt x="1160317" y="54917"/>
                  </a:lnTo>
                  <a:lnTo>
                    <a:pt x="1141047" y="26336"/>
                  </a:lnTo>
                  <a:lnTo>
                    <a:pt x="1112466" y="7066"/>
                  </a:lnTo>
                  <a:lnTo>
                    <a:pt x="10774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72100" y="5285232"/>
              <a:ext cx="1167765" cy="899160"/>
            </a:xfrm>
            <a:custGeom>
              <a:avLst/>
              <a:gdLst/>
              <a:ahLst/>
              <a:cxnLst/>
              <a:rect l="l" t="t" r="r" b="b"/>
              <a:pathLst>
                <a:path w="1167765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5" y="0"/>
                  </a:lnTo>
                  <a:lnTo>
                    <a:pt x="1077467" y="0"/>
                  </a:lnTo>
                  <a:lnTo>
                    <a:pt x="1112466" y="7066"/>
                  </a:lnTo>
                  <a:lnTo>
                    <a:pt x="1141047" y="26336"/>
                  </a:lnTo>
                  <a:lnTo>
                    <a:pt x="1160317" y="54917"/>
                  </a:lnTo>
                  <a:lnTo>
                    <a:pt x="1167383" y="89916"/>
                  </a:lnTo>
                  <a:lnTo>
                    <a:pt x="1167383" y="809244"/>
                  </a:lnTo>
                  <a:lnTo>
                    <a:pt x="1160317" y="844242"/>
                  </a:lnTo>
                  <a:lnTo>
                    <a:pt x="1141047" y="872823"/>
                  </a:lnTo>
                  <a:lnTo>
                    <a:pt x="1112466" y="892093"/>
                  </a:lnTo>
                  <a:lnTo>
                    <a:pt x="1077467" y="899160"/>
                  </a:lnTo>
                  <a:lnTo>
                    <a:pt x="89915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533135" y="5514543"/>
            <a:ext cx="845819" cy="4044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91440" marR="5080" indent="-79375">
              <a:lnSpc>
                <a:spcPts val="1430"/>
              </a:lnSpc>
              <a:spcBef>
                <a:spcPts val="250"/>
              </a:spcBef>
            </a:pPr>
            <a:r>
              <a:rPr sz="1300" dirty="0">
                <a:latin typeface="Calibri"/>
                <a:cs typeface="Calibri"/>
              </a:rPr>
              <a:t>Finds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Fault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spc="-50" dirty="0">
                <a:latin typeface="Calibri"/>
                <a:cs typeface="Calibri"/>
              </a:rPr>
              <a:t>/ </a:t>
            </a:r>
            <a:r>
              <a:rPr sz="1300" spc="-10" dirty="0">
                <a:latin typeface="Calibri"/>
                <a:cs typeface="Calibri"/>
              </a:rPr>
              <a:t>Mismatch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656831" y="5590032"/>
            <a:ext cx="247015" cy="289560"/>
          </a:xfrm>
          <a:custGeom>
            <a:avLst/>
            <a:gdLst/>
            <a:ahLst/>
            <a:cxnLst/>
            <a:rect l="l" t="t" r="r" b="b"/>
            <a:pathLst>
              <a:path w="247015" h="289560">
                <a:moveTo>
                  <a:pt x="123444" y="0"/>
                </a:moveTo>
                <a:lnTo>
                  <a:pt x="123444" y="57912"/>
                </a:lnTo>
                <a:lnTo>
                  <a:pt x="0" y="57912"/>
                </a:lnTo>
                <a:lnTo>
                  <a:pt x="0" y="231648"/>
                </a:lnTo>
                <a:lnTo>
                  <a:pt x="123444" y="231648"/>
                </a:lnTo>
                <a:lnTo>
                  <a:pt x="123444" y="289560"/>
                </a:lnTo>
                <a:lnTo>
                  <a:pt x="246888" y="144780"/>
                </a:lnTo>
                <a:lnTo>
                  <a:pt x="123444" y="0"/>
                </a:lnTo>
                <a:close/>
              </a:path>
            </a:pathLst>
          </a:custGeom>
          <a:solidFill>
            <a:srgbClr val="F6E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7001002" y="5278882"/>
            <a:ext cx="1180465" cy="911860"/>
            <a:chOff x="7001002" y="5278882"/>
            <a:chExt cx="1180465" cy="911860"/>
          </a:xfrm>
        </p:grpSpPr>
        <p:sp>
          <p:nvSpPr>
            <p:cNvPr id="36" name="object 36"/>
            <p:cNvSpPr/>
            <p:nvPr/>
          </p:nvSpPr>
          <p:spPr>
            <a:xfrm>
              <a:off x="7007352" y="5285232"/>
              <a:ext cx="1167765" cy="899160"/>
            </a:xfrm>
            <a:custGeom>
              <a:avLst/>
              <a:gdLst/>
              <a:ahLst/>
              <a:cxnLst/>
              <a:rect l="l" t="t" r="r" b="b"/>
              <a:pathLst>
                <a:path w="1167765" h="899160">
                  <a:moveTo>
                    <a:pt x="1077468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6" y="899160"/>
                  </a:lnTo>
                  <a:lnTo>
                    <a:pt x="1077468" y="899160"/>
                  </a:lnTo>
                  <a:lnTo>
                    <a:pt x="1112466" y="892093"/>
                  </a:lnTo>
                  <a:lnTo>
                    <a:pt x="1141047" y="872823"/>
                  </a:lnTo>
                  <a:lnTo>
                    <a:pt x="1160317" y="844242"/>
                  </a:lnTo>
                  <a:lnTo>
                    <a:pt x="1167383" y="809244"/>
                  </a:lnTo>
                  <a:lnTo>
                    <a:pt x="1167383" y="89916"/>
                  </a:lnTo>
                  <a:lnTo>
                    <a:pt x="1160317" y="54917"/>
                  </a:lnTo>
                  <a:lnTo>
                    <a:pt x="1141047" y="26336"/>
                  </a:lnTo>
                  <a:lnTo>
                    <a:pt x="1112466" y="7066"/>
                  </a:lnTo>
                  <a:lnTo>
                    <a:pt x="10774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07352" y="5285232"/>
              <a:ext cx="1167765" cy="899160"/>
            </a:xfrm>
            <a:custGeom>
              <a:avLst/>
              <a:gdLst/>
              <a:ahLst/>
              <a:cxnLst/>
              <a:rect l="l" t="t" r="r" b="b"/>
              <a:pathLst>
                <a:path w="1167765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6" y="0"/>
                  </a:lnTo>
                  <a:lnTo>
                    <a:pt x="1077468" y="0"/>
                  </a:lnTo>
                  <a:lnTo>
                    <a:pt x="1112466" y="7066"/>
                  </a:lnTo>
                  <a:lnTo>
                    <a:pt x="1141047" y="26336"/>
                  </a:lnTo>
                  <a:lnTo>
                    <a:pt x="1160317" y="54917"/>
                  </a:lnTo>
                  <a:lnTo>
                    <a:pt x="1167383" y="89916"/>
                  </a:lnTo>
                  <a:lnTo>
                    <a:pt x="1167383" y="809244"/>
                  </a:lnTo>
                  <a:lnTo>
                    <a:pt x="1160317" y="844242"/>
                  </a:lnTo>
                  <a:lnTo>
                    <a:pt x="1141047" y="872823"/>
                  </a:lnTo>
                  <a:lnTo>
                    <a:pt x="1112466" y="892093"/>
                  </a:lnTo>
                  <a:lnTo>
                    <a:pt x="1077468" y="899160"/>
                  </a:lnTo>
                  <a:lnTo>
                    <a:pt x="89916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075678" y="5333238"/>
            <a:ext cx="1029969" cy="7670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065" marR="5080" indent="2540" algn="ctr">
              <a:lnSpc>
                <a:spcPts val="1430"/>
              </a:lnSpc>
              <a:spcBef>
                <a:spcPts val="250"/>
              </a:spcBef>
            </a:pPr>
            <a:r>
              <a:rPr sz="1300" dirty="0">
                <a:latin typeface="Calibri"/>
                <a:cs typeface="Calibri"/>
              </a:rPr>
              <a:t>Compares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it</a:t>
            </a:r>
            <a:r>
              <a:rPr sz="1300" spc="-3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to </a:t>
            </a:r>
            <a:r>
              <a:rPr sz="1300" spc="-10" dirty="0">
                <a:latin typeface="Calibri"/>
                <a:cs typeface="Calibri"/>
              </a:rPr>
              <a:t>variant ordered, </a:t>
            </a:r>
            <a:r>
              <a:rPr sz="1300" dirty="0">
                <a:latin typeface="Calibri"/>
                <a:cs typeface="Calibri"/>
              </a:rPr>
              <a:t>pictures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App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8292083" y="5590032"/>
            <a:ext cx="248920" cy="289560"/>
          </a:xfrm>
          <a:custGeom>
            <a:avLst/>
            <a:gdLst/>
            <a:ahLst/>
            <a:cxnLst/>
            <a:rect l="l" t="t" r="r" b="b"/>
            <a:pathLst>
              <a:path w="248920" h="289560">
                <a:moveTo>
                  <a:pt x="124206" y="0"/>
                </a:moveTo>
                <a:lnTo>
                  <a:pt x="124206" y="57912"/>
                </a:lnTo>
                <a:lnTo>
                  <a:pt x="0" y="57912"/>
                </a:lnTo>
                <a:lnTo>
                  <a:pt x="0" y="231648"/>
                </a:lnTo>
                <a:lnTo>
                  <a:pt x="124206" y="231648"/>
                </a:lnTo>
                <a:lnTo>
                  <a:pt x="124206" y="289560"/>
                </a:lnTo>
                <a:lnTo>
                  <a:pt x="248412" y="144780"/>
                </a:lnTo>
                <a:lnTo>
                  <a:pt x="124206" y="0"/>
                </a:lnTo>
                <a:close/>
              </a:path>
            </a:pathLst>
          </a:custGeom>
          <a:solidFill>
            <a:srgbClr val="F6E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8636254" y="5278882"/>
            <a:ext cx="1181735" cy="911860"/>
            <a:chOff x="8636254" y="5278882"/>
            <a:chExt cx="1181735" cy="911860"/>
          </a:xfrm>
        </p:grpSpPr>
        <p:sp>
          <p:nvSpPr>
            <p:cNvPr id="41" name="object 41"/>
            <p:cNvSpPr/>
            <p:nvPr/>
          </p:nvSpPr>
          <p:spPr>
            <a:xfrm>
              <a:off x="8642604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4" h="899160">
                  <a:moveTo>
                    <a:pt x="1078992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6" y="899160"/>
                  </a:lnTo>
                  <a:lnTo>
                    <a:pt x="1078992" y="899160"/>
                  </a:lnTo>
                  <a:lnTo>
                    <a:pt x="1113990" y="892093"/>
                  </a:lnTo>
                  <a:lnTo>
                    <a:pt x="1142571" y="872823"/>
                  </a:lnTo>
                  <a:lnTo>
                    <a:pt x="1161841" y="844242"/>
                  </a:lnTo>
                  <a:lnTo>
                    <a:pt x="1168907" y="809244"/>
                  </a:lnTo>
                  <a:lnTo>
                    <a:pt x="1168907" y="89916"/>
                  </a:lnTo>
                  <a:lnTo>
                    <a:pt x="1161841" y="54917"/>
                  </a:lnTo>
                  <a:lnTo>
                    <a:pt x="1142571" y="26336"/>
                  </a:lnTo>
                  <a:lnTo>
                    <a:pt x="1113990" y="7066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642604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4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6" y="0"/>
                  </a:lnTo>
                  <a:lnTo>
                    <a:pt x="1078992" y="0"/>
                  </a:lnTo>
                  <a:lnTo>
                    <a:pt x="1113990" y="7066"/>
                  </a:lnTo>
                  <a:lnTo>
                    <a:pt x="1142571" y="26336"/>
                  </a:lnTo>
                  <a:lnTo>
                    <a:pt x="1161841" y="54917"/>
                  </a:lnTo>
                  <a:lnTo>
                    <a:pt x="1168907" y="89916"/>
                  </a:lnTo>
                  <a:lnTo>
                    <a:pt x="1168907" y="809244"/>
                  </a:lnTo>
                  <a:lnTo>
                    <a:pt x="1161841" y="844242"/>
                  </a:lnTo>
                  <a:lnTo>
                    <a:pt x="1142571" y="872823"/>
                  </a:lnTo>
                  <a:lnTo>
                    <a:pt x="1113990" y="892093"/>
                  </a:lnTo>
                  <a:lnTo>
                    <a:pt x="1078992" y="899160"/>
                  </a:lnTo>
                  <a:lnTo>
                    <a:pt x="89916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717660" y="5333238"/>
            <a:ext cx="1020444" cy="76708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13360" marR="207645" algn="ctr">
              <a:lnSpc>
                <a:spcPts val="1430"/>
              </a:lnSpc>
              <a:spcBef>
                <a:spcPts val="250"/>
              </a:spcBef>
            </a:pPr>
            <a:r>
              <a:rPr sz="1300" dirty="0">
                <a:latin typeface="Calibri"/>
                <a:cs typeface="Calibri"/>
              </a:rPr>
              <a:t>Checks</a:t>
            </a:r>
            <a:r>
              <a:rPr sz="1300" spc="-4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if </a:t>
            </a:r>
            <a:r>
              <a:rPr sz="1300" spc="-10" dirty="0">
                <a:latin typeface="Calibri"/>
                <a:cs typeface="Calibri"/>
              </a:rPr>
              <a:t>product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ts val="1335"/>
              </a:lnSpc>
            </a:pPr>
            <a:r>
              <a:rPr sz="1300" dirty="0">
                <a:latin typeface="Calibri"/>
                <a:cs typeface="Calibri"/>
              </a:rPr>
              <a:t>window</a:t>
            </a:r>
            <a:r>
              <a:rPr sz="1300" spc="-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allows</a:t>
            </a:r>
            <a:endParaRPr sz="1300">
              <a:latin typeface="Calibri"/>
              <a:cs typeface="Calibri"/>
            </a:endParaRPr>
          </a:p>
          <a:p>
            <a:pPr algn="ctr">
              <a:lnSpc>
                <a:spcPts val="1495"/>
              </a:lnSpc>
            </a:pPr>
            <a:r>
              <a:rPr sz="1300" spc="-10" dirty="0">
                <a:latin typeface="Calibri"/>
                <a:cs typeface="Calibri"/>
              </a:rPr>
              <a:t>refund/return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927335" y="5590032"/>
            <a:ext cx="248920" cy="289560"/>
          </a:xfrm>
          <a:custGeom>
            <a:avLst/>
            <a:gdLst/>
            <a:ahLst/>
            <a:cxnLst/>
            <a:rect l="l" t="t" r="r" b="b"/>
            <a:pathLst>
              <a:path w="248920" h="289560">
                <a:moveTo>
                  <a:pt x="124206" y="0"/>
                </a:moveTo>
                <a:lnTo>
                  <a:pt x="124206" y="57912"/>
                </a:lnTo>
                <a:lnTo>
                  <a:pt x="0" y="57912"/>
                </a:lnTo>
                <a:lnTo>
                  <a:pt x="0" y="231648"/>
                </a:lnTo>
                <a:lnTo>
                  <a:pt x="124206" y="231648"/>
                </a:lnTo>
                <a:lnTo>
                  <a:pt x="124206" y="289560"/>
                </a:lnTo>
                <a:lnTo>
                  <a:pt x="248412" y="144780"/>
                </a:lnTo>
                <a:lnTo>
                  <a:pt x="124206" y="0"/>
                </a:lnTo>
                <a:close/>
              </a:path>
            </a:pathLst>
          </a:custGeom>
          <a:solidFill>
            <a:srgbClr val="F6E03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5" name="object 45"/>
          <p:cNvGrpSpPr/>
          <p:nvPr/>
        </p:nvGrpSpPr>
        <p:grpSpPr>
          <a:xfrm>
            <a:off x="10271506" y="5278882"/>
            <a:ext cx="1181735" cy="911860"/>
            <a:chOff x="10271506" y="5278882"/>
            <a:chExt cx="1181735" cy="911860"/>
          </a:xfrm>
        </p:grpSpPr>
        <p:sp>
          <p:nvSpPr>
            <p:cNvPr id="46" name="object 46"/>
            <p:cNvSpPr/>
            <p:nvPr/>
          </p:nvSpPr>
          <p:spPr>
            <a:xfrm>
              <a:off x="10277856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4" h="899160">
                  <a:moveTo>
                    <a:pt x="1078992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6"/>
                  </a:lnTo>
                  <a:lnTo>
                    <a:pt x="0" y="809244"/>
                  </a:lnTo>
                  <a:lnTo>
                    <a:pt x="7066" y="844242"/>
                  </a:lnTo>
                  <a:lnTo>
                    <a:pt x="26336" y="872823"/>
                  </a:lnTo>
                  <a:lnTo>
                    <a:pt x="54917" y="892093"/>
                  </a:lnTo>
                  <a:lnTo>
                    <a:pt x="89916" y="899160"/>
                  </a:lnTo>
                  <a:lnTo>
                    <a:pt x="1078992" y="899160"/>
                  </a:lnTo>
                  <a:lnTo>
                    <a:pt x="1113990" y="892093"/>
                  </a:lnTo>
                  <a:lnTo>
                    <a:pt x="1142571" y="872823"/>
                  </a:lnTo>
                  <a:lnTo>
                    <a:pt x="1161841" y="844242"/>
                  </a:lnTo>
                  <a:lnTo>
                    <a:pt x="1168908" y="809244"/>
                  </a:lnTo>
                  <a:lnTo>
                    <a:pt x="1168908" y="89916"/>
                  </a:lnTo>
                  <a:lnTo>
                    <a:pt x="1161841" y="54917"/>
                  </a:lnTo>
                  <a:lnTo>
                    <a:pt x="1142571" y="26336"/>
                  </a:lnTo>
                  <a:lnTo>
                    <a:pt x="1113990" y="7066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277856" y="5285232"/>
              <a:ext cx="1169035" cy="899160"/>
            </a:xfrm>
            <a:custGeom>
              <a:avLst/>
              <a:gdLst/>
              <a:ahLst/>
              <a:cxnLst/>
              <a:rect l="l" t="t" r="r" b="b"/>
              <a:pathLst>
                <a:path w="1169034" h="899160">
                  <a:moveTo>
                    <a:pt x="0" y="89916"/>
                  </a:moveTo>
                  <a:lnTo>
                    <a:pt x="7066" y="54917"/>
                  </a:lnTo>
                  <a:lnTo>
                    <a:pt x="26336" y="26336"/>
                  </a:lnTo>
                  <a:lnTo>
                    <a:pt x="54917" y="7066"/>
                  </a:lnTo>
                  <a:lnTo>
                    <a:pt x="89916" y="0"/>
                  </a:lnTo>
                  <a:lnTo>
                    <a:pt x="1078992" y="0"/>
                  </a:lnTo>
                  <a:lnTo>
                    <a:pt x="1113990" y="7066"/>
                  </a:lnTo>
                  <a:lnTo>
                    <a:pt x="1142571" y="26336"/>
                  </a:lnTo>
                  <a:lnTo>
                    <a:pt x="1161841" y="54917"/>
                  </a:lnTo>
                  <a:lnTo>
                    <a:pt x="1168908" y="89916"/>
                  </a:lnTo>
                  <a:lnTo>
                    <a:pt x="1168908" y="809244"/>
                  </a:lnTo>
                  <a:lnTo>
                    <a:pt x="1161841" y="844242"/>
                  </a:lnTo>
                  <a:lnTo>
                    <a:pt x="1142571" y="872823"/>
                  </a:lnTo>
                  <a:lnTo>
                    <a:pt x="1113990" y="892093"/>
                  </a:lnTo>
                  <a:lnTo>
                    <a:pt x="1078992" y="899160"/>
                  </a:lnTo>
                  <a:lnTo>
                    <a:pt x="89916" y="899160"/>
                  </a:lnTo>
                  <a:lnTo>
                    <a:pt x="54917" y="892093"/>
                  </a:lnTo>
                  <a:lnTo>
                    <a:pt x="26336" y="872823"/>
                  </a:lnTo>
                  <a:lnTo>
                    <a:pt x="7066" y="844242"/>
                  </a:lnTo>
                  <a:lnTo>
                    <a:pt x="0" y="809244"/>
                  </a:lnTo>
                  <a:lnTo>
                    <a:pt x="0" y="89916"/>
                  </a:lnTo>
                  <a:close/>
                </a:path>
              </a:pathLst>
            </a:custGeom>
            <a:ln w="12700">
              <a:solidFill>
                <a:srgbClr val="3C67B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0356342" y="5423712"/>
            <a:ext cx="1014730" cy="58610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065" marR="5080" indent="-635" algn="ctr">
              <a:lnSpc>
                <a:spcPts val="1430"/>
              </a:lnSpc>
              <a:spcBef>
                <a:spcPts val="250"/>
              </a:spcBef>
            </a:pPr>
            <a:r>
              <a:rPr sz="1300" dirty="0">
                <a:latin typeface="Calibri"/>
                <a:cs typeface="Calibri"/>
              </a:rPr>
              <a:t>Opens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the </a:t>
            </a:r>
            <a:r>
              <a:rPr sz="1300" dirty="0">
                <a:latin typeface="Calibri"/>
                <a:cs typeface="Calibri"/>
              </a:rPr>
              <a:t>‘Order’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tab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to </a:t>
            </a:r>
            <a:r>
              <a:rPr sz="1300" dirty="0">
                <a:latin typeface="Calibri"/>
                <a:cs typeface="Calibri"/>
              </a:rPr>
              <a:t>put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up</a:t>
            </a:r>
            <a:r>
              <a:rPr sz="1300" spc="-2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request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247" y="3051048"/>
            <a:ext cx="3200400" cy="1601724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3776853" y="3570858"/>
            <a:ext cx="802195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flow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goes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through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average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process.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refund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beared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sellers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terms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packaging,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forward,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reverse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logistics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04722" y="4473321"/>
            <a:ext cx="91313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(Scan</a:t>
            </a:r>
            <a:r>
              <a:rPr sz="400" spc="15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dirty="0">
                <a:solidFill>
                  <a:srgbClr val="3B78D7"/>
                </a:solidFill>
                <a:latin typeface="Calibri"/>
                <a:cs typeface="Calibri"/>
              </a:rPr>
              <a:t>&amp; assess</a:t>
            </a:r>
            <a:r>
              <a:rPr sz="400" spc="35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quality</a:t>
            </a:r>
            <a:r>
              <a:rPr sz="400" dirty="0">
                <a:solidFill>
                  <a:srgbClr val="3B78D7"/>
                </a:solidFill>
                <a:latin typeface="Calibri"/>
                <a:cs typeface="Calibri"/>
              </a:rPr>
              <a:t> of</a:t>
            </a:r>
            <a:r>
              <a:rPr sz="400" spc="20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returned</a:t>
            </a:r>
            <a:r>
              <a:rPr sz="400" spc="30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product)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8739" y="4583048"/>
            <a:ext cx="55626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Source:</a:t>
            </a:r>
            <a:r>
              <a:rPr sz="400" spc="50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shippingeasy.com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567429" y="1743913"/>
            <a:ext cx="5563870" cy="152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3121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most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popular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reason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damaged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broken.</a:t>
            </a:r>
            <a:r>
              <a:rPr sz="1800" spc="3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However,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also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includes instances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where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within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period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later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claimed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be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broken/damaged.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555"/>
              </a:spcBef>
            </a:pP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Source:</a:t>
            </a:r>
            <a:r>
              <a:rPr sz="400" spc="50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swifterm.com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6827" y="2755137"/>
            <a:ext cx="62293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Source:</a:t>
            </a:r>
            <a:r>
              <a:rPr sz="400" spc="50" dirty="0">
                <a:solidFill>
                  <a:srgbClr val="3B78D7"/>
                </a:solidFill>
                <a:latin typeface="Calibri"/>
                <a:cs typeface="Calibri"/>
              </a:rPr>
              <a:t> </a:t>
            </a:r>
            <a:r>
              <a:rPr sz="400" spc="-10" dirty="0">
                <a:solidFill>
                  <a:srgbClr val="3B78D7"/>
                </a:solidFill>
                <a:latin typeface="Calibri"/>
                <a:cs typeface="Calibri"/>
              </a:rPr>
              <a:t>makewebbetter.com</a:t>
            </a:r>
            <a:endParaRPr sz="400">
              <a:latin typeface="Calibri"/>
              <a:cs typeface="Calibri"/>
            </a:endParaRPr>
          </a:p>
        </p:txBody>
      </p: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/>
              <a:t>Return</a:t>
            </a:r>
            <a:r>
              <a:rPr spc="-95" dirty="0"/>
              <a:t> </a:t>
            </a:r>
            <a:r>
              <a:rPr spc="-10" dirty="0"/>
              <a:t>Overview:</a:t>
            </a:r>
          </a:p>
          <a:p>
            <a:pPr marL="12700" marR="5080">
              <a:lnSpc>
                <a:spcPct val="100000"/>
              </a:lnSpc>
              <a:spcBef>
                <a:spcPts val="215"/>
              </a:spcBef>
            </a:pPr>
            <a:r>
              <a:rPr dirty="0">
                <a:solidFill>
                  <a:srgbClr val="FFFFFF"/>
                </a:solidFill>
              </a:rPr>
              <a:t>According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these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data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points,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the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most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returned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product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type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is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clothing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with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a </a:t>
            </a:r>
            <a:r>
              <a:rPr dirty="0">
                <a:solidFill>
                  <a:srgbClr val="FFFFFF"/>
                </a:solidFill>
              </a:rPr>
              <a:t>leading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88%.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4249039" y="197230"/>
            <a:ext cx="1206500" cy="178435"/>
            <a:chOff x="4249039" y="197230"/>
            <a:chExt cx="1206500" cy="17843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49547" y="197230"/>
              <a:ext cx="1205560" cy="1783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49039" y="358520"/>
              <a:ext cx="1112520" cy="3175"/>
            </a:xfrm>
            <a:custGeom>
              <a:avLst/>
              <a:gdLst/>
              <a:ahLst/>
              <a:cxnLst/>
              <a:rect l="l" t="t" r="r" b="b"/>
              <a:pathLst>
                <a:path w="1112520" h="3175">
                  <a:moveTo>
                    <a:pt x="1112520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1112520" y="3048"/>
                  </a:lnTo>
                  <a:lnTo>
                    <a:pt x="1112520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46725" y="197485"/>
            <a:ext cx="1519174" cy="17830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8591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36658" y="197230"/>
            <a:ext cx="982891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Why did Flipkart change its logo? - Quor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667"/>
            <a:ext cx="2082545" cy="63779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470903" y="917447"/>
            <a:ext cx="5206365" cy="5771515"/>
          </a:xfrm>
          <a:custGeom>
            <a:avLst/>
            <a:gdLst/>
            <a:ahLst/>
            <a:cxnLst/>
            <a:rect l="l" t="t" r="r" b="b"/>
            <a:pathLst>
              <a:path w="5206365" h="5771515">
                <a:moveTo>
                  <a:pt x="4338320" y="0"/>
                </a:moveTo>
                <a:lnTo>
                  <a:pt x="867664" y="0"/>
                </a:lnTo>
                <a:lnTo>
                  <a:pt x="820060" y="1283"/>
                </a:lnTo>
                <a:lnTo>
                  <a:pt x="773127" y="5091"/>
                </a:lnTo>
                <a:lnTo>
                  <a:pt x="726930" y="11356"/>
                </a:lnTo>
                <a:lnTo>
                  <a:pt x="681537" y="20013"/>
                </a:lnTo>
                <a:lnTo>
                  <a:pt x="637013" y="30995"/>
                </a:lnTo>
                <a:lnTo>
                  <a:pt x="593425" y="44236"/>
                </a:lnTo>
                <a:lnTo>
                  <a:pt x="550838" y="59670"/>
                </a:lnTo>
                <a:lnTo>
                  <a:pt x="509319" y="77231"/>
                </a:lnTo>
                <a:lnTo>
                  <a:pt x="468934" y="96852"/>
                </a:lnTo>
                <a:lnTo>
                  <a:pt x="429749" y="118467"/>
                </a:lnTo>
                <a:lnTo>
                  <a:pt x="391830" y="142011"/>
                </a:lnTo>
                <a:lnTo>
                  <a:pt x="355244" y="167416"/>
                </a:lnTo>
                <a:lnTo>
                  <a:pt x="320056" y="194617"/>
                </a:lnTo>
                <a:lnTo>
                  <a:pt x="286334" y="223548"/>
                </a:lnTo>
                <a:lnTo>
                  <a:pt x="254142" y="254142"/>
                </a:lnTo>
                <a:lnTo>
                  <a:pt x="223548" y="286334"/>
                </a:lnTo>
                <a:lnTo>
                  <a:pt x="194617" y="320056"/>
                </a:lnTo>
                <a:lnTo>
                  <a:pt x="167416" y="355244"/>
                </a:lnTo>
                <a:lnTo>
                  <a:pt x="142011" y="391830"/>
                </a:lnTo>
                <a:lnTo>
                  <a:pt x="118467" y="429749"/>
                </a:lnTo>
                <a:lnTo>
                  <a:pt x="96852" y="468934"/>
                </a:lnTo>
                <a:lnTo>
                  <a:pt x="77231" y="509319"/>
                </a:lnTo>
                <a:lnTo>
                  <a:pt x="59670" y="550838"/>
                </a:lnTo>
                <a:lnTo>
                  <a:pt x="44236" y="593425"/>
                </a:lnTo>
                <a:lnTo>
                  <a:pt x="30995" y="637013"/>
                </a:lnTo>
                <a:lnTo>
                  <a:pt x="20013" y="681537"/>
                </a:lnTo>
                <a:lnTo>
                  <a:pt x="11356" y="726930"/>
                </a:lnTo>
                <a:lnTo>
                  <a:pt x="5091" y="773127"/>
                </a:lnTo>
                <a:lnTo>
                  <a:pt x="1283" y="820060"/>
                </a:lnTo>
                <a:lnTo>
                  <a:pt x="0" y="867663"/>
                </a:lnTo>
                <a:lnTo>
                  <a:pt x="0" y="4903698"/>
                </a:lnTo>
                <a:lnTo>
                  <a:pt x="1283" y="4951306"/>
                </a:lnTo>
                <a:lnTo>
                  <a:pt x="5091" y="4998242"/>
                </a:lnTo>
                <a:lnTo>
                  <a:pt x="11356" y="5044441"/>
                </a:lnTo>
                <a:lnTo>
                  <a:pt x="20013" y="5089837"/>
                </a:lnTo>
                <a:lnTo>
                  <a:pt x="30995" y="5134363"/>
                </a:lnTo>
                <a:lnTo>
                  <a:pt x="44236" y="5177954"/>
                </a:lnTo>
                <a:lnTo>
                  <a:pt x="59670" y="5220543"/>
                </a:lnTo>
                <a:lnTo>
                  <a:pt x="77231" y="5262064"/>
                </a:lnTo>
                <a:lnTo>
                  <a:pt x="96852" y="5302450"/>
                </a:lnTo>
                <a:lnTo>
                  <a:pt x="118467" y="5341636"/>
                </a:lnTo>
                <a:lnTo>
                  <a:pt x="142011" y="5379556"/>
                </a:lnTo>
                <a:lnTo>
                  <a:pt x="167416" y="5416143"/>
                </a:lnTo>
                <a:lnTo>
                  <a:pt x="194617" y="5451331"/>
                </a:lnTo>
                <a:lnTo>
                  <a:pt x="223548" y="5485054"/>
                </a:lnTo>
                <a:lnTo>
                  <a:pt x="254142" y="5517246"/>
                </a:lnTo>
                <a:lnTo>
                  <a:pt x="286334" y="5547841"/>
                </a:lnTo>
                <a:lnTo>
                  <a:pt x="320056" y="5576772"/>
                </a:lnTo>
                <a:lnTo>
                  <a:pt x="355244" y="5603973"/>
                </a:lnTo>
                <a:lnTo>
                  <a:pt x="391830" y="5629378"/>
                </a:lnTo>
                <a:lnTo>
                  <a:pt x="429749" y="5652922"/>
                </a:lnTo>
                <a:lnTo>
                  <a:pt x="468934" y="5674537"/>
                </a:lnTo>
                <a:lnTo>
                  <a:pt x="509319" y="5694158"/>
                </a:lnTo>
                <a:lnTo>
                  <a:pt x="550838" y="5711718"/>
                </a:lnTo>
                <a:lnTo>
                  <a:pt x="593425" y="5727152"/>
                </a:lnTo>
                <a:lnTo>
                  <a:pt x="637013" y="5740393"/>
                </a:lnTo>
                <a:lnTo>
                  <a:pt x="681537" y="5751374"/>
                </a:lnTo>
                <a:lnTo>
                  <a:pt x="726930" y="5760031"/>
                </a:lnTo>
                <a:lnTo>
                  <a:pt x="773127" y="5766296"/>
                </a:lnTo>
                <a:lnTo>
                  <a:pt x="820060" y="5770104"/>
                </a:lnTo>
                <a:lnTo>
                  <a:pt x="867664" y="5771388"/>
                </a:lnTo>
                <a:lnTo>
                  <a:pt x="4338320" y="5771388"/>
                </a:lnTo>
                <a:lnTo>
                  <a:pt x="4385923" y="5770104"/>
                </a:lnTo>
                <a:lnTo>
                  <a:pt x="4432856" y="5766296"/>
                </a:lnTo>
                <a:lnTo>
                  <a:pt x="4479053" y="5760031"/>
                </a:lnTo>
                <a:lnTo>
                  <a:pt x="4524446" y="5751374"/>
                </a:lnTo>
                <a:lnTo>
                  <a:pt x="4568970" y="5740393"/>
                </a:lnTo>
                <a:lnTo>
                  <a:pt x="4612558" y="5727152"/>
                </a:lnTo>
                <a:lnTo>
                  <a:pt x="4655145" y="5711718"/>
                </a:lnTo>
                <a:lnTo>
                  <a:pt x="4696664" y="5694158"/>
                </a:lnTo>
                <a:lnTo>
                  <a:pt x="4737049" y="5674537"/>
                </a:lnTo>
                <a:lnTo>
                  <a:pt x="4776234" y="5652922"/>
                </a:lnTo>
                <a:lnTo>
                  <a:pt x="4814153" y="5629378"/>
                </a:lnTo>
                <a:lnTo>
                  <a:pt x="4850739" y="5603973"/>
                </a:lnTo>
                <a:lnTo>
                  <a:pt x="4885927" y="5576772"/>
                </a:lnTo>
                <a:lnTo>
                  <a:pt x="4919649" y="5547841"/>
                </a:lnTo>
                <a:lnTo>
                  <a:pt x="4951841" y="5517246"/>
                </a:lnTo>
                <a:lnTo>
                  <a:pt x="4982435" y="5485054"/>
                </a:lnTo>
                <a:lnTo>
                  <a:pt x="5011366" y="5451331"/>
                </a:lnTo>
                <a:lnTo>
                  <a:pt x="5038567" y="5416143"/>
                </a:lnTo>
                <a:lnTo>
                  <a:pt x="5063972" y="5379556"/>
                </a:lnTo>
                <a:lnTo>
                  <a:pt x="5087516" y="5341636"/>
                </a:lnTo>
                <a:lnTo>
                  <a:pt x="5109131" y="5302450"/>
                </a:lnTo>
                <a:lnTo>
                  <a:pt x="5128752" y="5262064"/>
                </a:lnTo>
                <a:lnTo>
                  <a:pt x="5146313" y="5220543"/>
                </a:lnTo>
                <a:lnTo>
                  <a:pt x="5161747" y="5177954"/>
                </a:lnTo>
                <a:lnTo>
                  <a:pt x="5174988" y="5134363"/>
                </a:lnTo>
                <a:lnTo>
                  <a:pt x="5185970" y="5089837"/>
                </a:lnTo>
                <a:lnTo>
                  <a:pt x="5194627" y="5044441"/>
                </a:lnTo>
                <a:lnTo>
                  <a:pt x="5200892" y="4998242"/>
                </a:lnTo>
                <a:lnTo>
                  <a:pt x="5204700" y="4951306"/>
                </a:lnTo>
                <a:lnTo>
                  <a:pt x="5205984" y="4903698"/>
                </a:lnTo>
                <a:lnTo>
                  <a:pt x="5205984" y="867663"/>
                </a:lnTo>
                <a:lnTo>
                  <a:pt x="5204700" y="820060"/>
                </a:lnTo>
                <a:lnTo>
                  <a:pt x="5200892" y="773127"/>
                </a:lnTo>
                <a:lnTo>
                  <a:pt x="5194627" y="726930"/>
                </a:lnTo>
                <a:lnTo>
                  <a:pt x="5185970" y="681537"/>
                </a:lnTo>
                <a:lnTo>
                  <a:pt x="5174988" y="637013"/>
                </a:lnTo>
                <a:lnTo>
                  <a:pt x="5161747" y="593425"/>
                </a:lnTo>
                <a:lnTo>
                  <a:pt x="5146313" y="550838"/>
                </a:lnTo>
                <a:lnTo>
                  <a:pt x="5128752" y="509319"/>
                </a:lnTo>
                <a:lnTo>
                  <a:pt x="5109131" y="468934"/>
                </a:lnTo>
                <a:lnTo>
                  <a:pt x="5087516" y="429749"/>
                </a:lnTo>
                <a:lnTo>
                  <a:pt x="5063972" y="391830"/>
                </a:lnTo>
                <a:lnTo>
                  <a:pt x="5038567" y="355244"/>
                </a:lnTo>
                <a:lnTo>
                  <a:pt x="5011366" y="320056"/>
                </a:lnTo>
                <a:lnTo>
                  <a:pt x="4982435" y="286334"/>
                </a:lnTo>
                <a:lnTo>
                  <a:pt x="4951841" y="254142"/>
                </a:lnTo>
                <a:lnTo>
                  <a:pt x="4919649" y="223548"/>
                </a:lnTo>
                <a:lnTo>
                  <a:pt x="4885927" y="194617"/>
                </a:lnTo>
                <a:lnTo>
                  <a:pt x="4850739" y="167416"/>
                </a:lnTo>
                <a:lnTo>
                  <a:pt x="4814153" y="142011"/>
                </a:lnTo>
                <a:lnTo>
                  <a:pt x="4776234" y="118467"/>
                </a:lnTo>
                <a:lnTo>
                  <a:pt x="4737049" y="96852"/>
                </a:lnTo>
                <a:lnTo>
                  <a:pt x="4696664" y="77231"/>
                </a:lnTo>
                <a:lnTo>
                  <a:pt x="4655145" y="59670"/>
                </a:lnTo>
                <a:lnTo>
                  <a:pt x="4612558" y="44236"/>
                </a:lnTo>
                <a:lnTo>
                  <a:pt x="4568970" y="30995"/>
                </a:lnTo>
                <a:lnTo>
                  <a:pt x="4524446" y="20013"/>
                </a:lnTo>
                <a:lnTo>
                  <a:pt x="4479053" y="11356"/>
                </a:lnTo>
                <a:lnTo>
                  <a:pt x="4432856" y="5091"/>
                </a:lnTo>
                <a:lnTo>
                  <a:pt x="4385923" y="1283"/>
                </a:lnTo>
                <a:lnTo>
                  <a:pt x="4338320" y="0"/>
                </a:lnTo>
                <a:close/>
              </a:path>
            </a:pathLst>
          </a:custGeom>
          <a:solidFill>
            <a:srgbClr val="3B78D7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400811" y="920496"/>
            <a:ext cx="5204460" cy="5771515"/>
            <a:chOff x="400811" y="920496"/>
            <a:chExt cx="5204460" cy="5771515"/>
          </a:xfrm>
        </p:grpSpPr>
        <p:sp>
          <p:nvSpPr>
            <p:cNvPr id="13" name="object 13"/>
            <p:cNvSpPr/>
            <p:nvPr/>
          </p:nvSpPr>
          <p:spPr>
            <a:xfrm>
              <a:off x="400811" y="920496"/>
              <a:ext cx="5204460" cy="5771515"/>
            </a:xfrm>
            <a:custGeom>
              <a:avLst/>
              <a:gdLst/>
              <a:ahLst/>
              <a:cxnLst/>
              <a:rect l="l" t="t" r="r" b="b"/>
              <a:pathLst>
                <a:path w="5204460" h="5771515">
                  <a:moveTo>
                    <a:pt x="4337050" y="0"/>
                  </a:moveTo>
                  <a:lnTo>
                    <a:pt x="867422" y="0"/>
                  </a:lnTo>
                  <a:lnTo>
                    <a:pt x="819830" y="1283"/>
                  </a:lnTo>
                  <a:lnTo>
                    <a:pt x="772908" y="5090"/>
                  </a:lnTo>
                  <a:lnTo>
                    <a:pt x="726724" y="11353"/>
                  </a:lnTo>
                  <a:lnTo>
                    <a:pt x="681342" y="20007"/>
                  </a:lnTo>
                  <a:lnTo>
                    <a:pt x="636830" y="30985"/>
                  </a:lnTo>
                  <a:lnTo>
                    <a:pt x="593252" y="44222"/>
                  </a:lnTo>
                  <a:lnTo>
                    <a:pt x="550677" y="59651"/>
                  </a:lnTo>
                  <a:lnTo>
                    <a:pt x="509169" y="77206"/>
                  </a:lnTo>
                  <a:lnTo>
                    <a:pt x="468795" y="96821"/>
                  </a:lnTo>
                  <a:lnTo>
                    <a:pt x="429621" y="118429"/>
                  </a:lnTo>
                  <a:lnTo>
                    <a:pt x="391713" y="141966"/>
                  </a:lnTo>
                  <a:lnTo>
                    <a:pt x="355137" y="167363"/>
                  </a:lnTo>
                  <a:lnTo>
                    <a:pt x="319960" y="194556"/>
                  </a:lnTo>
                  <a:lnTo>
                    <a:pt x="286247" y="223478"/>
                  </a:lnTo>
                  <a:lnTo>
                    <a:pt x="254065" y="254063"/>
                  </a:lnTo>
                  <a:lnTo>
                    <a:pt x="223479" y="286245"/>
                  </a:lnTo>
                  <a:lnTo>
                    <a:pt x="194557" y="319957"/>
                  </a:lnTo>
                  <a:lnTo>
                    <a:pt x="167364" y="355134"/>
                  </a:lnTo>
                  <a:lnTo>
                    <a:pt x="141966" y="391709"/>
                  </a:lnTo>
                  <a:lnTo>
                    <a:pt x="118430" y="429617"/>
                  </a:lnTo>
                  <a:lnTo>
                    <a:pt x="96821" y="468791"/>
                  </a:lnTo>
                  <a:lnTo>
                    <a:pt x="77206" y="509164"/>
                  </a:lnTo>
                  <a:lnTo>
                    <a:pt x="59651" y="550671"/>
                  </a:lnTo>
                  <a:lnTo>
                    <a:pt x="44222" y="593246"/>
                  </a:lnTo>
                  <a:lnTo>
                    <a:pt x="30985" y="636822"/>
                  </a:lnTo>
                  <a:lnTo>
                    <a:pt x="20007" y="681334"/>
                  </a:lnTo>
                  <a:lnTo>
                    <a:pt x="11353" y="726714"/>
                  </a:lnTo>
                  <a:lnTo>
                    <a:pt x="5090" y="772898"/>
                  </a:lnTo>
                  <a:lnTo>
                    <a:pt x="1283" y="819818"/>
                  </a:lnTo>
                  <a:lnTo>
                    <a:pt x="0" y="867409"/>
                  </a:lnTo>
                  <a:lnTo>
                    <a:pt x="0" y="4903965"/>
                  </a:lnTo>
                  <a:lnTo>
                    <a:pt x="1283" y="4951557"/>
                  </a:lnTo>
                  <a:lnTo>
                    <a:pt x="5090" y="4998479"/>
                  </a:lnTo>
                  <a:lnTo>
                    <a:pt x="11353" y="5044663"/>
                  </a:lnTo>
                  <a:lnTo>
                    <a:pt x="20007" y="5090045"/>
                  </a:lnTo>
                  <a:lnTo>
                    <a:pt x="30985" y="5134557"/>
                  </a:lnTo>
                  <a:lnTo>
                    <a:pt x="44222" y="5178135"/>
                  </a:lnTo>
                  <a:lnTo>
                    <a:pt x="59651" y="5220710"/>
                  </a:lnTo>
                  <a:lnTo>
                    <a:pt x="77206" y="5262218"/>
                  </a:lnTo>
                  <a:lnTo>
                    <a:pt x="96821" y="5302592"/>
                  </a:lnTo>
                  <a:lnTo>
                    <a:pt x="118430" y="5341766"/>
                  </a:lnTo>
                  <a:lnTo>
                    <a:pt x="141966" y="5379674"/>
                  </a:lnTo>
                  <a:lnTo>
                    <a:pt x="167364" y="5416250"/>
                  </a:lnTo>
                  <a:lnTo>
                    <a:pt x="194557" y="5451427"/>
                  </a:lnTo>
                  <a:lnTo>
                    <a:pt x="223479" y="5485140"/>
                  </a:lnTo>
                  <a:lnTo>
                    <a:pt x="254065" y="5517322"/>
                  </a:lnTo>
                  <a:lnTo>
                    <a:pt x="286247" y="5547908"/>
                  </a:lnTo>
                  <a:lnTo>
                    <a:pt x="319960" y="5576830"/>
                  </a:lnTo>
                  <a:lnTo>
                    <a:pt x="355137" y="5604023"/>
                  </a:lnTo>
                  <a:lnTo>
                    <a:pt x="391713" y="5629421"/>
                  </a:lnTo>
                  <a:lnTo>
                    <a:pt x="429621" y="5652957"/>
                  </a:lnTo>
                  <a:lnTo>
                    <a:pt x="468795" y="5674566"/>
                  </a:lnTo>
                  <a:lnTo>
                    <a:pt x="509169" y="5694181"/>
                  </a:lnTo>
                  <a:lnTo>
                    <a:pt x="550677" y="5711736"/>
                  </a:lnTo>
                  <a:lnTo>
                    <a:pt x="593252" y="5727165"/>
                  </a:lnTo>
                  <a:lnTo>
                    <a:pt x="636830" y="5740402"/>
                  </a:lnTo>
                  <a:lnTo>
                    <a:pt x="681342" y="5751380"/>
                  </a:lnTo>
                  <a:lnTo>
                    <a:pt x="726724" y="5760034"/>
                  </a:lnTo>
                  <a:lnTo>
                    <a:pt x="772908" y="5766297"/>
                  </a:lnTo>
                  <a:lnTo>
                    <a:pt x="819830" y="5770104"/>
                  </a:lnTo>
                  <a:lnTo>
                    <a:pt x="867422" y="5771388"/>
                  </a:lnTo>
                  <a:lnTo>
                    <a:pt x="4337050" y="5771388"/>
                  </a:lnTo>
                  <a:lnTo>
                    <a:pt x="4384641" y="5770104"/>
                  </a:lnTo>
                  <a:lnTo>
                    <a:pt x="4431561" y="5766297"/>
                  </a:lnTo>
                  <a:lnTo>
                    <a:pt x="4477745" y="5760034"/>
                  </a:lnTo>
                  <a:lnTo>
                    <a:pt x="4523125" y="5751380"/>
                  </a:lnTo>
                  <a:lnTo>
                    <a:pt x="4567637" y="5740402"/>
                  </a:lnTo>
                  <a:lnTo>
                    <a:pt x="4611213" y="5727165"/>
                  </a:lnTo>
                  <a:lnTo>
                    <a:pt x="4653788" y="5711736"/>
                  </a:lnTo>
                  <a:lnTo>
                    <a:pt x="4695295" y="5694181"/>
                  </a:lnTo>
                  <a:lnTo>
                    <a:pt x="4735668" y="5674566"/>
                  </a:lnTo>
                  <a:lnTo>
                    <a:pt x="4774842" y="5652957"/>
                  </a:lnTo>
                  <a:lnTo>
                    <a:pt x="4812750" y="5629421"/>
                  </a:lnTo>
                  <a:lnTo>
                    <a:pt x="4849325" y="5604023"/>
                  </a:lnTo>
                  <a:lnTo>
                    <a:pt x="4884502" y="5576830"/>
                  </a:lnTo>
                  <a:lnTo>
                    <a:pt x="4918214" y="5547908"/>
                  </a:lnTo>
                  <a:lnTo>
                    <a:pt x="4950396" y="5517322"/>
                  </a:lnTo>
                  <a:lnTo>
                    <a:pt x="4980981" y="5485140"/>
                  </a:lnTo>
                  <a:lnTo>
                    <a:pt x="5009903" y="5451427"/>
                  </a:lnTo>
                  <a:lnTo>
                    <a:pt x="5037096" y="5416250"/>
                  </a:lnTo>
                  <a:lnTo>
                    <a:pt x="5062493" y="5379674"/>
                  </a:lnTo>
                  <a:lnTo>
                    <a:pt x="5086030" y="5341766"/>
                  </a:lnTo>
                  <a:lnTo>
                    <a:pt x="5107638" y="5302592"/>
                  </a:lnTo>
                  <a:lnTo>
                    <a:pt x="5127253" y="5262218"/>
                  </a:lnTo>
                  <a:lnTo>
                    <a:pt x="5144808" y="5220710"/>
                  </a:lnTo>
                  <a:lnTo>
                    <a:pt x="5160237" y="5178135"/>
                  </a:lnTo>
                  <a:lnTo>
                    <a:pt x="5173474" y="5134557"/>
                  </a:lnTo>
                  <a:lnTo>
                    <a:pt x="5184452" y="5090045"/>
                  </a:lnTo>
                  <a:lnTo>
                    <a:pt x="5193106" y="5044663"/>
                  </a:lnTo>
                  <a:lnTo>
                    <a:pt x="5199369" y="4998479"/>
                  </a:lnTo>
                  <a:lnTo>
                    <a:pt x="5203176" y="4951557"/>
                  </a:lnTo>
                  <a:lnTo>
                    <a:pt x="5204460" y="4903965"/>
                  </a:lnTo>
                  <a:lnTo>
                    <a:pt x="5204460" y="867409"/>
                  </a:lnTo>
                  <a:lnTo>
                    <a:pt x="5203176" y="819818"/>
                  </a:lnTo>
                  <a:lnTo>
                    <a:pt x="5199369" y="772898"/>
                  </a:lnTo>
                  <a:lnTo>
                    <a:pt x="5193106" y="726714"/>
                  </a:lnTo>
                  <a:lnTo>
                    <a:pt x="5184452" y="681334"/>
                  </a:lnTo>
                  <a:lnTo>
                    <a:pt x="5173474" y="636822"/>
                  </a:lnTo>
                  <a:lnTo>
                    <a:pt x="5160237" y="593246"/>
                  </a:lnTo>
                  <a:lnTo>
                    <a:pt x="5144808" y="550671"/>
                  </a:lnTo>
                  <a:lnTo>
                    <a:pt x="5127253" y="509164"/>
                  </a:lnTo>
                  <a:lnTo>
                    <a:pt x="5107638" y="468791"/>
                  </a:lnTo>
                  <a:lnTo>
                    <a:pt x="5086030" y="429617"/>
                  </a:lnTo>
                  <a:lnTo>
                    <a:pt x="5062493" y="391709"/>
                  </a:lnTo>
                  <a:lnTo>
                    <a:pt x="5037096" y="355134"/>
                  </a:lnTo>
                  <a:lnTo>
                    <a:pt x="5009903" y="319957"/>
                  </a:lnTo>
                  <a:lnTo>
                    <a:pt x="4980981" y="286245"/>
                  </a:lnTo>
                  <a:lnTo>
                    <a:pt x="4950396" y="254063"/>
                  </a:lnTo>
                  <a:lnTo>
                    <a:pt x="4918214" y="223478"/>
                  </a:lnTo>
                  <a:lnTo>
                    <a:pt x="4884502" y="194556"/>
                  </a:lnTo>
                  <a:lnTo>
                    <a:pt x="4849325" y="167363"/>
                  </a:lnTo>
                  <a:lnTo>
                    <a:pt x="4812750" y="141966"/>
                  </a:lnTo>
                  <a:lnTo>
                    <a:pt x="4774842" y="118429"/>
                  </a:lnTo>
                  <a:lnTo>
                    <a:pt x="4735668" y="96821"/>
                  </a:lnTo>
                  <a:lnTo>
                    <a:pt x="4695295" y="77206"/>
                  </a:lnTo>
                  <a:lnTo>
                    <a:pt x="4653788" y="59651"/>
                  </a:lnTo>
                  <a:lnTo>
                    <a:pt x="4611213" y="44222"/>
                  </a:lnTo>
                  <a:lnTo>
                    <a:pt x="4567637" y="30985"/>
                  </a:lnTo>
                  <a:lnTo>
                    <a:pt x="4523125" y="20007"/>
                  </a:lnTo>
                  <a:lnTo>
                    <a:pt x="4477745" y="11353"/>
                  </a:lnTo>
                  <a:lnTo>
                    <a:pt x="4431561" y="5090"/>
                  </a:lnTo>
                  <a:lnTo>
                    <a:pt x="4384641" y="1283"/>
                  </a:lnTo>
                  <a:lnTo>
                    <a:pt x="4337050" y="0"/>
                  </a:lnTo>
                  <a:close/>
                </a:path>
              </a:pathLst>
            </a:custGeom>
            <a:solidFill>
              <a:srgbClr val="3B78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82647" y="1308481"/>
              <a:ext cx="671169" cy="2286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82647" y="1582801"/>
              <a:ext cx="2109343" cy="228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82647" y="1857121"/>
              <a:ext cx="1203909" cy="228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6856" y="2560269"/>
              <a:ext cx="1320419" cy="2289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17242" y="2560269"/>
              <a:ext cx="103631" cy="2289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06856" y="2835275"/>
              <a:ext cx="4676140" cy="228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6856" y="3109594"/>
              <a:ext cx="4125214" cy="228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6856" y="3383915"/>
              <a:ext cx="4481703" cy="228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6856" y="3658235"/>
              <a:ext cx="4572381" cy="228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6856" y="3932555"/>
              <a:ext cx="2366391" cy="228600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528557" y="1313941"/>
            <a:ext cx="459028" cy="2286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528557" y="1588261"/>
            <a:ext cx="1781809" cy="2286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528557" y="1862582"/>
            <a:ext cx="1336294" cy="2286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693661" y="2549398"/>
            <a:ext cx="1374013" cy="2286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693661" y="2823413"/>
            <a:ext cx="4590161" cy="228904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693661" y="3098292"/>
            <a:ext cx="4807458" cy="22860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693661" y="3372611"/>
            <a:ext cx="4910074" cy="228600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6693661" y="3646932"/>
            <a:ext cx="4905375" cy="228600"/>
            <a:chOff x="6693661" y="3646932"/>
            <a:chExt cx="4905375" cy="228600"/>
          </a:xfrm>
        </p:grpSpPr>
        <p:pic>
          <p:nvPicPr>
            <p:cNvPr id="32" name="object 3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693661" y="3646932"/>
              <a:ext cx="1478026" cy="2286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079358" y="3646932"/>
              <a:ext cx="103631" cy="2286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131175" y="3646932"/>
              <a:ext cx="3467734" cy="228600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6693661" y="3921252"/>
            <a:ext cx="1113459" cy="22860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6693661" y="4315333"/>
            <a:ext cx="1336040" cy="22860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693661" y="4589348"/>
            <a:ext cx="3798951" cy="228904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6693661" y="4864353"/>
            <a:ext cx="4681855" cy="228600"/>
            <a:chOff x="6693661" y="4864353"/>
            <a:chExt cx="4681855" cy="228600"/>
          </a:xfrm>
        </p:grpSpPr>
        <p:pic>
          <p:nvPicPr>
            <p:cNvPr id="39" name="object 3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693661" y="4864353"/>
              <a:ext cx="3535045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0124821" y="4864353"/>
              <a:ext cx="103631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176636" y="4864353"/>
              <a:ext cx="1198689" cy="228600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693661" y="5138673"/>
            <a:ext cx="4854575" cy="22860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693661" y="5412943"/>
            <a:ext cx="3516249" cy="228600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6693661" y="5687263"/>
            <a:ext cx="4542155" cy="228600"/>
            <a:chOff x="6693661" y="5687263"/>
            <a:chExt cx="4542155" cy="228600"/>
          </a:xfrm>
        </p:grpSpPr>
        <p:pic>
          <p:nvPicPr>
            <p:cNvPr id="45" name="object 45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6693661" y="5687263"/>
              <a:ext cx="3093593" cy="22860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687432" y="5687263"/>
              <a:ext cx="349503" cy="2286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949560" y="5687263"/>
              <a:ext cx="1286128" cy="228600"/>
            </a:xfrm>
            <a:prstGeom prst="rect">
              <a:avLst/>
            </a:prstGeom>
          </p:spPr>
        </p:pic>
      </p:grpSp>
      <p:pic>
        <p:nvPicPr>
          <p:cNvPr id="48" name="object 48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6693661" y="5961583"/>
            <a:ext cx="732891" cy="22860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567232" y="4398517"/>
            <a:ext cx="1327404" cy="22860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567232" y="4672838"/>
            <a:ext cx="4935474" cy="22860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567232" y="4947158"/>
            <a:ext cx="2704465" cy="22860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67232" y="5221859"/>
            <a:ext cx="4719701" cy="22859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567232" y="5496153"/>
            <a:ext cx="4086733" cy="228600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567232" y="5770473"/>
            <a:ext cx="4806823" cy="228600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567232" y="6044793"/>
            <a:ext cx="2367915" cy="228600"/>
          </a:xfrm>
          <a:prstGeom prst="rect">
            <a:avLst/>
          </a:prstGeom>
        </p:spPr>
      </p:pic>
      <p:pic>
        <p:nvPicPr>
          <p:cNvPr id="56" name="object 56" descr="Homemaker Or Housewife: Two Sides Of The Same Coin? | SHEROES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6986016" y="1176527"/>
            <a:ext cx="1150619" cy="1100327"/>
          </a:xfrm>
          <a:prstGeom prst="rect">
            <a:avLst/>
          </a:prstGeom>
        </p:spPr>
      </p:pic>
      <p:pic>
        <p:nvPicPr>
          <p:cNvPr id="57" name="object 57" descr="HD wallpaper: rishi gangoly, man, indian, professional, male, thinking,  middle-aged | Wallpaper Flare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797051" y="1168895"/>
            <a:ext cx="1200162" cy="1172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7482" y="207263"/>
            <a:ext cx="1599565" cy="178435"/>
            <a:chOff x="5507482" y="207263"/>
            <a:chExt cx="1599565" cy="178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371" y="207263"/>
              <a:ext cx="1598168" cy="1783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07482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5393" y="189229"/>
            <a:ext cx="989215" cy="17830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Why did Flipkart change its logo? - Quor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667"/>
            <a:ext cx="2082545" cy="637793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20218" y="18768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29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26719" y="2054478"/>
            <a:ext cx="623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Doing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17170" y="3783329"/>
            <a:ext cx="1838325" cy="680085"/>
          </a:xfrm>
          <a:custGeom>
            <a:avLst/>
            <a:gdLst/>
            <a:ahLst/>
            <a:cxnLst/>
            <a:rect l="l" t="t" r="r" b="b"/>
            <a:pathLst>
              <a:path w="1838325" h="680085">
                <a:moveTo>
                  <a:pt x="0" y="113284"/>
                </a:moveTo>
                <a:lnTo>
                  <a:pt x="8903" y="69169"/>
                </a:lnTo>
                <a:lnTo>
                  <a:pt x="33181" y="33162"/>
                </a:lnTo>
                <a:lnTo>
                  <a:pt x="69190" y="8895"/>
                </a:lnTo>
                <a:lnTo>
                  <a:pt x="113283" y="0"/>
                </a:lnTo>
                <a:lnTo>
                  <a:pt x="1724660" y="0"/>
                </a:lnTo>
                <a:lnTo>
                  <a:pt x="1768774" y="8895"/>
                </a:lnTo>
                <a:lnTo>
                  <a:pt x="1804781" y="33162"/>
                </a:lnTo>
                <a:lnTo>
                  <a:pt x="1829048" y="69169"/>
                </a:lnTo>
                <a:lnTo>
                  <a:pt x="1837944" y="113284"/>
                </a:lnTo>
                <a:lnTo>
                  <a:pt x="1837944" y="566420"/>
                </a:lnTo>
                <a:lnTo>
                  <a:pt x="1829048" y="610534"/>
                </a:lnTo>
                <a:lnTo>
                  <a:pt x="1804781" y="646541"/>
                </a:lnTo>
                <a:lnTo>
                  <a:pt x="1768774" y="670808"/>
                </a:lnTo>
                <a:lnTo>
                  <a:pt x="1724660" y="679704"/>
                </a:lnTo>
                <a:lnTo>
                  <a:pt x="113283" y="679704"/>
                </a:lnTo>
                <a:lnTo>
                  <a:pt x="69190" y="670808"/>
                </a:lnTo>
                <a:lnTo>
                  <a:pt x="33181" y="646541"/>
                </a:lnTo>
                <a:lnTo>
                  <a:pt x="8903" y="610534"/>
                </a:lnTo>
                <a:lnTo>
                  <a:pt x="0" y="566420"/>
                </a:lnTo>
                <a:lnTo>
                  <a:pt x="0" y="113284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680110" y="3962780"/>
            <a:ext cx="91249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Thinking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7170" y="5016246"/>
            <a:ext cx="1849120" cy="629920"/>
          </a:xfrm>
          <a:custGeom>
            <a:avLst/>
            <a:gdLst/>
            <a:ahLst/>
            <a:cxnLst/>
            <a:rect l="l" t="t" r="r" b="b"/>
            <a:pathLst>
              <a:path w="1849120" h="629920">
                <a:moveTo>
                  <a:pt x="0" y="104901"/>
                </a:moveTo>
                <a:lnTo>
                  <a:pt x="8243" y="64079"/>
                </a:lnTo>
                <a:lnTo>
                  <a:pt x="30724" y="30733"/>
                </a:lnTo>
                <a:lnTo>
                  <a:pt x="64068" y="8247"/>
                </a:lnTo>
                <a:lnTo>
                  <a:pt x="104901" y="0"/>
                </a:lnTo>
                <a:lnTo>
                  <a:pt x="1743710" y="0"/>
                </a:lnTo>
                <a:lnTo>
                  <a:pt x="1784532" y="8247"/>
                </a:lnTo>
                <a:lnTo>
                  <a:pt x="1817877" y="30733"/>
                </a:lnTo>
                <a:lnTo>
                  <a:pt x="1840364" y="64079"/>
                </a:lnTo>
                <a:lnTo>
                  <a:pt x="1848612" y="104901"/>
                </a:lnTo>
                <a:lnTo>
                  <a:pt x="1848612" y="524509"/>
                </a:lnTo>
                <a:lnTo>
                  <a:pt x="1840364" y="565343"/>
                </a:lnTo>
                <a:lnTo>
                  <a:pt x="1817878" y="598687"/>
                </a:lnTo>
                <a:lnTo>
                  <a:pt x="1784532" y="621168"/>
                </a:lnTo>
                <a:lnTo>
                  <a:pt x="1743710" y="629411"/>
                </a:lnTo>
                <a:lnTo>
                  <a:pt x="104901" y="629411"/>
                </a:lnTo>
                <a:lnTo>
                  <a:pt x="64068" y="621168"/>
                </a:lnTo>
                <a:lnTo>
                  <a:pt x="30724" y="598687"/>
                </a:lnTo>
                <a:lnTo>
                  <a:pt x="8243" y="565343"/>
                </a:lnTo>
                <a:lnTo>
                  <a:pt x="0" y="524509"/>
                </a:lnTo>
                <a:lnTo>
                  <a:pt x="0" y="104901"/>
                </a:lnTo>
                <a:close/>
              </a:path>
            </a:pathLst>
          </a:custGeom>
          <a:ln w="25399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52652" y="5171058"/>
            <a:ext cx="773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Feeling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240152" y="725677"/>
            <a:ext cx="2339340" cy="6136005"/>
            <a:chOff x="2240152" y="725677"/>
            <a:chExt cx="2339340" cy="6136005"/>
          </a:xfrm>
        </p:grpSpPr>
        <p:sp>
          <p:nvSpPr>
            <p:cNvPr id="18" name="object 18"/>
            <p:cNvSpPr/>
            <p:nvPr/>
          </p:nvSpPr>
          <p:spPr>
            <a:xfrm>
              <a:off x="2243327" y="746759"/>
              <a:ext cx="0" cy="6111240"/>
            </a:xfrm>
            <a:custGeom>
              <a:avLst/>
              <a:gdLst/>
              <a:ahLst/>
              <a:cxnLst/>
              <a:rect l="l" t="t" r="r" b="b"/>
              <a:pathLst>
                <a:path h="6111240">
                  <a:moveTo>
                    <a:pt x="0" y="0"/>
                  </a:moveTo>
                  <a:lnTo>
                    <a:pt x="0" y="6111240"/>
                  </a:lnTo>
                </a:path>
              </a:pathLst>
            </a:custGeom>
            <a:ln w="6350">
              <a:solidFill>
                <a:srgbClr val="22316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899409" y="738377"/>
              <a:ext cx="1667510" cy="559435"/>
            </a:xfrm>
            <a:custGeom>
              <a:avLst/>
              <a:gdLst/>
              <a:ahLst/>
              <a:cxnLst/>
              <a:rect l="l" t="t" r="r" b="b"/>
              <a:pathLst>
                <a:path w="1667510" h="559435">
                  <a:moveTo>
                    <a:pt x="0" y="0"/>
                  </a:moveTo>
                  <a:lnTo>
                    <a:pt x="1387602" y="0"/>
                  </a:lnTo>
                  <a:lnTo>
                    <a:pt x="1667255" y="279654"/>
                  </a:lnTo>
                  <a:lnTo>
                    <a:pt x="1387602" y="559308"/>
                  </a:lnTo>
                  <a:lnTo>
                    <a:pt x="0" y="55930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6E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24632" y="857250"/>
            <a:ext cx="12757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Account</a:t>
            </a:r>
            <a:r>
              <a:rPr sz="1800" spc="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tab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17170" y="5828538"/>
            <a:ext cx="1838325" cy="733425"/>
          </a:xfrm>
          <a:custGeom>
            <a:avLst/>
            <a:gdLst/>
            <a:ahLst/>
            <a:cxnLst/>
            <a:rect l="l" t="t" r="r" b="b"/>
            <a:pathLst>
              <a:path w="1838325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1715770" y="0"/>
                </a:lnTo>
                <a:lnTo>
                  <a:pt x="1763309" y="9601"/>
                </a:lnTo>
                <a:lnTo>
                  <a:pt x="1802145" y="35783"/>
                </a:lnTo>
                <a:lnTo>
                  <a:pt x="1828337" y="74618"/>
                </a:lnTo>
                <a:lnTo>
                  <a:pt x="1837944" y="122174"/>
                </a:lnTo>
                <a:lnTo>
                  <a:pt x="1837944" y="610870"/>
                </a:lnTo>
                <a:lnTo>
                  <a:pt x="1828337" y="658425"/>
                </a:lnTo>
                <a:lnTo>
                  <a:pt x="1802145" y="697260"/>
                </a:lnTo>
                <a:lnTo>
                  <a:pt x="1763309" y="723442"/>
                </a:lnTo>
                <a:lnTo>
                  <a:pt x="1715770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35051" y="5898286"/>
            <a:ext cx="14027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2090" marR="5080" indent="-2000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Pain</a:t>
            </a:r>
            <a:r>
              <a:rPr sz="18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Points</a:t>
            </a:r>
            <a:r>
              <a:rPr sz="18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Roboto"/>
                <a:cs typeface="Roboto"/>
              </a:rPr>
              <a:t>&amp; </a:t>
            </a:r>
            <a:r>
              <a:rPr sz="1800" spc="-10" dirty="0">
                <a:solidFill>
                  <a:srgbClr val="FFFFFF"/>
                </a:solidFill>
                <a:latin typeface="Roboto"/>
                <a:cs typeface="Roboto"/>
              </a:rPr>
              <a:t>Solutions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9121" y="721105"/>
            <a:ext cx="11878945" cy="6140450"/>
            <a:chOff x="79121" y="721105"/>
            <a:chExt cx="11878945" cy="6140450"/>
          </a:xfrm>
        </p:grpSpPr>
        <p:sp>
          <p:nvSpPr>
            <p:cNvPr id="24" name="object 24"/>
            <p:cNvSpPr/>
            <p:nvPr/>
          </p:nvSpPr>
          <p:spPr>
            <a:xfrm>
              <a:off x="82296" y="726947"/>
              <a:ext cx="11872595" cy="6131560"/>
            </a:xfrm>
            <a:custGeom>
              <a:avLst/>
              <a:gdLst/>
              <a:ahLst/>
              <a:cxnLst/>
              <a:rect l="l" t="t" r="r" b="b"/>
              <a:pathLst>
                <a:path w="11872595" h="6131559">
                  <a:moveTo>
                    <a:pt x="0" y="4977383"/>
                  </a:moveTo>
                  <a:lnTo>
                    <a:pt x="11872087" y="4977383"/>
                  </a:lnTo>
                </a:path>
                <a:path w="11872595" h="6131559">
                  <a:moveTo>
                    <a:pt x="0" y="4211701"/>
                  </a:moveTo>
                  <a:lnTo>
                    <a:pt x="11815318" y="4198620"/>
                  </a:lnTo>
                </a:path>
                <a:path w="11872595" h="6131559">
                  <a:moveTo>
                    <a:pt x="57911" y="2887979"/>
                  </a:moveTo>
                  <a:lnTo>
                    <a:pt x="11816461" y="2887979"/>
                  </a:lnTo>
                </a:path>
                <a:path w="11872595" h="6131559">
                  <a:moveTo>
                    <a:pt x="4815840" y="0"/>
                  </a:moveTo>
                  <a:lnTo>
                    <a:pt x="4815840" y="6120140"/>
                  </a:lnTo>
                </a:path>
                <a:path w="11872595" h="6131559">
                  <a:moveTo>
                    <a:pt x="8397240" y="0"/>
                  </a:moveTo>
                  <a:lnTo>
                    <a:pt x="8397240" y="6131051"/>
                  </a:lnTo>
                </a:path>
              </a:pathLst>
            </a:custGeom>
            <a:ln w="6350">
              <a:solidFill>
                <a:srgbClr val="22316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791961" y="733805"/>
              <a:ext cx="2047239" cy="563880"/>
            </a:xfrm>
            <a:custGeom>
              <a:avLst/>
              <a:gdLst/>
              <a:ahLst/>
              <a:cxnLst/>
              <a:rect l="l" t="t" r="r" b="b"/>
              <a:pathLst>
                <a:path w="2047240" h="563880">
                  <a:moveTo>
                    <a:pt x="0" y="0"/>
                  </a:moveTo>
                  <a:lnTo>
                    <a:pt x="1764791" y="0"/>
                  </a:lnTo>
                  <a:lnTo>
                    <a:pt x="2046732" y="281940"/>
                  </a:lnTo>
                  <a:lnTo>
                    <a:pt x="1764791" y="563880"/>
                  </a:lnTo>
                  <a:lnTo>
                    <a:pt x="0" y="5638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6E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324225" y="5052186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B8018"/>
                </a:solidFill>
                <a:latin typeface="Segoe UI Emoji"/>
                <a:cs typeface="Segoe UI Emoji"/>
              </a:rPr>
              <a:t>😟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64985" y="5077205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B8018"/>
                </a:solidFill>
                <a:latin typeface="Segoe UI Emoji"/>
                <a:cs typeface="Segoe UI Emoji"/>
              </a:rPr>
              <a:t>😥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95491" y="717296"/>
            <a:ext cx="129857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Opens</a:t>
            </a:r>
            <a:r>
              <a:rPr sz="18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Roboto"/>
                <a:cs typeface="Roboto"/>
              </a:rPr>
              <a:t>Order</a:t>
            </a:r>
            <a:endParaRPr sz="1800">
              <a:latin typeface="Roboto"/>
              <a:cs typeface="Roboto"/>
            </a:endParaRPr>
          </a:p>
          <a:p>
            <a:pPr marL="1270" algn="ctr">
              <a:lnSpc>
                <a:spcPct val="100000"/>
              </a:lnSpc>
            </a:pPr>
            <a:r>
              <a:rPr sz="1800" spc="-20" dirty="0">
                <a:solidFill>
                  <a:srgbClr val="FFFFFF"/>
                </a:solidFill>
                <a:latin typeface="Roboto"/>
                <a:cs typeface="Roboto"/>
              </a:rPr>
              <a:t>page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323069" y="747522"/>
            <a:ext cx="1668780" cy="550545"/>
          </a:xfrm>
          <a:custGeom>
            <a:avLst/>
            <a:gdLst/>
            <a:ahLst/>
            <a:cxnLst/>
            <a:rect l="l" t="t" r="r" b="b"/>
            <a:pathLst>
              <a:path w="1668779" h="550544">
                <a:moveTo>
                  <a:pt x="0" y="0"/>
                </a:moveTo>
                <a:lnTo>
                  <a:pt x="1393698" y="0"/>
                </a:lnTo>
                <a:lnTo>
                  <a:pt x="1668779" y="275081"/>
                </a:lnTo>
                <a:lnTo>
                  <a:pt x="1393698" y="550163"/>
                </a:lnTo>
                <a:lnTo>
                  <a:pt x="0" y="550163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9439782" y="861186"/>
            <a:ext cx="1298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Roboto"/>
                <a:cs typeface="Roboto"/>
              </a:rPr>
              <a:t>Opens</a:t>
            </a:r>
            <a:r>
              <a:rPr sz="18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Roboto"/>
                <a:cs typeface="Roboto"/>
              </a:rPr>
              <a:t>Order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093720" y="726948"/>
            <a:ext cx="8807450" cy="6115050"/>
            <a:chOff x="3093720" y="726948"/>
            <a:chExt cx="8807450" cy="6115050"/>
          </a:xfrm>
        </p:grpSpPr>
        <p:sp>
          <p:nvSpPr>
            <p:cNvPr id="32" name="object 32"/>
            <p:cNvSpPr/>
            <p:nvPr/>
          </p:nvSpPr>
          <p:spPr>
            <a:xfrm>
              <a:off x="11897867" y="726948"/>
              <a:ext cx="0" cy="6115050"/>
            </a:xfrm>
            <a:custGeom>
              <a:avLst/>
              <a:gdLst/>
              <a:ahLst/>
              <a:cxnLst/>
              <a:rect l="l" t="t" r="r" b="b"/>
              <a:pathLst>
                <a:path h="6115050">
                  <a:moveTo>
                    <a:pt x="0" y="0"/>
                  </a:moveTo>
                  <a:lnTo>
                    <a:pt x="0" y="6114859"/>
                  </a:lnTo>
                </a:path>
              </a:pathLst>
            </a:custGeom>
            <a:ln w="6350">
              <a:solidFill>
                <a:srgbClr val="223166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16439" y="1327404"/>
              <a:ext cx="1030224" cy="22890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93720" y="1307592"/>
              <a:ext cx="1039368" cy="230733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99632" y="1330452"/>
              <a:ext cx="1028700" cy="22860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2520823" y="3748481"/>
            <a:ext cx="2102485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ordered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boat</a:t>
            </a:r>
            <a:r>
              <a:rPr sz="1600" spc="-4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charger.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Instead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got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second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copy</a:t>
            </a:r>
            <a:r>
              <a:rPr sz="16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charger.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hope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they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give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me</a:t>
            </a:r>
            <a:r>
              <a:rPr sz="160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refund.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55184" y="3832605"/>
            <a:ext cx="310197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hope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return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date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hasn’t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gone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by</a:t>
            </a:r>
            <a:r>
              <a:rPr sz="16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and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there are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no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other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hidden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T&amp;C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this.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598789" y="3842384"/>
            <a:ext cx="2917825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6835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This</a:t>
            </a:r>
            <a:r>
              <a:rPr sz="16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was</a:t>
            </a:r>
            <a:r>
              <a:rPr sz="16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order.</a:t>
            </a:r>
            <a:r>
              <a:rPr sz="16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Good!</a:t>
            </a:r>
            <a:r>
              <a:rPr sz="16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still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have</a:t>
            </a:r>
            <a:r>
              <a:rPr sz="16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time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return </a:t>
            </a:r>
            <a:r>
              <a:rPr sz="1600" spc="-20" dirty="0">
                <a:solidFill>
                  <a:srgbClr val="FFFFFF"/>
                </a:solidFill>
                <a:latin typeface="Roboto"/>
                <a:cs typeface="Roboto"/>
              </a:rPr>
              <a:t>this.</a:t>
            </a:r>
            <a:endParaRPr sz="16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I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finally</a:t>
            </a:r>
            <a:r>
              <a:rPr sz="16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found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sz="1600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dirty="0">
                <a:solidFill>
                  <a:srgbClr val="FFFFFF"/>
                </a:solidFill>
                <a:latin typeface="Roboto"/>
                <a:cs typeface="Roboto"/>
              </a:rPr>
              <a:t>return</a:t>
            </a:r>
            <a:r>
              <a:rPr sz="1600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Roboto"/>
                <a:cs typeface="Roboto"/>
              </a:rPr>
              <a:t>button.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902443" y="5077205"/>
            <a:ext cx="5130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solidFill>
                  <a:srgbClr val="FB8018"/>
                </a:solidFill>
                <a:latin typeface="Segoe UI Emoji"/>
                <a:cs typeface="Segoe UI Emoji"/>
              </a:rPr>
              <a:t>😐</a:t>
            </a:r>
            <a:endParaRPr sz="2800">
              <a:latin typeface="Segoe UI Emoji"/>
              <a:cs typeface="Segoe UI Emoj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360422" y="5731560"/>
            <a:ext cx="2416810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65405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For</a:t>
            </a:r>
            <a:r>
              <a:rPr sz="130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a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new</a:t>
            </a:r>
            <a:r>
              <a:rPr sz="130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user,</a:t>
            </a:r>
            <a:r>
              <a:rPr sz="1300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he</a:t>
            </a:r>
            <a:r>
              <a:rPr sz="1300" spc="-2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dirty="0">
                <a:solidFill>
                  <a:srgbClr val="FFFFFF"/>
                </a:solidFill>
                <a:latin typeface="Roboto"/>
                <a:cs typeface="Roboto"/>
              </a:rPr>
              <a:t>wont</a:t>
            </a:r>
            <a:r>
              <a:rPr sz="1300" b="1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be </a:t>
            </a:r>
            <a:r>
              <a:rPr sz="1300" spc="-20" dirty="0">
                <a:solidFill>
                  <a:srgbClr val="FFFFFF"/>
                </a:solidFill>
                <a:latin typeface="Roboto"/>
                <a:cs typeface="Roboto"/>
              </a:rPr>
              <a:t>able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13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b="1" dirty="0">
                <a:solidFill>
                  <a:srgbClr val="FFFFFF"/>
                </a:solidFill>
                <a:latin typeface="Roboto"/>
                <a:cs typeface="Roboto"/>
              </a:rPr>
              <a:t>navigate</a:t>
            </a:r>
            <a:r>
              <a:rPr sz="1300" b="1" spc="-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easily</a:t>
            </a:r>
            <a:r>
              <a:rPr sz="13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13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return button.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Main</a:t>
            </a:r>
            <a:r>
              <a:rPr sz="1300" spc="-2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search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bar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should</a:t>
            </a:r>
            <a:r>
              <a:rPr sz="1300" spc="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also</a:t>
            </a:r>
            <a:r>
              <a:rPr sz="1300" spc="-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spc="-25" dirty="0">
                <a:solidFill>
                  <a:srgbClr val="FFFFFF"/>
                </a:solidFill>
                <a:latin typeface="Roboto"/>
                <a:cs typeface="Roboto"/>
              </a:rPr>
              <a:t>be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able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to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search</a:t>
            </a:r>
            <a:r>
              <a:rPr sz="1300" spc="1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dirty="0">
                <a:solidFill>
                  <a:srgbClr val="FFFFFF"/>
                </a:solidFill>
                <a:latin typeface="Roboto"/>
                <a:cs typeface="Roboto"/>
              </a:rPr>
              <a:t>common</a:t>
            </a:r>
            <a:r>
              <a:rPr sz="1300" spc="1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300" spc="-10" dirty="0">
                <a:solidFill>
                  <a:srgbClr val="FFFFFF"/>
                </a:solidFill>
                <a:latin typeface="Roboto"/>
                <a:cs typeface="Roboto"/>
              </a:rPr>
              <a:t>settings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4473" cy="1783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7482" y="207263"/>
            <a:ext cx="1599565" cy="178435"/>
            <a:chOff x="5507482" y="207263"/>
            <a:chExt cx="1599565" cy="178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371" y="207263"/>
              <a:ext cx="1598168" cy="1783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07482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5393" y="189229"/>
            <a:ext cx="982560" cy="1783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10667"/>
            <a:ext cx="12192000" cy="641985"/>
            <a:chOff x="0" y="10667"/>
            <a:chExt cx="12192000" cy="641985"/>
          </a:xfrm>
        </p:grpSpPr>
        <p:sp>
          <p:nvSpPr>
            <p:cNvPr id="10" name="object 10"/>
            <p:cNvSpPr/>
            <p:nvPr/>
          </p:nvSpPr>
          <p:spPr>
            <a:xfrm>
              <a:off x="0" y="64922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6E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Why did Flipkart change its logo? - Quora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0667"/>
              <a:ext cx="2082545" cy="637793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220218" y="18768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29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7170" y="3783329"/>
            <a:ext cx="1838325" cy="680085"/>
          </a:xfrm>
          <a:custGeom>
            <a:avLst/>
            <a:gdLst/>
            <a:ahLst/>
            <a:cxnLst/>
            <a:rect l="l" t="t" r="r" b="b"/>
            <a:pathLst>
              <a:path w="1838325" h="680085">
                <a:moveTo>
                  <a:pt x="0" y="113284"/>
                </a:moveTo>
                <a:lnTo>
                  <a:pt x="8903" y="69169"/>
                </a:lnTo>
                <a:lnTo>
                  <a:pt x="33181" y="33162"/>
                </a:lnTo>
                <a:lnTo>
                  <a:pt x="69190" y="8895"/>
                </a:lnTo>
                <a:lnTo>
                  <a:pt x="113283" y="0"/>
                </a:lnTo>
                <a:lnTo>
                  <a:pt x="1724660" y="0"/>
                </a:lnTo>
                <a:lnTo>
                  <a:pt x="1768774" y="8895"/>
                </a:lnTo>
                <a:lnTo>
                  <a:pt x="1804781" y="33162"/>
                </a:lnTo>
                <a:lnTo>
                  <a:pt x="1829048" y="69169"/>
                </a:lnTo>
                <a:lnTo>
                  <a:pt x="1837944" y="113284"/>
                </a:lnTo>
                <a:lnTo>
                  <a:pt x="1837944" y="566420"/>
                </a:lnTo>
                <a:lnTo>
                  <a:pt x="1829048" y="610534"/>
                </a:lnTo>
                <a:lnTo>
                  <a:pt x="1804781" y="646541"/>
                </a:lnTo>
                <a:lnTo>
                  <a:pt x="1768774" y="670808"/>
                </a:lnTo>
                <a:lnTo>
                  <a:pt x="1724660" y="679704"/>
                </a:lnTo>
                <a:lnTo>
                  <a:pt x="113283" y="679704"/>
                </a:lnTo>
                <a:lnTo>
                  <a:pt x="69190" y="670808"/>
                </a:lnTo>
                <a:lnTo>
                  <a:pt x="33181" y="646541"/>
                </a:lnTo>
                <a:lnTo>
                  <a:pt x="8903" y="610534"/>
                </a:lnTo>
                <a:lnTo>
                  <a:pt x="0" y="566420"/>
                </a:lnTo>
                <a:lnTo>
                  <a:pt x="0" y="113284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7170" y="5016246"/>
            <a:ext cx="1849120" cy="629920"/>
          </a:xfrm>
          <a:custGeom>
            <a:avLst/>
            <a:gdLst/>
            <a:ahLst/>
            <a:cxnLst/>
            <a:rect l="l" t="t" r="r" b="b"/>
            <a:pathLst>
              <a:path w="1849120" h="629920">
                <a:moveTo>
                  <a:pt x="0" y="104901"/>
                </a:moveTo>
                <a:lnTo>
                  <a:pt x="8243" y="64079"/>
                </a:lnTo>
                <a:lnTo>
                  <a:pt x="30724" y="30733"/>
                </a:lnTo>
                <a:lnTo>
                  <a:pt x="64068" y="8247"/>
                </a:lnTo>
                <a:lnTo>
                  <a:pt x="104901" y="0"/>
                </a:lnTo>
                <a:lnTo>
                  <a:pt x="1743710" y="0"/>
                </a:lnTo>
                <a:lnTo>
                  <a:pt x="1784532" y="8247"/>
                </a:lnTo>
                <a:lnTo>
                  <a:pt x="1817877" y="30733"/>
                </a:lnTo>
                <a:lnTo>
                  <a:pt x="1840364" y="64079"/>
                </a:lnTo>
                <a:lnTo>
                  <a:pt x="1848612" y="104901"/>
                </a:lnTo>
                <a:lnTo>
                  <a:pt x="1848612" y="524509"/>
                </a:lnTo>
                <a:lnTo>
                  <a:pt x="1840364" y="565343"/>
                </a:lnTo>
                <a:lnTo>
                  <a:pt x="1817878" y="598687"/>
                </a:lnTo>
                <a:lnTo>
                  <a:pt x="1784532" y="621168"/>
                </a:lnTo>
                <a:lnTo>
                  <a:pt x="1743710" y="629411"/>
                </a:lnTo>
                <a:lnTo>
                  <a:pt x="104901" y="629411"/>
                </a:lnTo>
                <a:lnTo>
                  <a:pt x="64068" y="621168"/>
                </a:lnTo>
                <a:lnTo>
                  <a:pt x="30724" y="598687"/>
                </a:lnTo>
                <a:lnTo>
                  <a:pt x="8243" y="565343"/>
                </a:lnTo>
                <a:lnTo>
                  <a:pt x="0" y="524509"/>
                </a:lnTo>
                <a:lnTo>
                  <a:pt x="0" y="104901"/>
                </a:lnTo>
                <a:close/>
              </a:path>
            </a:pathLst>
          </a:custGeom>
          <a:ln w="25399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9410" y="738377"/>
            <a:ext cx="1667510" cy="559435"/>
          </a:xfrm>
          <a:custGeom>
            <a:avLst/>
            <a:gdLst/>
            <a:ahLst/>
            <a:cxnLst/>
            <a:rect l="l" t="t" r="r" b="b"/>
            <a:pathLst>
              <a:path w="1667510" h="559435">
                <a:moveTo>
                  <a:pt x="0" y="0"/>
                </a:moveTo>
                <a:lnTo>
                  <a:pt x="1387602" y="0"/>
                </a:lnTo>
                <a:lnTo>
                  <a:pt x="1667255" y="279654"/>
                </a:lnTo>
                <a:lnTo>
                  <a:pt x="1387602" y="559308"/>
                </a:lnTo>
                <a:lnTo>
                  <a:pt x="0" y="5593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7170" y="5822441"/>
            <a:ext cx="1838325" cy="733425"/>
          </a:xfrm>
          <a:custGeom>
            <a:avLst/>
            <a:gdLst/>
            <a:ahLst/>
            <a:cxnLst/>
            <a:rect l="l" t="t" r="r" b="b"/>
            <a:pathLst>
              <a:path w="1838325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1715770" y="0"/>
                </a:lnTo>
                <a:lnTo>
                  <a:pt x="1763309" y="9601"/>
                </a:lnTo>
                <a:lnTo>
                  <a:pt x="1802145" y="35783"/>
                </a:lnTo>
                <a:lnTo>
                  <a:pt x="1828337" y="74618"/>
                </a:lnTo>
                <a:lnTo>
                  <a:pt x="1837944" y="122174"/>
                </a:lnTo>
                <a:lnTo>
                  <a:pt x="1837944" y="610870"/>
                </a:lnTo>
                <a:lnTo>
                  <a:pt x="1828337" y="658425"/>
                </a:lnTo>
                <a:lnTo>
                  <a:pt x="1802145" y="697260"/>
                </a:lnTo>
                <a:lnTo>
                  <a:pt x="1763309" y="723442"/>
                </a:lnTo>
                <a:lnTo>
                  <a:pt x="1715770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" name="object 17"/>
          <p:cNvGrpSpPr/>
          <p:nvPr/>
        </p:nvGrpSpPr>
        <p:grpSpPr>
          <a:xfrm>
            <a:off x="5779261" y="721105"/>
            <a:ext cx="1816100" cy="2880360"/>
            <a:chOff x="5779261" y="721105"/>
            <a:chExt cx="1816100" cy="2880360"/>
          </a:xfrm>
        </p:grpSpPr>
        <p:sp>
          <p:nvSpPr>
            <p:cNvPr id="18" name="object 18"/>
            <p:cNvSpPr/>
            <p:nvPr/>
          </p:nvSpPr>
          <p:spPr>
            <a:xfrm>
              <a:off x="5791961" y="733805"/>
              <a:ext cx="1790700" cy="563880"/>
            </a:xfrm>
            <a:custGeom>
              <a:avLst/>
              <a:gdLst/>
              <a:ahLst/>
              <a:cxnLst/>
              <a:rect l="l" t="t" r="r" b="b"/>
              <a:pathLst>
                <a:path w="1790700" h="563880">
                  <a:moveTo>
                    <a:pt x="0" y="0"/>
                  </a:moveTo>
                  <a:lnTo>
                    <a:pt x="1508760" y="0"/>
                  </a:lnTo>
                  <a:lnTo>
                    <a:pt x="1790699" y="281940"/>
                  </a:lnTo>
                  <a:lnTo>
                    <a:pt x="1508760" y="563880"/>
                  </a:lnTo>
                  <a:lnTo>
                    <a:pt x="0" y="5638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F6E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26479" y="1354836"/>
              <a:ext cx="1010412" cy="2246376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9377933" y="724662"/>
            <a:ext cx="1932939" cy="551815"/>
          </a:xfrm>
          <a:custGeom>
            <a:avLst/>
            <a:gdLst/>
            <a:ahLst/>
            <a:cxnLst/>
            <a:rect l="l" t="t" r="r" b="b"/>
            <a:pathLst>
              <a:path w="1932940" h="551815">
                <a:moveTo>
                  <a:pt x="0" y="0"/>
                </a:moveTo>
                <a:lnTo>
                  <a:pt x="1656588" y="0"/>
                </a:lnTo>
                <a:lnTo>
                  <a:pt x="1932432" y="275843"/>
                </a:lnTo>
                <a:lnTo>
                  <a:pt x="1656588" y="551688"/>
                </a:lnTo>
                <a:lnTo>
                  <a:pt x="0" y="55168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75946" y="726948"/>
          <a:ext cx="11901805" cy="613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4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8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7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38100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Doing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78486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Return 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Page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4287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135255" algn="ctr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Fill</a:t>
                      </a:r>
                      <a:r>
                        <a:rPr sz="1800" spc="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Reasons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172720" algn="ct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8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T&amp;C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2573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6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4318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Thinking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97155" marB="0"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220979" marR="177800">
                        <a:lnSpc>
                          <a:spcPct val="100000"/>
                        </a:lnSpc>
                        <a:spcBef>
                          <a:spcPts val="12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There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sure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are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lot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of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questions.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hope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this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process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doesn’t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take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too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much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time.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16129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241300" marR="304165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entered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my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reasons.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hope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they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qualify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sz="1600" spc="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return.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11747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99060" marR="280035">
                        <a:lnSpc>
                          <a:spcPct val="100000"/>
                        </a:lnSpc>
                        <a:spcBef>
                          <a:spcPts val="113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Good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that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still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have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packing,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but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they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are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asking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about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the</a:t>
                      </a:r>
                      <a:endParaRPr sz="1600">
                        <a:latin typeface="Roboto"/>
                        <a:cs typeface="Roboto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damage.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had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open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packing</a:t>
                      </a:r>
                      <a:endParaRPr sz="1600">
                        <a:latin typeface="Roboto"/>
                        <a:cs typeface="Roboto"/>
                      </a:endParaRPr>
                    </a:p>
                    <a:p>
                      <a:pPr marL="99060">
                        <a:lnSpc>
                          <a:spcPct val="100000"/>
                        </a:lnSpc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course,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does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that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count?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14414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198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Feeling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51460" marB="0"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871855">
                        <a:lnSpc>
                          <a:spcPct val="100000"/>
                        </a:lnSpc>
                        <a:spcBef>
                          <a:spcPts val="900"/>
                        </a:spcBef>
                      </a:pPr>
                      <a:r>
                        <a:rPr sz="2800" spc="-50" dirty="0">
                          <a:solidFill>
                            <a:srgbClr val="FB8018"/>
                          </a:solidFill>
                          <a:latin typeface="Segoe UI Emoji"/>
                          <a:cs typeface="Segoe UI Emoji"/>
                        </a:rPr>
                        <a:t>😥</a:t>
                      </a:r>
                      <a:endParaRPr sz="2800">
                        <a:latin typeface="Segoe UI Emoji"/>
                        <a:cs typeface="Segoe UI Emoji"/>
                      </a:endParaRPr>
                    </a:p>
                  </a:txBody>
                  <a:tcPr marL="0" marR="0" marT="11430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19494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3200" spc="-50" dirty="0">
                          <a:solidFill>
                            <a:srgbClr val="FB8018"/>
                          </a:solidFill>
                          <a:latin typeface="Segoe UI Emoji"/>
                          <a:cs typeface="Segoe UI Emoji"/>
                        </a:rPr>
                        <a:t>🤔</a:t>
                      </a:r>
                      <a:endParaRPr sz="3200">
                        <a:latin typeface="Segoe UI Emoji"/>
                        <a:cs typeface="Segoe UI Emoji"/>
                      </a:endParaRPr>
                    </a:p>
                  </a:txBody>
                  <a:tcPr marL="0" marR="0" marT="6985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15748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3200" spc="-50" dirty="0">
                          <a:solidFill>
                            <a:srgbClr val="FB8018"/>
                          </a:solidFill>
                          <a:latin typeface="Segoe UI Emoji"/>
                          <a:cs typeface="Segoe UI Emoji"/>
                        </a:rPr>
                        <a:t>🤔</a:t>
                      </a:r>
                      <a:endParaRPr sz="3200">
                        <a:latin typeface="Segoe UI Emoji"/>
                        <a:cs typeface="Segoe UI Emoji"/>
                      </a:endParaRPr>
                    </a:p>
                  </a:txBody>
                  <a:tcPr marL="0" marR="0" marT="9461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3160">
                <a:tc>
                  <a:txBody>
                    <a:bodyPr/>
                    <a:lstStyle/>
                    <a:p>
                      <a:pPr marL="567690" marR="412750" indent="-198120">
                        <a:lnSpc>
                          <a:spcPct val="100000"/>
                        </a:lnSpc>
                        <a:spcBef>
                          <a:spcPts val="157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Pain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Points</a:t>
                      </a:r>
                      <a:r>
                        <a:rPr sz="18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&amp;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Solutions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200025" marB="0"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L="128905" marR="205104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In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case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reason</a:t>
                      </a:r>
                      <a:r>
                        <a:rPr sz="1600" b="1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b="1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not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found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,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there should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be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an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option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mention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that.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10477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ct val="100000"/>
                        </a:lnSpc>
                        <a:spcBef>
                          <a:spcPts val="464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Ambiguity</a:t>
                      </a:r>
                      <a:endParaRPr sz="1600">
                        <a:latin typeface="Roboto"/>
                        <a:cs typeface="Roboto"/>
                      </a:endParaRPr>
                    </a:p>
                    <a:p>
                      <a:pPr marL="99060" marR="1054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Should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state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more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clearly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‘Apart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from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expected</a:t>
                      </a:r>
                      <a:r>
                        <a:rPr sz="1400" spc="-5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damage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due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opening’ 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or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‘enough</a:t>
                      </a:r>
                      <a:r>
                        <a:rPr sz="14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400" spc="-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carry</a:t>
                      </a:r>
                      <a:r>
                        <a:rPr sz="1400" spc="-4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400" spc="-3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package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safely</a:t>
                      </a:r>
                      <a:endParaRPr sz="1400">
                        <a:latin typeface="Roboto"/>
                        <a:cs typeface="Roboto"/>
                      </a:endParaRPr>
                    </a:p>
                    <a:p>
                      <a:pPr marL="99060">
                        <a:lnSpc>
                          <a:spcPts val="1550"/>
                        </a:lnSpc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back’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59054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37916" y="1374647"/>
            <a:ext cx="995171" cy="2212848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9797795" y="1351788"/>
            <a:ext cx="1010919" cy="2246630"/>
            <a:chOff x="9797795" y="1351788"/>
            <a:chExt cx="1010919" cy="2246630"/>
          </a:xfrm>
        </p:grpSpPr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97795" y="1351788"/>
              <a:ext cx="1010411" cy="224637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97795" y="1981200"/>
              <a:ext cx="1010411" cy="97536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507482" y="207263"/>
            <a:ext cx="1599565" cy="178435"/>
            <a:chOff x="5507482" y="207263"/>
            <a:chExt cx="1599565" cy="17843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371" y="207263"/>
              <a:ext cx="1598168" cy="1783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07482" y="368807"/>
              <a:ext cx="1504315" cy="3175"/>
            </a:xfrm>
            <a:custGeom>
              <a:avLst/>
              <a:gdLst/>
              <a:ahLst/>
              <a:cxnLst/>
              <a:rect l="l" t="t" r="r" b="b"/>
              <a:pathLst>
                <a:path w="1504315" h="3175">
                  <a:moveTo>
                    <a:pt x="1504188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1504188" y="3047"/>
                  </a:lnTo>
                  <a:lnTo>
                    <a:pt x="1504188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4394" y="197230"/>
            <a:ext cx="2014854" cy="1783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75393" y="189229"/>
            <a:ext cx="989215" cy="17830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10667"/>
            <a:ext cx="12192000" cy="641985"/>
            <a:chOff x="0" y="10667"/>
            <a:chExt cx="12192000" cy="641985"/>
          </a:xfrm>
        </p:grpSpPr>
        <p:sp>
          <p:nvSpPr>
            <p:cNvPr id="10" name="object 10"/>
            <p:cNvSpPr/>
            <p:nvPr/>
          </p:nvSpPr>
          <p:spPr>
            <a:xfrm>
              <a:off x="0" y="649223"/>
              <a:ext cx="12192000" cy="0"/>
            </a:xfrm>
            <a:custGeom>
              <a:avLst/>
              <a:gdLst/>
              <a:ahLst/>
              <a:cxnLst/>
              <a:rect l="l" t="t" r="r" b="b"/>
              <a:pathLst>
                <a:path w="12192000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ln w="6350">
              <a:solidFill>
                <a:srgbClr val="F6E0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 descr="Why did Flipkart change its logo? - Quora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10667"/>
              <a:ext cx="2082545" cy="637793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220218" y="1876805"/>
            <a:ext cx="1838325" cy="678180"/>
          </a:xfrm>
          <a:custGeom>
            <a:avLst/>
            <a:gdLst/>
            <a:ahLst/>
            <a:cxnLst/>
            <a:rect l="l" t="t" r="r" b="b"/>
            <a:pathLst>
              <a:path w="1838325" h="678180">
                <a:moveTo>
                  <a:pt x="0" y="113030"/>
                </a:moveTo>
                <a:lnTo>
                  <a:pt x="8883" y="69008"/>
                </a:lnTo>
                <a:lnTo>
                  <a:pt x="33107" y="33083"/>
                </a:lnTo>
                <a:lnTo>
                  <a:pt x="69035" y="8874"/>
                </a:lnTo>
                <a:lnTo>
                  <a:pt x="113029" y="0"/>
                </a:lnTo>
                <a:lnTo>
                  <a:pt x="1724914" y="0"/>
                </a:lnTo>
                <a:lnTo>
                  <a:pt x="1768935" y="8874"/>
                </a:lnTo>
                <a:lnTo>
                  <a:pt x="1804860" y="33083"/>
                </a:lnTo>
                <a:lnTo>
                  <a:pt x="1829069" y="69008"/>
                </a:lnTo>
                <a:lnTo>
                  <a:pt x="1837944" y="113030"/>
                </a:lnTo>
                <a:lnTo>
                  <a:pt x="1837944" y="565150"/>
                </a:lnTo>
                <a:lnTo>
                  <a:pt x="1829069" y="609117"/>
                </a:lnTo>
                <a:lnTo>
                  <a:pt x="1804860" y="645048"/>
                </a:lnTo>
                <a:lnTo>
                  <a:pt x="1768935" y="669288"/>
                </a:lnTo>
                <a:lnTo>
                  <a:pt x="1724914" y="678180"/>
                </a:lnTo>
                <a:lnTo>
                  <a:pt x="113029" y="678180"/>
                </a:lnTo>
                <a:lnTo>
                  <a:pt x="69035" y="669288"/>
                </a:lnTo>
                <a:lnTo>
                  <a:pt x="33107" y="645048"/>
                </a:lnTo>
                <a:lnTo>
                  <a:pt x="8883" y="609117"/>
                </a:lnTo>
                <a:lnTo>
                  <a:pt x="0" y="565150"/>
                </a:lnTo>
                <a:lnTo>
                  <a:pt x="0" y="11303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17170" y="3783329"/>
            <a:ext cx="1838325" cy="680085"/>
          </a:xfrm>
          <a:custGeom>
            <a:avLst/>
            <a:gdLst/>
            <a:ahLst/>
            <a:cxnLst/>
            <a:rect l="l" t="t" r="r" b="b"/>
            <a:pathLst>
              <a:path w="1838325" h="680085">
                <a:moveTo>
                  <a:pt x="0" y="113284"/>
                </a:moveTo>
                <a:lnTo>
                  <a:pt x="8903" y="69169"/>
                </a:lnTo>
                <a:lnTo>
                  <a:pt x="33181" y="33162"/>
                </a:lnTo>
                <a:lnTo>
                  <a:pt x="69190" y="8895"/>
                </a:lnTo>
                <a:lnTo>
                  <a:pt x="113283" y="0"/>
                </a:lnTo>
                <a:lnTo>
                  <a:pt x="1724660" y="0"/>
                </a:lnTo>
                <a:lnTo>
                  <a:pt x="1768774" y="8895"/>
                </a:lnTo>
                <a:lnTo>
                  <a:pt x="1804781" y="33162"/>
                </a:lnTo>
                <a:lnTo>
                  <a:pt x="1829048" y="69169"/>
                </a:lnTo>
                <a:lnTo>
                  <a:pt x="1837944" y="113284"/>
                </a:lnTo>
                <a:lnTo>
                  <a:pt x="1837944" y="566420"/>
                </a:lnTo>
                <a:lnTo>
                  <a:pt x="1829048" y="610534"/>
                </a:lnTo>
                <a:lnTo>
                  <a:pt x="1804781" y="646541"/>
                </a:lnTo>
                <a:lnTo>
                  <a:pt x="1768774" y="670808"/>
                </a:lnTo>
                <a:lnTo>
                  <a:pt x="1724660" y="679704"/>
                </a:lnTo>
                <a:lnTo>
                  <a:pt x="113283" y="679704"/>
                </a:lnTo>
                <a:lnTo>
                  <a:pt x="69190" y="670808"/>
                </a:lnTo>
                <a:lnTo>
                  <a:pt x="33181" y="646541"/>
                </a:lnTo>
                <a:lnTo>
                  <a:pt x="8903" y="610534"/>
                </a:lnTo>
                <a:lnTo>
                  <a:pt x="0" y="566420"/>
                </a:lnTo>
                <a:lnTo>
                  <a:pt x="0" y="113284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7170" y="4911090"/>
            <a:ext cx="1849120" cy="629920"/>
          </a:xfrm>
          <a:custGeom>
            <a:avLst/>
            <a:gdLst/>
            <a:ahLst/>
            <a:cxnLst/>
            <a:rect l="l" t="t" r="r" b="b"/>
            <a:pathLst>
              <a:path w="1849120" h="629920">
                <a:moveTo>
                  <a:pt x="0" y="104902"/>
                </a:moveTo>
                <a:lnTo>
                  <a:pt x="8243" y="64079"/>
                </a:lnTo>
                <a:lnTo>
                  <a:pt x="30724" y="30734"/>
                </a:lnTo>
                <a:lnTo>
                  <a:pt x="64068" y="8247"/>
                </a:lnTo>
                <a:lnTo>
                  <a:pt x="104901" y="0"/>
                </a:lnTo>
                <a:lnTo>
                  <a:pt x="1743710" y="0"/>
                </a:lnTo>
                <a:lnTo>
                  <a:pt x="1784532" y="8247"/>
                </a:lnTo>
                <a:lnTo>
                  <a:pt x="1817877" y="30733"/>
                </a:lnTo>
                <a:lnTo>
                  <a:pt x="1840364" y="64079"/>
                </a:lnTo>
                <a:lnTo>
                  <a:pt x="1848612" y="104902"/>
                </a:lnTo>
                <a:lnTo>
                  <a:pt x="1848612" y="524510"/>
                </a:lnTo>
                <a:lnTo>
                  <a:pt x="1840364" y="565332"/>
                </a:lnTo>
                <a:lnTo>
                  <a:pt x="1817878" y="598678"/>
                </a:lnTo>
                <a:lnTo>
                  <a:pt x="1784532" y="621164"/>
                </a:lnTo>
                <a:lnTo>
                  <a:pt x="1743710" y="629412"/>
                </a:lnTo>
                <a:lnTo>
                  <a:pt x="104901" y="629412"/>
                </a:lnTo>
                <a:lnTo>
                  <a:pt x="64068" y="621164"/>
                </a:lnTo>
                <a:lnTo>
                  <a:pt x="30724" y="598678"/>
                </a:lnTo>
                <a:lnTo>
                  <a:pt x="8243" y="565332"/>
                </a:lnTo>
                <a:lnTo>
                  <a:pt x="0" y="524510"/>
                </a:lnTo>
                <a:lnTo>
                  <a:pt x="0" y="104902"/>
                </a:lnTo>
                <a:close/>
              </a:path>
            </a:pathLst>
          </a:custGeom>
          <a:ln w="25399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899410" y="738377"/>
            <a:ext cx="1667510" cy="559435"/>
          </a:xfrm>
          <a:custGeom>
            <a:avLst/>
            <a:gdLst/>
            <a:ahLst/>
            <a:cxnLst/>
            <a:rect l="l" t="t" r="r" b="b"/>
            <a:pathLst>
              <a:path w="1667510" h="559435">
                <a:moveTo>
                  <a:pt x="0" y="0"/>
                </a:moveTo>
                <a:lnTo>
                  <a:pt x="1387602" y="0"/>
                </a:lnTo>
                <a:lnTo>
                  <a:pt x="1667255" y="279654"/>
                </a:lnTo>
                <a:lnTo>
                  <a:pt x="1387602" y="559308"/>
                </a:lnTo>
                <a:lnTo>
                  <a:pt x="0" y="55930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7170" y="5822441"/>
            <a:ext cx="1838325" cy="733425"/>
          </a:xfrm>
          <a:custGeom>
            <a:avLst/>
            <a:gdLst/>
            <a:ahLst/>
            <a:cxnLst/>
            <a:rect l="l" t="t" r="r" b="b"/>
            <a:pathLst>
              <a:path w="1838325" h="733425">
                <a:moveTo>
                  <a:pt x="0" y="122174"/>
                </a:moveTo>
                <a:lnTo>
                  <a:pt x="9601" y="74618"/>
                </a:lnTo>
                <a:lnTo>
                  <a:pt x="35783" y="35783"/>
                </a:lnTo>
                <a:lnTo>
                  <a:pt x="74618" y="9601"/>
                </a:lnTo>
                <a:lnTo>
                  <a:pt x="122173" y="0"/>
                </a:lnTo>
                <a:lnTo>
                  <a:pt x="1715770" y="0"/>
                </a:lnTo>
                <a:lnTo>
                  <a:pt x="1763309" y="9601"/>
                </a:lnTo>
                <a:lnTo>
                  <a:pt x="1802145" y="35783"/>
                </a:lnTo>
                <a:lnTo>
                  <a:pt x="1828337" y="74618"/>
                </a:lnTo>
                <a:lnTo>
                  <a:pt x="1837944" y="122174"/>
                </a:lnTo>
                <a:lnTo>
                  <a:pt x="1837944" y="610870"/>
                </a:lnTo>
                <a:lnTo>
                  <a:pt x="1828337" y="658425"/>
                </a:lnTo>
                <a:lnTo>
                  <a:pt x="1802145" y="697260"/>
                </a:lnTo>
                <a:lnTo>
                  <a:pt x="1763309" y="723442"/>
                </a:lnTo>
                <a:lnTo>
                  <a:pt x="1715770" y="733044"/>
                </a:lnTo>
                <a:lnTo>
                  <a:pt x="122173" y="733044"/>
                </a:lnTo>
                <a:lnTo>
                  <a:pt x="74618" y="723442"/>
                </a:lnTo>
                <a:lnTo>
                  <a:pt x="35783" y="697260"/>
                </a:lnTo>
                <a:lnTo>
                  <a:pt x="9601" y="658425"/>
                </a:lnTo>
                <a:lnTo>
                  <a:pt x="0" y="610870"/>
                </a:lnTo>
                <a:lnTo>
                  <a:pt x="0" y="122174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91961" y="733805"/>
            <a:ext cx="2047239" cy="563880"/>
          </a:xfrm>
          <a:custGeom>
            <a:avLst/>
            <a:gdLst/>
            <a:ahLst/>
            <a:cxnLst/>
            <a:rect l="l" t="t" r="r" b="b"/>
            <a:pathLst>
              <a:path w="2047240" h="563880">
                <a:moveTo>
                  <a:pt x="0" y="0"/>
                </a:moveTo>
                <a:lnTo>
                  <a:pt x="1764791" y="0"/>
                </a:lnTo>
                <a:lnTo>
                  <a:pt x="2046732" y="281940"/>
                </a:lnTo>
                <a:lnTo>
                  <a:pt x="1764791" y="563880"/>
                </a:lnTo>
                <a:lnTo>
                  <a:pt x="0" y="563880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377933" y="724662"/>
            <a:ext cx="1932939" cy="551815"/>
          </a:xfrm>
          <a:custGeom>
            <a:avLst/>
            <a:gdLst/>
            <a:ahLst/>
            <a:cxnLst/>
            <a:rect l="l" t="t" r="r" b="b"/>
            <a:pathLst>
              <a:path w="1932940" h="551815">
                <a:moveTo>
                  <a:pt x="0" y="0"/>
                </a:moveTo>
                <a:lnTo>
                  <a:pt x="1656588" y="0"/>
                </a:lnTo>
                <a:lnTo>
                  <a:pt x="1932432" y="275843"/>
                </a:lnTo>
                <a:lnTo>
                  <a:pt x="1656588" y="551688"/>
                </a:lnTo>
                <a:lnTo>
                  <a:pt x="0" y="551688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3085" y="726948"/>
          <a:ext cx="11924665" cy="6130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6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9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8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7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5240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Doing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0" marB="0"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1023619" marR="832485" indent="2413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Refund Method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571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991869">
                        <a:lnSpc>
                          <a:spcPct val="100000"/>
                        </a:lnSpc>
                        <a:spcBef>
                          <a:spcPts val="11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Confirm</a:t>
                      </a:r>
                      <a:r>
                        <a:rPr sz="1800" spc="-7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Address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3970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1318260" algn="r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Done!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2573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8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2032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Thinking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97155" marB="0"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288290" marR="412115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want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refund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amount.</a:t>
                      </a:r>
                      <a:r>
                        <a:rPr sz="1600" spc="-6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It’s</a:t>
                      </a:r>
                      <a:r>
                        <a:rPr sz="1600" spc="-6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exactly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what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wanted.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Yay!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21399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595630" marR="748030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Sounds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good.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Looks</a:t>
                      </a:r>
                      <a:r>
                        <a:rPr sz="1600" spc="-4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like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the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process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is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finally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finishing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up?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20066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555625">
                        <a:lnSpc>
                          <a:spcPct val="100000"/>
                        </a:lnSpc>
                        <a:spcBef>
                          <a:spcPts val="168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Yay!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Finally</a:t>
                      </a:r>
                      <a:r>
                        <a:rPr sz="1600" spc="-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done!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Glad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</a:t>
                      </a:r>
                      <a:endParaRPr sz="1600">
                        <a:latin typeface="Roboto"/>
                        <a:cs typeface="Roboto"/>
                      </a:endParaRPr>
                    </a:p>
                    <a:p>
                      <a:pPr marL="555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was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able to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get it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done.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marL="0" marR="0" marT="21399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  <a:lnB w="28575">
                      <a:solidFill>
                        <a:srgbClr val="223166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R="12700" algn="ctr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Feeling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1905" marB="0"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3600" spc="-50" dirty="0">
                          <a:solidFill>
                            <a:srgbClr val="FB8018"/>
                          </a:solidFill>
                          <a:latin typeface="Segoe UI Emoji"/>
                          <a:cs typeface="Segoe UI Emoji"/>
                        </a:rPr>
                        <a:t>😁</a:t>
                      </a:r>
                      <a:endParaRPr sz="3600">
                        <a:latin typeface="Segoe UI Emoji"/>
                        <a:cs typeface="Segoe UI Emoji"/>
                      </a:endParaRPr>
                    </a:p>
                  </a:txBody>
                  <a:tcPr marL="0" marR="0" marT="107314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19494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3600" spc="-2495" dirty="0">
                          <a:solidFill>
                            <a:srgbClr val="FB8018"/>
                          </a:solidFill>
                          <a:latin typeface="Segoe UI Emoji"/>
                          <a:cs typeface="Segoe UI Emoji"/>
                        </a:rPr>
                        <a:t>☺️</a:t>
                      </a:r>
                      <a:endParaRPr sz="3600">
                        <a:latin typeface="Segoe UI Emoji"/>
                        <a:cs typeface="Segoe UI Emoj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tc>
                  <a:txBody>
                    <a:bodyPr/>
                    <a:lstStyle/>
                    <a:p>
                      <a:pPr marR="1344295" algn="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3600" spc="3979" dirty="0">
                          <a:solidFill>
                            <a:srgbClr val="FB8018"/>
                          </a:solidFill>
                          <a:latin typeface="Segoe UI Emoji"/>
                          <a:cs typeface="Segoe UI Emoji"/>
                        </a:rPr>
                        <a:t>🥳</a:t>
                      </a:r>
                      <a:endParaRPr sz="3600">
                        <a:latin typeface="Segoe UI Emoji"/>
                        <a:cs typeface="Segoe UI Emoji"/>
                      </a:endParaRPr>
                    </a:p>
                  </a:txBody>
                  <a:tcPr marL="0" marR="0" marT="93345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28575">
                      <a:solidFill>
                        <a:srgbClr val="223166"/>
                      </a:solidFill>
                      <a:prstDash val="lgDash"/>
                    </a:lnT>
                    <a:lnB w="6350">
                      <a:solidFill>
                        <a:srgbClr val="223166"/>
                      </a:solidFill>
                      <a:prstDash val="lgDash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2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590550" marR="410845" indent="-2000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Pain</a:t>
                      </a:r>
                      <a:r>
                        <a:rPr sz="1800" spc="-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Points</a:t>
                      </a:r>
                      <a:r>
                        <a:rPr sz="1800" spc="-1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800" spc="-5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&amp;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Solutions</a:t>
                      </a:r>
                      <a:endParaRPr sz="1800">
                        <a:latin typeface="Roboto"/>
                        <a:cs typeface="Roboto"/>
                      </a:endParaRPr>
                    </a:p>
                  </a:txBody>
                  <a:tcPr marL="0" marR="0" marT="35560" marB="0"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 marL="114935" marR="67310">
                        <a:lnSpc>
                          <a:spcPct val="100000"/>
                        </a:lnSpc>
                        <a:spcBef>
                          <a:spcPts val="73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Inconvenience</a:t>
                      </a:r>
                      <a:r>
                        <a:rPr sz="1400" b="1" spc="-6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–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have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to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enter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bank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details</a:t>
                      </a:r>
                      <a:r>
                        <a:rPr sz="1400" b="1" spc="-3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or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compromise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on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choice.</a:t>
                      </a:r>
                      <a:endParaRPr sz="1400">
                        <a:latin typeface="Roboto"/>
                        <a:cs typeface="Roboto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Inclusion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of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option</a:t>
                      </a:r>
                      <a:r>
                        <a:rPr sz="1400" spc="-2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“Refund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to</a:t>
                      </a:r>
                      <a:endParaRPr sz="1400">
                        <a:latin typeface="Roboto"/>
                        <a:cs typeface="Roboto"/>
                      </a:endParaRPr>
                    </a:p>
                    <a:p>
                      <a:pPr marL="114935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account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used</a:t>
                      </a:r>
                      <a:r>
                        <a:rPr sz="1400" spc="-2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for</a:t>
                      </a:r>
                      <a:r>
                        <a:rPr sz="1400" spc="-35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sz="1400" spc="-10" dirty="0">
                          <a:solidFill>
                            <a:srgbClr val="FFFFFF"/>
                          </a:solidFill>
                          <a:latin typeface="Roboto"/>
                          <a:cs typeface="Roboto"/>
                        </a:rPr>
                        <a:t>purchase”</a:t>
                      </a:r>
                      <a:endParaRPr sz="1400">
                        <a:latin typeface="Roboto"/>
                        <a:cs typeface="Roboto"/>
                      </a:endParaRPr>
                    </a:p>
                  </a:txBody>
                  <a:tcPr marL="0" marR="0" marT="9271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223166"/>
                      </a:solidFill>
                      <a:prstDash val="lgDash"/>
                    </a:lnL>
                    <a:lnR w="6350">
                      <a:solidFill>
                        <a:srgbClr val="223166"/>
                      </a:solidFill>
                      <a:prstDash val="lgDash"/>
                    </a:lnR>
                    <a:lnT w="6350">
                      <a:solidFill>
                        <a:srgbClr val="223166"/>
                      </a:solidFill>
                      <a:prstDash val="lgDash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37916" y="1377696"/>
            <a:ext cx="1005840" cy="223723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29528" y="1373124"/>
            <a:ext cx="1002792" cy="222808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28888" y="1421891"/>
            <a:ext cx="1130807" cy="2153412"/>
          </a:xfrm>
          <a:prstGeom prst="rect">
            <a:avLst/>
          </a:prstGeom>
        </p:spPr>
      </p:pic>
      <p:sp>
        <p:nvSpPr>
          <p:cNvPr id="23" name="object 23"/>
          <p:cNvSpPr/>
          <p:nvPr/>
        </p:nvSpPr>
        <p:spPr>
          <a:xfrm>
            <a:off x="9867900" y="2362200"/>
            <a:ext cx="731520" cy="365760"/>
          </a:xfrm>
          <a:custGeom>
            <a:avLst/>
            <a:gdLst/>
            <a:ahLst/>
            <a:cxnLst/>
            <a:rect l="l" t="t" r="r" b="b"/>
            <a:pathLst>
              <a:path w="731520" h="365760">
                <a:moveTo>
                  <a:pt x="420877" y="0"/>
                </a:moveTo>
                <a:lnTo>
                  <a:pt x="420877" y="91439"/>
                </a:lnTo>
                <a:lnTo>
                  <a:pt x="0" y="91439"/>
                </a:lnTo>
                <a:lnTo>
                  <a:pt x="0" y="274320"/>
                </a:lnTo>
                <a:lnTo>
                  <a:pt x="420877" y="274320"/>
                </a:lnTo>
                <a:lnTo>
                  <a:pt x="420877" y="365760"/>
                </a:lnTo>
                <a:lnTo>
                  <a:pt x="731520" y="182879"/>
                </a:lnTo>
                <a:lnTo>
                  <a:pt x="420877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9861550" y="1813560"/>
            <a:ext cx="1958975" cy="1183005"/>
            <a:chOff x="9861550" y="1813560"/>
            <a:chExt cx="1958975" cy="1183005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649712" y="1813560"/>
              <a:ext cx="1170431" cy="118262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867900" y="2362200"/>
              <a:ext cx="731520" cy="365760"/>
            </a:xfrm>
            <a:custGeom>
              <a:avLst/>
              <a:gdLst/>
              <a:ahLst/>
              <a:cxnLst/>
              <a:rect l="l" t="t" r="r" b="b"/>
              <a:pathLst>
                <a:path w="731520" h="365760">
                  <a:moveTo>
                    <a:pt x="0" y="91439"/>
                  </a:moveTo>
                  <a:lnTo>
                    <a:pt x="420877" y="91439"/>
                  </a:lnTo>
                  <a:lnTo>
                    <a:pt x="420877" y="0"/>
                  </a:lnTo>
                  <a:lnTo>
                    <a:pt x="731520" y="182879"/>
                  </a:lnTo>
                  <a:lnTo>
                    <a:pt x="420877" y="365760"/>
                  </a:lnTo>
                  <a:lnTo>
                    <a:pt x="420877" y="274320"/>
                  </a:lnTo>
                  <a:lnTo>
                    <a:pt x="0" y="274320"/>
                  </a:lnTo>
                  <a:lnTo>
                    <a:pt x="0" y="91439"/>
                  </a:lnTo>
                  <a:close/>
                </a:path>
              </a:pathLst>
            </a:custGeom>
            <a:ln w="12699">
              <a:solidFill>
                <a:srgbClr val="2E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8371" y="207263"/>
            <a:ext cx="1518793" cy="17830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146670" y="188087"/>
            <a:ext cx="2138045" cy="178435"/>
            <a:chOff x="7146670" y="188087"/>
            <a:chExt cx="2138045" cy="17843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7559" y="188087"/>
              <a:ext cx="2137155" cy="17830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146670" y="349504"/>
              <a:ext cx="2051685" cy="3175"/>
            </a:xfrm>
            <a:custGeom>
              <a:avLst/>
              <a:gdLst/>
              <a:ahLst/>
              <a:cxnLst/>
              <a:rect l="l" t="t" r="r" b="b"/>
              <a:pathLst>
                <a:path w="2051684" h="3175">
                  <a:moveTo>
                    <a:pt x="2051303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2051303" y="3048"/>
                  </a:lnTo>
                  <a:lnTo>
                    <a:pt x="2051303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13747" y="189611"/>
            <a:ext cx="982560" cy="17830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Why did Flipkart change its logo? - Quor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667"/>
            <a:ext cx="2082545" cy="63779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7210" y="1518920"/>
            <a:ext cx="5415280" cy="39503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b="1" dirty="0">
                <a:solidFill>
                  <a:srgbClr val="F6E03B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6E03B"/>
                </a:solidFill>
                <a:latin typeface="Calibri"/>
                <a:cs typeface="Calibri"/>
              </a:rPr>
              <a:t>Pros</a:t>
            </a:r>
            <a:endParaRPr sz="2400">
              <a:latin typeface="Calibri"/>
              <a:cs typeface="Calibri"/>
            </a:endParaRPr>
          </a:p>
          <a:p>
            <a:pPr marL="240029" marR="266065" indent="-227329">
              <a:lnSpc>
                <a:spcPct val="8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navigate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after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finding</a:t>
            </a:r>
            <a:r>
              <a:rPr sz="24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return 	button.</a:t>
            </a:r>
            <a:endParaRPr sz="2400">
              <a:latin typeface="Calibri"/>
              <a:cs typeface="Calibri"/>
            </a:endParaRPr>
          </a:p>
          <a:p>
            <a:pPr marL="240029" marR="29845" indent="-227329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T&amp;C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steps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clearly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stated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avoiding</a:t>
            </a:r>
            <a:r>
              <a:rPr sz="2400" spc="-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confusion.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Gift</a:t>
            </a:r>
            <a:r>
              <a:rPr sz="2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cards</a:t>
            </a:r>
            <a:r>
              <a:rPr sz="2400" spc="-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reduce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4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churn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rate.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30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comprehensive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list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reasons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return,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varies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depending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on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and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amount.</a:t>
            </a:r>
            <a:endParaRPr sz="2400">
              <a:latin typeface="Calibri"/>
              <a:cs typeface="Calibri"/>
            </a:endParaRPr>
          </a:p>
          <a:p>
            <a:pPr marL="240029" marR="1017269" indent="-227329">
              <a:lnSpc>
                <a:spcPts val="23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Overall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UI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aesthetic</a:t>
            </a:r>
            <a:r>
              <a:rPr sz="24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easy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to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understand.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75628" y="1518920"/>
            <a:ext cx="5589270" cy="453580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300"/>
              </a:spcBef>
            </a:pPr>
            <a:r>
              <a:rPr sz="2400" b="1" dirty="0">
                <a:solidFill>
                  <a:srgbClr val="F6E03B"/>
                </a:solidFill>
                <a:latin typeface="Calibri"/>
                <a:cs typeface="Calibri"/>
              </a:rPr>
              <a:t>The</a:t>
            </a:r>
            <a:r>
              <a:rPr sz="2400" b="1" spc="-55" dirty="0">
                <a:solidFill>
                  <a:srgbClr val="F6E03B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6E03B"/>
                </a:solidFill>
                <a:latin typeface="Calibri"/>
                <a:cs typeface="Calibri"/>
              </a:rPr>
              <a:t>Cons</a:t>
            </a:r>
            <a:endParaRPr sz="2400">
              <a:latin typeface="Calibri"/>
              <a:cs typeface="Calibri"/>
            </a:endParaRPr>
          </a:p>
          <a:p>
            <a:pPr marL="240029" marR="381000" indent="-227329">
              <a:lnSpc>
                <a:spcPct val="8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There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way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indicate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reason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not 	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found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given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options.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590"/>
              </a:lnSpc>
              <a:spcBef>
                <a:spcPts val="4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Customer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might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irritated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filing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305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return,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should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prompted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type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it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24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4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effort.</a:t>
            </a:r>
            <a:endParaRPr sz="2400">
              <a:latin typeface="Calibri"/>
              <a:cs typeface="Calibri"/>
            </a:endParaRPr>
          </a:p>
          <a:p>
            <a:pPr marL="240029" marR="499745" indent="-227329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return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button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intuitive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new 	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users.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595"/>
              </a:lnSpc>
              <a:spcBef>
                <a:spcPts val="4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option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transfer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original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595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purchase.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590"/>
              </a:lnSpc>
              <a:spcBef>
                <a:spcPts val="4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Ambiguity</a:t>
            </a:r>
            <a:r>
              <a:rPr sz="2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24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product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description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while</a:t>
            </a:r>
            <a:endParaRPr sz="2400">
              <a:latin typeface="Calibri"/>
              <a:cs typeface="Calibri"/>
            </a:endParaRPr>
          </a:p>
          <a:p>
            <a:pPr marL="241300" marR="5080">
              <a:lnSpc>
                <a:spcPts val="2300"/>
              </a:lnSpc>
              <a:spcBef>
                <a:spcPts val="270"/>
              </a:spcBef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specifying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much</a:t>
            </a:r>
            <a:r>
              <a:rPr sz="24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damage</a:t>
            </a:r>
            <a:r>
              <a:rPr sz="2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acceptable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FFFFFF"/>
                </a:solidFill>
                <a:latin typeface="Calibri"/>
                <a:cs typeface="Calibri"/>
              </a:rPr>
              <a:t> package.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4666" y="207263"/>
            <a:ext cx="834961" cy="17830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49546" y="197230"/>
            <a:ext cx="1142822" cy="17830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8371" y="207263"/>
            <a:ext cx="1518793" cy="17830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47559" y="188087"/>
            <a:ext cx="2014854" cy="17830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297034" y="188087"/>
            <a:ext cx="1042669" cy="178435"/>
            <a:chOff x="9297034" y="188087"/>
            <a:chExt cx="1042669" cy="178435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98177" y="188087"/>
              <a:ext cx="1041082" cy="17830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297034" y="349504"/>
              <a:ext cx="954405" cy="3175"/>
            </a:xfrm>
            <a:custGeom>
              <a:avLst/>
              <a:gdLst/>
              <a:ahLst/>
              <a:cxnLst/>
              <a:rect l="l" t="t" r="r" b="b"/>
              <a:pathLst>
                <a:path w="954404" h="3175">
                  <a:moveTo>
                    <a:pt x="954024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954024" y="3048"/>
                  </a:lnTo>
                  <a:lnTo>
                    <a:pt x="954024" y="0"/>
                  </a:lnTo>
                  <a:close/>
                </a:path>
              </a:pathLst>
            </a:custGeom>
            <a:solidFill>
              <a:srgbClr val="F6E0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0" y="726948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6350">
            <a:solidFill>
              <a:srgbClr val="F6E0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 descr="Why did Flipkart change its logo? - Quora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667"/>
            <a:ext cx="2082545" cy="637793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3443985" y="867536"/>
            <a:ext cx="4792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North</a:t>
            </a:r>
            <a:r>
              <a:rPr spc="-15" dirty="0"/>
              <a:t> </a:t>
            </a:r>
            <a:r>
              <a:rPr dirty="0"/>
              <a:t>Star</a:t>
            </a:r>
            <a:r>
              <a:rPr spc="-25" dirty="0"/>
              <a:t> </a:t>
            </a:r>
            <a:r>
              <a:rPr dirty="0"/>
              <a:t>Metric:</a:t>
            </a:r>
            <a:r>
              <a:rPr spc="-5" dirty="0"/>
              <a:t> </a:t>
            </a:r>
            <a:r>
              <a:rPr dirty="0">
                <a:solidFill>
                  <a:srgbClr val="FFFFFF"/>
                </a:solidFill>
              </a:rPr>
              <a:t>#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Net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completed </a:t>
            </a:r>
            <a:r>
              <a:rPr dirty="0">
                <a:solidFill>
                  <a:srgbClr val="FFFFFF"/>
                </a:solidFill>
              </a:rPr>
              <a:t>orders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per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day.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For</a:t>
            </a:r>
            <a:r>
              <a:rPr spc="-40" dirty="0"/>
              <a:t> </a:t>
            </a:r>
            <a:r>
              <a:rPr dirty="0"/>
              <a:t>returns</a:t>
            </a:r>
            <a:r>
              <a:rPr spc="-25" dirty="0"/>
              <a:t> </a:t>
            </a:r>
            <a:r>
              <a:rPr spc="-10" dirty="0"/>
              <a:t>feature:</a:t>
            </a: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Customer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Rate: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#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Units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returned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/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Total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#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units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delivered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successfully.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Customer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Exchange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Rate: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#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Units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exchanged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/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Total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#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units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delivered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successfully.</a:t>
            </a: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Return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Cancellation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Rate: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%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</a:t>
            </a:r>
            <a:r>
              <a:rPr spc="-5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cancellations.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%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Successful</a:t>
            </a:r>
            <a:r>
              <a:rPr spc="-4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Returns.</a:t>
            </a: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#Orders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returned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after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one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day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/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#Total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orders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returned.</a:t>
            </a: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#Orders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returned</a:t>
            </a:r>
            <a:r>
              <a:rPr spc="-1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after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one</a:t>
            </a:r>
            <a:r>
              <a:rPr spc="-1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week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/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#Total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orders</a:t>
            </a:r>
            <a:r>
              <a:rPr spc="-3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returned.</a:t>
            </a: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Total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time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taken</a:t>
            </a:r>
            <a:r>
              <a:rPr spc="-25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to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fulfil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Returns</a:t>
            </a: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Reason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split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returns</a:t>
            </a:r>
            <a:r>
              <a:rPr spc="-5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category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wise</a:t>
            </a:r>
          </a:p>
          <a:p>
            <a:pPr marL="299085" indent="-28638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>
                <a:solidFill>
                  <a:srgbClr val="FFFFFF"/>
                </a:solidFill>
              </a:rPr>
              <a:t>NPS</a:t>
            </a:r>
            <a:r>
              <a:rPr spc="-2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of</a:t>
            </a:r>
            <a:r>
              <a:rPr spc="-10" dirty="0">
                <a:solidFill>
                  <a:srgbClr val="FFFFFF"/>
                </a:solidFill>
              </a:rPr>
              <a:t> Returns.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864</Words>
  <Application>Microsoft Office PowerPoint</Application>
  <PresentationFormat>Widescreen</PresentationFormat>
  <Paragraphs>130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 MT</vt:lpstr>
      <vt:lpstr>Calibri</vt:lpstr>
      <vt:lpstr>Roboto</vt:lpstr>
      <vt:lpstr>Segoe UI Emoji</vt:lpstr>
      <vt:lpstr>Times New Roman</vt:lpstr>
      <vt:lpstr>Office Theme</vt:lpstr>
      <vt:lpstr>PowerPoint Presentation</vt:lpstr>
      <vt:lpstr>PowerPoint Presentation</vt:lpstr>
      <vt:lpstr>Return Overview: According to these data points, the most returned product type is clothing with a leading 88%.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North Star Metric: # Net completed orders per day.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Place an Order Feature</dc:title>
  <dc:creator>Mayank Kumar</dc:creator>
  <cp:lastModifiedBy>Mayank Kumar</cp:lastModifiedBy>
  <cp:revision>2</cp:revision>
  <dcterms:created xsi:type="dcterms:W3CDTF">2026-05-21T11:26:00Z</dcterms:created>
  <dcterms:modified xsi:type="dcterms:W3CDTF">2026-05-21T11:28:51Z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2022-12-23T00:00:00Z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2026-05-21T00:00:00Z</vt:filetime>
  </property>
  <property fmtid="{D5CDD505-2E9C-101B-9397-08002B2CF9AE}" pid="6" name="Producer">
    <vt:lpwstr>Microsoft® PowerPoint® for Microsoft 365</vt:lpwstr>
  </property>
</Properties>
</file>