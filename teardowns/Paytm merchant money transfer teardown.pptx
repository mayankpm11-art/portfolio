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000" b="0" i="0">
                <a:solidFill>
                  <a:schemeClr val="tx1"/>
                </a:solidFill>
                <a:latin typeface="Roboto"/>
                <a:cs typeface="Roboto"/>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800" b="0" i="0">
                <a:solidFill>
                  <a:srgbClr val="1F4E79"/>
                </a:solidFill>
                <a:latin typeface="Roboto"/>
                <a:cs typeface="Roboto"/>
              </a:defRPr>
            </a:lvl1pPr>
          </a:lstStyle>
          <a:p>
            <a:pPr marL="12700">
              <a:lnSpc>
                <a:spcPct val="100000"/>
              </a:lnSpc>
              <a:spcBef>
                <a:spcPts val="185"/>
              </a:spcBef>
            </a:pPr>
            <a:r>
              <a:rPr spc="-10" dirty="0"/>
              <a:t>Metrics</a:t>
            </a:r>
          </a:p>
        </p:txBody>
      </p:sp>
      <p:sp>
        <p:nvSpPr>
          <p:cNvPr id="5" name="Holder 5"/>
          <p:cNvSpPr>
            <a:spLocks noGrp="1"/>
          </p:cNvSpPr>
          <p:nvPr>
            <p:ph type="dt" sz="half" idx="6"/>
          </p:nvPr>
        </p:nvSpPr>
        <p:spPr/>
        <p:txBody>
          <a:bodyPr lIns="0" tIns="0" rIns="0" bIns="0"/>
          <a:lstStyle>
            <a:lvl1pPr>
              <a:defRPr sz="1800" b="0" i="0">
                <a:solidFill>
                  <a:srgbClr val="1F4E79"/>
                </a:solidFill>
                <a:latin typeface="Roboto"/>
                <a:cs typeface="Roboto"/>
              </a:defRPr>
            </a:lvl1pPr>
          </a:lstStyle>
          <a:p>
            <a:pPr marL="12700">
              <a:lnSpc>
                <a:spcPct val="100000"/>
              </a:lnSpc>
              <a:spcBef>
                <a:spcPts val="185"/>
              </a:spcBef>
            </a:pPr>
            <a:r>
              <a:rPr spc="-10" dirty="0"/>
              <a:t>Overview</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tx1"/>
                </a:solidFill>
                <a:latin typeface="Roboto"/>
                <a:cs typeface="Roboto"/>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800" b="0" i="0">
                <a:solidFill>
                  <a:srgbClr val="1F4E79"/>
                </a:solidFill>
                <a:latin typeface="Roboto"/>
                <a:cs typeface="Roboto"/>
              </a:defRPr>
            </a:lvl1pPr>
          </a:lstStyle>
          <a:p>
            <a:pPr marL="12700">
              <a:lnSpc>
                <a:spcPct val="100000"/>
              </a:lnSpc>
              <a:spcBef>
                <a:spcPts val="185"/>
              </a:spcBef>
            </a:pPr>
            <a:r>
              <a:rPr spc="-10" dirty="0"/>
              <a:t>Metrics</a:t>
            </a:r>
          </a:p>
        </p:txBody>
      </p:sp>
      <p:sp>
        <p:nvSpPr>
          <p:cNvPr id="5" name="Holder 5"/>
          <p:cNvSpPr>
            <a:spLocks noGrp="1"/>
          </p:cNvSpPr>
          <p:nvPr>
            <p:ph type="dt" sz="half" idx="6"/>
          </p:nvPr>
        </p:nvSpPr>
        <p:spPr/>
        <p:txBody>
          <a:bodyPr lIns="0" tIns="0" rIns="0" bIns="0"/>
          <a:lstStyle>
            <a:lvl1pPr>
              <a:defRPr sz="1800" b="0" i="0">
                <a:solidFill>
                  <a:srgbClr val="1F4E79"/>
                </a:solidFill>
                <a:latin typeface="Roboto"/>
                <a:cs typeface="Roboto"/>
              </a:defRPr>
            </a:lvl1pPr>
          </a:lstStyle>
          <a:p>
            <a:pPr marL="12700">
              <a:lnSpc>
                <a:spcPct val="100000"/>
              </a:lnSpc>
              <a:spcBef>
                <a:spcPts val="185"/>
              </a:spcBef>
            </a:pPr>
            <a:r>
              <a:rPr spc="-10" dirty="0"/>
              <a:t>Overview</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8000"/>
          </a:xfrm>
          <a:prstGeom prst="rect">
            <a:avLst/>
          </a:prstGeom>
        </p:spPr>
      </p:pic>
      <p:pic>
        <p:nvPicPr>
          <p:cNvPr id="17" name="bg object 17"/>
          <p:cNvPicPr/>
          <p:nvPr/>
        </p:nvPicPr>
        <p:blipFill>
          <a:blip r:embed="rId3" cstate="print"/>
          <a:stretch>
            <a:fillRect/>
          </a:stretch>
        </p:blipFill>
        <p:spPr>
          <a:xfrm>
            <a:off x="204215" y="6246874"/>
            <a:ext cx="1560575" cy="536448"/>
          </a:xfrm>
          <a:prstGeom prst="rect">
            <a:avLst/>
          </a:prstGeom>
        </p:spPr>
      </p:pic>
      <p:sp>
        <p:nvSpPr>
          <p:cNvPr id="2" name="Holder 2"/>
          <p:cNvSpPr>
            <a:spLocks noGrp="1"/>
          </p:cNvSpPr>
          <p:nvPr>
            <p:ph type="title"/>
          </p:nvPr>
        </p:nvSpPr>
        <p:spPr/>
        <p:txBody>
          <a:bodyPr lIns="0" tIns="0" rIns="0" bIns="0"/>
          <a:lstStyle>
            <a:lvl1pPr>
              <a:defRPr sz="2000" b="0" i="0">
                <a:solidFill>
                  <a:schemeClr val="tx1"/>
                </a:solidFill>
                <a:latin typeface="Roboto"/>
                <a:cs typeface="Roboto"/>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00" b="0" i="0">
                <a:solidFill>
                  <a:srgbClr val="1F4E79"/>
                </a:solidFill>
                <a:latin typeface="Roboto"/>
                <a:cs typeface="Roboto"/>
              </a:defRPr>
            </a:lvl1pPr>
          </a:lstStyle>
          <a:p>
            <a:pPr marL="12700">
              <a:lnSpc>
                <a:spcPct val="100000"/>
              </a:lnSpc>
              <a:spcBef>
                <a:spcPts val="185"/>
              </a:spcBef>
            </a:pPr>
            <a:r>
              <a:rPr spc="-10" dirty="0"/>
              <a:t>Metrics</a:t>
            </a:r>
          </a:p>
        </p:txBody>
      </p:sp>
      <p:sp>
        <p:nvSpPr>
          <p:cNvPr id="6" name="Holder 6"/>
          <p:cNvSpPr>
            <a:spLocks noGrp="1"/>
          </p:cNvSpPr>
          <p:nvPr>
            <p:ph type="dt" sz="half" idx="6"/>
          </p:nvPr>
        </p:nvSpPr>
        <p:spPr/>
        <p:txBody>
          <a:bodyPr lIns="0" tIns="0" rIns="0" bIns="0"/>
          <a:lstStyle>
            <a:lvl1pPr>
              <a:defRPr sz="1800" b="0" i="0">
                <a:solidFill>
                  <a:srgbClr val="1F4E79"/>
                </a:solidFill>
                <a:latin typeface="Roboto"/>
                <a:cs typeface="Roboto"/>
              </a:defRPr>
            </a:lvl1pPr>
          </a:lstStyle>
          <a:p>
            <a:pPr marL="12700">
              <a:lnSpc>
                <a:spcPct val="100000"/>
              </a:lnSpc>
              <a:spcBef>
                <a:spcPts val="185"/>
              </a:spcBef>
            </a:pPr>
            <a:r>
              <a:rPr spc="-10" dirty="0"/>
              <a:t>Overview</a:t>
            </a: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tx1"/>
                </a:solidFill>
                <a:latin typeface="Roboto"/>
                <a:cs typeface="Roboto"/>
              </a:defRPr>
            </a:lvl1pPr>
          </a:lstStyle>
          <a:p>
            <a:endParaRPr/>
          </a:p>
        </p:txBody>
      </p:sp>
      <p:sp>
        <p:nvSpPr>
          <p:cNvPr id="3" name="Holder 3"/>
          <p:cNvSpPr>
            <a:spLocks noGrp="1"/>
          </p:cNvSpPr>
          <p:nvPr>
            <p:ph type="ftr" sz="quarter" idx="5"/>
          </p:nvPr>
        </p:nvSpPr>
        <p:spPr/>
        <p:txBody>
          <a:bodyPr lIns="0" tIns="0" rIns="0" bIns="0"/>
          <a:lstStyle>
            <a:lvl1pPr>
              <a:defRPr sz="1800" b="0" i="0">
                <a:solidFill>
                  <a:srgbClr val="1F4E79"/>
                </a:solidFill>
                <a:latin typeface="Roboto"/>
                <a:cs typeface="Roboto"/>
              </a:defRPr>
            </a:lvl1pPr>
          </a:lstStyle>
          <a:p>
            <a:pPr marL="12700">
              <a:lnSpc>
                <a:spcPct val="100000"/>
              </a:lnSpc>
              <a:spcBef>
                <a:spcPts val="185"/>
              </a:spcBef>
            </a:pPr>
            <a:r>
              <a:rPr spc="-10" dirty="0"/>
              <a:t>Metrics</a:t>
            </a:r>
          </a:p>
        </p:txBody>
      </p:sp>
      <p:sp>
        <p:nvSpPr>
          <p:cNvPr id="4" name="Holder 4"/>
          <p:cNvSpPr>
            <a:spLocks noGrp="1"/>
          </p:cNvSpPr>
          <p:nvPr>
            <p:ph type="dt" sz="half" idx="6"/>
          </p:nvPr>
        </p:nvSpPr>
        <p:spPr/>
        <p:txBody>
          <a:bodyPr lIns="0" tIns="0" rIns="0" bIns="0"/>
          <a:lstStyle>
            <a:lvl1pPr>
              <a:defRPr sz="1800" b="0" i="0">
                <a:solidFill>
                  <a:srgbClr val="1F4E79"/>
                </a:solidFill>
                <a:latin typeface="Roboto"/>
                <a:cs typeface="Roboto"/>
              </a:defRPr>
            </a:lvl1pPr>
          </a:lstStyle>
          <a:p>
            <a:pPr marL="12700">
              <a:lnSpc>
                <a:spcPct val="100000"/>
              </a:lnSpc>
              <a:spcBef>
                <a:spcPts val="185"/>
              </a:spcBef>
            </a:pPr>
            <a:r>
              <a:rPr spc="-10" dirty="0"/>
              <a:t>Overview</a:t>
            </a: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800" b="0" i="0">
                <a:solidFill>
                  <a:srgbClr val="1F4E79"/>
                </a:solidFill>
                <a:latin typeface="Roboto"/>
                <a:cs typeface="Roboto"/>
              </a:defRPr>
            </a:lvl1pPr>
          </a:lstStyle>
          <a:p>
            <a:pPr marL="12700">
              <a:lnSpc>
                <a:spcPct val="100000"/>
              </a:lnSpc>
              <a:spcBef>
                <a:spcPts val="185"/>
              </a:spcBef>
            </a:pPr>
            <a:r>
              <a:rPr spc="-10" dirty="0"/>
              <a:t>Metrics</a:t>
            </a:r>
          </a:p>
        </p:txBody>
      </p:sp>
      <p:sp>
        <p:nvSpPr>
          <p:cNvPr id="3" name="Holder 3"/>
          <p:cNvSpPr>
            <a:spLocks noGrp="1"/>
          </p:cNvSpPr>
          <p:nvPr>
            <p:ph type="dt" sz="half" idx="6"/>
          </p:nvPr>
        </p:nvSpPr>
        <p:spPr/>
        <p:txBody>
          <a:bodyPr lIns="0" tIns="0" rIns="0" bIns="0"/>
          <a:lstStyle>
            <a:lvl1pPr>
              <a:defRPr sz="1800" b="0" i="0">
                <a:solidFill>
                  <a:srgbClr val="1F4E79"/>
                </a:solidFill>
                <a:latin typeface="Roboto"/>
                <a:cs typeface="Roboto"/>
              </a:defRPr>
            </a:lvl1pPr>
          </a:lstStyle>
          <a:p>
            <a:pPr marL="12700">
              <a:lnSpc>
                <a:spcPct val="100000"/>
              </a:lnSpc>
              <a:spcBef>
                <a:spcPts val="185"/>
              </a:spcBef>
            </a:pPr>
            <a:r>
              <a:rPr spc="-10" dirty="0"/>
              <a:t>Overview</a:t>
            </a: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2000" cy="6858000"/>
          </a:xfrm>
          <a:prstGeom prst="rect">
            <a:avLst/>
          </a:prstGeom>
        </p:spPr>
      </p:pic>
      <p:sp>
        <p:nvSpPr>
          <p:cNvPr id="2" name="Holder 2"/>
          <p:cNvSpPr>
            <a:spLocks noGrp="1"/>
          </p:cNvSpPr>
          <p:nvPr>
            <p:ph type="title"/>
          </p:nvPr>
        </p:nvSpPr>
        <p:spPr>
          <a:xfrm>
            <a:off x="916939" y="835532"/>
            <a:ext cx="4686935" cy="330834"/>
          </a:xfrm>
          <a:prstGeom prst="rect">
            <a:avLst/>
          </a:prstGeom>
        </p:spPr>
        <p:txBody>
          <a:bodyPr wrap="square" lIns="0" tIns="0" rIns="0" bIns="0">
            <a:spAutoFit/>
          </a:bodyPr>
          <a:lstStyle>
            <a:lvl1pPr>
              <a:defRPr sz="2000" b="0" i="0">
                <a:solidFill>
                  <a:schemeClr val="tx1"/>
                </a:solidFill>
                <a:latin typeface="Roboto"/>
                <a:cs typeface="Roboto"/>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9387078" y="6343937"/>
            <a:ext cx="803275" cy="327025"/>
          </a:xfrm>
          <a:prstGeom prst="rect">
            <a:avLst/>
          </a:prstGeom>
        </p:spPr>
        <p:txBody>
          <a:bodyPr wrap="square" lIns="0" tIns="0" rIns="0" bIns="0">
            <a:spAutoFit/>
          </a:bodyPr>
          <a:lstStyle>
            <a:lvl1pPr>
              <a:defRPr sz="1800" b="0" i="0">
                <a:solidFill>
                  <a:srgbClr val="1F4E79"/>
                </a:solidFill>
                <a:latin typeface="Roboto"/>
                <a:cs typeface="Roboto"/>
              </a:defRPr>
            </a:lvl1pPr>
          </a:lstStyle>
          <a:p>
            <a:pPr marL="12700">
              <a:lnSpc>
                <a:spcPct val="100000"/>
              </a:lnSpc>
              <a:spcBef>
                <a:spcPts val="185"/>
              </a:spcBef>
            </a:pPr>
            <a:r>
              <a:rPr spc="-10" dirty="0"/>
              <a:t>Metrics</a:t>
            </a:r>
          </a:p>
        </p:txBody>
      </p:sp>
      <p:sp>
        <p:nvSpPr>
          <p:cNvPr id="5" name="Holder 5"/>
          <p:cNvSpPr>
            <a:spLocks noGrp="1"/>
          </p:cNvSpPr>
          <p:nvPr>
            <p:ph type="dt" sz="half" idx="6"/>
          </p:nvPr>
        </p:nvSpPr>
        <p:spPr>
          <a:xfrm>
            <a:off x="2376677" y="6343328"/>
            <a:ext cx="959485" cy="327025"/>
          </a:xfrm>
          <a:prstGeom prst="rect">
            <a:avLst/>
          </a:prstGeom>
        </p:spPr>
        <p:txBody>
          <a:bodyPr wrap="square" lIns="0" tIns="0" rIns="0" bIns="0">
            <a:spAutoFit/>
          </a:bodyPr>
          <a:lstStyle>
            <a:lvl1pPr>
              <a:defRPr sz="1800" b="0" i="0">
                <a:solidFill>
                  <a:srgbClr val="1F4E79"/>
                </a:solidFill>
                <a:latin typeface="Roboto"/>
                <a:cs typeface="Roboto"/>
              </a:defRPr>
            </a:lvl1pPr>
          </a:lstStyle>
          <a:p>
            <a:pPr marL="12700">
              <a:lnSpc>
                <a:spcPct val="100000"/>
              </a:lnSpc>
              <a:spcBef>
                <a:spcPts val="185"/>
              </a:spcBef>
            </a:pPr>
            <a:r>
              <a:rPr spc="-10" dirty="0"/>
              <a:t>Overview</a:t>
            </a:r>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5.xml"/><Relationship Id="rId6" Type="http://schemas.openxmlformats.org/officeDocument/2006/relationships/image" Target="../media/image6.jpg"/><Relationship Id="rId5" Type="http://schemas.openxmlformats.org/officeDocument/2006/relationships/image" Target="../media/image2.pn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2.png"/><Relationship Id="rId1" Type="http://schemas.openxmlformats.org/officeDocument/2006/relationships/slideLayout" Target="../slideLayouts/slideLayout5.xml"/><Relationship Id="rId5" Type="http://schemas.openxmlformats.org/officeDocument/2006/relationships/image" Target="../media/image11.jpg"/><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2.png"/><Relationship Id="rId1" Type="http://schemas.openxmlformats.org/officeDocument/2006/relationships/slideLayout" Target="../slideLayouts/slideLayout5.xml"/><Relationship Id="rId6" Type="http://schemas.openxmlformats.org/officeDocument/2006/relationships/image" Target="../media/image15.jpg"/><Relationship Id="rId5" Type="http://schemas.openxmlformats.org/officeDocument/2006/relationships/image" Target="../media/image14.png"/><Relationship Id="rId4" Type="http://schemas.openxmlformats.org/officeDocument/2006/relationships/image" Target="../media/image13.jpg"/></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5473635" y="2872994"/>
            <a:ext cx="5187315" cy="497332"/>
          </a:xfrm>
          <a:prstGeom prst="rect">
            <a:avLst/>
          </a:prstGeom>
        </p:spPr>
        <p:txBody>
          <a:bodyPr vert="horz" wrap="square" lIns="0" tIns="12065" rIns="0" bIns="0" rtlCol="0">
            <a:spAutoFit/>
          </a:bodyPr>
          <a:lstStyle/>
          <a:p>
            <a:pPr marL="12700">
              <a:lnSpc>
                <a:spcPct val="100000"/>
              </a:lnSpc>
              <a:spcBef>
                <a:spcPts val="95"/>
              </a:spcBef>
            </a:pPr>
            <a:r>
              <a:rPr sz="2800" spc="-10" dirty="0">
                <a:solidFill>
                  <a:srgbClr val="1F4E79"/>
                </a:solidFill>
                <a:latin typeface="Roboto"/>
                <a:cs typeface="Roboto"/>
              </a:rPr>
              <a:t>Transferring</a:t>
            </a:r>
            <a:r>
              <a:rPr sz="2800" spc="-25" dirty="0">
                <a:solidFill>
                  <a:srgbClr val="1F4E79"/>
                </a:solidFill>
                <a:latin typeface="Roboto"/>
                <a:cs typeface="Roboto"/>
              </a:rPr>
              <a:t> </a:t>
            </a:r>
            <a:r>
              <a:rPr sz="2800" dirty="0">
                <a:solidFill>
                  <a:srgbClr val="1F4E79"/>
                </a:solidFill>
                <a:latin typeface="Roboto"/>
                <a:cs typeface="Roboto"/>
              </a:rPr>
              <a:t>money</a:t>
            </a:r>
            <a:r>
              <a:rPr sz="2800" spc="-20" dirty="0">
                <a:solidFill>
                  <a:srgbClr val="1F4E79"/>
                </a:solidFill>
                <a:latin typeface="Roboto"/>
                <a:cs typeface="Roboto"/>
              </a:rPr>
              <a:t> </a:t>
            </a:r>
            <a:r>
              <a:rPr sz="2800" dirty="0">
                <a:solidFill>
                  <a:srgbClr val="1F4E79"/>
                </a:solidFill>
                <a:latin typeface="Roboto"/>
                <a:cs typeface="Roboto"/>
              </a:rPr>
              <a:t>to</a:t>
            </a:r>
            <a:r>
              <a:rPr sz="2800" spc="-25" dirty="0">
                <a:solidFill>
                  <a:srgbClr val="1F4E79"/>
                </a:solidFill>
                <a:latin typeface="Roboto"/>
                <a:cs typeface="Roboto"/>
              </a:rPr>
              <a:t> </a:t>
            </a:r>
            <a:r>
              <a:rPr sz="2800" spc="-10" dirty="0">
                <a:solidFill>
                  <a:srgbClr val="1F4E79"/>
                </a:solidFill>
                <a:latin typeface="Roboto"/>
                <a:cs typeface="Roboto"/>
              </a:rPr>
              <a:t>Merchant</a:t>
            </a:r>
            <a:endParaRPr sz="2800" dirty="0">
              <a:latin typeface="Roboto"/>
              <a:cs typeface="Roboto"/>
            </a:endParaRPr>
          </a:p>
        </p:txBody>
      </p:sp>
      <p:sp>
        <p:nvSpPr>
          <p:cNvPr id="7" name="object 7"/>
          <p:cNvSpPr txBox="1"/>
          <p:nvPr/>
        </p:nvSpPr>
        <p:spPr>
          <a:xfrm>
            <a:off x="5510506" y="3218355"/>
            <a:ext cx="2123695" cy="294423"/>
          </a:xfrm>
          <a:prstGeom prst="rect">
            <a:avLst/>
          </a:prstGeom>
        </p:spPr>
        <p:txBody>
          <a:bodyPr vert="horz" wrap="square" lIns="0" tIns="12700" rIns="0" bIns="0" rtlCol="0">
            <a:spAutoFit/>
          </a:bodyPr>
          <a:lstStyle/>
          <a:p>
            <a:pPr marL="473709" marR="5080" indent="-461645">
              <a:lnSpc>
                <a:spcPct val="121200"/>
              </a:lnSpc>
              <a:spcBef>
                <a:spcPts val="100"/>
              </a:spcBef>
            </a:pPr>
            <a:r>
              <a:rPr sz="2000" dirty="0">
                <a:solidFill>
                  <a:srgbClr val="1F4E79"/>
                </a:solidFill>
                <a:latin typeface="Roboto"/>
                <a:cs typeface="Roboto"/>
              </a:rPr>
              <a:t>Product</a:t>
            </a:r>
            <a:r>
              <a:rPr sz="2000" spc="-75" dirty="0">
                <a:solidFill>
                  <a:srgbClr val="1F4E79"/>
                </a:solidFill>
                <a:latin typeface="Roboto"/>
                <a:cs typeface="Roboto"/>
              </a:rPr>
              <a:t> </a:t>
            </a:r>
            <a:r>
              <a:rPr sz="2000" dirty="0">
                <a:solidFill>
                  <a:srgbClr val="1F4E79"/>
                </a:solidFill>
                <a:latin typeface="Roboto"/>
                <a:cs typeface="Roboto"/>
              </a:rPr>
              <a:t>Teardown</a:t>
            </a:r>
            <a:r>
              <a:rPr sz="2000" spc="-60" dirty="0">
                <a:solidFill>
                  <a:srgbClr val="1F4E79"/>
                </a:solidFill>
                <a:latin typeface="Roboto"/>
                <a:cs typeface="Roboto"/>
              </a:rPr>
              <a:t> </a:t>
            </a:r>
            <a:endParaRPr sz="2000" dirty="0">
              <a:latin typeface="Roboto"/>
              <a:cs typeface="Roboto"/>
            </a:endParaRPr>
          </a:p>
        </p:txBody>
      </p:sp>
      <p:pic>
        <p:nvPicPr>
          <p:cNvPr id="8" name="object 8" descr="Download Paytm Logo in SVG Vector or PNG File Format - Logo.wine"/>
          <p:cNvPicPr/>
          <p:nvPr/>
        </p:nvPicPr>
        <p:blipFill>
          <a:blip r:embed="rId2" cstate="print"/>
          <a:stretch>
            <a:fillRect/>
          </a:stretch>
        </p:blipFill>
        <p:spPr>
          <a:xfrm>
            <a:off x="2895600" y="2771390"/>
            <a:ext cx="2420111" cy="832103"/>
          </a:xfrm>
          <a:prstGeom prst="rect">
            <a:avLst/>
          </a:prstGeom>
        </p:spPr>
      </p:pic>
      <p:grpSp>
        <p:nvGrpSpPr>
          <p:cNvPr id="13" name="Group 12">
            <a:extLst>
              <a:ext uri="{FF2B5EF4-FFF2-40B4-BE49-F238E27FC236}">
                <a16:creationId xmlns:a16="http://schemas.microsoft.com/office/drawing/2014/main" id="{9EED33F3-432A-7809-F870-5B9D279FE33B}"/>
              </a:ext>
            </a:extLst>
          </p:cNvPr>
          <p:cNvGrpSpPr/>
          <p:nvPr/>
        </p:nvGrpSpPr>
        <p:grpSpPr>
          <a:xfrm>
            <a:off x="10287000" y="6019800"/>
            <a:ext cx="1666239" cy="414020"/>
            <a:chOff x="9963657" y="248158"/>
            <a:chExt cx="1666239" cy="414020"/>
          </a:xfrm>
        </p:grpSpPr>
        <p:grpSp>
          <p:nvGrpSpPr>
            <p:cNvPr id="9" name="object 9"/>
            <p:cNvGrpSpPr/>
            <p:nvPr/>
          </p:nvGrpSpPr>
          <p:grpSpPr>
            <a:xfrm>
              <a:off x="9963657" y="248158"/>
              <a:ext cx="1666239" cy="414020"/>
              <a:chOff x="9963657" y="248158"/>
              <a:chExt cx="1666239" cy="414020"/>
            </a:xfrm>
          </p:grpSpPr>
          <p:sp>
            <p:nvSpPr>
              <p:cNvPr id="10" name="object 10"/>
              <p:cNvSpPr/>
              <p:nvPr/>
            </p:nvSpPr>
            <p:spPr>
              <a:xfrm>
                <a:off x="9970007" y="254508"/>
                <a:ext cx="1653539" cy="401320"/>
              </a:xfrm>
              <a:custGeom>
                <a:avLst/>
                <a:gdLst/>
                <a:ahLst/>
                <a:cxnLst/>
                <a:rect l="l" t="t" r="r" b="b"/>
                <a:pathLst>
                  <a:path w="1653540" h="401320">
                    <a:moveTo>
                      <a:pt x="1387475" y="0"/>
                    </a:moveTo>
                    <a:lnTo>
                      <a:pt x="266065" y="0"/>
                    </a:lnTo>
                    <a:lnTo>
                      <a:pt x="212444" y="4068"/>
                    </a:lnTo>
                    <a:lnTo>
                      <a:pt x="162502" y="15740"/>
                    </a:lnTo>
                    <a:lnTo>
                      <a:pt x="117307" y="34209"/>
                    </a:lnTo>
                    <a:lnTo>
                      <a:pt x="77930" y="58674"/>
                    </a:lnTo>
                    <a:lnTo>
                      <a:pt x="45440" y="88329"/>
                    </a:lnTo>
                    <a:lnTo>
                      <a:pt x="20909" y="122372"/>
                    </a:lnTo>
                    <a:lnTo>
                      <a:pt x="5405" y="159999"/>
                    </a:lnTo>
                    <a:lnTo>
                      <a:pt x="0" y="200406"/>
                    </a:lnTo>
                    <a:lnTo>
                      <a:pt x="5405" y="240812"/>
                    </a:lnTo>
                    <a:lnTo>
                      <a:pt x="20909" y="278439"/>
                    </a:lnTo>
                    <a:lnTo>
                      <a:pt x="45440" y="312482"/>
                    </a:lnTo>
                    <a:lnTo>
                      <a:pt x="77930" y="342138"/>
                    </a:lnTo>
                    <a:lnTo>
                      <a:pt x="117307" y="366602"/>
                    </a:lnTo>
                    <a:lnTo>
                      <a:pt x="162502" y="385071"/>
                    </a:lnTo>
                    <a:lnTo>
                      <a:pt x="212444" y="396743"/>
                    </a:lnTo>
                    <a:lnTo>
                      <a:pt x="266065" y="400812"/>
                    </a:lnTo>
                    <a:lnTo>
                      <a:pt x="1387475" y="400812"/>
                    </a:lnTo>
                    <a:lnTo>
                      <a:pt x="1441095" y="396743"/>
                    </a:lnTo>
                    <a:lnTo>
                      <a:pt x="1491037" y="385071"/>
                    </a:lnTo>
                    <a:lnTo>
                      <a:pt x="1536232" y="366602"/>
                    </a:lnTo>
                    <a:lnTo>
                      <a:pt x="1575609" y="342138"/>
                    </a:lnTo>
                    <a:lnTo>
                      <a:pt x="1608099" y="312482"/>
                    </a:lnTo>
                    <a:lnTo>
                      <a:pt x="1632630" y="278439"/>
                    </a:lnTo>
                    <a:lnTo>
                      <a:pt x="1648134" y="240812"/>
                    </a:lnTo>
                    <a:lnTo>
                      <a:pt x="1653540" y="200406"/>
                    </a:lnTo>
                    <a:lnTo>
                      <a:pt x="1648134" y="159999"/>
                    </a:lnTo>
                    <a:lnTo>
                      <a:pt x="1632630" y="122372"/>
                    </a:lnTo>
                    <a:lnTo>
                      <a:pt x="1608099" y="88329"/>
                    </a:lnTo>
                    <a:lnTo>
                      <a:pt x="1575609" y="58674"/>
                    </a:lnTo>
                    <a:lnTo>
                      <a:pt x="1536232" y="34209"/>
                    </a:lnTo>
                    <a:lnTo>
                      <a:pt x="1491037" y="15740"/>
                    </a:lnTo>
                    <a:lnTo>
                      <a:pt x="1441095" y="4068"/>
                    </a:lnTo>
                    <a:lnTo>
                      <a:pt x="1387475" y="0"/>
                    </a:lnTo>
                    <a:close/>
                  </a:path>
                </a:pathLst>
              </a:custGeom>
              <a:solidFill>
                <a:srgbClr val="223166"/>
              </a:solidFill>
            </p:spPr>
            <p:txBody>
              <a:bodyPr wrap="square" lIns="0" tIns="0" rIns="0" bIns="0" rtlCol="0"/>
              <a:lstStyle/>
              <a:p>
                <a:endParaRPr/>
              </a:p>
            </p:txBody>
          </p:sp>
          <p:sp>
            <p:nvSpPr>
              <p:cNvPr id="11" name="object 11"/>
              <p:cNvSpPr/>
              <p:nvPr/>
            </p:nvSpPr>
            <p:spPr>
              <a:xfrm>
                <a:off x="9970007" y="254508"/>
                <a:ext cx="1653539" cy="401320"/>
              </a:xfrm>
              <a:custGeom>
                <a:avLst/>
                <a:gdLst/>
                <a:ahLst/>
                <a:cxnLst/>
                <a:rect l="l" t="t" r="r" b="b"/>
                <a:pathLst>
                  <a:path w="1653540" h="401320">
                    <a:moveTo>
                      <a:pt x="266065" y="0"/>
                    </a:moveTo>
                    <a:lnTo>
                      <a:pt x="1387475" y="0"/>
                    </a:lnTo>
                    <a:lnTo>
                      <a:pt x="1441095" y="4068"/>
                    </a:lnTo>
                    <a:lnTo>
                      <a:pt x="1491037" y="15740"/>
                    </a:lnTo>
                    <a:lnTo>
                      <a:pt x="1536232" y="34209"/>
                    </a:lnTo>
                    <a:lnTo>
                      <a:pt x="1575609" y="58674"/>
                    </a:lnTo>
                    <a:lnTo>
                      <a:pt x="1608099" y="88329"/>
                    </a:lnTo>
                    <a:lnTo>
                      <a:pt x="1632630" y="122372"/>
                    </a:lnTo>
                    <a:lnTo>
                      <a:pt x="1648134" y="159999"/>
                    </a:lnTo>
                    <a:lnTo>
                      <a:pt x="1653540" y="200406"/>
                    </a:lnTo>
                    <a:lnTo>
                      <a:pt x="1648134" y="240812"/>
                    </a:lnTo>
                    <a:lnTo>
                      <a:pt x="1632630" y="278439"/>
                    </a:lnTo>
                    <a:lnTo>
                      <a:pt x="1608099" y="312482"/>
                    </a:lnTo>
                    <a:lnTo>
                      <a:pt x="1575609" y="342138"/>
                    </a:lnTo>
                    <a:lnTo>
                      <a:pt x="1536232" y="366602"/>
                    </a:lnTo>
                    <a:lnTo>
                      <a:pt x="1491037" y="385071"/>
                    </a:lnTo>
                    <a:lnTo>
                      <a:pt x="1441095" y="396743"/>
                    </a:lnTo>
                    <a:lnTo>
                      <a:pt x="1387475" y="400812"/>
                    </a:lnTo>
                    <a:lnTo>
                      <a:pt x="266065" y="400812"/>
                    </a:lnTo>
                    <a:lnTo>
                      <a:pt x="212444" y="396743"/>
                    </a:lnTo>
                    <a:lnTo>
                      <a:pt x="162502" y="385071"/>
                    </a:lnTo>
                    <a:lnTo>
                      <a:pt x="117307" y="366602"/>
                    </a:lnTo>
                    <a:lnTo>
                      <a:pt x="77930" y="342138"/>
                    </a:lnTo>
                    <a:lnTo>
                      <a:pt x="45440" y="312482"/>
                    </a:lnTo>
                    <a:lnTo>
                      <a:pt x="20909" y="278439"/>
                    </a:lnTo>
                    <a:lnTo>
                      <a:pt x="5405" y="240812"/>
                    </a:lnTo>
                    <a:lnTo>
                      <a:pt x="0" y="200406"/>
                    </a:lnTo>
                    <a:lnTo>
                      <a:pt x="5405" y="159999"/>
                    </a:lnTo>
                    <a:lnTo>
                      <a:pt x="20909" y="122372"/>
                    </a:lnTo>
                    <a:lnTo>
                      <a:pt x="45440" y="88329"/>
                    </a:lnTo>
                    <a:lnTo>
                      <a:pt x="77930" y="58674"/>
                    </a:lnTo>
                    <a:lnTo>
                      <a:pt x="117307" y="34209"/>
                    </a:lnTo>
                    <a:lnTo>
                      <a:pt x="162502" y="15740"/>
                    </a:lnTo>
                    <a:lnTo>
                      <a:pt x="212444" y="4068"/>
                    </a:lnTo>
                    <a:lnTo>
                      <a:pt x="266065" y="0"/>
                    </a:lnTo>
                    <a:close/>
                  </a:path>
                </a:pathLst>
              </a:custGeom>
              <a:ln w="12700">
                <a:solidFill>
                  <a:srgbClr val="2E528F"/>
                </a:solidFill>
              </a:ln>
            </p:spPr>
            <p:txBody>
              <a:bodyPr wrap="square" lIns="0" tIns="0" rIns="0" bIns="0" rtlCol="0"/>
              <a:lstStyle/>
              <a:p>
                <a:endParaRPr/>
              </a:p>
            </p:txBody>
          </p:sp>
        </p:grpSp>
        <p:sp>
          <p:nvSpPr>
            <p:cNvPr id="12" name="object 12"/>
            <p:cNvSpPr txBox="1"/>
            <p:nvPr/>
          </p:nvSpPr>
          <p:spPr>
            <a:xfrm>
              <a:off x="10188067" y="331030"/>
              <a:ext cx="1216025" cy="188121"/>
            </a:xfrm>
            <a:prstGeom prst="rect">
              <a:avLst/>
            </a:prstGeom>
          </p:spPr>
          <p:txBody>
            <a:bodyPr vert="horz" wrap="square" lIns="0" tIns="12065" rIns="0" bIns="0" rtlCol="0">
              <a:spAutoFit/>
            </a:bodyPr>
            <a:lstStyle/>
            <a:p>
              <a:pPr marL="12700">
                <a:lnSpc>
                  <a:spcPct val="100000"/>
                </a:lnSpc>
                <a:spcBef>
                  <a:spcPts val="95"/>
                </a:spcBef>
              </a:pPr>
              <a:r>
                <a:rPr lang="en-US" sz="1400" dirty="0">
                  <a:solidFill>
                    <a:schemeClr val="bg1"/>
                  </a:solidFill>
                  <a:latin typeface="Roboto"/>
                  <a:cs typeface="Roboto"/>
                </a:rPr>
                <a:t>Mayank Kumar</a:t>
              </a:r>
              <a:endParaRPr sz="1600" dirty="0">
                <a:solidFill>
                  <a:schemeClr val="bg1"/>
                </a:solidFill>
                <a:latin typeface="Roboto"/>
                <a:cs typeface="Roboto"/>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096000" y="4226052"/>
            <a:ext cx="2849880" cy="774700"/>
            <a:chOff x="6096000" y="4226052"/>
            <a:chExt cx="2849880" cy="774700"/>
          </a:xfrm>
        </p:grpSpPr>
        <p:pic>
          <p:nvPicPr>
            <p:cNvPr id="3" name="object 3" descr="Google Pay - Learn What the Google Pay App Is &amp; How To Use It"/>
            <p:cNvPicPr/>
            <p:nvPr/>
          </p:nvPicPr>
          <p:blipFill>
            <a:blip r:embed="rId2" cstate="print"/>
            <a:stretch>
              <a:fillRect/>
            </a:stretch>
          </p:blipFill>
          <p:spPr>
            <a:xfrm>
              <a:off x="6696455" y="4226052"/>
              <a:ext cx="1319783" cy="766572"/>
            </a:xfrm>
            <a:prstGeom prst="rect">
              <a:avLst/>
            </a:prstGeom>
          </p:spPr>
        </p:pic>
        <p:pic>
          <p:nvPicPr>
            <p:cNvPr id="4" name="object 4" descr="PhonePe Logo icon PNG and SVG Vector Free Download"/>
            <p:cNvPicPr/>
            <p:nvPr/>
          </p:nvPicPr>
          <p:blipFill>
            <a:blip r:embed="rId3" cstate="print"/>
            <a:stretch>
              <a:fillRect/>
            </a:stretch>
          </p:blipFill>
          <p:spPr>
            <a:xfrm>
              <a:off x="6096000" y="4236720"/>
              <a:ext cx="762000" cy="763524"/>
            </a:xfrm>
            <a:prstGeom prst="rect">
              <a:avLst/>
            </a:prstGeom>
          </p:spPr>
        </p:pic>
        <p:pic>
          <p:nvPicPr>
            <p:cNvPr id="5" name="object 5" descr="Download Amazon Pay Logo in SVG Vector or PNG File Format - Logo.wine"/>
            <p:cNvPicPr/>
            <p:nvPr/>
          </p:nvPicPr>
          <p:blipFill>
            <a:blip r:embed="rId4" cstate="print"/>
            <a:stretch>
              <a:fillRect/>
            </a:stretch>
          </p:blipFill>
          <p:spPr>
            <a:xfrm>
              <a:off x="7793735" y="4226052"/>
              <a:ext cx="1152144" cy="766572"/>
            </a:xfrm>
            <a:prstGeom prst="rect">
              <a:avLst/>
            </a:prstGeom>
          </p:spPr>
        </p:pic>
      </p:grpSp>
      <p:pic>
        <p:nvPicPr>
          <p:cNvPr id="6" name="object 6" descr="Download Paytm Logo in SVG Vector or PNG File Format - Logo.wine"/>
          <p:cNvPicPr/>
          <p:nvPr/>
        </p:nvPicPr>
        <p:blipFill>
          <a:blip r:embed="rId5" cstate="print"/>
          <a:stretch>
            <a:fillRect/>
          </a:stretch>
        </p:blipFill>
        <p:spPr>
          <a:xfrm>
            <a:off x="204215" y="6246874"/>
            <a:ext cx="1560575" cy="536448"/>
          </a:xfrm>
          <a:prstGeom prst="rect">
            <a:avLst/>
          </a:prstGeom>
        </p:spPr>
      </p:pic>
      <p:sp>
        <p:nvSpPr>
          <p:cNvPr id="7" name="object 7"/>
          <p:cNvSpPr txBox="1"/>
          <p:nvPr/>
        </p:nvSpPr>
        <p:spPr>
          <a:xfrm>
            <a:off x="677976" y="469468"/>
            <a:ext cx="4984750" cy="1474470"/>
          </a:xfrm>
          <a:prstGeom prst="rect">
            <a:avLst/>
          </a:prstGeom>
        </p:spPr>
        <p:txBody>
          <a:bodyPr vert="horz" wrap="square" lIns="0" tIns="12700" rIns="0" bIns="0" rtlCol="0">
            <a:spAutoFit/>
          </a:bodyPr>
          <a:lstStyle/>
          <a:p>
            <a:pPr marL="12700" marR="107950">
              <a:lnSpc>
                <a:spcPct val="100000"/>
              </a:lnSpc>
              <a:spcBef>
                <a:spcPts val="100"/>
              </a:spcBef>
            </a:pPr>
            <a:r>
              <a:rPr sz="1800" dirty="0">
                <a:solidFill>
                  <a:srgbClr val="1F4E79"/>
                </a:solidFill>
                <a:latin typeface="Roboto"/>
                <a:cs typeface="Roboto"/>
              </a:rPr>
              <a:t>Paytm</a:t>
            </a:r>
            <a:r>
              <a:rPr sz="1800" spc="-50" dirty="0">
                <a:solidFill>
                  <a:srgbClr val="1F4E79"/>
                </a:solidFill>
                <a:latin typeface="Roboto"/>
                <a:cs typeface="Roboto"/>
              </a:rPr>
              <a:t> </a:t>
            </a:r>
            <a:r>
              <a:rPr sz="1800" dirty="0">
                <a:solidFill>
                  <a:srgbClr val="1F4E79"/>
                </a:solidFill>
                <a:latin typeface="Roboto"/>
                <a:cs typeface="Roboto"/>
              </a:rPr>
              <a:t>(acronym</a:t>
            </a:r>
            <a:r>
              <a:rPr sz="1800" spc="-45" dirty="0">
                <a:solidFill>
                  <a:srgbClr val="1F4E79"/>
                </a:solidFill>
                <a:latin typeface="Roboto"/>
                <a:cs typeface="Roboto"/>
              </a:rPr>
              <a:t> </a:t>
            </a:r>
            <a:r>
              <a:rPr sz="1800" dirty="0">
                <a:solidFill>
                  <a:srgbClr val="1F4E79"/>
                </a:solidFill>
                <a:latin typeface="Roboto"/>
                <a:cs typeface="Roboto"/>
              </a:rPr>
              <a:t>for</a:t>
            </a:r>
            <a:r>
              <a:rPr sz="1800" spc="-50" dirty="0">
                <a:solidFill>
                  <a:srgbClr val="1F4E79"/>
                </a:solidFill>
                <a:latin typeface="Roboto"/>
                <a:cs typeface="Roboto"/>
              </a:rPr>
              <a:t> </a:t>
            </a:r>
            <a:r>
              <a:rPr sz="1800" dirty="0">
                <a:solidFill>
                  <a:srgbClr val="1F4E79"/>
                </a:solidFill>
                <a:latin typeface="Roboto"/>
                <a:cs typeface="Roboto"/>
              </a:rPr>
              <a:t>"pay</a:t>
            </a:r>
            <a:r>
              <a:rPr sz="1800" spc="-50" dirty="0">
                <a:solidFill>
                  <a:srgbClr val="1F4E79"/>
                </a:solidFill>
                <a:latin typeface="Roboto"/>
                <a:cs typeface="Roboto"/>
              </a:rPr>
              <a:t> </a:t>
            </a:r>
            <a:r>
              <a:rPr sz="1800" dirty="0">
                <a:solidFill>
                  <a:srgbClr val="1F4E79"/>
                </a:solidFill>
                <a:latin typeface="Roboto"/>
                <a:cs typeface="Roboto"/>
              </a:rPr>
              <a:t>through</a:t>
            </a:r>
            <a:r>
              <a:rPr sz="1800" spc="-30" dirty="0">
                <a:solidFill>
                  <a:srgbClr val="1F4E79"/>
                </a:solidFill>
                <a:latin typeface="Roboto"/>
                <a:cs typeface="Roboto"/>
              </a:rPr>
              <a:t> </a:t>
            </a:r>
            <a:r>
              <a:rPr sz="1800" dirty="0">
                <a:solidFill>
                  <a:srgbClr val="1F4E79"/>
                </a:solidFill>
                <a:latin typeface="Roboto"/>
                <a:cs typeface="Roboto"/>
              </a:rPr>
              <a:t>mobile")</a:t>
            </a:r>
            <a:r>
              <a:rPr sz="1800" spc="-45" dirty="0">
                <a:solidFill>
                  <a:srgbClr val="1F4E79"/>
                </a:solidFill>
                <a:latin typeface="Roboto"/>
                <a:cs typeface="Roboto"/>
              </a:rPr>
              <a:t> </a:t>
            </a:r>
            <a:r>
              <a:rPr sz="1800" dirty="0">
                <a:solidFill>
                  <a:srgbClr val="1F4E79"/>
                </a:solidFill>
                <a:latin typeface="Roboto"/>
                <a:cs typeface="Roboto"/>
              </a:rPr>
              <a:t>is</a:t>
            </a:r>
            <a:r>
              <a:rPr sz="1800" spc="-55" dirty="0">
                <a:solidFill>
                  <a:srgbClr val="1F4E79"/>
                </a:solidFill>
                <a:latin typeface="Roboto"/>
                <a:cs typeface="Roboto"/>
              </a:rPr>
              <a:t> </a:t>
            </a:r>
            <a:r>
              <a:rPr sz="1800" spc="-25" dirty="0">
                <a:solidFill>
                  <a:srgbClr val="1F4E79"/>
                </a:solidFill>
                <a:latin typeface="Roboto"/>
                <a:cs typeface="Roboto"/>
              </a:rPr>
              <a:t>an </a:t>
            </a:r>
            <a:r>
              <a:rPr sz="1800" dirty="0">
                <a:solidFill>
                  <a:srgbClr val="1F4E79"/>
                </a:solidFill>
                <a:latin typeface="Roboto"/>
                <a:cs typeface="Roboto"/>
              </a:rPr>
              <a:t>Indian</a:t>
            </a:r>
            <a:r>
              <a:rPr sz="1800" spc="-5" dirty="0">
                <a:solidFill>
                  <a:srgbClr val="1F4E79"/>
                </a:solidFill>
                <a:latin typeface="Roboto"/>
                <a:cs typeface="Roboto"/>
              </a:rPr>
              <a:t> </a:t>
            </a:r>
            <a:r>
              <a:rPr sz="1800" dirty="0">
                <a:solidFill>
                  <a:srgbClr val="1F4E79"/>
                </a:solidFill>
                <a:latin typeface="Roboto"/>
                <a:cs typeface="Roboto"/>
              </a:rPr>
              <a:t>digital</a:t>
            </a:r>
            <a:r>
              <a:rPr sz="1800" spc="-25" dirty="0">
                <a:solidFill>
                  <a:srgbClr val="1F4E79"/>
                </a:solidFill>
                <a:latin typeface="Roboto"/>
                <a:cs typeface="Roboto"/>
              </a:rPr>
              <a:t> </a:t>
            </a:r>
            <a:r>
              <a:rPr sz="1800" dirty="0">
                <a:solidFill>
                  <a:srgbClr val="1F4E79"/>
                </a:solidFill>
                <a:latin typeface="Roboto"/>
                <a:cs typeface="Roboto"/>
              </a:rPr>
              <a:t>payments</a:t>
            </a:r>
            <a:r>
              <a:rPr sz="1800" spc="5" dirty="0">
                <a:solidFill>
                  <a:srgbClr val="1F4E79"/>
                </a:solidFill>
                <a:latin typeface="Roboto"/>
                <a:cs typeface="Roboto"/>
              </a:rPr>
              <a:t> </a:t>
            </a:r>
            <a:r>
              <a:rPr sz="1800" dirty="0">
                <a:solidFill>
                  <a:srgbClr val="1F4E79"/>
                </a:solidFill>
                <a:latin typeface="Roboto"/>
                <a:cs typeface="Roboto"/>
              </a:rPr>
              <a:t>and</a:t>
            </a:r>
            <a:r>
              <a:rPr sz="1800" spc="-20" dirty="0">
                <a:solidFill>
                  <a:srgbClr val="1F4E79"/>
                </a:solidFill>
                <a:latin typeface="Roboto"/>
                <a:cs typeface="Roboto"/>
              </a:rPr>
              <a:t> </a:t>
            </a:r>
            <a:r>
              <a:rPr sz="1800" dirty="0">
                <a:solidFill>
                  <a:srgbClr val="1F4E79"/>
                </a:solidFill>
                <a:latin typeface="Roboto"/>
                <a:cs typeface="Roboto"/>
              </a:rPr>
              <a:t>financial</a:t>
            </a:r>
            <a:r>
              <a:rPr sz="1800" spc="-15" dirty="0">
                <a:solidFill>
                  <a:srgbClr val="1F4E79"/>
                </a:solidFill>
                <a:latin typeface="Roboto"/>
                <a:cs typeface="Roboto"/>
              </a:rPr>
              <a:t> </a:t>
            </a:r>
            <a:r>
              <a:rPr sz="1800" spc="-10" dirty="0">
                <a:solidFill>
                  <a:srgbClr val="1F4E79"/>
                </a:solidFill>
                <a:latin typeface="Roboto"/>
                <a:cs typeface="Roboto"/>
              </a:rPr>
              <a:t>services </a:t>
            </a:r>
            <a:r>
              <a:rPr sz="1800" dirty="0">
                <a:solidFill>
                  <a:srgbClr val="1F4E79"/>
                </a:solidFill>
                <a:latin typeface="Roboto"/>
                <a:cs typeface="Roboto"/>
              </a:rPr>
              <a:t>company,</a:t>
            </a:r>
            <a:r>
              <a:rPr sz="1800" spc="-15" dirty="0">
                <a:solidFill>
                  <a:srgbClr val="1F4E79"/>
                </a:solidFill>
                <a:latin typeface="Roboto"/>
                <a:cs typeface="Roboto"/>
              </a:rPr>
              <a:t> </a:t>
            </a:r>
            <a:r>
              <a:rPr sz="1800" dirty="0">
                <a:solidFill>
                  <a:srgbClr val="1F4E79"/>
                </a:solidFill>
                <a:latin typeface="Roboto"/>
                <a:cs typeface="Roboto"/>
              </a:rPr>
              <a:t>based</a:t>
            </a:r>
            <a:r>
              <a:rPr sz="1800" spc="-5" dirty="0">
                <a:solidFill>
                  <a:srgbClr val="1F4E79"/>
                </a:solidFill>
                <a:latin typeface="Roboto"/>
                <a:cs typeface="Roboto"/>
              </a:rPr>
              <a:t> </a:t>
            </a:r>
            <a:r>
              <a:rPr sz="1800" dirty="0">
                <a:solidFill>
                  <a:srgbClr val="1F4E79"/>
                </a:solidFill>
                <a:latin typeface="Roboto"/>
                <a:cs typeface="Roboto"/>
              </a:rPr>
              <a:t>in</a:t>
            </a:r>
            <a:r>
              <a:rPr sz="1800" spc="-20" dirty="0">
                <a:solidFill>
                  <a:srgbClr val="1F4E79"/>
                </a:solidFill>
                <a:latin typeface="Roboto"/>
                <a:cs typeface="Roboto"/>
              </a:rPr>
              <a:t> </a:t>
            </a:r>
            <a:r>
              <a:rPr sz="1800" dirty="0">
                <a:solidFill>
                  <a:srgbClr val="1F4E79"/>
                </a:solidFill>
                <a:latin typeface="Roboto"/>
                <a:cs typeface="Roboto"/>
              </a:rPr>
              <a:t>Noida</a:t>
            </a:r>
            <a:r>
              <a:rPr sz="1800" spc="-15" dirty="0">
                <a:solidFill>
                  <a:srgbClr val="1F4E79"/>
                </a:solidFill>
                <a:latin typeface="Roboto"/>
                <a:cs typeface="Roboto"/>
              </a:rPr>
              <a:t> </a:t>
            </a:r>
            <a:r>
              <a:rPr sz="1800" dirty="0">
                <a:solidFill>
                  <a:srgbClr val="1F4E79"/>
                </a:solidFill>
                <a:latin typeface="Roboto"/>
                <a:cs typeface="Roboto"/>
              </a:rPr>
              <a:t>founded</a:t>
            </a:r>
            <a:r>
              <a:rPr sz="1800" spc="5" dirty="0">
                <a:solidFill>
                  <a:srgbClr val="1F4E79"/>
                </a:solidFill>
                <a:latin typeface="Roboto"/>
                <a:cs typeface="Roboto"/>
              </a:rPr>
              <a:t> </a:t>
            </a:r>
            <a:r>
              <a:rPr sz="1800" dirty="0">
                <a:solidFill>
                  <a:srgbClr val="1F4E79"/>
                </a:solidFill>
                <a:latin typeface="Roboto"/>
                <a:cs typeface="Roboto"/>
              </a:rPr>
              <a:t>in</a:t>
            </a:r>
            <a:r>
              <a:rPr sz="1800" spc="-15" dirty="0">
                <a:solidFill>
                  <a:srgbClr val="1F4E79"/>
                </a:solidFill>
                <a:latin typeface="Roboto"/>
                <a:cs typeface="Roboto"/>
              </a:rPr>
              <a:t> </a:t>
            </a:r>
            <a:r>
              <a:rPr sz="1800" spc="-10" dirty="0">
                <a:solidFill>
                  <a:srgbClr val="1F4E79"/>
                </a:solidFill>
                <a:latin typeface="Roboto"/>
                <a:cs typeface="Roboto"/>
              </a:rPr>
              <a:t>2010.</a:t>
            </a:r>
            <a:endParaRPr sz="1800">
              <a:latin typeface="Roboto"/>
              <a:cs typeface="Roboto"/>
            </a:endParaRPr>
          </a:p>
          <a:p>
            <a:pPr marL="12700">
              <a:lnSpc>
                <a:spcPct val="100000"/>
              </a:lnSpc>
              <a:spcBef>
                <a:spcPts val="605"/>
              </a:spcBef>
            </a:pPr>
            <a:r>
              <a:rPr sz="1800" dirty="0">
                <a:solidFill>
                  <a:srgbClr val="1F4E79"/>
                </a:solidFill>
                <a:latin typeface="Roboto"/>
                <a:cs typeface="Roboto"/>
              </a:rPr>
              <a:t>For</a:t>
            </a:r>
            <a:r>
              <a:rPr sz="1800" spc="-15" dirty="0">
                <a:solidFill>
                  <a:srgbClr val="1F4E79"/>
                </a:solidFill>
                <a:latin typeface="Roboto"/>
                <a:cs typeface="Roboto"/>
              </a:rPr>
              <a:t> </a:t>
            </a:r>
            <a:r>
              <a:rPr sz="1800" dirty="0">
                <a:solidFill>
                  <a:srgbClr val="1F4E79"/>
                </a:solidFill>
                <a:latin typeface="Roboto"/>
                <a:cs typeface="Roboto"/>
              </a:rPr>
              <a:t>Fiscal</a:t>
            </a:r>
            <a:r>
              <a:rPr sz="1800" spc="-15" dirty="0">
                <a:solidFill>
                  <a:srgbClr val="1F4E79"/>
                </a:solidFill>
                <a:latin typeface="Roboto"/>
                <a:cs typeface="Roboto"/>
              </a:rPr>
              <a:t> </a:t>
            </a:r>
            <a:r>
              <a:rPr sz="1800" dirty="0">
                <a:solidFill>
                  <a:srgbClr val="1F4E79"/>
                </a:solidFill>
                <a:latin typeface="Roboto"/>
                <a:cs typeface="Roboto"/>
              </a:rPr>
              <a:t>year</a:t>
            </a:r>
            <a:r>
              <a:rPr sz="1800" spc="-5" dirty="0">
                <a:solidFill>
                  <a:srgbClr val="1F4E79"/>
                </a:solidFill>
                <a:latin typeface="Roboto"/>
                <a:cs typeface="Roboto"/>
              </a:rPr>
              <a:t> </a:t>
            </a:r>
            <a:r>
              <a:rPr sz="1800" spc="-75" dirty="0">
                <a:solidFill>
                  <a:srgbClr val="1F4E79"/>
                </a:solidFill>
                <a:latin typeface="Roboto"/>
                <a:cs typeface="Roboto"/>
              </a:rPr>
              <a:t>2021-</a:t>
            </a:r>
            <a:r>
              <a:rPr sz="1800" dirty="0">
                <a:solidFill>
                  <a:srgbClr val="1F4E79"/>
                </a:solidFill>
                <a:latin typeface="Roboto"/>
                <a:cs typeface="Roboto"/>
              </a:rPr>
              <a:t>22, Paytm's</a:t>
            </a:r>
            <a:r>
              <a:rPr sz="1800" spc="-10" dirty="0">
                <a:solidFill>
                  <a:srgbClr val="1F4E79"/>
                </a:solidFill>
                <a:latin typeface="Roboto"/>
                <a:cs typeface="Roboto"/>
              </a:rPr>
              <a:t> </a:t>
            </a:r>
            <a:r>
              <a:rPr sz="1800" dirty="0">
                <a:solidFill>
                  <a:srgbClr val="1F4E79"/>
                </a:solidFill>
                <a:latin typeface="Roboto"/>
                <a:cs typeface="Roboto"/>
              </a:rPr>
              <a:t>GMV</a:t>
            </a:r>
            <a:r>
              <a:rPr sz="1800" spc="-20" dirty="0">
                <a:solidFill>
                  <a:srgbClr val="1F4E79"/>
                </a:solidFill>
                <a:latin typeface="Roboto"/>
                <a:cs typeface="Roboto"/>
              </a:rPr>
              <a:t> </a:t>
            </a:r>
            <a:r>
              <a:rPr sz="1800" dirty="0">
                <a:solidFill>
                  <a:srgbClr val="1F4E79"/>
                </a:solidFill>
                <a:latin typeface="Roboto"/>
                <a:cs typeface="Roboto"/>
              </a:rPr>
              <a:t>value</a:t>
            </a:r>
            <a:r>
              <a:rPr sz="1800" spc="-5" dirty="0">
                <a:solidFill>
                  <a:srgbClr val="1F4E79"/>
                </a:solidFill>
                <a:latin typeface="Roboto"/>
                <a:cs typeface="Roboto"/>
              </a:rPr>
              <a:t> </a:t>
            </a:r>
            <a:r>
              <a:rPr sz="1800" spc="-25" dirty="0">
                <a:solidFill>
                  <a:srgbClr val="1F4E79"/>
                </a:solidFill>
                <a:latin typeface="Roboto"/>
                <a:cs typeface="Roboto"/>
              </a:rPr>
              <a:t>was</a:t>
            </a:r>
            <a:endParaRPr sz="1800">
              <a:latin typeface="Roboto"/>
              <a:cs typeface="Roboto"/>
            </a:endParaRPr>
          </a:p>
          <a:p>
            <a:pPr marL="12700">
              <a:lnSpc>
                <a:spcPct val="100000"/>
              </a:lnSpc>
            </a:pPr>
            <a:r>
              <a:rPr sz="1800" dirty="0">
                <a:solidFill>
                  <a:srgbClr val="1F4E79"/>
                </a:solidFill>
                <a:latin typeface="Roboto"/>
                <a:cs typeface="Roboto"/>
              </a:rPr>
              <a:t>$110</a:t>
            </a:r>
            <a:r>
              <a:rPr sz="1800" spc="-65" dirty="0">
                <a:solidFill>
                  <a:srgbClr val="1F4E79"/>
                </a:solidFill>
                <a:latin typeface="Roboto"/>
                <a:cs typeface="Roboto"/>
              </a:rPr>
              <a:t> </a:t>
            </a:r>
            <a:r>
              <a:rPr sz="1800" spc="-10" dirty="0">
                <a:solidFill>
                  <a:srgbClr val="1F4E79"/>
                </a:solidFill>
                <a:latin typeface="Roboto"/>
                <a:cs typeface="Roboto"/>
              </a:rPr>
              <a:t>billion.</a:t>
            </a:r>
            <a:endParaRPr sz="1800">
              <a:latin typeface="Roboto"/>
              <a:cs typeface="Roboto"/>
            </a:endParaRPr>
          </a:p>
        </p:txBody>
      </p:sp>
      <p:sp>
        <p:nvSpPr>
          <p:cNvPr id="8" name="object 8"/>
          <p:cNvSpPr txBox="1"/>
          <p:nvPr/>
        </p:nvSpPr>
        <p:spPr>
          <a:xfrm>
            <a:off x="677976" y="2344928"/>
            <a:ext cx="4954905" cy="354647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4E79"/>
                </a:solidFill>
                <a:latin typeface="Roboto"/>
                <a:cs typeface="Roboto"/>
              </a:rPr>
              <a:t>The</a:t>
            </a:r>
            <a:r>
              <a:rPr sz="1800" spc="-45" dirty="0">
                <a:solidFill>
                  <a:srgbClr val="1F4E79"/>
                </a:solidFill>
                <a:latin typeface="Roboto"/>
                <a:cs typeface="Roboto"/>
              </a:rPr>
              <a:t> </a:t>
            </a:r>
            <a:r>
              <a:rPr sz="1800" dirty="0">
                <a:solidFill>
                  <a:srgbClr val="1F4E79"/>
                </a:solidFill>
                <a:latin typeface="Roboto"/>
                <a:cs typeface="Roboto"/>
              </a:rPr>
              <a:t>company’s</a:t>
            </a:r>
            <a:r>
              <a:rPr sz="1800" spc="-45" dirty="0">
                <a:solidFill>
                  <a:srgbClr val="1F4E79"/>
                </a:solidFill>
                <a:latin typeface="Roboto"/>
                <a:cs typeface="Roboto"/>
              </a:rPr>
              <a:t> </a:t>
            </a:r>
            <a:r>
              <a:rPr sz="1800" dirty="0">
                <a:solidFill>
                  <a:srgbClr val="1F4E79"/>
                </a:solidFill>
                <a:latin typeface="Roboto"/>
                <a:cs typeface="Roboto"/>
              </a:rPr>
              <a:t>primary</a:t>
            </a:r>
            <a:r>
              <a:rPr sz="1800" spc="-50" dirty="0">
                <a:solidFill>
                  <a:srgbClr val="1F4E79"/>
                </a:solidFill>
                <a:latin typeface="Roboto"/>
                <a:cs typeface="Roboto"/>
              </a:rPr>
              <a:t> </a:t>
            </a:r>
            <a:r>
              <a:rPr sz="1800" dirty="0">
                <a:solidFill>
                  <a:srgbClr val="1F4E79"/>
                </a:solidFill>
                <a:latin typeface="Roboto"/>
                <a:cs typeface="Roboto"/>
              </a:rPr>
              <a:t>use</a:t>
            </a:r>
            <a:r>
              <a:rPr sz="1800" spc="-30" dirty="0">
                <a:solidFill>
                  <a:srgbClr val="1F4E79"/>
                </a:solidFill>
                <a:latin typeface="Roboto"/>
                <a:cs typeface="Roboto"/>
              </a:rPr>
              <a:t> </a:t>
            </a:r>
            <a:r>
              <a:rPr sz="1800" dirty="0">
                <a:solidFill>
                  <a:srgbClr val="1F4E79"/>
                </a:solidFill>
                <a:latin typeface="Roboto"/>
                <a:cs typeface="Roboto"/>
              </a:rPr>
              <a:t>case</a:t>
            </a:r>
            <a:r>
              <a:rPr sz="1800" spc="-55" dirty="0">
                <a:solidFill>
                  <a:srgbClr val="1F4E79"/>
                </a:solidFill>
                <a:latin typeface="Roboto"/>
                <a:cs typeface="Roboto"/>
              </a:rPr>
              <a:t> </a:t>
            </a:r>
            <a:r>
              <a:rPr sz="1800" spc="-25" dirty="0">
                <a:solidFill>
                  <a:srgbClr val="1F4E79"/>
                </a:solidFill>
                <a:latin typeface="Roboto"/>
                <a:cs typeface="Roboto"/>
              </a:rPr>
              <a:t>is</a:t>
            </a:r>
            <a:endParaRPr sz="1800">
              <a:latin typeface="Roboto"/>
              <a:cs typeface="Roboto"/>
            </a:endParaRPr>
          </a:p>
          <a:p>
            <a:pPr marL="12700" marR="5080">
              <a:lnSpc>
                <a:spcPct val="100000"/>
              </a:lnSpc>
            </a:pPr>
            <a:r>
              <a:rPr sz="1800" dirty="0">
                <a:solidFill>
                  <a:srgbClr val="1F4E79"/>
                </a:solidFill>
                <a:latin typeface="Roboto"/>
                <a:cs typeface="Roboto"/>
              </a:rPr>
              <a:t>mobile</a:t>
            </a:r>
            <a:r>
              <a:rPr sz="1800" spc="-25" dirty="0">
                <a:solidFill>
                  <a:srgbClr val="1F4E79"/>
                </a:solidFill>
                <a:latin typeface="Roboto"/>
                <a:cs typeface="Roboto"/>
              </a:rPr>
              <a:t> </a:t>
            </a:r>
            <a:r>
              <a:rPr sz="1800" dirty="0">
                <a:solidFill>
                  <a:srgbClr val="1F4E79"/>
                </a:solidFill>
                <a:latin typeface="Roboto"/>
                <a:cs typeface="Roboto"/>
              </a:rPr>
              <a:t>payment</a:t>
            </a:r>
            <a:r>
              <a:rPr sz="1800" spc="-15" dirty="0">
                <a:solidFill>
                  <a:srgbClr val="1F4E79"/>
                </a:solidFill>
                <a:latin typeface="Roboto"/>
                <a:cs typeface="Roboto"/>
              </a:rPr>
              <a:t> </a:t>
            </a:r>
            <a:r>
              <a:rPr sz="1800" dirty="0">
                <a:solidFill>
                  <a:srgbClr val="1F4E79"/>
                </a:solidFill>
                <a:latin typeface="Roboto"/>
                <a:cs typeface="Roboto"/>
              </a:rPr>
              <a:t>services</a:t>
            </a:r>
            <a:r>
              <a:rPr sz="1800" spc="-35" dirty="0">
                <a:solidFill>
                  <a:srgbClr val="1F4E79"/>
                </a:solidFill>
                <a:latin typeface="Roboto"/>
                <a:cs typeface="Roboto"/>
              </a:rPr>
              <a:t> </a:t>
            </a:r>
            <a:r>
              <a:rPr sz="1800" dirty="0">
                <a:solidFill>
                  <a:srgbClr val="1F4E79"/>
                </a:solidFill>
                <a:latin typeface="Roboto"/>
                <a:cs typeface="Roboto"/>
              </a:rPr>
              <a:t>to</a:t>
            </a:r>
            <a:r>
              <a:rPr sz="1800" spc="-30" dirty="0">
                <a:solidFill>
                  <a:srgbClr val="1F4E79"/>
                </a:solidFill>
                <a:latin typeface="Roboto"/>
                <a:cs typeface="Roboto"/>
              </a:rPr>
              <a:t> </a:t>
            </a:r>
            <a:r>
              <a:rPr sz="1800" dirty="0">
                <a:solidFill>
                  <a:srgbClr val="1F4E79"/>
                </a:solidFill>
                <a:latin typeface="Roboto"/>
                <a:cs typeface="Roboto"/>
              </a:rPr>
              <a:t>consumers</a:t>
            </a:r>
            <a:r>
              <a:rPr sz="1800" spc="-35" dirty="0">
                <a:solidFill>
                  <a:srgbClr val="1F4E79"/>
                </a:solidFill>
                <a:latin typeface="Roboto"/>
                <a:cs typeface="Roboto"/>
              </a:rPr>
              <a:t> </a:t>
            </a:r>
            <a:r>
              <a:rPr sz="1800" spc="-25" dirty="0">
                <a:solidFill>
                  <a:srgbClr val="1F4E79"/>
                </a:solidFill>
                <a:latin typeface="Roboto"/>
                <a:cs typeface="Roboto"/>
              </a:rPr>
              <a:t>and </a:t>
            </a:r>
            <a:r>
              <a:rPr sz="1800" dirty="0">
                <a:solidFill>
                  <a:srgbClr val="1F4E79"/>
                </a:solidFill>
                <a:latin typeface="Roboto"/>
                <a:cs typeface="Roboto"/>
              </a:rPr>
              <a:t>merchants</a:t>
            </a:r>
            <a:r>
              <a:rPr sz="1800" spc="-55" dirty="0">
                <a:solidFill>
                  <a:srgbClr val="1F4E79"/>
                </a:solidFill>
                <a:latin typeface="Roboto"/>
                <a:cs typeface="Roboto"/>
              </a:rPr>
              <a:t> </a:t>
            </a:r>
            <a:r>
              <a:rPr sz="1800" spc="-325" dirty="0">
                <a:solidFill>
                  <a:srgbClr val="1F4E79"/>
                </a:solidFill>
                <a:latin typeface="Roboto"/>
                <a:cs typeface="Roboto"/>
              </a:rPr>
              <a:t>-</a:t>
            </a:r>
            <a:r>
              <a:rPr sz="1800" spc="5" dirty="0">
                <a:solidFill>
                  <a:srgbClr val="1F4E79"/>
                </a:solidFill>
                <a:latin typeface="Roboto"/>
                <a:cs typeface="Roboto"/>
              </a:rPr>
              <a:t> </a:t>
            </a:r>
            <a:r>
              <a:rPr sz="1800" dirty="0">
                <a:solidFill>
                  <a:srgbClr val="1F4E79"/>
                </a:solidFill>
                <a:latin typeface="Roboto"/>
                <a:cs typeface="Roboto"/>
              </a:rPr>
              <a:t>through</a:t>
            </a:r>
            <a:r>
              <a:rPr sz="1800" spc="-10" dirty="0">
                <a:solidFill>
                  <a:srgbClr val="1F4E79"/>
                </a:solidFill>
                <a:latin typeface="Roboto"/>
                <a:cs typeface="Roboto"/>
              </a:rPr>
              <a:t> </a:t>
            </a:r>
            <a:r>
              <a:rPr sz="1800" dirty="0">
                <a:solidFill>
                  <a:srgbClr val="1F4E79"/>
                </a:solidFill>
                <a:latin typeface="Roboto"/>
                <a:cs typeface="Roboto"/>
              </a:rPr>
              <a:t>QR,</a:t>
            </a:r>
            <a:r>
              <a:rPr sz="1800" spc="-25" dirty="0">
                <a:solidFill>
                  <a:srgbClr val="1F4E79"/>
                </a:solidFill>
                <a:latin typeface="Roboto"/>
                <a:cs typeface="Roboto"/>
              </a:rPr>
              <a:t> </a:t>
            </a:r>
            <a:r>
              <a:rPr sz="1800" dirty="0">
                <a:solidFill>
                  <a:srgbClr val="1F4E79"/>
                </a:solidFill>
                <a:latin typeface="Roboto"/>
                <a:cs typeface="Roboto"/>
              </a:rPr>
              <a:t>POS,</a:t>
            </a:r>
            <a:r>
              <a:rPr sz="1800" spc="-35" dirty="0">
                <a:solidFill>
                  <a:srgbClr val="1F4E79"/>
                </a:solidFill>
                <a:latin typeface="Roboto"/>
                <a:cs typeface="Roboto"/>
              </a:rPr>
              <a:t> </a:t>
            </a:r>
            <a:r>
              <a:rPr sz="1800" dirty="0">
                <a:solidFill>
                  <a:srgbClr val="1F4E79"/>
                </a:solidFill>
                <a:latin typeface="Roboto"/>
                <a:cs typeface="Roboto"/>
              </a:rPr>
              <a:t>payment</a:t>
            </a:r>
            <a:r>
              <a:rPr sz="1800" spc="-5" dirty="0">
                <a:solidFill>
                  <a:srgbClr val="1F4E79"/>
                </a:solidFill>
                <a:latin typeface="Roboto"/>
                <a:cs typeface="Roboto"/>
              </a:rPr>
              <a:t> </a:t>
            </a:r>
            <a:r>
              <a:rPr sz="1800" spc="-10" dirty="0">
                <a:solidFill>
                  <a:srgbClr val="1F4E79"/>
                </a:solidFill>
                <a:latin typeface="Roboto"/>
                <a:cs typeface="Roboto"/>
              </a:rPr>
              <a:t>gateway offerings.</a:t>
            </a:r>
            <a:endParaRPr sz="1800">
              <a:latin typeface="Roboto"/>
              <a:cs typeface="Roboto"/>
            </a:endParaRPr>
          </a:p>
          <a:p>
            <a:pPr marL="12700" marR="542290" algn="just">
              <a:lnSpc>
                <a:spcPct val="100000"/>
              </a:lnSpc>
              <a:spcBef>
                <a:spcPts val="600"/>
              </a:spcBef>
            </a:pPr>
            <a:r>
              <a:rPr sz="1800" dirty="0">
                <a:solidFill>
                  <a:srgbClr val="1F4E79"/>
                </a:solidFill>
                <a:latin typeface="Roboto"/>
                <a:cs typeface="Roboto"/>
              </a:rPr>
              <a:t>In</a:t>
            </a:r>
            <a:r>
              <a:rPr sz="1800" spc="-10" dirty="0">
                <a:solidFill>
                  <a:srgbClr val="1F4E79"/>
                </a:solidFill>
                <a:latin typeface="Roboto"/>
                <a:cs typeface="Roboto"/>
              </a:rPr>
              <a:t> </a:t>
            </a:r>
            <a:r>
              <a:rPr sz="1800" dirty="0">
                <a:solidFill>
                  <a:srgbClr val="1F4E79"/>
                </a:solidFill>
                <a:latin typeface="Roboto"/>
                <a:cs typeface="Roboto"/>
              </a:rPr>
              <a:t>addition</a:t>
            </a:r>
            <a:r>
              <a:rPr sz="1800" spc="-20" dirty="0">
                <a:solidFill>
                  <a:srgbClr val="1F4E79"/>
                </a:solidFill>
                <a:latin typeface="Roboto"/>
                <a:cs typeface="Roboto"/>
              </a:rPr>
              <a:t> </a:t>
            </a:r>
            <a:r>
              <a:rPr sz="1800" dirty="0">
                <a:solidFill>
                  <a:srgbClr val="1F4E79"/>
                </a:solidFill>
                <a:latin typeface="Roboto"/>
                <a:cs typeface="Roboto"/>
              </a:rPr>
              <a:t>to</a:t>
            </a:r>
            <a:r>
              <a:rPr sz="1800" spc="-20" dirty="0">
                <a:solidFill>
                  <a:srgbClr val="1F4E79"/>
                </a:solidFill>
                <a:latin typeface="Roboto"/>
                <a:cs typeface="Roboto"/>
              </a:rPr>
              <a:t> </a:t>
            </a:r>
            <a:r>
              <a:rPr sz="1800" dirty="0">
                <a:solidFill>
                  <a:srgbClr val="1F4E79"/>
                </a:solidFill>
                <a:latin typeface="Roboto"/>
                <a:cs typeface="Roboto"/>
              </a:rPr>
              <a:t>this,</a:t>
            </a:r>
            <a:r>
              <a:rPr sz="1800" spc="-20" dirty="0">
                <a:solidFill>
                  <a:srgbClr val="1F4E79"/>
                </a:solidFill>
                <a:latin typeface="Roboto"/>
                <a:cs typeface="Roboto"/>
              </a:rPr>
              <a:t> </a:t>
            </a:r>
            <a:r>
              <a:rPr sz="1800" dirty="0">
                <a:solidFill>
                  <a:srgbClr val="1F4E79"/>
                </a:solidFill>
                <a:latin typeface="Roboto"/>
                <a:cs typeface="Roboto"/>
              </a:rPr>
              <a:t>the</a:t>
            </a:r>
            <a:r>
              <a:rPr sz="1800" spc="-25" dirty="0">
                <a:solidFill>
                  <a:srgbClr val="1F4E79"/>
                </a:solidFill>
                <a:latin typeface="Roboto"/>
                <a:cs typeface="Roboto"/>
              </a:rPr>
              <a:t> </a:t>
            </a:r>
            <a:r>
              <a:rPr sz="1800" dirty="0">
                <a:solidFill>
                  <a:srgbClr val="1F4E79"/>
                </a:solidFill>
                <a:latin typeface="Roboto"/>
                <a:cs typeface="Roboto"/>
              </a:rPr>
              <a:t>company</a:t>
            </a:r>
            <a:r>
              <a:rPr sz="1800" spc="-20" dirty="0">
                <a:solidFill>
                  <a:srgbClr val="1F4E79"/>
                </a:solidFill>
                <a:latin typeface="Roboto"/>
                <a:cs typeface="Roboto"/>
              </a:rPr>
              <a:t> </a:t>
            </a:r>
            <a:r>
              <a:rPr sz="1800" dirty="0">
                <a:solidFill>
                  <a:srgbClr val="1F4E79"/>
                </a:solidFill>
                <a:latin typeface="Roboto"/>
                <a:cs typeface="Roboto"/>
              </a:rPr>
              <a:t>also</a:t>
            </a:r>
            <a:r>
              <a:rPr sz="1800" spc="-30" dirty="0">
                <a:solidFill>
                  <a:srgbClr val="1F4E79"/>
                </a:solidFill>
                <a:latin typeface="Roboto"/>
                <a:cs typeface="Roboto"/>
              </a:rPr>
              <a:t> </a:t>
            </a:r>
            <a:r>
              <a:rPr sz="1800" spc="-10" dirty="0">
                <a:solidFill>
                  <a:srgbClr val="1F4E79"/>
                </a:solidFill>
                <a:latin typeface="Roboto"/>
                <a:cs typeface="Roboto"/>
              </a:rPr>
              <a:t>offers </a:t>
            </a:r>
            <a:r>
              <a:rPr sz="1800" dirty="0">
                <a:solidFill>
                  <a:srgbClr val="1F4E79"/>
                </a:solidFill>
                <a:latin typeface="Roboto"/>
                <a:cs typeface="Roboto"/>
              </a:rPr>
              <a:t>financial</a:t>
            </a:r>
            <a:r>
              <a:rPr sz="1800" spc="-40" dirty="0">
                <a:solidFill>
                  <a:srgbClr val="1F4E79"/>
                </a:solidFill>
                <a:latin typeface="Roboto"/>
                <a:cs typeface="Roboto"/>
              </a:rPr>
              <a:t> </a:t>
            </a:r>
            <a:r>
              <a:rPr sz="1800" dirty="0">
                <a:solidFill>
                  <a:srgbClr val="1F4E79"/>
                </a:solidFill>
                <a:latin typeface="Roboto"/>
                <a:cs typeface="Roboto"/>
              </a:rPr>
              <a:t>services</a:t>
            </a:r>
            <a:r>
              <a:rPr sz="1800" spc="-55" dirty="0">
                <a:solidFill>
                  <a:srgbClr val="1F4E79"/>
                </a:solidFill>
                <a:latin typeface="Roboto"/>
                <a:cs typeface="Roboto"/>
              </a:rPr>
              <a:t> </a:t>
            </a:r>
            <a:r>
              <a:rPr sz="1800" dirty="0">
                <a:solidFill>
                  <a:srgbClr val="1F4E79"/>
                </a:solidFill>
                <a:latin typeface="Roboto"/>
                <a:cs typeface="Roboto"/>
              </a:rPr>
              <a:t>through</a:t>
            </a:r>
            <a:r>
              <a:rPr sz="1800" spc="-15" dirty="0">
                <a:solidFill>
                  <a:srgbClr val="1F4E79"/>
                </a:solidFill>
                <a:latin typeface="Roboto"/>
                <a:cs typeface="Roboto"/>
              </a:rPr>
              <a:t> </a:t>
            </a:r>
            <a:r>
              <a:rPr sz="1800" dirty="0">
                <a:solidFill>
                  <a:srgbClr val="1F4E79"/>
                </a:solidFill>
                <a:latin typeface="Roboto"/>
                <a:cs typeface="Roboto"/>
              </a:rPr>
              <a:t>partnership</a:t>
            </a:r>
            <a:r>
              <a:rPr sz="1800" spc="-15" dirty="0">
                <a:solidFill>
                  <a:srgbClr val="1F4E79"/>
                </a:solidFill>
                <a:latin typeface="Roboto"/>
                <a:cs typeface="Roboto"/>
              </a:rPr>
              <a:t> </a:t>
            </a:r>
            <a:r>
              <a:rPr sz="1800" spc="-20" dirty="0">
                <a:solidFill>
                  <a:srgbClr val="1F4E79"/>
                </a:solidFill>
                <a:latin typeface="Roboto"/>
                <a:cs typeface="Roboto"/>
              </a:rPr>
              <a:t>with </a:t>
            </a:r>
            <a:r>
              <a:rPr sz="1800" dirty="0">
                <a:solidFill>
                  <a:srgbClr val="1F4E79"/>
                </a:solidFill>
                <a:latin typeface="Roboto"/>
                <a:cs typeface="Roboto"/>
              </a:rPr>
              <a:t>financial</a:t>
            </a:r>
            <a:r>
              <a:rPr sz="1800" spc="20" dirty="0">
                <a:solidFill>
                  <a:srgbClr val="1F4E79"/>
                </a:solidFill>
                <a:latin typeface="Roboto"/>
                <a:cs typeface="Roboto"/>
              </a:rPr>
              <a:t> </a:t>
            </a:r>
            <a:r>
              <a:rPr sz="1800" spc="-10" dirty="0">
                <a:solidFill>
                  <a:srgbClr val="1F4E79"/>
                </a:solidFill>
                <a:latin typeface="Roboto"/>
                <a:cs typeface="Roboto"/>
              </a:rPr>
              <a:t>institutions.</a:t>
            </a:r>
            <a:endParaRPr sz="1800">
              <a:latin typeface="Roboto"/>
              <a:cs typeface="Roboto"/>
            </a:endParaRPr>
          </a:p>
          <a:p>
            <a:pPr marL="12700" marR="288290">
              <a:lnSpc>
                <a:spcPct val="100000"/>
              </a:lnSpc>
              <a:spcBef>
                <a:spcPts val="600"/>
              </a:spcBef>
            </a:pPr>
            <a:r>
              <a:rPr sz="1800" dirty="0">
                <a:solidFill>
                  <a:srgbClr val="1F4E79"/>
                </a:solidFill>
                <a:latin typeface="Roboto"/>
                <a:cs typeface="Roboto"/>
              </a:rPr>
              <a:t>Apart</a:t>
            </a:r>
            <a:r>
              <a:rPr sz="1800" spc="-20" dirty="0">
                <a:solidFill>
                  <a:srgbClr val="1F4E79"/>
                </a:solidFill>
                <a:latin typeface="Roboto"/>
                <a:cs typeface="Roboto"/>
              </a:rPr>
              <a:t> </a:t>
            </a:r>
            <a:r>
              <a:rPr sz="1800" dirty="0">
                <a:solidFill>
                  <a:srgbClr val="1F4E79"/>
                </a:solidFill>
                <a:latin typeface="Roboto"/>
                <a:cs typeface="Roboto"/>
              </a:rPr>
              <a:t>from</a:t>
            </a:r>
            <a:r>
              <a:rPr sz="1800" spc="-20" dirty="0">
                <a:solidFill>
                  <a:srgbClr val="1F4E79"/>
                </a:solidFill>
                <a:latin typeface="Roboto"/>
                <a:cs typeface="Roboto"/>
              </a:rPr>
              <a:t> </a:t>
            </a:r>
            <a:r>
              <a:rPr sz="1800" dirty="0">
                <a:solidFill>
                  <a:srgbClr val="1F4E79"/>
                </a:solidFill>
                <a:latin typeface="Roboto"/>
                <a:cs typeface="Roboto"/>
              </a:rPr>
              <a:t>bill</a:t>
            </a:r>
            <a:r>
              <a:rPr sz="1800" spc="-20" dirty="0">
                <a:solidFill>
                  <a:srgbClr val="1F4E79"/>
                </a:solidFill>
                <a:latin typeface="Roboto"/>
                <a:cs typeface="Roboto"/>
              </a:rPr>
              <a:t> </a:t>
            </a:r>
            <a:r>
              <a:rPr sz="1800" dirty="0">
                <a:solidFill>
                  <a:srgbClr val="1F4E79"/>
                </a:solidFill>
                <a:latin typeface="Roboto"/>
                <a:cs typeface="Roboto"/>
              </a:rPr>
              <a:t>payments</a:t>
            </a:r>
            <a:r>
              <a:rPr sz="1800" spc="-10" dirty="0">
                <a:solidFill>
                  <a:srgbClr val="1F4E79"/>
                </a:solidFill>
                <a:latin typeface="Roboto"/>
                <a:cs typeface="Roboto"/>
              </a:rPr>
              <a:t> </a:t>
            </a:r>
            <a:r>
              <a:rPr sz="1800" dirty="0">
                <a:solidFill>
                  <a:srgbClr val="1F4E79"/>
                </a:solidFill>
                <a:latin typeface="Roboto"/>
                <a:cs typeface="Roboto"/>
              </a:rPr>
              <a:t>and</a:t>
            </a:r>
            <a:r>
              <a:rPr sz="1800" spc="-10" dirty="0">
                <a:solidFill>
                  <a:srgbClr val="1F4E79"/>
                </a:solidFill>
                <a:latin typeface="Roboto"/>
                <a:cs typeface="Roboto"/>
              </a:rPr>
              <a:t> </a:t>
            </a:r>
            <a:r>
              <a:rPr sz="1800" dirty="0">
                <a:solidFill>
                  <a:srgbClr val="1F4E79"/>
                </a:solidFill>
                <a:latin typeface="Roboto"/>
                <a:cs typeface="Roboto"/>
              </a:rPr>
              <a:t>money</a:t>
            </a:r>
            <a:r>
              <a:rPr sz="1800" spc="-10" dirty="0">
                <a:solidFill>
                  <a:srgbClr val="1F4E79"/>
                </a:solidFill>
                <a:latin typeface="Roboto"/>
                <a:cs typeface="Roboto"/>
              </a:rPr>
              <a:t> transfer, </a:t>
            </a:r>
            <a:r>
              <a:rPr sz="1800" dirty="0">
                <a:solidFill>
                  <a:srgbClr val="1F4E79"/>
                </a:solidFill>
                <a:latin typeface="Roboto"/>
                <a:cs typeface="Roboto"/>
              </a:rPr>
              <a:t>Paytm</a:t>
            </a:r>
            <a:r>
              <a:rPr sz="1800" spc="-15" dirty="0">
                <a:solidFill>
                  <a:srgbClr val="1F4E79"/>
                </a:solidFill>
                <a:latin typeface="Roboto"/>
                <a:cs typeface="Roboto"/>
              </a:rPr>
              <a:t> </a:t>
            </a:r>
            <a:r>
              <a:rPr sz="1800" dirty="0">
                <a:solidFill>
                  <a:srgbClr val="1F4E79"/>
                </a:solidFill>
                <a:latin typeface="Roboto"/>
                <a:cs typeface="Roboto"/>
              </a:rPr>
              <a:t>also</a:t>
            </a:r>
            <a:r>
              <a:rPr sz="1800" spc="-15" dirty="0">
                <a:solidFill>
                  <a:srgbClr val="1F4E79"/>
                </a:solidFill>
                <a:latin typeface="Roboto"/>
                <a:cs typeface="Roboto"/>
              </a:rPr>
              <a:t> </a:t>
            </a:r>
            <a:r>
              <a:rPr sz="1800" dirty="0">
                <a:solidFill>
                  <a:srgbClr val="1F4E79"/>
                </a:solidFill>
                <a:latin typeface="Roboto"/>
                <a:cs typeface="Roboto"/>
              </a:rPr>
              <a:t>deals</a:t>
            </a:r>
            <a:r>
              <a:rPr sz="1800" spc="-15" dirty="0">
                <a:solidFill>
                  <a:srgbClr val="1F4E79"/>
                </a:solidFill>
                <a:latin typeface="Roboto"/>
                <a:cs typeface="Roboto"/>
              </a:rPr>
              <a:t> </a:t>
            </a:r>
            <a:r>
              <a:rPr sz="1800" dirty="0">
                <a:solidFill>
                  <a:srgbClr val="1F4E79"/>
                </a:solidFill>
                <a:latin typeface="Roboto"/>
                <a:cs typeface="Roboto"/>
              </a:rPr>
              <a:t>with</a:t>
            </a:r>
            <a:r>
              <a:rPr sz="1800" spc="-15" dirty="0">
                <a:solidFill>
                  <a:srgbClr val="1F4E79"/>
                </a:solidFill>
                <a:latin typeface="Roboto"/>
                <a:cs typeface="Roboto"/>
              </a:rPr>
              <a:t> </a:t>
            </a:r>
            <a:r>
              <a:rPr sz="1800" dirty="0">
                <a:solidFill>
                  <a:srgbClr val="1F4E79"/>
                </a:solidFill>
                <a:latin typeface="Roboto"/>
                <a:cs typeface="Roboto"/>
              </a:rPr>
              <a:t>ticket</a:t>
            </a:r>
            <a:r>
              <a:rPr sz="1800" spc="-30" dirty="0">
                <a:solidFill>
                  <a:srgbClr val="1F4E79"/>
                </a:solidFill>
                <a:latin typeface="Roboto"/>
                <a:cs typeface="Roboto"/>
              </a:rPr>
              <a:t> </a:t>
            </a:r>
            <a:r>
              <a:rPr sz="1800" dirty="0">
                <a:solidFill>
                  <a:srgbClr val="1F4E79"/>
                </a:solidFill>
                <a:latin typeface="Roboto"/>
                <a:cs typeface="Roboto"/>
              </a:rPr>
              <a:t>booking,</a:t>
            </a:r>
            <a:r>
              <a:rPr sz="1800" spc="5" dirty="0">
                <a:solidFill>
                  <a:srgbClr val="1F4E79"/>
                </a:solidFill>
                <a:latin typeface="Roboto"/>
                <a:cs typeface="Roboto"/>
              </a:rPr>
              <a:t> </a:t>
            </a:r>
            <a:r>
              <a:rPr sz="1800" spc="-10" dirty="0">
                <a:solidFill>
                  <a:srgbClr val="1F4E79"/>
                </a:solidFill>
                <a:latin typeface="Roboto"/>
                <a:cs typeface="Roboto"/>
              </a:rPr>
              <a:t>retail </a:t>
            </a:r>
            <a:r>
              <a:rPr sz="1800" dirty="0">
                <a:solidFill>
                  <a:srgbClr val="1F4E79"/>
                </a:solidFill>
                <a:latin typeface="Roboto"/>
                <a:cs typeface="Roboto"/>
              </a:rPr>
              <a:t>brokerage,</a:t>
            </a:r>
            <a:r>
              <a:rPr sz="1800" spc="-25" dirty="0">
                <a:solidFill>
                  <a:srgbClr val="1F4E79"/>
                </a:solidFill>
                <a:latin typeface="Roboto"/>
                <a:cs typeface="Roboto"/>
              </a:rPr>
              <a:t> </a:t>
            </a:r>
            <a:r>
              <a:rPr sz="1800" dirty="0">
                <a:solidFill>
                  <a:srgbClr val="1F4E79"/>
                </a:solidFill>
                <a:latin typeface="Roboto"/>
                <a:cs typeface="Roboto"/>
              </a:rPr>
              <a:t>&amp;</a:t>
            </a:r>
            <a:r>
              <a:rPr sz="1800" spc="-45" dirty="0">
                <a:solidFill>
                  <a:srgbClr val="1F4E79"/>
                </a:solidFill>
                <a:latin typeface="Roboto"/>
                <a:cs typeface="Roboto"/>
              </a:rPr>
              <a:t> </a:t>
            </a:r>
            <a:r>
              <a:rPr sz="1800" spc="-10" dirty="0">
                <a:solidFill>
                  <a:srgbClr val="1F4E79"/>
                </a:solidFill>
                <a:latin typeface="Roboto"/>
                <a:cs typeface="Roboto"/>
              </a:rPr>
              <a:t>games</a:t>
            </a:r>
            <a:endParaRPr sz="1800">
              <a:latin typeface="Roboto"/>
              <a:cs typeface="Roboto"/>
            </a:endParaRPr>
          </a:p>
          <a:p>
            <a:pPr marL="12700" marR="233679">
              <a:lnSpc>
                <a:spcPct val="100000"/>
              </a:lnSpc>
              <a:spcBef>
                <a:spcPts val="605"/>
              </a:spcBef>
            </a:pPr>
            <a:r>
              <a:rPr sz="1800" dirty="0">
                <a:solidFill>
                  <a:srgbClr val="223166"/>
                </a:solidFill>
                <a:latin typeface="Roboto"/>
                <a:cs typeface="Roboto"/>
              </a:rPr>
              <a:t>It</a:t>
            </a:r>
            <a:r>
              <a:rPr sz="1800" spc="-5" dirty="0">
                <a:solidFill>
                  <a:srgbClr val="223166"/>
                </a:solidFill>
                <a:latin typeface="Roboto"/>
                <a:cs typeface="Roboto"/>
              </a:rPr>
              <a:t> </a:t>
            </a:r>
            <a:r>
              <a:rPr sz="1800" dirty="0">
                <a:solidFill>
                  <a:srgbClr val="223166"/>
                </a:solidFill>
                <a:latin typeface="Roboto"/>
                <a:cs typeface="Roboto"/>
              </a:rPr>
              <a:t>has</a:t>
            </a:r>
            <a:r>
              <a:rPr sz="1800" spc="5" dirty="0">
                <a:solidFill>
                  <a:srgbClr val="223166"/>
                </a:solidFill>
                <a:latin typeface="Roboto"/>
                <a:cs typeface="Roboto"/>
              </a:rPr>
              <a:t> </a:t>
            </a:r>
            <a:r>
              <a:rPr sz="1800" spc="-45" dirty="0">
                <a:solidFill>
                  <a:srgbClr val="223166"/>
                </a:solidFill>
                <a:latin typeface="Roboto"/>
                <a:cs typeface="Roboto"/>
              </a:rPr>
              <a:t>industry-</a:t>
            </a:r>
            <a:r>
              <a:rPr sz="1800" dirty="0">
                <a:solidFill>
                  <a:srgbClr val="223166"/>
                </a:solidFill>
                <a:latin typeface="Roboto"/>
                <a:cs typeface="Roboto"/>
              </a:rPr>
              <a:t>best</a:t>
            </a:r>
            <a:r>
              <a:rPr sz="1800" spc="20" dirty="0">
                <a:solidFill>
                  <a:srgbClr val="223166"/>
                </a:solidFill>
                <a:latin typeface="Roboto"/>
                <a:cs typeface="Roboto"/>
              </a:rPr>
              <a:t> </a:t>
            </a:r>
            <a:r>
              <a:rPr sz="1800" dirty="0">
                <a:solidFill>
                  <a:srgbClr val="223166"/>
                </a:solidFill>
                <a:latin typeface="Roboto"/>
                <a:cs typeface="Roboto"/>
              </a:rPr>
              <a:t>transaction success</a:t>
            </a:r>
            <a:r>
              <a:rPr sz="1800" spc="-5" dirty="0">
                <a:solidFill>
                  <a:srgbClr val="223166"/>
                </a:solidFill>
                <a:latin typeface="Roboto"/>
                <a:cs typeface="Roboto"/>
              </a:rPr>
              <a:t> </a:t>
            </a:r>
            <a:r>
              <a:rPr sz="1800" spc="-10" dirty="0">
                <a:solidFill>
                  <a:srgbClr val="223166"/>
                </a:solidFill>
                <a:latin typeface="Roboto"/>
                <a:cs typeface="Roboto"/>
              </a:rPr>
              <a:t>rates </a:t>
            </a:r>
            <a:r>
              <a:rPr sz="1800" dirty="0">
                <a:solidFill>
                  <a:srgbClr val="223166"/>
                </a:solidFill>
                <a:latin typeface="Roboto"/>
                <a:cs typeface="Roboto"/>
              </a:rPr>
              <a:t>with</a:t>
            </a:r>
            <a:r>
              <a:rPr sz="1800" spc="-15" dirty="0">
                <a:solidFill>
                  <a:srgbClr val="223166"/>
                </a:solidFill>
                <a:latin typeface="Roboto"/>
                <a:cs typeface="Roboto"/>
              </a:rPr>
              <a:t> </a:t>
            </a:r>
            <a:r>
              <a:rPr sz="1800" dirty="0">
                <a:solidFill>
                  <a:srgbClr val="223166"/>
                </a:solidFill>
                <a:latin typeface="Roboto"/>
                <a:cs typeface="Roboto"/>
              </a:rPr>
              <a:t>an uptime</a:t>
            </a:r>
            <a:r>
              <a:rPr sz="1800" spc="15" dirty="0">
                <a:solidFill>
                  <a:srgbClr val="223166"/>
                </a:solidFill>
                <a:latin typeface="Roboto"/>
                <a:cs typeface="Roboto"/>
              </a:rPr>
              <a:t> </a:t>
            </a:r>
            <a:r>
              <a:rPr sz="1800" dirty="0">
                <a:solidFill>
                  <a:srgbClr val="223166"/>
                </a:solidFill>
                <a:latin typeface="Roboto"/>
                <a:cs typeface="Roboto"/>
              </a:rPr>
              <a:t>of</a:t>
            </a:r>
            <a:r>
              <a:rPr sz="1800" spc="5" dirty="0">
                <a:solidFill>
                  <a:srgbClr val="223166"/>
                </a:solidFill>
                <a:latin typeface="Roboto"/>
                <a:cs typeface="Roboto"/>
              </a:rPr>
              <a:t> </a:t>
            </a:r>
            <a:r>
              <a:rPr sz="1800" spc="-10" dirty="0">
                <a:solidFill>
                  <a:srgbClr val="223166"/>
                </a:solidFill>
                <a:latin typeface="Roboto"/>
                <a:cs typeface="Roboto"/>
              </a:rPr>
              <a:t>99.99%</a:t>
            </a:r>
            <a:endParaRPr sz="1800">
              <a:latin typeface="Roboto"/>
              <a:cs typeface="Roboto"/>
            </a:endParaRPr>
          </a:p>
        </p:txBody>
      </p:sp>
      <p:pic>
        <p:nvPicPr>
          <p:cNvPr id="9" name="object 9" descr="How to Build a SuperApp: PayTM Digitized India's Payments"/>
          <p:cNvPicPr/>
          <p:nvPr/>
        </p:nvPicPr>
        <p:blipFill>
          <a:blip r:embed="rId6" cstate="print"/>
          <a:stretch>
            <a:fillRect/>
          </a:stretch>
        </p:blipFill>
        <p:spPr>
          <a:xfrm>
            <a:off x="5803391" y="565404"/>
            <a:ext cx="6388608" cy="3078480"/>
          </a:xfrm>
          <a:prstGeom prst="rect">
            <a:avLst/>
          </a:prstGeom>
        </p:spPr>
      </p:pic>
      <p:sp>
        <p:nvSpPr>
          <p:cNvPr id="10" name="object 10"/>
          <p:cNvSpPr txBox="1"/>
          <p:nvPr/>
        </p:nvSpPr>
        <p:spPr>
          <a:xfrm>
            <a:off x="6021451" y="3799078"/>
            <a:ext cx="135001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4E79"/>
                </a:solidFill>
                <a:latin typeface="Roboto"/>
                <a:cs typeface="Roboto"/>
              </a:rPr>
              <a:t>Competitors:</a:t>
            </a:r>
            <a:endParaRPr sz="1800">
              <a:latin typeface="Roboto"/>
              <a:cs typeface="Roboto"/>
            </a:endParaRPr>
          </a:p>
        </p:txBody>
      </p:sp>
      <p:sp>
        <p:nvSpPr>
          <p:cNvPr id="13" name="object 13"/>
          <p:cNvSpPr txBox="1">
            <a:spLocks noGrp="1"/>
          </p:cNvSpPr>
          <p:nvPr>
            <p:ph type="dt" sz="half" idx="6"/>
          </p:nvPr>
        </p:nvSpPr>
        <p:spPr>
          <a:prstGeom prst="rect">
            <a:avLst/>
          </a:prstGeom>
        </p:spPr>
        <p:txBody>
          <a:bodyPr vert="horz" wrap="square" lIns="0" tIns="23495" rIns="0" bIns="0" rtlCol="0">
            <a:spAutoFit/>
          </a:bodyPr>
          <a:lstStyle/>
          <a:p>
            <a:pPr marL="12700">
              <a:lnSpc>
                <a:spcPct val="100000"/>
              </a:lnSpc>
              <a:spcBef>
                <a:spcPts val="185"/>
              </a:spcBef>
            </a:pPr>
            <a:r>
              <a:rPr spc="-10" dirty="0"/>
              <a:t>Overview</a:t>
            </a:r>
          </a:p>
        </p:txBody>
      </p:sp>
      <p:sp>
        <p:nvSpPr>
          <p:cNvPr id="14" name="object 14"/>
          <p:cNvSpPr txBox="1"/>
          <p:nvPr/>
        </p:nvSpPr>
        <p:spPr>
          <a:xfrm>
            <a:off x="3518408" y="6343328"/>
            <a:ext cx="1402080" cy="327025"/>
          </a:xfrm>
          <a:prstGeom prst="rect">
            <a:avLst/>
          </a:prstGeom>
        </p:spPr>
        <p:txBody>
          <a:bodyPr vert="horz" wrap="square" lIns="0" tIns="23495" rIns="0" bIns="0" rtlCol="0">
            <a:spAutoFit/>
          </a:bodyPr>
          <a:lstStyle/>
          <a:p>
            <a:pPr marL="12700">
              <a:lnSpc>
                <a:spcPct val="100000"/>
              </a:lnSpc>
              <a:spcBef>
                <a:spcPts val="185"/>
              </a:spcBef>
            </a:pPr>
            <a:r>
              <a:rPr sz="1800" dirty="0">
                <a:solidFill>
                  <a:srgbClr val="1F4E79"/>
                </a:solidFill>
                <a:latin typeface="Roboto"/>
                <a:cs typeface="Roboto"/>
              </a:rPr>
              <a:t>User</a:t>
            </a:r>
            <a:r>
              <a:rPr sz="1800" spc="-30" dirty="0">
                <a:solidFill>
                  <a:srgbClr val="1F4E79"/>
                </a:solidFill>
                <a:latin typeface="Roboto"/>
                <a:cs typeface="Roboto"/>
              </a:rPr>
              <a:t> </a:t>
            </a:r>
            <a:r>
              <a:rPr sz="1800" spc="-10" dirty="0">
                <a:solidFill>
                  <a:srgbClr val="1F4E79"/>
                </a:solidFill>
                <a:latin typeface="Roboto"/>
                <a:cs typeface="Roboto"/>
              </a:rPr>
              <a:t>Persona</a:t>
            </a:r>
            <a:endParaRPr sz="1800">
              <a:latin typeface="Roboto"/>
              <a:cs typeface="Roboto"/>
            </a:endParaRPr>
          </a:p>
        </p:txBody>
      </p:sp>
      <p:sp>
        <p:nvSpPr>
          <p:cNvPr id="15" name="object 15"/>
          <p:cNvSpPr txBox="1"/>
          <p:nvPr/>
        </p:nvSpPr>
        <p:spPr>
          <a:xfrm>
            <a:off x="6678930" y="6343328"/>
            <a:ext cx="2565400" cy="327025"/>
          </a:xfrm>
          <a:prstGeom prst="rect">
            <a:avLst/>
          </a:prstGeom>
        </p:spPr>
        <p:txBody>
          <a:bodyPr vert="horz" wrap="square" lIns="0" tIns="23495" rIns="0" bIns="0" rtlCol="0">
            <a:spAutoFit/>
          </a:bodyPr>
          <a:lstStyle/>
          <a:p>
            <a:pPr marL="12700">
              <a:lnSpc>
                <a:spcPct val="100000"/>
              </a:lnSpc>
              <a:spcBef>
                <a:spcPts val="185"/>
              </a:spcBef>
            </a:pPr>
            <a:r>
              <a:rPr sz="1800" dirty="0">
                <a:solidFill>
                  <a:srgbClr val="1F4E79"/>
                </a:solidFill>
                <a:latin typeface="Roboto"/>
                <a:cs typeface="Roboto"/>
              </a:rPr>
              <a:t>User</a:t>
            </a:r>
            <a:r>
              <a:rPr sz="1800" spc="20" dirty="0">
                <a:solidFill>
                  <a:srgbClr val="1F4E79"/>
                </a:solidFill>
                <a:latin typeface="Roboto"/>
                <a:cs typeface="Roboto"/>
              </a:rPr>
              <a:t> </a:t>
            </a:r>
            <a:r>
              <a:rPr sz="1800" dirty="0">
                <a:solidFill>
                  <a:srgbClr val="1F4E79"/>
                </a:solidFill>
                <a:latin typeface="Roboto"/>
                <a:cs typeface="Roboto"/>
              </a:rPr>
              <a:t>Experience</a:t>
            </a:r>
            <a:r>
              <a:rPr sz="1800" spc="20" dirty="0">
                <a:solidFill>
                  <a:srgbClr val="1F4E79"/>
                </a:solidFill>
                <a:latin typeface="Roboto"/>
                <a:cs typeface="Roboto"/>
              </a:rPr>
              <a:t> </a:t>
            </a:r>
            <a:r>
              <a:rPr sz="1800" spc="-10" dirty="0">
                <a:solidFill>
                  <a:srgbClr val="1F4E79"/>
                </a:solidFill>
                <a:latin typeface="Roboto"/>
                <a:cs typeface="Roboto"/>
              </a:rPr>
              <a:t>Insights</a:t>
            </a:r>
            <a:endParaRPr sz="1800">
              <a:latin typeface="Roboto"/>
              <a:cs typeface="Roboto"/>
            </a:endParaRPr>
          </a:p>
        </p:txBody>
      </p:sp>
      <p:sp>
        <p:nvSpPr>
          <p:cNvPr id="16" name="object 16"/>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spc="-10" dirty="0"/>
              <a:t>Metrics</a:t>
            </a:r>
          </a:p>
        </p:txBody>
      </p:sp>
      <p:sp>
        <p:nvSpPr>
          <p:cNvPr id="17" name="object 17"/>
          <p:cNvSpPr txBox="1"/>
          <p:nvPr/>
        </p:nvSpPr>
        <p:spPr>
          <a:xfrm>
            <a:off x="5061584" y="6358873"/>
            <a:ext cx="1392555" cy="327025"/>
          </a:xfrm>
          <a:prstGeom prst="rect">
            <a:avLst/>
          </a:prstGeom>
        </p:spPr>
        <p:txBody>
          <a:bodyPr vert="horz" wrap="square" lIns="0" tIns="23495" rIns="0" bIns="0" rtlCol="0">
            <a:spAutoFit/>
          </a:bodyPr>
          <a:lstStyle/>
          <a:p>
            <a:pPr marL="12700">
              <a:lnSpc>
                <a:spcPct val="100000"/>
              </a:lnSpc>
              <a:spcBef>
                <a:spcPts val="185"/>
              </a:spcBef>
            </a:pPr>
            <a:r>
              <a:rPr sz="1800" b="1" u="sng" dirty="0">
                <a:solidFill>
                  <a:srgbClr val="1F4E79"/>
                </a:solidFill>
                <a:uFill>
                  <a:solidFill>
                    <a:srgbClr val="1F4E79"/>
                  </a:solidFill>
                </a:uFill>
                <a:latin typeface="Roboto"/>
                <a:cs typeface="Roboto"/>
              </a:rPr>
              <a:t>User</a:t>
            </a:r>
            <a:r>
              <a:rPr sz="1800" b="1" u="sng" spc="-35" dirty="0">
                <a:solidFill>
                  <a:srgbClr val="1F4E79"/>
                </a:solidFill>
                <a:uFill>
                  <a:solidFill>
                    <a:srgbClr val="1F4E79"/>
                  </a:solidFill>
                </a:uFill>
                <a:latin typeface="Roboto"/>
                <a:cs typeface="Roboto"/>
              </a:rPr>
              <a:t> </a:t>
            </a:r>
            <a:r>
              <a:rPr sz="1800" b="1" u="sng" spc="-10" dirty="0">
                <a:solidFill>
                  <a:srgbClr val="1F4E79"/>
                </a:solidFill>
                <a:uFill>
                  <a:solidFill>
                    <a:srgbClr val="1F4E79"/>
                  </a:solidFill>
                </a:uFill>
                <a:latin typeface="Roboto"/>
                <a:cs typeface="Roboto"/>
              </a:rPr>
              <a:t>Journey</a:t>
            </a:r>
            <a:endParaRPr sz="1800">
              <a:latin typeface="Roboto"/>
              <a:cs typeface="Roboto"/>
            </a:endParaRPr>
          </a:p>
        </p:txBody>
      </p:sp>
      <p:sp>
        <p:nvSpPr>
          <p:cNvPr id="11" name="object 11"/>
          <p:cNvSpPr txBox="1"/>
          <p:nvPr/>
        </p:nvSpPr>
        <p:spPr>
          <a:xfrm>
            <a:off x="5882766" y="5179567"/>
            <a:ext cx="2197100" cy="84836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1F4E79"/>
                </a:solidFill>
                <a:latin typeface="Roboto"/>
                <a:cs typeface="Roboto"/>
              </a:rPr>
              <a:t>Value</a:t>
            </a:r>
            <a:r>
              <a:rPr sz="1800" spc="-5" dirty="0">
                <a:solidFill>
                  <a:srgbClr val="1F4E79"/>
                </a:solidFill>
                <a:latin typeface="Roboto"/>
                <a:cs typeface="Roboto"/>
              </a:rPr>
              <a:t> </a:t>
            </a:r>
            <a:r>
              <a:rPr sz="1800" spc="-10" dirty="0">
                <a:solidFill>
                  <a:srgbClr val="1F4E79"/>
                </a:solidFill>
                <a:latin typeface="Roboto"/>
                <a:cs typeface="Roboto"/>
              </a:rPr>
              <a:t>Propositions: </a:t>
            </a:r>
            <a:r>
              <a:rPr sz="1800" dirty="0">
                <a:solidFill>
                  <a:srgbClr val="1F4E79"/>
                </a:solidFill>
                <a:latin typeface="Roboto"/>
                <a:cs typeface="Roboto"/>
              </a:rPr>
              <a:t>Recharging</a:t>
            </a:r>
            <a:r>
              <a:rPr sz="1800" spc="-30" dirty="0">
                <a:solidFill>
                  <a:srgbClr val="1F4E79"/>
                </a:solidFill>
                <a:latin typeface="Roboto"/>
                <a:cs typeface="Roboto"/>
              </a:rPr>
              <a:t> </a:t>
            </a:r>
            <a:r>
              <a:rPr sz="1800" spc="-10" dirty="0">
                <a:solidFill>
                  <a:srgbClr val="1F4E79"/>
                </a:solidFill>
                <a:latin typeface="Roboto"/>
                <a:cs typeface="Roboto"/>
              </a:rPr>
              <a:t>Business </a:t>
            </a:r>
            <a:r>
              <a:rPr sz="1800" spc="-145" dirty="0">
                <a:solidFill>
                  <a:srgbClr val="1F4E79"/>
                </a:solidFill>
                <a:latin typeface="Roboto"/>
                <a:cs typeface="Roboto"/>
              </a:rPr>
              <a:t>E-</a:t>
            </a:r>
            <a:r>
              <a:rPr sz="1800" spc="-10" dirty="0">
                <a:solidFill>
                  <a:srgbClr val="1F4E79"/>
                </a:solidFill>
                <a:latin typeface="Roboto"/>
                <a:cs typeface="Roboto"/>
              </a:rPr>
              <a:t>commerce</a:t>
            </a:r>
            <a:endParaRPr sz="1800">
              <a:latin typeface="Roboto"/>
              <a:cs typeface="Roboto"/>
            </a:endParaRPr>
          </a:p>
        </p:txBody>
      </p:sp>
      <p:sp>
        <p:nvSpPr>
          <p:cNvPr id="12" name="object 12"/>
          <p:cNvSpPr txBox="1"/>
          <p:nvPr/>
        </p:nvSpPr>
        <p:spPr>
          <a:xfrm>
            <a:off x="8626220" y="5453888"/>
            <a:ext cx="1391285" cy="57404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1F4E79"/>
                </a:solidFill>
                <a:latin typeface="Roboto"/>
                <a:cs typeface="Roboto"/>
              </a:rPr>
              <a:t>Paytm </a:t>
            </a:r>
            <a:r>
              <a:rPr sz="1800" spc="-10" dirty="0">
                <a:solidFill>
                  <a:srgbClr val="1F4E79"/>
                </a:solidFill>
                <a:latin typeface="Roboto"/>
                <a:cs typeface="Roboto"/>
              </a:rPr>
              <a:t>Wallet </a:t>
            </a:r>
            <a:r>
              <a:rPr sz="1800" dirty="0">
                <a:solidFill>
                  <a:srgbClr val="1F4E79"/>
                </a:solidFill>
                <a:latin typeface="Roboto"/>
                <a:cs typeface="Roboto"/>
              </a:rPr>
              <a:t>Digital</a:t>
            </a:r>
            <a:r>
              <a:rPr sz="1800" spc="-55" dirty="0">
                <a:solidFill>
                  <a:srgbClr val="1F4E79"/>
                </a:solidFill>
                <a:latin typeface="Roboto"/>
                <a:cs typeface="Roboto"/>
              </a:rPr>
              <a:t> </a:t>
            </a:r>
            <a:r>
              <a:rPr sz="1800" spc="-20" dirty="0">
                <a:solidFill>
                  <a:srgbClr val="1F4E79"/>
                </a:solidFill>
                <a:latin typeface="Roboto"/>
                <a:cs typeface="Roboto"/>
              </a:rPr>
              <a:t>Gold</a:t>
            </a:r>
            <a:endParaRPr sz="1800">
              <a:latin typeface="Roboto"/>
              <a:cs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Download Paytm Logo in SVG Vector or PNG File Format - Logo.wine"/>
          <p:cNvPicPr/>
          <p:nvPr/>
        </p:nvPicPr>
        <p:blipFill>
          <a:blip r:embed="rId2" cstate="print"/>
          <a:stretch>
            <a:fillRect/>
          </a:stretch>
        </p:blipFill>
        <p:spPr>
          <a:xfrm>
            <a:off x="204215" y="6246874"/>
            <a:ext cx="1560575" cy="536448"/>
          </a:xfrm>
          <a:prstGeom prst="rect">
            <a:avLst/>
          </a:prstGeom>
        </p:spPr>
      </p:pic>
      <p:sp>
        <p:nvSpPr>
          <p:cNvPr id="3" name="object 3"/>
          <p:cNvSpPr/>
          <p:nvPr/>
        </p:nvSpPr>
        <p:spPr>
          <a:xfrm>
            <a:off x="6301740" y="156971"/>
            <a:ext cx="5473065" cy="5771515"/>
          </a:xfrm>
          <a:custGeom>
            <a:avLst/>
            <a:gdLst/>
            <a:ahLst/>
            <a:cxnLst/>
            <a:rect l="l" t="t" r="r" b="b"/>
            <a:pathLst>
              <a:path w="5473065" h="5771515">
                <a:moveTo>
                  <a:pt x="4560570" y="0"/>
                </a:moveTo>
                <a:lnTo>
                  <a:pt x="912113" y="0"/>
                </a:lnTo>
                <a:lnTo>
                  <a:pt x="863678" y="1264"/>
                </a:lnTo>
                <a:lnTo>
                  <a:pt x="815900" y="5015"/>
                </a:lnTo>
                <a:lnTo>
                  <a:pt x="768843" y="11191"/>
                </a:lnTo>
                <a:lnTo>
                  <a:pt x="722570" y="19727"/>
                </a:lnTo>
                <a:lnTo>
                  <a:pt x="677144" y="30561"/>
                </a:lnTo>
                <a:lnTo>
                  <a:pt x="632628" y="43630"/>
                </a:lnTo>
                <a:lnTo>
                  <a:pt x="589085" y="58870"/>
                </a:lnTo>
                <a:lnTo>
                  <a:pt x="546579" y="76218"/>
                </a:lnTo>
                <a:lnTo>
                  <a:pt x="505172" y="95613"/>
                </a:lnTo>
                <a:lnTo>
                  <a:pt x="464927" y="116989"/>
                </a:lnTo>
                <a:lnTo>
                  <a:pt x="425907" y="140285"/>
                </a:lnTo>
                <a:lnTo>
                  <a:pt x="388176" y="165437"/>
                </a:lnTo>
                <a:lnTo>
                  <a:pt x="351797" y="192382"/>
                </a:lnTo>
                <a:lnTo>
                  <a:pt x="316832" y="221057"/>
                </a:lnTo>
                <a:lnTo>
                  <a:pt x="283345" y="251399"/>
                </a:lnTo>
                <a:lnTo>
                  <a:pt x="251399" y="283345"/>
                </a:lnTo>
                <a:lnTo>
                  <a:pt x="221057" y="316832"/>
                </a:lnTo>
                <a:lnTo>
                  <a:pt x="192382" y="351797"/>
                </a:lnTo>
                <a:lnTo>
                  <a:pt x="165437" y="388176"/>
                </a:lnTo>
                <a:lnTo>
                  <a:pt x="140285" y="425907"/>
                </a:lnTo>
                <a:lnTo>
                  <a:pt x="116989" y="464927"/>
                </a:lnTo>
                <a:lnTo>
                  <a:pt x="95613" y="505172"/>
                </a:lnTo>
                <a:lnTo>
                  <a:pt x="76218" y="546579"/>
                </a:lnTo>
                <a:lnTo>
                  <a:pt x="58870" y="589085"/>
                </a:lnTo>
                <a:lnTo>
                  <a:pt x="43630" y="632628"/>
                </a:lnTo>
                <a:lnTo>
                  <a:pt x="30561" y="677144"/>
                </a:lnTo>
                <a:lnTo>
                  <a:pt x="19727" y="722570"/>
                </a:lnTo>
                <a:lnTo>
                  <a:pt x="11191" y="768843"/>
                </a:lnTo>
                <a:lnTo>
                  <a:pt x="5015" y="815900"/>
                </a:lnTo>
                <a:lnTo>
                  <a:pt x="1264" y="863678"/>
                </a:lnTo>
                <a:lnTo>
                  <a:pt x="0" y="912113"/>
                </a:lnTo>
                <a:lnTo>
                  <a:pt x="0" y="4859274"/>
                </a:lnTo>
                <a:lnTo>
                  <a:pt x="1264" y="4907709"/>
                </a:lnTo>
                <a:lnTo>
                  <a:pt x="5015" y="4955487"/>
                </a:lnTo>
                <a:lnTo>
                  <a:pt x="11191" y="5002544"/>
                </a:lnTo>
                <a:lnTo>
                  <a:pt x="19727" y="5048817"/>
                </a:lnTo>
                <a:lnTo>
                  <a:pt x="30561" y="5094243"/>
                </a:lnTo>
                <a:lnTo>
                  <a:pt x="43630" y="5138759"/>
                </a:lnTo>
                <a:lnTo>
                  <a:pt x="58870" y="5182302"/>
                </a:lnTo>
                <a:lnTo>
                  <a:pt x="76218" y="5224808"/>
                </a:lnTo>
                <a:lnTo>
                  <a:pt x="95613" y="5266215"/>
                </a:lnTo>
                <a:lnTo>
                  <a:pt x="116989" y="5306460"/>
                </a:lnTo>
                <a:lnTo>
                  <a:pt x="140285" y="5345480"/>
                </a:lnTo>
                <a:lnTo>
                  <a:pt x="165437" y="5383211"/>
                </a:lnTo>
                <a:lnTo>
                  <a:pt x="192382" y="5419590"/>
                </a:lnTo>
                <a:lnTo>
                  <a:pt x="221057" y="5454555"/>
                </a:lnTo>
                <a:lnTo>
                  <a:pt x="251399" y="5488042"/>
                </a:lnTo>
                <a:lnTo>
                  <a:pt x="283345" y="5519988"/>
                </a:lnTo>
                <a:lnTo>
                  <a:pt x="316832" y="5550330"/>
                </a:lnTo>
                <a:lnTo>
                  <a:pt x="351797" y="5579005"/>
                </a:lnTo>
                <a:lnTo>
                  <a:pt x="388176" y="5605950"/>
                </a:lnTo>
                <a:lnTo>
                  <a:pt x="425907" y="5631102"/>
                </a:lnTo>
                <a:lnTo>
                  <a:pt x="464927" y="5654398"/>
                </a:lnTo>
                <a:lnTo>
                  <a:pt x="505172" y="5675774"/>
                </a:lnTo>
                <a:lnTo>
                  <a:pt x="546579" y="5695169"/>
                </a:lnTo>
                <a:lnTo>
                  <a:pt x="589085" y="5712517"/>
                </a:lnTo>
                <a:lnTo>
                  <a:pt x="632628" y="5727757"/>
                </a:lnTo>
                <a:lnTo>
                  <a:pt x="677144" y="5740826"/>
                </a:lnTo>
                <a:lnTo>
                  <a:pt x="722570" y="5751660"/>
                </a:lnTo>
                <a:lnTo>
                  <a:pt x="768843" y="5760196"/>
                </a:lnTo>
                <a:lnTo>
                  <a:pt x="815900" y="5766372"/>
                </a:lnTo>
                <a:lnTo>
                  <a:pt x="863678" y="5770123"/>
                </a:lnTo>
                <a:lnTo>
                  <a:pt x="912113" y="5771388"/>
                </a:lnTo>
                <a:lnTo>
                  <a:pt x="4560570" y="5771388"/>
                </a:lnTo>
                <a:lnTo>
                  <a:pt x="4609005" y="5770123"/>
                </a:lnTo>
                <a:lnTo>
                  <a:pt x="4656783" y="5766372"/>
                </a:lnTo>
                <a:lnTo>
                  <a:pt x="4703840" y="5760196"/>
                </a:lnTo>
                <a:lnTo>
                  <a:pt x="4750113" y="5751660"/>
                </a:lnTo>
                <a:lnTo>
                  <a:pt x="4795539" y="5740826"/>
                </a:lnTo>
                <a:lnTo>
                  <a:pt x="4840055" y="5727757"/>
                </a:lnTo>
                <a:lnTo>
                  <a:pt x="4883598" y="5712517"/>
                </a:lnTo>
                <a:lnTo>
                  <a:pt x="4926104" y="5695169"/>
                </a:lnTo>
                <a:lnTo>
                  <a:pt x="4967511" y="5675774"/>
                </a:lnTo>
                <a:lnTo>
                  <a:pt x="5007756" y="5654398"/>
                </a:lnTo>
                <a:lnTo>
                  <a:pt x="5046776" y="5631102"/>
                </a:lnTo>
                <a:lnTo>
                  <a:pt x="5084507" y="5605950"/>
                </a:lnTo>
                <a:lnTo>
                  <a:pt x="5120886" y="5579005"/>
                </a:lnTo>
                <a:lnTo>
                  <a:pt x="5155851" y="5550330"/>
                </a:lnTo>
                <a:lnTo>
                  <a:pt x="5189338" y="5519988"/>
                </a:lnTo>
                <a:lnTo>
                  <a:pt x="5221284" y="5488042"/>
                </a:lnTo>
                <a:lnTo>
                  <a:pt x="5251626" y="5454555"/>
                </a:lnTo>
                <a:lnTo>
                  <a:pt x="5280301" y="5419590"/>
                </a:lnTo>
                <a:lnTo>
                  <a:pt x="5307246" y="5383211"/>
                </a:lnTo>
                <a:lnTo>
                  <a:pt x="5332398" y="5345480"/>
                </a:lnTo>
                <a:lnTo>
                  <a:pt x="5355694" y="5306460"/>
                </a:lnTo>
                <a:lnTo>
                  <a:pt x="5377070" y="5266215"/>
                </a:lnTo>
                <a:lnTo>
                  <a:pt x="5396465" y="5224808"/>
                </a:lnTo>
                <a:lnTo>
                  <a:pt x="5413813" y="5182302"/>
                </a:lnTo>
                <a:lnTo>
                  <a:pt x="5429053" y="5138759"/>
                </a:lnTo>
                <a:lnTo>
                  <a:pt x="5442122" y="5094243"/>
                </a:lnTo>
                <a:lnTo>
                  <a:pt x="5452956" y="5048817"/>
                </a:lnTo>
                <a:lnTo>
                  <a:pt x="5461492" y="5002544"/>
                </a:lnTo>
                <a:lnTo>
                  <a:pt x="5467668" y="4955487"/>
                </a:lnTo>
                <a:lnTo>
                  <a:pt x="5471419" y="4907709"/>
                </a:lnTo>
                <a:lnTo>
                  <a:pt x="5472684" y="4859274"/>
                </a:lnTo>
                <a:lnTo>
                  <a:pt x="5472684" y="912113"/>
                </a:lnTo>
                <a:lnTo>
                  <a:pt x="5471419" y="863678"/>
                </a:lnTo>
                <a:lnTo>
                  <a:pt x="5467668" y="815900"/>
                </a:lnTo>
                <a:lnTo>
                  <a:pt x="5461492" y="768843"/>
                </a:lnTo>
                <a:lnTo>
                  <a:pt x="5452956" y="722570"/>
                </a:lnTo>
                <a:lnTo>
                  <a:pt x="5442122" y="677144"/>
                </a:lnTo>
                <a:lnTo>
                  <a:pt x="5429053" y="632628"/>
                </a:lnTo>
                <a:lnTo>
                  <a:pt x="5413813" y="589085"/>
                </a:lnTo>
                <a:lnTo>
                  <a:pt x="5396465" y="546579"/>
                </a:lnTo>
                <a:lnTo>
                  <a:pt x="5377070" y="505172"/>
                </a:lnTo>
                <a:lnTo>
                  <a:pt x="5355694" y="464927"/>
                </a:lnTo>
                <a:lnTo>
                  <a:pt x="5332398" y="425907"/>
                </a:lnTo>
                <a:lnTo>
                  <a:pt x="5307246" y="388176"/>
                </a:lnTo>
                <a:lnTo>
                  <a:pt x="5280301" y="351797"/>
                </a:lnTo>
                <a:lnTo>
                  <a:pt x="5251626" y="316832"/>
                </a:lnTo>
                <a:lnTo>
                  <a:pt x="5221284" y="283345"/>
                </a:lnTo>
                <a:lnTo>
                  <a:pt x="5189338" y="251399"/>
                </a:lnTo>
                <a:lnTo>
                  <a:pt x="5155851" y="221057"/>
                </a:lnTo>
                <a:lnTo>
                  <a:pt x="5120886" y="192382"/>
                </a:lnTo>
                <a:lnTo>
                  <a:pt x="5084507" y="165437"/>
                </a:lnTo>
                <a:lnTo>
                  <a:pt x="5046776" y="140285"/>
                </a:lnTo>
                <a:lnTo>
                  <a:pt x="5007756" y="116989"/>
                </a:lnTo>
                <a:lnTo>
                  <a:pt x="4967511" y="95613"/>
                </a:lnTo>
                <a:lnTo>
                  <a:pt x="4926104" y="76218"/>
                </a:lnTo>
                <a:lnTo>
                  <a:pt x="4883598" y="58870"/>
                </a:lnTo>
                <a:lnTo>
                  <a:pt x="4840055" y="43630"/>
                </a:lnTo>
                <a:lnTo>
                  <a:pt x="4795539" y="30561"/>
                </a:lnTo>
                <a:lnTo>
                  <a:pt x="4750113" y="19727"/>
                </a:lnTo>
                <a:lnTo>
                  <a:pt x="4703840" y="11191"/>
                </a:lnTo>
                <a:lnTo>
                  <a:pt x="4656783" y="5015"/>
                </a:lnTo>
                <a:lnTo>
                  <a:pt x="4609005" y="1264"/>
                </a:lnTo>
                <a:lnTo>
                  <a:pt x="4560570" y="0"/>
                </a:lnTo>
                <a:close/>
              </a:path>
            </a:pathLst>
          </a:custGeom>
          <a:solidFill>
            <a:srgbClr val="2D75B6"/>
          </a:solidFill>
        </p:spPr>
        <p:txBody>
          <a:bodyPr wrap="square" lIns="0" tIns="0" rIns="0" bIns="0" rtlCol="0"/>
          <a:lstStyle/>
          <a:p>
            <a:endParaRPr/>
          </a:p>
        </p:txBody>
      </p:sp>
      <p:sp>
        <p:nvSpPr>
          <p:cNvPr id="4" name="object 4"/>
          <p:cNvSpPr/>
          <p:nvPr/>
        </p:nvSpPr>
        <p:spPr>
          <a:xfrm>
            <a:off x="498348" y="160020"/>
            <a:ext cx="5206365" cy="5773420"/>
          </a:xfrm>
          <a:custGeom>
            <a:avLst/>
            <a:gdLst/>
            <a:ahLst/>
            <a:cxnLst/>
            <a:rect l="l" t="t" r="r" b="b"/>
            <a:pathLst>
              <a:path w="5206365" h="5773420">
                <a:moveTo>
                  <a:pt x="4338320" y="0"/>
                </a:moveTo>
                <a:lnTo>
                  <a:pt x="867663" y="0"/>
                </a:lnTo>
                <a:lnTo>
                  <a:pt x="820057" y="1283"/>
                </a:lnTo>
                <a:lnTo>
                  <a:pt x="773122" y="5091"/>
                </a:lnTo>
                <a:lnTo>
                  <a:pt x="726924" y="11356"/>
                </a:lnTo>
                <a:lnTo>
                  <a:pt x="681530" y="20013"/>
                </a:lnTo>
                <a:lnTo>
                  <a:pt x="637004" y="30995"/>
                </a:lnTo>
                <a:lnTo>
                  <a:pt x="593415" y="44236"/>
                </a:lnTo>
                <a:lnTo>
                  <a:pt x="550827" y="59670"/>
                </a:lnTo>
                <a:lnTo>
                  <a:pt x="509308" y="77231"/>
                </a:lnTo>
                <a:lnTo>
                  <a:pt x="468922" y="96852"/>
                </a:lnTo>
                <a:lnTo>
                  <a:pt x="429737" y="118467"/>
                </a:lnTo>
                <a:lnTo>
                  <a:pt x="391819" y="142011"/>
                </a:lnTo>
                <a:lnTo>
                  <a:pt x="355233" y="167416"/>
                </a:lnTo>
                <a:lnTo>
                  <a:pt x="320046" y="194617"/>
                </a:lnTo>
                <a:lnTo>
                  <a:pt x="286324" y="223548"/>
                </a:lnTo>
                <a:lnTo>
                  <a:pt x="254133" y="254142"/>
                </a:lnTo>
                <a:lnTo>
                  <a:pt x="223539" y="286334"/>
                </a:lnTo>
                <a:lnTo>
                  <a:pt x="194609" y="320056"/>
                </a:lnTo>
                <a:lnTo>
                  <a:pt x="167409" y="355244"/>
                </a:lnTo>
                <a:lnTo>
                  <a:pt x="142004" y="391830"/>
                </a:lnTo>
                <a:lnTo>
                  <a:pt x="118461" y="429749"/>
                </a:lnTo>
                <a:lnTo>
                  <a:pt x="96847" y="468934"/>
                </a:lnTo>
                <a:lnTo>
                  <a:pt x="77227" y="509319"/>
                </a:lnTo>
                <a:lnTo>
                  <a:pt x="59667" y="550838"/>
                </a:lnTo>
                <a:lnTo>
                  <a:pt x="44234" y="593425"/>
                </a:lnTo>
                <a:lnTo>
                  <a:pt x="30993" y="637013"/>
                </a:lnTo>
                <a:lnTo>
                  <a:pt x="20012" y="681537"/>
                </a:lnTo>
                <a:lnTo>
                  <a:pt x="11356" y="726930"/>
                </a:lnTo>
                <a:lnTo>
                  <a:pt x="5091" y="773127"/>
                </a:lnTo>
                <a:lnTo>
                  <a:pt x="1283" y="820060"/>
                </a:lnTo>
                <a:lnTo>
                  <a:pt x="0" y="867663"/>
                </a:lnTo>
                <a:lnTo>
                  <a:pt x="0" y="4905248"/>
                </a:lnTo>
                <a:lnTo>
                  <a:pt x="1283" y="4952851"/>
                </a:lnTo>
                <a:lnTo>
                  <a:pt x="5091" y="4999784"/>
                </a:lnTo>
                <a:lnTo>
                  <a:pt x="11356" y="5045981"/>
                </a:lnTo>
                <a:lnTo>
                  <a:pt x="20012" y="5091374"/>
                </a:lnTo>
                <a:lnTo>
                  <a:pt x="30993" y="5135898"/>
                </a:lnTo>
                <a:lnTo>
                  <a:pt x="44234" y="5179486"/>
                </a:lnTo>
                <a:lnTo>
                  <a:pt x="59667" y="5222073"/>
                </a:lnTo>
                <a:lnTo>
                  <a:pt x="77227" y="5263592"/>
                </a:lnTo>
                <a:lnTo>
                  <a:pt x="96847" y="5303977"/>
                </a:lnTo>
                <a:lnTo>
                  <a:pt x="118461" y="5343162"/>
                </a:lnTo>
                <a:lnTo>
                  <a:pt x="142004" y="5381081"/>
                </a:lnTo>
                <a:lnTo>
                  <a:pt x="167409" y="5417667"/>
                </a:lnTo>
                <a:lnTo>
                  <a:pt x="194609" y="5452855"/>
                </a:lnTo>
                <a:lnTo>
                  <a:pt x="223539" y="5486577"/>
                </a:lnTo>
                <a:lnTo>
                  <a:pt x="254133" y="5518769"/>
                </a:lnTo>
                <a:lnTo>
                  <a:pt x="286324" y="5549363"/>
                </a:lnTo>
                <a:lnTo>
                  <a:pt x="320046" y="5578294"/>
                </a:lnTo>
                <a:lnTo>
                  <a:pt x="355233" y="5605495"/>
                </a:lnTo>
                <a:lnTo>
                  <a:pt x="391819" y="5630900"/>
                </a:lnTo>
                <a:lnTo>
                  <a:pt x="429737" y="5654444"/>
                </a:lnTo>
                <a:lnTo>
                  <a:pt x="468922" y="5676059"/>
                </a:lnTo>
                <a:lnTo>
                  <a:pt x="509308" y="5695680"/>
                </a:lnTo>
                <a:lnTo>
                  <a:pt x="550827" y="5713241"/>
                </a:lnTo>
                <a:lnTo>
                  <a:pt x="593415" y="5728675"/>
                </a:lnTo>
                <a:lnTo>
                  <a:pt x="637004" y="5741916"/>
                </a:lnTo>
                <a:lnTo>
                  <a:pt x="681530" y="5752898"/>
                </a:lnTo>
                <a:lnTo>
                  <a:pt x="726924" y="5761555"/>
                </a:lnTo>
                <a:lnTo>
                  <a:pt x="773122" y="5767820"/>
                </a:lnTo>
                <a:lnTo>
                  <a:pt x="820057" y="5771628"/>
                </a:lnTo>
                <a:lnTo>
                  <a:pt x="867663" y="5772911"/>
                </a:lnTo>
                <a:lnTo>
                  <a:pt x="4338320" y="5772911"/>
                </a:lnTo>
                <a:lnTo>
                  <a:pt x="4385923" y="5771628"/>
                </a:lnTo>
                <a:lnTo>
                  <a:pt x="4432856" y="5767820"/>
                </a:lnTo>
                <a:lnTo>
                  <a:pt x="4479053" y="5761555"/>
                </a:lnTo>
                <a:lnTo>
                  <a:pt x="4524446" y="5752898"/>
                </a:lnTo>
                <a:lnTo>
                  <a:pt x="4568970" y="5741916"/>
                </a:lnTo>
                <a:lnTo>
                  <a:pt x="4612558" y="5728675"/>
                </a:lnTo>
                <a:lnTo>
                  <a:pt x="4655145" y="5713241"/>
                </a:lnTo>
                <a:lnTo>
                  <a:pt x="4696664" y="5695680"/>
                </a:lnTo>
                <a:lnTo>
                  <a:pt x="4737049" y="5676059"/>
                </a:lnTo>
                <a:lnTo>
                  <a:pt x="4776234" y="5654444"/>
                </a:lnTo>
                <a:lnTo>
                  <a:pt x="4814153" y="5630900"/>
                </a:lnTo>
                <a:lnTo>
                  <a:pt x="4850739" y="5605495"/>
                </a:lnTo>
                <a:lnTo>
                  <a:pt x="4885927" y="5578294"/>
                </a:lnTo>
                <a:lnTo>
                  <a:pt x="4919649" y="5549363"/>
                </a:lnTo>
                <a:lnTo>
                  <a:pt x="4951841" y="5518769"/>
                </a:lnTo>
                <a:lnTo>
                  <a:pt x="4982435" y="5486577"/>
                </a:lnTo>
                <a:lnTo>
                  <a:pt x="5011366" y="5452855"/>
                </a:lnTo>
                <a:lnTo>
                  <a:pt x="5038567" y="5417667"/>
                </a:lnTo>
                <a:lnTo>
                  <a:pt x="5063972" y="5381081"/>
                </a:lnTo>
                <a:lnTo>
                  <a:pt x="5087516" y="5343162"/>
                </a:lnTo>
                <a:lnTo>
                  <a:pt x="5109131" y="5303977"/>
                </a:lnTo>
                <a:lnTo>
                  <a:pt x="5128752" y="5263592"/>
                </a:lnTo>
                <a:lnTo>
                  <a:pt x="5146313" y="5222073"/>
                </a:lnTo>
                <a:lnTo>
                  <a:pt x="5161747" y="5179486"/>
                </a:lnTo>
                <a:lnTo>
                  <a:pt x="5174988" y="5135898"/>
                </a:lnTo>
                <a:lnTo>
                  <a:pt x="5185970" y="5091374"/>
                </a:lnTo>
                <a:lnTo>
                  <a:pt x="5194627" y="5045981"/>
                </a:lnTo>
                <a:lnTo>
                  <a:pt x="5200892" y="4999784"/>
                </a:lnTo>
                <a:lnTo>
                  <a:pt x="5204700" y="4952851"/>
                </a:lnTo>
                <a:lnTo>
                  <a:pt x="5205984" y="4905248"/>
                </a:lnTo>
                <a:lnTo>
                  <a:pt x="5205984" y="867663"/>
                </a:lnTo>
                <a:lnTo>
                  <a:pt x="5204700" y="820060"/>
                </a:lnTo>
                <a:lnTo>
                  <a:pt x="5200892" y="773127"/>
                </a:lnTo>
                <a:lnTo>
                  <a:pt x="5194627" y="726930"/>
                </a:lnTo>
                <a:lnTo>
                  <a:pt x="5185970" y="681537"/>
                </a:lnTo>
                <a:lnTo>
                  <a:pt x="5174988" y="637013"/>
                </a:lnTo>
                <a:lnTo>
                  <a:pt x="5161747" y="593425"/>
                </a:lnTo>
                <a:lnTo>
                  <a:pt x="5146313" y="550838"/>
                </a:lnTo>
                <a:lnTo>
                  <a:pt x="5128752" y="509319"/>
                </a:lnTo>
                <a:lnTo>
                  <a:pt x="5109131" y="468934"/>
                </a:lnTo>
                <a:lnTo>
                  <a:pt x="5087516" y="429749"/>
                </a:lnTo>
                <a:lnTo>
                  <a:pt x="5063972" y="391830"/>
                </a:lnTo>
                <a:lnTo>
                  <a:pt x="5038567" y="355244"/>
                </a:lnTo>
                <a:lnTo>
                  <a:pt x="5011366" y="320056"/>
                </a:lnTo>
                <a:lnTo>
                  <a:pt x="4982435" y="286334"/>
                </a:lnTo>
                <a:lnTo>
                  <a:pt x="4951841" y="254142"/>
                </a:lnTo>
                <a:lnTo>
                  <a:pt x="4919649" y="223548"/>
                </a:lnTo>
                <a:lnTo>
                  <a:pt x="4885927" y="194617"/>
                </a:lnTo>
                <a:lnTo>
                  <a:pt x="4850739" y="167416"/>
                </a:lnTo>
                <a:lnTo>
                  <a:pt x="4814153" y="142011"/>
                </a:lnTo>
                <a:lnTo>
                  <a:pt x="4776234" y="118467"/>
                </a:lnTo>
                <a:lnTo>
                  <a:pt x="4737049" y="96852"/>
                </a:lnTo>
                <a:lnTo>
                  <a:pt x="4696664" y="77231"/>
                </a:lnTo>
                <a:lnTo>
                  <a:pt x="4655145" y="59670"/>
                </a:lnTo>
                <a:lnTo>
                  <a:pt x="4612558" y="44236"/>
                </a:lnTo>
                <a:lnTo>
                  <a:pt x="4568970" y="30995"/>
                </a:lnTo>
                <a:lnTo>
                  <a:pt x="4524446" y="20013"/>
                </a:lnTo>
                <a:lnTo>
                  <a:pt x="4479053" y="11356"/>
                </a:lnTo>
                <a:lnTo>
                  <a:pt x="4432856" y="5091"/>
                </a:lnTo>
                <a:lnTo>
                  <a:pt x="4385923" y="1283"/>
                </a:lnTo>
                <a:lnTo>
                  <a:pt x="4338320" y="0"/>
                </a:lnTo>
                <a:close/>
              </a:path>
            </a:pathLst>
          </a:custGeom>
          <a:solidFill>
            <a:srgbClr val="87C8EB"/>
          </a:solidFill>
        </p:spPr>
        <p:txBody>
          <a:bodyPr wrap="square" lIns="0" tIns="0" rIns="0" bIns="0" rtlCol="0"/>
          <a:lstStyle/>
          <a:p>
            <a:endParaRPr/>
          </a:p>
        </p:txBody>
      </p:sp>
      <p:sp>
        <p:nvSpPr>
          <p:cNvPr id="5" name="object 5"/>
          <p:cNvSpPr txBox="1"/>
          <p:nvPr/>
        </p:nvSpPr>
        <p:spPr>
          <a:xfrm>
            <a:off x="2615310" y="488950"/>
            <a:ext cx="1664970" cy="848994"/>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4E79"/>
                </a:solidFill>
                <a:latin typeface="Roboto"/>
                <a:cs typeface="Roboto"/>
              </a:rPr>
              <a:t>Ramesh</a:t>
            </a:r>
            <a:endParaRPr sz="1800">
              <a:latin typeface="Roboto"/>
              <a:cs typeface="Roboto"/>
            </a:endParaRPr>
          </a:p>
          <a:p>
            <a:pPr marL="12700" marR="5080">
              <a:lnSpc>
                <a:spcPct val="100000"/>
              </a:lnSpc>
            </a:pPr>
            <a:r>
              <a:rPr sz="1800" dirty="0">
                <a:solidFill>
                  <a:srgbClr val="1F4E79"/>
                </a:solidFill>
                <a:latin typeface="Roboto"/>
                <a:cs typeface="Roboto"/>
              </a:rPr>
              <a:t>40,</a:t>
            </a:r>
            <a:r>
              <a:rPr sz="1800" spc="-20" dirty="0">
                <a:solidFill>
                  <a:srgbClr val="1F4E79"/>
                </a:solidFill>
                <a:latin typeface="Roboto"/>
                <a:cs typeface="Roboto"/>
              </a:rPr>
              <a:t> </a:t>
            </a:r>
            <a:r>
              <a:rPr sz="1800" dirty="0">
                <a:solidFill>
                  <a:srgbClr val="1F4E79"/>
                </a:solidFill>
                <a:latin typeface="Roboto"/>
                <a:cs typeface="Roboto"/>
              </a:rPr>
              <a:t>Store</a:t>
            </a:r>
            <a:r>
              <a:rPr sz="1800" spc="-5" dirty="0">
                <a:solidFill>
                  <a:srgbClr val="1F4E79"/>
                </a:solidFill>
                <a:latin typeface="Roboto"/>
                <a:cs typeface="Roboto"/>
              </a:rPr>
              <a:t> </a:t>
            </a:r>
            <a:r>
              <a:rPr sz="1800" spc="-20" dirty="0">
                <a:solidFill>
                  <a:srgbClr val="1F4E79"/>
                </a:solidFill>
                <a:latin typeface="Roboto"/>
                <a:cs typeface="Roboto"/>
              </a:rPr>
              <a:t>Owner </a:t>
            </a:r>
            <a:r>
              <a:rPr sz="1800" dirty="0">
                <a:solidFill>
                  <a:srgbClr val="1F4E79"/>
                </a:solidFill>
                <a:latin typeface="Roboto"/>
                <a:cs typeface="Roboto"/>
              </a:rPr>
              <a:t>New</a:t>
            </a:r>
            <a:r>
              <a:rPr sz="1800" spc="-20" dirty="0">
                <a:solidFill>
                  <a:srgbClr val="1F4E79"/>
                </a:solidFill>
                <a:latin typeface="Roboto"/>
                <a:cs typeface="Roboto"/>
              </a:rPr>
              <a:t> </a:t>
            </a:r>
            <a:r>
              <a:rPr sz="1800" dirty="0">
                <a:solidFill>
                  <a:srgbClr val="1F4E79"/>
                </a:solidFill>
                <a:latin typeface="Roboto"/>
                <a:cs typeface="Roboto"/>
              </a:rPr>
              <a:t>Delhi,</a:t>
            </a:r>
            <a:r>
              <a:rPr sz="1800" spc="-15" dirty="0">
                <a:solidFill>
                  <a:srgbClr val="1F4E79"/>
                </a:solidFill>
                <a:latin typeface="Roboto"/>
                <a:cs typeface="Roboto"/>
              </a:rPr>
              <a:t> </a:t>
            </a:r>
            <a:r>
              <a:rPr sz="1800" spc="-20" dirty="0">
                <a:solidFill>
                  <a:srgbClr val="1F4E79"/>
                </a:solidFill>
                <a:latin typeface="Roboto"/>
                <a:cs typeface="Roboto"/>
              </a:rPr>
              <a:t>India</a:t>
            </a:r>
            <a:endParaRPr sz="1800">
              <a:latin typeface="Roboto"/>
              <a:cs typeface="Roboto"/>
            </a:endParaRPr>
          </a:p>
        </p:txBody>
      </p:sp>
      <p:sp>
        <p:nvSpPr>
          <p:cNvPr id="6" name="object 6"/>
          <p:cNvSpPr txBox="1"/>
          <p:nvPr/>
        </p:nvSpPr>
        <p:spPr>
          <a:xfrm>
            <a:off x="8614409" y="494233"/>
            <a:ext cx="2576195" cy="848994"/>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FFFFFF"/>
                </a:solidFill>
                <a:latin typeface="Roboto"/>
                <a:cs typeface="Roboto"/>
              </a:rPr>
              <a:t>Suresh</a:t>
            </a:r>
            <a:endParaRPr sz="1800">
              <a:latin typeface="Roboto"/>
              <a:cs typeface="Roboto"/>
            </a:endParaRPr>
          </a:p>
          <a:p>
            <a:pPr marL="12700" marR="5080">
              <a:lnSpc>
                <a:spcPct val="100000"/>
              </a:lnSpc>
              <a:spcBef>
                <a:spcPts val="5"/>
              </a:spcBef>
            </a:pPr>
            <a:r>
              <a:rPr sz="1800" dirty="0">
                <a:solidFill>
                  <a:srgbClr val="FFFFFF"/>
                </a:solidFill>
                <a:latin typeface="Roboto"/>
                <a:cs typeface="Roboto"/>
              </a:rPr>
              <a:t>26,</a:t>
            </a:r>
            <a:r>
              <a:rPr sz="1800" spc="-35" dirty="0">
                <a:solidFill>
                  <a:srgbClr val="FFFFFF"/>
                </a:solidFill>
                <a:latin typeface="Roboto"/>
                <a:cs typeface="Roboto"/>
              </a:rPr>
              <a:t> </a:t>
            </a:r>
            <a:r>
              <a:rPr sz="1800" dirty="0">
                <a:solidFill>
                  <a:srgbClr val="FFFFFF"/>
                </a:solidFill>
                <a:latin typeface="Roboto"/>
                <a:cs typeface="Roboto"/>
              </a:rPr>
              <a:t>Working</a:t>
            </a:r>
            <a:r>
              <a:rPr sz="1800" spc="-25" dirty="0">
                <a:solidFill>
                  <a:srgbClr val="FFFFFF"/>
                </a:solidFill>
                <a:latin typeface="Roboto"/>
                <a:cs typeface="Roboto"/>
              </a:rPr>
              <a:t> </a:t>
            </a:r>
            <a:r>
              <a:rPr sz="1800" spc="-10" dirty="0">
                <a:solidFill>
                  <a:srgbClr val="FFFFFF"/>
                </a:solidFill>
                <a:latin typeface="Roboto"/>
                <a:cs typeface="Roboto"/>
              </a:rPr>
              <a:t>Professional </a:t>
            </a:r>
            <a:r>
              <a:rPr sz="1800" dirty="0">
                <a:solidFill>
                  <a:srgbClr val="FFFFFF"/>
                </a:solidFill>
                <a:latin typeface="Roboto"/>
                <a:cs typeface="Roboto"/>
              </a:rPr>
              <a:t>Gurgaon,</a:t>
            </a:r>
            <a:r>
              <a:rPr sz="1800" spc="-50" dirty="0">
                <a:solidFill>
                  <a:srgbClr val="FFFFFF"/>
                </a:solidFill>
                <a:latin typeface="Roboto"/>
                <a:cs typeface="Roboto"/>
              </a:rPr>
              <a:t> </a:t>
            </a:r>
            <a:r>
              <a:rPr sz="1800" spc="-20" dirty="0">
                <a:solidFill>
                  <a:srgbClr val="FFFFFF"/>
                </a:solidFill>
                <a:latin typeface="Roboto"/>
                <a:cs typeface="Roboto"/>
              </a:rPr>
              <a:t>India</a:t>
            </a:r>
            <a:endParaRPr sz="1800">
              <a:latin typeface="Roboto"/>
              <a:cs typeface="Roboto"/>
            </a:endParaRPr>
          </a:p>
        </p:txBody>
      </p:sp>
      <p:sp>
        <p:nvSpPr>
          <p:cNvPr id="7" name="object 7"/>
          <p:cNvSpPr txBox="1"/>
          <p:nvPr/>
        </p:nvSpPr>
        <p:spPr>
          <a:xfrm>
            <a:off x="6628256" y="1892553"/>
            <a:ext cx="5092700" cy="3658235"/>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1F4E79"/>
                </a:solidFill>
                <a:latin typeface="Roboto"/>
                <a:cs typeface="Roboto"/>
              </a:rPr>
              <a:t>Behaviour:</a:t>
            </a:r>
            <a:endParaRPr sz="1800">
              <a:latin typeface="Roboto"/>
              <a:cs typeface="Roboto"/>
            </a:endParaRPr>
          </a:p>
          <a:p>
            <a:pPr marL="12700">
              <a:lnSpc>
                <a:spcPct val="100000"/>
              </a:lnSpc>
            </a:pPr>
            <a:r>
              <a:rPr sz="1800" dirty="0">
                <a:solidFill>
                  <a:srgbClr val="53C1EF"/>
                </a:solidFill>
                <a:latin typeface="Roboto"/>
                <a:cs typeface="Roboto"/>
              </a:rPr>
              <a:t>Being</a:t>
            </a:r>
            <a:r>
              <a:rPr sz="1800" spc="-15" dirty="0">
                <a:solidFill>
                  <a:srgbClr val="53C1EF"/>
                </a:solidFill>
                <a:latin typeface="Roboto"/>
                <a:cs typeface="Roboto"/>
              </a:rPr>
              <a:t> </a:t>
            </a:r>
            <a:r>
              <a:rPr sz="1800" dirty="0">
                <a:solidFill>
                  <a:srgbClr val="FFFFFF"/>
                </a:solidFill>
                <a:latin typeface="Roboto"/>
                <a:cs typeface="Roboto"/>
              </a:rPr>
              <a:t>a</a:t>
            </a:r>
            <a:r>
              <a:rPr sz="1800" spc="-20" dirty="0">
                <a:solidFill>
                  <a:srgbClr val="FFFFFF"/>
                </a:solidFill>
                <a:latin typeface="Roboto"/>
                <a:cs typeface="Roboto"/>
              </a:rPr>
              <a:t> </a:t>
            </a:r>
            <a:r>
              <a:rPr sz="1800" dirty="0">
                <a:solidFill>
                  <a:srgbClr val="FFFFFF"/>
                </a:solidFill>
                <a:latin typeface="Roboto"/>
                <a:cs typeface="Roboto"/>
              </a:rPr>
              <a:t>netizen,</a:t>
            </a:r>
            <a:r>
              <a:rPr sz="1800" spc="-20" dirty="0">
                <a:solidFill>
                  <a:srgbClr val="FFFFFF"/>
                </a:solidFill>
                <a:latin typeface="Roboto"/>
                <a:cs typeface="Roboto"/>
              </a:rPr>
              <a:t> </a:t>
            </a:r>
            <a:r>
              <a:rPr sz="1800" dirty="0">
                <a:solidFill>
                  <a:srgbClr val="FFFFFF"/>
                </a:solidFill>
                <a:latin typeface="Roboto"/>
                <a:cs typeface="Roboto"/>
              </a:rPr>
              <a:t>he</a:t>
            </a:r>
            <a:r>
              <a:rPr sz="1800" spc="-15" dirty="0">
                <a:solidFill>
                  <a:srgbClr val="FFFFFF"/>
                </a:solidFill>
                <a:latin typeface="Roboto"/>
                <a:cs typeface="Roboto"/>
              </a:rPr>
              <a:t> </a:t>
            </a:r>
            <a:r>
              <a:rPr sz="1800" dirty="0">
                <a:solidFill>
                  <a:srgbClr val="FFFFFF"/>
                </a:solidFill>
                <a:latin typeface="Roboto"/>
                <a:cs typeface="Roboto"/>
              </a:rPr>
              <a:t>finds</a:t>
            </a:r>
            <a:r>
              <a:rPr sz="1800" spc="-10" dirty="0">
                <a:solidFill>
                  <a:srgbClr val="FFFFFF"/>
                </a:solidFill>
                <a:latin typeface="Roboto"/>
                <a:cs typeface="Roboto"/>
              </a:rPr>
              <a:t> </a:t>
            </a:r>
            <a:r>
              <a:rPr sz="1800" dirty="0">
                <a:solidFill>
                  <a:srgbClr val="FFFFFF"/>
                </a:solidFill>
                <a:latin typeface="Roboto"/>
                <a:cs typeface="Roboto"/>
              </a:rPr>
              <a:t>it</a:t>
            </a:r>
            <a:r>
              <a:rPr sz="1800" spc="-20" dirty="0">
                <a:solidFill>
                  <a:srgbClr val="FFFFFF"/>
                </a:solidFill>
                <a:latin typeface="Roboto"/>
                <a:cs typeface="Roboto"/>
              </a:rPr>
              <a:t> </a:t>
            </a:r>
            <a:r>
              <a:rPr sz="1800" dirty="0">
                <a:solidFill>
                  <a:srgbClr val="FFFFFF"/>
                </a:solidFill>
                <a:latin typeface="Roboto"/>
                <a:cs typeface="Roboto"/>
              </a:rPr>
              <a:t>intuitive</a:t>
            </a:r>
            <a:r>
              <a:rPr sz="1800" spc="-20" dirty="0">
                <a:solidFill>
                  <a:srgbClr val="FFFFFF"/>
                </a:solidFill>
                <a:latin typeface="Roboto"/>
                <a:cs typeface="Roboto"/>
              </a:rPr>
              <a:t> </a:t>
            </a:r>
            <a:r>
              <a:rPr sz="1800" dirty="0">
                <a:solidFill>
                  <a:srgbClr val="FFFFFF"/>
                </a:solidFill>
                <a:latin typeface="Roboto"/>
                <a:cs typeface="Roboto"/>
              </a:rPr>
              <a:t>to</a:t>
            </a:r>
            <a:r>
              <a:rPr sz="1800" spc="-15" dirty="0">
                <a:solidFill>
                  <a:srgbClr val="FFFFFF"/>
                </a:solidFill>
                <a:latin typeface="Roboto"/>
                <a:cs typeface="Roboto"/>
              </a:rPr>
              <a:t> </a:t>
            </a:r>
            <a:r>
              <a:rPr sz="1800" spc="-20" dirty="0">
                <a:solidFill>
                  <a:srgbClr val="FFFFFF"/>
                </a:solidFill>
                <a:latin typeface="Roboto"/>
                <a:cs typeface="Roboto"/>
              </a:rPr>
              <a:t>make</a:t>
            </a:r>
            <a:endParaRPr sz="1800">
              <a:latin typeface="Roboto"/>
              <a:cs typeface="Roboto"/>
            </a:endParaRPr>
          </a:p>
          <a:p>
            <a:pPr marL="12700" marR="368300">
              <a:lnSpc>
                <a:spcPct val="100000"/>
              </a:lnSpc>
            </a:pPr>
            <a:r>
              <a:rPr sz="1800" dirty="0">
                <a:solidFill>
                  <a:srgbClr val="FFFFFF"/>
                </a:solidFill>
                <a:latin typeface="Roboto"/>
                <a:cs typeface="Roboto"/>
              </a:rPr>
              <a:t>transactions</a:t>
            </a:r>
            <a:r>
              <a:rPr sz="1800" spc="-20" dirty="0">
                <a:solidFill>
                  <a:srgbClr val="FFFFFF"/>
                </a:solidFill>
                <a:latin typeface="Roboto"/>
                <a:cs typeface="Roboto"/>
              </a:rPr>
              <a:t> </a:t>
            </a:r>
            <a:r>
              <a:rPr sz="1800" dirty="0">
                <a:solidFill>
                  <a:srgbClr val="FFFFFF"/>
                </a:solidFill>
                <a:latin typeface="Roboto"/>
                <a:cs typeface="Roboto"/>
              </a:rPr>
              <a:t>cash</a:t>
            </a:r>
            <a:r>
              <a:rPr sz="1800" spc="-10" dirty="0">
                <a:solidFill>
                  <a:srgbClr val="FFFFFF"/>
                </a:solidFill>
                <a:latin typeface="Roboto"/>
                <a:cs typeface="Roboto"/>
              </a:rPr>
              <a:t> </a:t>
            </a:r>
            <a:r>
              <a:rPr sz="1800" dirty="0">
                <a:solidFill>
                  <a:srgbClr val="FFFFFF"/>
                </a:solidFill>
                <a:latin typeface="Roboto"/>
                <a:cs typeface="Roboto"/>
              </a:rPr>
              <a:t>free</a:t>
            </a:r>
            <a:r>
              <a:rPr sz="1800" spc="-20" dirty="0">
                <a:solidFill>
                  <a:srgbClr val="FFFFFF"/>
                </a:solidFill>
                <a:latin typeface="Roboto"/>
                <a:cs typeface="Roboto"/>
              </a:rPr>
              <a:t> </a:t>
            </a:r>
            <a:r>
              <a:rPr sz="1800" dirty="0">
                <a:solidFill>
                  <a:srgbClr val="FFFFFF"/>
                </a:solidFill>
                <a:latin typeface="Roboto"/>
                <a:cs typeface="Roboto"/>
              </a:rPr>
              <a:t>online. </a:t>
            </a:r>
            <a:r>
              <a:rPr sz="1800" dirty="0">
                <a:solidFill>
                  <a:srgbClr val="53C1EF"/>
                </a:solidFill>
                <a:latin typeface="Roboto"/>
                <a:cs typeface="Roboto"/>
              </a:rPr>
              <a:t>Frequent</a:t>
            </a:r>
            <a:r>
              <a:rPr sz="1800" spc="15" dirty="0">
                <a:solidFill>
                  <a:srgbClr val="53C1EF"/>
                </a:solidFill>
                <a:latin typeface="Roboto"/>
                <a:cs typeface="Roboto"/>
              </a:rPr>
              <a:t> </a:t>
            </a:r>
            <a:r>
              <a:rPr sz="1800" spc="-10" dirty="0">
                <a:solidFill>
                  <a:srgbClr val="FFFFFF"/>
                </a:solidFill>
                <a:latin typeface="Roboto"/>
                <a:cs typeface="Roboto"/>
              </a:rPr>
              <a:t>online </a:t>
            </a:r>
            <a:r>
              <a:rPr sz="1800" dirty="0">
                <a:solidFill>
                  <a:srgbClr val="FFFFFF"/>
                </a:solidFill>
                <a:latin typeface="Roboto"/>
                <a:cs typeface="Roboto"/>
              </a:rPr>
              <a:t>orders,</a:t>
            </a:r>
            <a:r>
              <a:rPr sz="1800" spc="-15" dirty="0">
                <a:solidFill>
                  <a:srgbClr val="FFFFFF"/>
                </a:solidFill>
                <a:latin typeface="Roboto"/>
                <a:cs typeface="Roboto"/>
              </a:rPr>
              <a:t> </a:t>
            </a:r>
            <a:r>
              <a:rPr sz="1800" dirty="0">
                <a:solidFill>
                  <a:srgbClr val="FFFFFF"/>
                </a:solidFill>
                <a:latin typeface="Roboto"/>
                <a:cs typeface="Roboto"/>
              </a:rPr>
              <a:t>seeks</a:t>
            </a:r>
            <a:r>
              <a:rPr sz="1800" spc="-15" dirty="0">
                <a:solidFill>
                  <a:srgbClr val="FFFFFF"/>
                </a:solidFill>
                <a:latin typeface="Roboto"/>
                <a:cs typeface="Roboto"/>
              </a:rPr>
              <a:t> </a:t>
            </a:r>
            <a:r>
              <a:rPr sz="1800" dirty="0">
                <a:solidFill>
                  <a:srgbClr val="FFFFFF"/>
                </a:solidFill>
                <a:latin typeface="Roboto"/>
                <a:cs typeface="Roboto"/>
              </a:rPr>
              <a:t>cash</a:t>
            </a:r>
            <a:r>
              <a:rPr sz="1800" spc="-15" dirty="0">
                <a:solidFill>
                  <a:srgbClr val="FFFFFF"/>
                </a:solidFill>
                <a:latin typeface="Roboto"/>
                <a:cs typeface="Roboto"/>
              </a:rPr>
              <a:t> </a:t>
            </a:r>
            <a:r>
              <a:rPr sz="1800" dirty="0">
                <a:solidFill>
                  <a:srgbClr val="FFFFFF"/>
                </a:solidFill>
                <a:latin typeface="Roboto"/>
                <a:cs typeface="Roboto"/>
              </a:rPr>
              <a:t>free</a:t>
            </a:r>
            <a:r>
              <a:rPr sz="1800" spc="-20" dirty="0">
                <a:solidFill>
                  <a:srgbClr val="FFFFFF"/>
                </a:solidFill>
                <a:latin typeface="Roboto"/>
                <a:cs typeface="Roboto"/>
              </a:rPr>
              <a:t> </a:t>
            </a:r>
            <a:r>
              <a:rPr sz="1800" dirty="0">
                <a:solidFill>
                  <a:srgbClr val="FFFFFF"/>
                </a:solidFill>
                <a:latin typeface="Roboto"/>
                <a:cs typeface="Roboto"/>
              </a:rPr>
              <a:t>options</a:t>
            </a:r>
            <a:r>
              <a:rPr sz="1800" spc="-15" dirty="0">
                <a:solidFill>
                  <a:srgbClr val="FFFFFF"/>
                </a:solidFill>
                <a:latin typeface="Roboto"/>
                <a:cs typeface="Roboto"/>
              </a:rPr>
              <a:t> </a:t>
            </a:r>
            <a:r>
              <a:rPr sz="1800" dirty="0">
                <a:solidFill>
                  <a:srgbClr val="FFFFFF"/>
                </a:solidFill>
                <a:latin typeface="Roboto"/>
                <a:cs typeface="Roboto"/>
              </a:rPr>
              <a:t>in</a:t>
            </a:r>
            <a:r>
              <a:rPr sz="1800" spc="-10" dirty="0">
                <a:solidFill>
                  <a:srgbClr val="FFFFFF"/>
                </a:solidFill>
                <a:latin typeface="Roboto"/>
                <a:cs typeface="Roboto"/>
              </a:rPr>
              <a:t> physical</a:t>
            </a:r>
            <a:endParaRPr sz="1800">
              <a:latin typeface="Roboto"/>
              <a:cs typeface="Roboto"/>
            </a:endParaRPr>
          </a:p>
          <a:p>
            <a:pPr marL="12700">
              <a:lnSpc>
                <a:spcPct val="100000"/>
              </a:lnSpc>
            </a:pPr>
            <a:r>
              <a:rPr sz="1800" dirty="0">
                <a:solidFill>
                  <a:srgbClr val="FFFFFF"/>
                </a:solidFill>
                <a:latin typeface="Roboto"/>
                <a:cs typeface="Roboto"/>
              </a:rPr>
              <a:t>stores</a:t>
            </a:r>
            <a:r>
              <a:rPr sz="1800" spc="-35" dirty="0">
                <a:solidFill>
                  <a:srgbClr val="FFFFFF"/>
                </a:solidFill>
                <a:latin typeface="Roboto"/>
                <a:cs typeface="Roboto"/>
              </a:rPr>
              <a:t> </a:t>
            </a:r>
            <a:r>
              <a:rPr sz="1800" dirty="0">
                <a:solidFill>
                  <a:srgbClr val="FFFFFF"/>
                </a:solidFill>
                <a:latin typeface="Roboto"/>
                <a:cs typeface="Roboto"/>
              </a:rPr>
              <a:t>as</a:t>
            </a:r>
            <a:r>
              <a:rPr sz="1800" spc="-30" dirty="0">
                <a:solidFill>
                  <a:srgbClr val="FFFFFF"/>
                </a:solidFill>
                <a:latin typeface="Roboto"/>
                <a:cs typeface="Roboto"/>
              </a:rPr>
              <a:t> </a:t>
            </a:r>
            <a:r>
              <a:rPr sz="1800" spc="-20" dirty="0">
                <a:solidFill>
                  <a:srgbClr val="FFFFFF"/>
                </a:solidFill>
                <a:latin typeface="Roboto"/>
                <a:cs typeface="Roboto"/>
              </a:rPr>
              <a:t>well.</a:t>
            </a:r>
            <a:endParaRPr sz="1800">
              <a:latin typeface="Roboto"/>
              <a:cs typeface="Roboto"/>
            </a:endParaRPr>
          </a:p>
          <a:p>
            <a:pPr marL="12700">
              <a:lnSpc>
                <a:spcPct val="100000"/>
              </a:lnSpc>
              <a:spcBef>
                <a:spcPts val="1480"/>
              </a:spcBef>
            </a:pPr>
            <a:r>
              <a:rPr sz="1800" b="1" dirty="0">
                <a:solidFill>
                  <a:srgbClr val="1F4E79"/>
                </a:solidFill>
                <a:latin typeface="Roboto"/>
                <a:cs typeface="Roboto"/>
              </a:rPr>
              <a:t>Pain</a:t>
            </a:r>
            <a:r>
              <a:rPr sz="1800" b="1" spc="-15" dirty="0">
                <a:solidFill>
                  <a:srgbClr val="1F4E79"/>
                </a:solidFill>
                <a:latin typeface="Roboto"/>
                <a:cs typeface="Roboto"/>
              </a:rPr>
              <a:t> </a:t>
            </a:r>
            <a:r>
              <a:rPr sz="1800" b="1" spc="-10" dirty="0">
                <a:solidFill>
                  <a:srgbClr val="1F4E79"/>
                </a:solidFill>
                <a:latin typeface="Roboto"/>
                <a:cs typeface="Roboto"/>
              </a:rPr>
              <a:t>Points:</a:t>
            </a:r>
            <a:endParaRPr sz="1800">
              <a:latin typeface="Roboto"/>
              <a:cs typeface="Roboto"/>
            </a:endParaRPr>
          </a:p>
          <a:p>
            <a:pPr marL="12700" marR="39370">
              <a:lnSpc>
                <a:spcPct val="100000"/>
              </a:lnSpc>
            </a:pPr>
            <a:r>
              <a:rPr sz="1800" dirty="0">
                <a:solidFill>
                  <a:srgbClr val="53C1EF"/>
                </a:solidFill>
                <a:latin typeface="Roboto"/>
                <a:cs typeface="Roboto"/>
              </a:rPr>
              <a:t>Some</a:t>
            </a:r>
            <a:r>
              <a:rPr sz="1800" spc="-10" dirty="0">
                <a:solidFill>
                  <a:srgbClr val="53C1EF"/>
                </a:solidFill>
                <a:latin typeface="Roboto"/>
                <a:cs typeface="Roboto"/>
              </a:rPr>
              <a:t> </a:t>
            </a:r>
            <a:r>
              <a:rPr sz="1800" dirty="0">
                <a:solidFill>
                  <a:srgbClr val="FFFFFF"/>
                </a:solidFill>
                <a:latin typeface="Roboto"/>
                <a:cs typeface="Roboto"/>
              </a:rPr>
              <a:t>offline</a:t>
            </a:r>
            <a:r>
              <a:rPr sz="1800" spc="-10" dirty="0">
                <a:solidFill>
                  <a:srgbClr val="FFFFFF"/>
                </a:solidFill>
                <a:latin typeface="Roboto"/>
                <a:cs typeface="Roboto"/>
              </a:rPr>
              <a:t> </a:t>
            </a:r>
            <a:r>
              <a:rPr sz="1800" dirty="0">
                <a:solidFill>
                  <a:srgbClr val="FFFFFF"/>
                </a:solidFill>
                <a:latin typeface="Roboto"/>
                <a:cs typeface="Roboto"/>
              </a:rPr>
              <a:t>stores</a:t>
            </a:r>
            <a:r>
              <a:rPr sz="1800" spc="-20" dirty="0">
                <a:solidFill>
                  <a:srgbClr val="FFFFFF"/>
                </a:solidFill>
                <a:latin typeface="Roboto"/>
                <a:cs typeface="Roboto"/>
              </a:rPr>
              <a:t> </a:t>
            </a:r>
            <a:r>
              <a:rPr sz="1800" spc="-10" dirty="0">
                <a:solidFill>
                  <a:srgbClr val="FFFFFF"/>
                </a:solidFill>
                <a:latin typeface="Roboto"/>
                <a:cs typeface="Roboto"/>
              </a:rPr>
              <a:t>aren’t</a:t>
            </a:r>
            <a:r>
              <a:rPr sz="1800" spc="-5" dirty="0">
                <a:solidFill>
                  <a:srgbClr val="FFFFFF"/>
                </a:solidFill>
                <a:latin typeface="Roboto"/>
                <a:cs typeface="Roboto"/>
              </a:rPr>
              <a:t> </a:t>
            </a:r>
            <a:r>
              <a:rPr sz="1800" dirty="0">
                <a:solidFill>
                  <a:srgbClr val="FFFFFF"/>
                </a:solidFill>
                <a:latin typeface="Roboto"/>
                <a:cs typeface="Roboto"/>
              </a:rPr>
              <a:t>familiar</a:t>
            </a:r>
            <a:r>
              <a:rPr sz="1800" spc="-25" dirty="0">
                <a:solidFill>
                  <a:srgbClr val="FFFFFF"/>
                </a:solidFill>
                <a:latin typeface="Roboto"/>
                <a:cs typeface="Roboto"/>
              </a:rPr>
              <a:t> </a:t>
            </a:r>
            <a:r>
              <a:rPr sz="1800" dirty="0">
                <a:solidFill>
                  <a:srgbClr val="FFFFFF"/>
                </a:solidFill>
                <a:latin typeface="Roboto"/>
                <a:cs typeface="Roboto"/>
              </a:rPr>
              <a:t>with</a:t>
            </a:r>
            <a:r>
              <a:rPr sz="1800" spc="-10" dirty="0">
                <a:solidFill>
                  <a:srgbClr val="FFFFFF"/>
                </a:solidFill>
                <a:latin typeface="Roboto"/>
                <a:cs typeface="Roboto"/>
              </a:rPr>
              <a:t> </a:t>
            </a:r>
            <a:r>
              <a:rPr sz="1800" dirty="0">
                <a:solidFill>
                  <a:srgbClr val="FFFFFF"/>
                </a:solidFill>
                <a:latin typeface="Roboto"/>
                <a:cs typeface="Roboto"/>
              </a:rPr>
              <a:t>cash</a:t>
            </a:r>
            <a:r>
              <a:rPr sz="1800" spc="-20" dirty="0">
                <a:solidFill>
                  <a:srgbClr val="FFFFFF"/>
                </a:solidFill>
                <a:latin typeface="Roboto"/>
                <a:cs typeface="Roboto"/>
              </a:rPr>
              <a:t> free </a:t>
            </a:r>
            <a:r>
              <a:rPr sz="1800" dirty="0">
                <a:solidFill>
                  <a:srgbClr val="FFFFFF"/>
                </a:solidFill>
                <a:latin typeface="Roboto"/>
                <a:cs typeface="Roboto"/>
              </a:rPr>
              <a:t>systems, hates</a:t>
            </a:r>
            <a:r>
              <a:rPr sz="1800" spc="-10" dirty="0">
                <a:solidFill>
                  <a:srgbClr val="FFFFFF"/>
                </a:solidFill>
                <a:latin typeface="Roboto"/>
                <a:cs typeface="Roboto"/>
              </a:rPr>
              <a:t> </a:t>
            </a:r>
            <a:r>
              <a:rPr sz="1800" dirty="0">
                <a:solidFill>
                  <a:srgbClr val="FFFFFF"/>
                </a:solidFill>
                <a:latin typeface="Roboto"/>
                <a:cs typeface="Roboto"/>
              </a:rPr>
              <a:t>that</a:t>
            </a:r>
            <a:r>
              <a:rPr sz="1800" spc="15" dirty="0">
                <a:solidFill>
                  <a:srgbClr val="FFFFFF"/>
                </a:solidFill>
                <a:latin typeface="Roboto"/>
                <a:cs typeface="Roboto"/>
              </a:rPr>
              <a:t> </a:t>
            </a:r>
            <a:r>
              <a:rPr sz="1800" dirty="0">
                <a:solidFill>
                  <a:srgbClr val="FFFFFF"/>
                </a:solidFill>
                <a:latin typeface="Roboto"/>
                <a:cs typeface="Roboto"/>
              </a:rPr>
              <a:t>as</a:t>
            </a:r>
            <a:r>
              <a:rPr sz="1800" spc="-10" dirty="0">
                <a:solidFill>
                  <a:srgbClr val="FFFFFF"/>
                </a:solidFill>
                <a:latin typeface="Roboto"/>
                <a:cs typeface="Roboto"/>
              </a:rPr>
              <a:t> </a:t>
            </a:r>
            <a:r>
              <a:rPr sz="1800" dirty="0">
                <a:solidFill>
                  <a:srgbClr val="FFFFFF"/>
                </a:solidFill>
                <a:latin typeface="Roboto"/>
                <a:cs typeface="Roboto"/>
              </a:rPr>
              <a:t>he</a:t>
            </a:r>
            <a:r>
              <a:rPr sz="1800" spc="10" dirty="0">
                <a:solidFill>
                  <a:srgbClr val="FFFFFF"/>
                </a:solidFill>
                <a:latin typeface="Roboto"/>
                <a:cs typeface="Roboto"/>
              </a:rPr>
              <a:t> </a:t>
            </a:r>
            <a:r>
              <a:rPr sz="1800" dirty="0">
                <a:solidFill>
                  <a:srgbClr val="FFFFFF"/>
                </a:solidFill>
                <a:latin typeface="Roboto"/>
                <a:cs typeface="Roboto"/>
              </a:rPr>
              <a:t>is</a:t>
            </a:r>
            <a:r>
              <a:rPr sz="1800" spc="-15" dirty="0">
                <a:solidFill>
                  <a:srgbClr val="FFFFFF"/>
                </a:solidFill>
                <a:latin typeface="Roboto"/>
                <a:cs typeface="Roboto"/>
              </a:rPr>
              <a:t> </a:t>
            </a:r>
            <a:r>
              <a:rPr sz="1800" dirty="0">
                <a:solidFill>
                  <a:srgbClr val="FFFFFF"/>
                </a:solidFill>
                <a:latin typeface="Roboto"/>
                <a:cs typeface="Roboto"/>
              </a:rPr>
              <a:t>forced</a:t>
            </a:r>
            <a:r>
              <a:rPr sz="1800" spc="-15" dirty="0">
                <a:solidFill>
                  <a:srgbClr val="FFFFFF"/>
                </a:solidFill>
                <a:latin typeface="Roboto"/>
                <a:cs typeface="Roboto"/>
              </a:rPr>
              <a:t> </a:t>
            </a:r>
            <a:r>
              <a:rPr sz="1800" dirty="0">
                <a:solidFill>
                  <a:srgbClr val="FFFFFF"/>
                </a:solidFill>
                <a:latin typeface="Roboto"/>
                <a:cs typeface="Roboto"/>
              </a:rPr>
              <a:t>to carry</a:t>
            </a:r>
            <a:r>
              <a:rPr sz="1800" spc="5" dirty="0">
                <a:solidFill>
                  <a:srgbClr val="FFFFFF"/>
                </a:solidFill>
                <a:latin typeface="Roboto"/>
                <a:cs typeface="Roboto"/>
              </a:rPr>
              <a:t> </a:t>
            </a:r>
            <a:r>
              <a:rPr sz="1800" spc="-10" dirty="0">
                <a:solidFill>
                  <a:srgbClr val="FFFFFF"/>
                </a:solidFill>
                <a:latin typeface="Roboto"/>
                <a:cs typeface="Roboto"/>
              </a:rPr>
              <a:t>cash.</a:t>
            </a:r>
            <a:endParaRPr sz="1800">
              <a:latin typeface="Roboto"/>
              <a:cs typeface="Roboto"/>
            </a:endParaRPr>
          </a:p>
          <a:p>
            <a:pPr marL="12700" marR="5080">
              <a:lnSpc>
                <a:spcPct val="100000"/>
              </a:lnSpc>
              <a:spcBef>
                <a:spcPts val="600"/>
              </a:spcBef>
            </a:pPr>
            <a:r>
              <a:rPr sz="1800" spc="-10" dirty="0">
                <a:solidFill>
                  <a:srgbClr val="53C1EF"/>
                </a:solidFill>
                <a:latin typeface="Roboto"/>
                <a:cs typeface="Roboto"/>
              </a:rPr>
              <a:t>Doesn’t</a:t>
            </a:r>
            <a:r>
              <a:rPr sz="1800" spc="-15" dirty="0">
                <a:solidFill>
                  <a:srgbClr val="53C1EF"/>
                </a:solidFill>
                <a:latin typeface="Roboto"/>
                <a:cs typeface="Roboto"/>
              </a:rPr>
              <a:t> </a:t>
            </a:r>
            <a:r>
              <a:rPr sz="1800" dirty="0">
                <a:solidFill>
                  <a:srgbClr val="FFFFFF"/>
                </a:solidFill>
                <a:latin typeface="Roboto"/>
                <a:cs typeface="Roboto"/>
              </a:rPr>
              <a:t>prefer</a:t>
            </a:r>
            <a:r>
              <a:rPr sz="1800" spc="-30" dirty="0">
                <a:solidFill>
                  <a:srgbClr val="FFFFFF"/>
                </a:solidFill>
                <a:latin typeface="Roboto"/>
                <a:cs typeface="Roboto"/>
              </a:rPr>
              <a:t> </a:t>
            </a:r>
            <a:r>
              <a:rPr sz="1800" dirty="0">
                <a:solidFill>
                  <a:srgbClr val="FFFFFF"/>
                </a:solidFill>
                <a:latin typeface="Roboto"/>
                <a:cs typeface="Roboto"/>
              </a:rPr>
              <a:t>to</a:t>
            </a:r>
            <a:r>
              <a:rPr sz="1800" spc="-15" dirty="0">
                <a:solidFill>
                  <a:srgbClr val="FFFFFF"/>
                </a:solidFill>
                <a:latin typeface="Roboto"/>
                <a:cs typeface="Roboto"/>
              </a:rPr>
              <a:t> </a:t>
            </a:r>
            <a:r>
              <a:rPr sz="1800" dirty="0">
                <a:solidFill>
                  <a:srgbClr val="FFFFFF"/>
                </a:solidFill>
                <a:latin typeface="Roboto"/>
                <a:cs typeface="Roboto"/>
              </a:rPr>
              <a:t>carry</a:t>
            </a:r>
            <a:r>
              <a:rPr sz="1800" spc="-25" dirty="0">
                <a:solidFill>
                  <a:srgbClr val="FFFFFF"/>
                </a:solidFill>
                <a:latin typeface="Roboto"/>
                <a:cs typeface="Roboto"/>
              </a:rPr>
              <a:t> </a:t>
            </a:r>
            <a:r>
              <a:rPr sz="1800" dirty="0">
                <a:solidFill>
                  <a:srgbClr val="FFFFFF"/>
                </a:solidFill>
                <a:latin typeface="Roboto"/>
                <a:cs typeface="Roboto"/>
              </a:rPr>
              <a:t>wallet</a:t>
            </a:r>
            <a:r>
              <a:rPr sz="1800" spc="-20" dirty="0">
                <a:solidFill>
                  <a:srgbClr val="FFFFFF"/>
                </a:solidFill>
                <a:latin typeface="Roboto"/>
                <a:cs typeface="Roboto"/>
              </a:rPr>
              <a:t> </a:t>
            </a:r>
            <a:r>
              <a:rPr sz="1800" dirty="0">
                <a:solidFill>
                  <a:srgbClr val="FFFFFF"/>
                </a:solidFill>
                <a:latin typeface="Roboto"/>
                <a:cs typeface="Roboto"/>
              </a:rPr>
              <a:t>(for</a:t>
            </a:r>
            <a:r>
              <a:rPr sz="1800" spc="-25" dirty="0">
                <a:solidFill>
                  <a:srgbClr val="FFFFFF"/>
                </a:solidFill>
                <a:latin typeface="Roboto"/>
                <a:cs typeface="Roboto"/>
              </a:rPr>
              <a:t> </a:t>
            </a:r>
            <a:r>
              <a:rPr sz="1800" dirty="0">
                <a:solidFill>
                  <a:srgbClr val="FFFFFF"/>
                </a:solidFill>
                <a:latin typeface="Roboto"/>
                <a:cs typeface="Roboto"/>
              </a:rPr>
              <a:t>cash</a:t>
            </a:r>
            <a:r>
              <a:rPr sz="1800" spc="-30" dirty="0">
                <a:solidFill>
                  <a:srgbClr val="FFFFFF"/>
                </a:solidFill>
                <a:latin typeface="Roboto"/>
                <a:cs typeface="Roboto"/>
              </a:rPr>
              <a:t> </a:t>
            </a:r>
            <a:r>
              <a:rPr sz="1800" dirty="0">
                <a:solidFill>
                  <a:srgbClr val="FFFFFF"/>
                </a:solidFill>
                <a:latin typeface="Roboto"/>
                <a:cs typeface="Roboto"/>
              </a:rPr>
              <a:t>and</a:t>
            </a:r>
            <a:r>
              <a:rPr sz="1800" spc="-15" dirty="0">
                <a:solidFill>
                  <a:srgbClr val="FFFFFF"/>
                </a:solidFill>
                <a:latin typeface="Roboto"/>
                <a:cs typeface="Roboto"/>
              </a:rPr>
              <a:t> </a:t>
            </a:r>
            <a:r>
              <a:rPr sz="1800" spc="-10" dirty="0">
                <a:solidFill>
                  <a:srgbClr val="FFFFFF"/>
                </a:solidFill>
                <a:latin typeface="Roboto"/>
                <a:cs typeface="Roboto"/>
              </a:rPr>
              <a:t>cards) </a:t>
            </a:r>
            <a:r>
              <a:rPr sz="1800" dirty="0">
                <a:solidFill>
                  <a:srgbClr val="FFFFFF"/>
                </a:solidFill>
                <a:latin typeface="Roboto"/>
                <a:cs typeface="Roboto"/>
              </a:rPr>
              <a:t>as</a:t>
            </a:r>
            <a:r>
              <a:rPr sz="1800" spc="-5" dirty="0">
                <a:solidFill>
                  <a:srgbClr val="FFFFFF"/>
                </a:solidFill>
                <a:latin typeface="Roboto"/>
                <a:cs typeface="Roboto"/>
              </a:rPr>
              <a:t> </a:t>
            </a:r>
            <a:r>
              <a:rPr sz="1800" dirty="0">
                <a:solidFill>
                  <a:srgbClr val="FFFFFF"/>
                </a:solidFill>
                <a:latin typeface="Roboto"/>
                <a:cs typeface="Roboto"/>
              </a:rPr>
              <a:t>it</a:t>
            </a:r>
            <a:r>
              <a:rPr sz="1800" spc="-5" dirty="0">
                <a:solidFill>
                  <a:srgbClr val="FFFFFF"/>
                </a:solidFill>
                <a:latin typeface="Roboto"/>
                <a:cs typeface="Roboto"/>
              </a:rPr>
              <a:t> </a:t>
            </a:r>
            <a:r>
              <a:rPr sz="1800" dirty="0">
                <a:solidFill>
                  <a:srgbClr val="FFFFFF"/>
                </a:solidFill>
                <a:latin typeface="Roboto"/>
                <a:cs typeface="Roboto"/>
              </a:rPr>
              <a:t>may</a:t>
            </a:r>
            <a:r>
              <a:rPr sz="1800" spc="-5" dirty="0">
                <a:solidFill>
                  <a:srgbClr val="FFFFFF"/>
                </a:solidFill>
                <a:latin typeface="Roboto"/>
                <a:cs typeface="Roboto"/>
              </a:rPr>
              <a:t> </a:t>
            </a:r>
            <a:r>
              <a:rPr sz="1800" dirty="0">
                <a:solidFill>
                  <a:srgbClr val="FFFFFF"/>
                </a:solidFill>
                <a:latin typeface="Roboto"/>
                <a:cs typeface="Roboto"/>
              </a:rPr>
              <a:t>get </a:t>
            </a:r>
            <a:r>
              <a:rPr sz="1800" spc="-10" dirty="0">
                <a:solidFill>
                  <a:srgbClr val="FFFFFF"/>
                </a:solidFill>
                <a:latin typeface="Roboto"/>
                <a:cs typeface="Roboto"/>
              </a:rPr>
              <a:t>stolen.</a:t>
            </a:r>
            <a:endParaRPr sz="1800">
              <a:latin typeface="Roboto"/>
              <a:cs typeface="Roboto"/>
            </a:endParaRPr>
          </a:p>
          <a:p>
            <a:pPr marL="12700">
              <a:lnSpc>
                <a:spcPct val="100000"/>
              </a:lnSpc>
              <a:spcBef>
                <a:spcPts val="600"/>
              </a:spcBef>
            </a:pPr>
            <a:r>
              <a:rPr sz="1800" dirty="0">
                <a:solidFill>
                  <a:srgbClr val="53C1EF"/>
                </a:solidFill>
                <a:latin typeface="Roboto"/>
                <a:cs typeface="Roboto"/>
              </a:rPr>
              <a:t>Finds</a:t>
            </a:r>
            <a:r>
              <a:rPr sz="1800" spc="-30" dirty="0">
                <a:solidFill>
                  <a:srgbClr val="53C1EF"/>
                </a:solidFill>
                <a:latin typeface="Roboto"/>
                <a:cs typeface="Roboto"/>
              </a:rPr>
              <a:t> </a:t>
            </a:r>
            <a:r>
              <a:rPr sz="1800" dirty="0">
                <a:solidFill>
                  <a:srgbClr val="FFFFFF"/>
                </a:solidFill>
                <a:latin typeface="Roboto"/>
                <a:cs typeface="Roboto"/>
              </a:rPr>
              <a:t>his</a:t>
            </a:r>
            <a:r>
              <a:rPr sz="1800" spc="-30" dirty="0">
                <a:solidFill>
                  <a:srgbClr val="FFFFFF"/>
                </a:solidFill>
                <a:latin typeface="Roboto"/>
                <a:cs typeface="Roboto"/>
              </a:rPr>
              <a:t> </a:t>
            </a:r>
            <a:r>
              <a:rPr sz="1800" spc="-20" dirty="0">
                <a:solidFill>
                  <a:srgbClr val="FFFFFF"/>
                </a:solidFill>
                <a:latin typeface="Roboto"/>
                <a:cs typeface="Roboto"/>
              </a:rPr>
              <a:t>bank’s</a:t>
            </a:r>
            <a:r>
              <a:rPr sz="1800" spc="-15" dirty="0">
                <a:solidFill>
                  <a:srgbClr val="FFFFFF"/>
                </a:solidFill>
                <a:latin typeface="Roboto"/>
                <a:cs typeface="Roboto"/>
              </a:rPr>
              <a:t> </a:t>
            </a:r>
            <a:r>
              <a:rPr sz="1800" dirty="0">
                <a:solidFill>
                  <a:srgbClr val="FFFFFF"/>
                </a:solidFill>
                <a:latin typeface="Roboto"/>
                <a:cs typeface="Roboto"/>
              </a:rPr>
              <a:t>app</a:t>
            </a:r>
            <a:r>
              <a:rPr sz="1800" spc="-30" dirty="0">
                <a:solidFill>
                  <a:srgbClr val="FFFFFF"/>
                </a:solidFill>
                <a:latin typeface="Roboto"/>
                <a:cs typeface="Roboto"/>
              </a:rPr>
              <a:t> </a:t>
            </a:r>
            <a:r>
              <a:rPr sz="1800" dirty="0">
                <a:solidFill>
                  <a:srgbClr val="FFFFFF"/>
                </a:solidFill>
                <a:latin typeface="Roboto"/>
                <a:cs typeface="Roboto"/>
              </a:rPr>
              <a:t>inconvenient</a:t>
            </a:r>
            <a:r>
              <a:rPr sz="1800" spc="-5" dirty="0">
                <a:solidFill>
                  <a:srgbClr val="FFFFFF"/>
                </a:solidFill>
                <a:latin typeface="Roboto"/>
                <a:cs typeface="Roboto"/>
              </a:rPr>
              <a:t> </a:t>
            </a:r>
            <a:r>
              <a:rPr sz="1800" dirty="0">
                <a:solidFill>
                  <a:srgbClr val="FFFFFF"/>
                </a:solidFill>
                <a:latin typeface="Roboto"/>
                <a:cs typeface="Roboto"/>
              </a:rPr>
              <a:t>to</a:t>
            </a:r>
            <a:r>
              <a:rPr sz="1800" spc="-25" dirty="0">
                <a:solidFill>
                  <a:srgbClr val="FFFFFF"/>
                </a:solidFill>
                <a:latin typeface="Roboto"/>
                <a:cs typeface="Roboto"/>
              </a:rPr>
              <a:t> </a:t>
            </a:r>
            <a:r>
              <a:rPr sz="1800" spc="-10" dirty="0">
                <a:solidFill>
                  <a:srgbClr val="FFFFFF"/>
                </a:solidFill>
                <a:latin typeface="Roboto"/>
                <a:cs typeface="Roboto"/>
              </a:rPr>
              <a:t>check</a:t>
            </a:r>
            <a:endParaRPr sz="1800">
              <a:latin typeface="Roboto"/>
              <a:cs typeface="Roboto"/>
            </a:endParaRPr>
          </a:p>
          <a:p>
            <a:pPr marL="12700">
              <a:lnSpc>
                <a:spcPct val="100000"/>
              </a:lnSpc>
              <a:spcBef>
                <a:spcPts val="5"/>
              </a:spcBef>
            </a:pPr>
            <a:r>
              <a:rPr sz="1800" dirty="0">
                <a:solidFill>
                  <a:srgbClr val="FFFFFF"/>
                </a:solidFill>
                <a:latin typeface="Roboto"/>
                <a:cs typeface="Roboto"/>
              </a:rPr>
              <a:t>balances</a:t>
            </a:r>
            <a:r>
              <a:rPr sz="1800" spc="-15" dirty="0">
                <a:solidFill>
                  <a:srgbClr val="FFFFFF"/>
                </a:solidFill>
                <a:latin typeface="Roboto"/>
                <a:cs typeface="Roboto"/>
              </a:rPr>
              <a:t> </a:t>
            </a:r>
            <a:r>
              <a:rPr sz="1800" dirty="0">
                <a:solidFill>
                  <a:srgbClr val="FFFFFF"/>
                </a:solidFill>
                <a:latin typeface="Roboto"/>
                <a:cs typeface="Roboto"/>
              </a:rPr>
              <a:t>and</a:t>
            </a:r>
            <a:r>
              <a:rPr sz="1800" spc="-10" dirty="0">
                <a:solidFill>
                  <a:srgbClr val="FFFFFF"/>
                </a:solidFill>
                <a:latin typeface="Roboto"/>
                <a:cs typeface="Roboto"/>
              </a:rPr>
              <a:t> </a:t>
            </a:r>
            <a:r>
              <a:rPr sz="1800" dirty="0">
                <a:solidFill>
                  <a:srgbClr val="FFFFFF"/>
                </a:solidFill>
                <a:latin typeface="Roboto"/>
                <a:cs typeface="Roboto"/>
              </a:rPr>
              <a:t>too</a:t>
            </a:r>
            <a:r>
              <a:rPr sz="1800" spc="10" dirty="0">
                <a:solidFill>
                  <a:srgbClr val="FFFFFF"/>
                </a:solidFill>
                <a:latin typeface="Roboto"/>
                <a:cs typeface="Roboto"/>
              </a:rPr>
              <a:t> </a:t>
            </a:r>
            <a:r>
              <a:rPr sz="1800" spc="-20" dirty="0">
                <a:solidFill>
                  <a:srgbClr val="FFFFFF"/>
                </a:solidFill>
                <a:latin typeface="Roboto"/>
                <a:cs typeface="Roboto"/>
              </a:rPr>
              <a:t>‘bulky’</a:t>
            </a:r>
            <a:r>
              <a:rPr sz="1800" spc="-30" dirty="0">
                <a:solidFill>
                  <a:srgbClr val="FFFFFF"/>
                </a:solidFill>
                <a:latin typeface="Roboto"/>
                <a:cs typeface="Roboto"/>
              </a:rPr>
              <a:t> </a:t>
            </a:r>
            <a:r>
              <a:rPr sz="1800" dirty="0">
                <a:solidFill>
                  <a:srgbClr val="FFFFFF"/>
                </a:solidFill>
                <a:latin typeface="Roboto"/>
                <a:cs typeface="Roboto"/>
              </a:rPr>
              <a:t>for</a:t>
            </a:r>
            <a:r>
              <a:rPr sz="1800" spc="-10" dirty="0">
                <a:solidFill>
                  <a:srgbClr val="FFFFFF"/>
                </a:solidFill>
                <a:latin typeface="Roboto"/>
                <a:cs typeface="Roboto"/>
              </a:rPr>
              <a:t> transactions.</a:t>
            </a:r>
            <a:endParaRPr sz="1800">
              <a:latin typeface="Roboto"/>
              <a:cs typeface="Roboto"/>
            </a:endParaRPr>
          </a:p>
        </p:txBody>
      </p:sp>
      <p:sp>
        <p:nvSpPr>
          <p:cNvPr id="8" name="object 8"/>
          <p:cNvSpPr txBox="1"/>
          <p:nvPr/>
        </p:nvSpPr>
        <p:spPr>
          <a:xfrm>
            <a:off x="640486" y="1810892"/>
            <a:ext cx="4939665" cy="3607435"/>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1F4E79"/>
                </a:solidFill>
                <a:latin typeface="Roboto"/>
                <a:cs typeface="Roboto"/>
              </a:rPr>
              <a:t>Behaviour</a:t>
            </a:r>
            <a:r>
              <a:rPr sz="1800" spc="-10" dirty="0">
                <a:solidFill>
                  <a:srgbClr val="C00000"/>
                </a:solidFill>
                <a:latin typeface="Roboto"/>
                <a:cs typeface="Roboto"/>
              </a:rPr>
              <a:t>:</a:t>
            </a:r>
            <a:endParaRPr sz="1800">
              <a:latin typeface="Roboto"/>
              <a:cs typeface="Roboto"/>
            </a:endParaRPr>
          </a:p>
          <a:p>
            <a:pPr marL="12700" marR="5080">
              <a:lnSpc>
                <a:spcPct val="100000"/>
              </a:lnSpc>
            </a:pPr>
            <a:r>
              <a:rPr sz="1800" dirty="0">
                <a:solidFill>
                  <a:srgbClr val="1F4E79"/>
                </a:solidFill>
                <a:latin typeface="Roboto"/>
                <a:cs typeface="Roboto"/>
              </a:rPr>
              <a:t>Prefers</a:t>
            </a:r>
            <a:r>
              <a:rPr sz="1800" spc="-15" dirty="0">
                <a:solidFill>
                  <a:srgbClr val="1F4E79"/>
                </a:solidFill>
                <a:latin typeface="Roboto"/>
                <a:cs typeface="Roboto"/>
              </a:rPr>
              <a:t> </a:t>
            </a:r>
            <a:r>
              <a:rPr sz="1800" dirty="0">
                <a:solidFill>
                  <a:srgbClr val="FFFFFF"/>
                </a:solidFill>
                <a:latin typeface="Roboto"/>
                <a:cs typeface="Roboto"/>
              </a:rPr>
              <a:t>traditional</a:t>
            </a:r>
            <a:r>
              <a:rPr sz="1800" spc="-10" dirty="0">
                <a:solidFill>
                  <a:srgbClr val="FFFFFF"/>
                </a:solidFill>
                <a:latin typeface="Roboto"/>
                <a:cs typeface="Roboto"/>
              </a:rPr>
              <a:t> </a:t>
            </a:r>
            <a:r>
              <a:rPr sz="1800" dirty="0">
                <a:solidFill>
                  <a:srgbClr val="FFFFFF"/>
                </a:solidFill>
                <a:latin typeface="Roboto"/>
                <a:cs typeface="Roboto"/>
              </a:rPr>
              <a:t>cash</a:t>
            </a:r>
            <a:r>
              <a:rPr sz="1800" spc="-15" dirty="0">
                <a:solidFill>
                  <a:srgbClr val="FFFFFF"/>
                </a:solidFill>
                <a:latin typeface="Roboto"/>
                <a:cs typeface="Roboto"/>
              </a:rPr>
              <a:t> </a:t>
            </a:r>
            <a:r>
              <a:rPr sz="1800" dirty="0">
                <a:solidFill>
                  <a:srgbClr val="FFFFFF"/>
                </a:solidFill>
                <a:latin typeface="Roboto"/>
                <a:cs typeface="Roboto"/>
              </a:rPr>
              <a:t>methods</a:t>
            </a:r>
            <a:r>
              <a:rPr sz="1800" spc="-5" dirty="0">
                <a:solidFill>
                  <a:srgbClr val="FFFFFF"/>
                </a:solidFill>
                <a:latin typeface="Roboto"/>
                <a:cs typeface="Roboto"/>
              </a:rPr>
              <a:t> </a:t>
            </a:r>
            <a:r>
              <a:rPr sz="1800" dirty="0">
                <a:solidFill>
                  <a:srgbClr val="FFFFFF"/>
                </a:solidFill>
                <a:latin typeface="Roboto"/>
                <a:cs typeface="Roboto"/>
              </a:rPr>
              <a:t>but</a:t>
            </a:r>
            <a:r>
              <a:rPr sz="1800" spc="-15" dirty="0">
                <a:solidFill>
                  <a:srgbClr val="FFFFFF"/>
                </a:solidFill>
                <a:latin typeface="Roboto"/>
                <a:cs typeface="Roboto"/>
              </a:rPr>
              <a:t> </a:t>
            </a:r>
            <a:r>
              <a:rPr sz="1800" dirty="0">
                <a:solidFill>
                  <a:srgbClr val="FFFFFF"/>
                </a:solidFill>
                <a:latin typeface="Roboto"/>
                <a:cs typeface="Roboto"/>
              </a:rPr>
              <a:t>has</a:t>
            </a:r>
            <a:r>
              <a:rPr sz="1800" spc="-10" dirty="0">
                <a:solidFill>
                  <a:srgbClr val="FFFFFF"/>
                </a:solidFill>
                <a:latin typeface="Roboto"/>
                <a:cs typeface="Roboto"/>
              </a:rPr>
              <a:t> </a:t>
            </a:r>
            <a:r>
              <a:rPr sz="1800" spc="-25" dirty="0">
                <a:solidFill>
                  <a:srgbClr val="FFFFFF"/>
                </a:solidFill>
                <a:latin typeface="Roboto"/>
                <a:cs typeface="Roboto"/>
              </a:rPr>
              <a:t>to </a:t>
            </a:r>
            <a:r>
              <a:rPr sz="1800" dirty="0">
                <a:solidFill>
                  <a:srgbClr val="FFFFFF"/>
                </a:solidFill>
                <a:latin typeface="Roboto"/>
                <a:cs typeface="Roboto"/>
              </a:rPr>
              <a:t>adapt</a:t>
            </a:r>
            <a:r>
              <a:rPr sz="1800" spc="5" dirty="0">
                <a:solidFill>
                  <a:srgbClr val="FFFFFF"/>
                </a:solidFill>
                <a:latin typeface="Roboto"/>
                <a:cs typeface="Roboto"/>
              </a:rPr>
              <a:t> </a:t>
            </a:r>
            <a:r>
              <a:rPr sz="1800" dirty="0">
                <a:solidFill>
                  <a:srgbClr val="FFFFFF"/>
                </a:solidFill>
                <a:latin typeface="Roboto"/>
                <a:cs typeface="Roboto"/>
              </a:rPr>
              <a:t>to age</a:t>
            </a:r>
            <a:r>
              <a:rPr sz="1800" spc="-10" dirty="0">
                <a:solidFill>
                  <a:srgbClr val="FFFFFF"/>
                </a:solidFill>
                <a:latin typeface="Roboto"/>
                <a:cs typeface="Roboto"/>
              </a:rPr>
              <a:t> </a:t>
            </a:r>
            <a:r>
              <a:rPr sz="1800" dirty="0">
                <a:solidFill>
                  <a:srgbClr val="FFFFFF"/>
                </a:solidFill>
                <a:latin typeface="Roboto"/>
                <a:cs typeface="Roboto"/>
              </a:rPr>
              <a:t>of digital</a:t>
            </a:r>
            <a:r>
              <a:rPr sz="1800" spc="-5" dirty="0">
                <a:solidFill>
                  <a:srgbClr val="FFFFFF"/>
                </a:solidFill>
                <a:latin typeface="Roboto"/>
                <a:cs typeface="Roboto"/>
              </a:rPr>
              <a:t> </a:t>
            </a:r>
            <a:r>
              <a:rPr sz="1800" dirty="0">
                <a:solidFill>
                  <a:srgbClr val="FFFFFF"/>
                </a:solidFill>
                <a:latin typeface="Roboto"/>
                <a:cs typeface="Roboto"/>
              </a:rPr>
              <a:t>payments.</a:t>
            </a:r>
            <a:r>
              <a:rPr sz="1800" spc="20" dirty="0">
                <a:solidFill>
                  <a:srgbClr val="FFFFFF"/>
                </a:solidFill>
                <a:latin typeface="Roboto"/>
                <a:cs typeface="Roboto"/>
              </a:rPr>
              <a:t> </a:t>
            </a:r>
            <a:r>
              <a:rPr sz="1800" dirty="0">
                <a:solidFill>
                  <a:srgbClr val="1F4E79"/>
                </a:solidFill>
                <a:latin typeface="Roboto"/>
                <a:cs typeface="Roboto"/>
              </a:rPr>
              <a:t>Wants</a:t>
            </a:r>
            <a:r>
              <a:rPr sz="1800" spc="5" dirty="0">
                <a:solidFill>
                  <a:srgbClr val="1F4E79"/>
                </a:solidFill>
                <a:latin typeface="Roboto"/>
                <a:cs typeface="Roboto"/>
              </a:rPr>
              <a:t> </a:t>
            </a:r>
            <a:r>
              <a:rPr sz="1800" dirty="0">
                <a:solidFill>
                  <a:srgbClr val="FFFFFF"/>
                </a:solidFill>
                <a:latin typeface="Roboto"/>
                <a:cs typeface="Roboto"/>
              </a:rPr>
              <a:t>to </a:t>
            </a:r>
            <a:r>
              <a:rPr sz="1800" spc="-20" dirty="0">
                <a:solidFill>
                  <a:srgbClr val="FFFFFF"/>
                </a:solidFill>
                <a:latin typeface="Roboto"/>
                <a:cs typeface="Roboto"/>
              </a:rPr>
              <a:t>keep </a:t>
            </a:r>
            <a:r>
              <a:rPr sz="1800" dirty="0">
                <a:solidFill>
                  <a:srgbClr val="FFFFFF"/>
                </a:solidFill>
                <a:latin typeface="Roboto"/>
                <a:cs typeface="Roboto"/>
              </a:rPr>
              <a:t>track</a:t>
            </a:r>
            <a:r>
              <a:rPr sz="1800" spc="-10" dirty="0">
                <a:solidFill>
                  <a:srgbClr val="FFFFFF"/>
                </a:solidFill>
                <a:latin typeface="Roboto"/>
                <a:cs typeface="Roboto"/>
              </a:rPr>
              <a:t> </a:t>
            </a:r>
            <a:r>
              <a:rPr sz="1800" dirty="0">
                <a:solidFill>
                  <a:srgbClr val="FFFFFF"/>
                </a:solidFill>
                <a:latin typeface="Roboto"/>
                <a:cs typeface="Roboto"/>
              </a:rPr>
              <a:t>of</a:t>
            </a:r>
            <a:r>
              <a:rPr sz="1800" spc="-5" dirty="0">
                <a:solidFill>
                  <a:srgbClr val="FFFFFF"/>
                </a:solidFill>
                <a:latin typeface="Roboto"/>
                <a:cs typeface="Roboto"/>
              </a:rPr>
              <a:t> </a:t>
            </a:r>
            <a:r>
              <a:rPr sz="1800" dirty="0">
                <a:solidFill>
                  <a:srgbClr val="FFFFFF"/>
                </a:solidFill>
                <a:latin typeface="Roboto"/>
                <a:cs typeface="Roboto"/>
              </a:rPr>
              <a:t>the</a:t>
            </a:r>
            <a:r>
              <a:rPr sz="1800" spc="-15" dirty="0">
                <a:solidFill>
                  <a:srgbClr val="FFFFFF"/>
                </a:solidFill>
                <a:latin typeface="Roboto"/>
                <a:cs typeface="Roboto"/>
              </a:rPr>
              <a:t> </a:t>
            </a:r>
            <a:r>
              <a:rPr sz="1800" dirty="0">
                <a:solidFill>
                  <a:srgbClr val="FFFFFF"/>
                </a:solidFill>
                <a:latin typeface="Roboto"/>
                <a:cs typeface="Roboto"/>
              </a:rPr>
              <a:t>payments.</a:t>
            </a:r>
            <a:r>
              <a:rPr sz="1800" spc="20" dirty="0">
                <a:solidFill>
                  <a:srgbClr val="FFFFFF"/>
                </a:solidFill>
                <a:latin typeface="Roboto"/>
                <a:cs typeface="Roboto"/>
              </a:rPr>
              <a:t> </a:t>
            </a:r>
            <a:r>
              <a:rPr sz="1800" dirty="0">
                <a:solidFill>
                  <a:srgbClr val="1F4E79"/>
                </a:solidFill>
                <a:latin typeface="Roboto"/>
                <a:cs typeface="Roboto"/>
              </a:rPr>
              <a:t>Wants </a:t>
            </a:r>
            <a:r>
              <a:rPr sz="1800" dirty="0">
                <a:solidFill>
                  <a:srgbClr val="FFFFFF"/>
                </a:solidFill>
                <a:latin typeface="Roboto"/>
                <a:cs typeface="Roboto"/>
              </a:rPr>
              <a:t>a</a:t>
            </a:r>
            <a:r>
              <a:rPr sz="1800" spc="-10" dirty="0">
                <a:solidFill>
                  <a:srgbClr val="FFFFFF"/>
                </a:solidFill>
                <a:latin typeface="Roboto"/>
                <a:cs typeface="Roboto"/>
              </a:rPr>
              <a:t> </a:t>
            </a:r>
            <a:r>
              <a:rPr sz="1800" dirty="0">
                <a:solidFill>
                  <a:srgbClr val="FFFFFF"/>
                </a:solidFill>
                <a:latin typeface="Roboto"/>
                <a:cs typeface="Roboto"/>
              </a:rPr>
              <a:t>simple</a:t>
            </a:r>
            <a:r>
              <a:rPr sz="1800" spc="-15" dirty="0">
                <a:solidFill>
                  <a:srgbClr val="FFFFFF"/>
                </a:solidFill>
                <a:latin typeface="Roboto"/>
                <a:cs typeface="Roboto"/>
              </a:rPr>
              <a:t> </a:t>
            </a:r>
            <a:r>
              <a:rPr sz="1800" spc="-10" dirty="0">
                <a:solidFill>
                  <a:srgbClr val="FFFFFF"/>
                </a:solidFill>
                <a:latin typeface="Roboto"/>
                <a:cs typeface="Roboto"/>
              </a:rPr>
              <a:t>payment interface.</a:t>
            </a:r>
            <a:endParaRPr sz="1800">
              <a:latin typeface="Roboto"/>
              <a:cs typeface="Roboto"/>
            </a:endParaRPr>
          </a:p>
          <a:p>
            <a:pPr marL="12700">
              <a:lnSpc>
                <a:spcPct val="100000"/>
              </a:lnSpc>
              <a:spcBef>
                <a:spcPts val="1065"/>
              </a:spcBef>
            </a:pPr>
            <a:r>
              <a:rPr sz="1800" b="1" spc="-90" dirty="0">
                <a:solidFill>
                  <a:srgbClr val="1F4E79"/>
                </a:solidFill>
                <a:latin typeface="Trebuchet MS"/>
                <a:cs typeface="Trebuchet MS"/>
              </a:rPr>
              <a:t>Pain</a:t>
            </a:r>
            <a:r>
              <a:rPr sz="1800" b="1" spc="-105" dirty="0">
                <a:solidFill>
                  <a:srgbClr val="1F4E79"/>
                </a:solidFill>
                <a:latin typeface="Trebuchet MS"/>
                <a:cs typeface="Trebuchet MS"/>
              </a:rPr>
              <a:t> </a:t>
            </a:r>
            <a:r>
              <a:rPr sz="1800" b="1" spc="-10" dirty="0">
                <a:solidFill>
                  <a:srgbClr val="1F4E79"/>
                </a:solidFill>
                <a:latin typeface="Trebuchet MS"/>
                <a:cs typeface="Trebuchet MS"/>
              </a:rPr>
              <a:t>Points:</a:t>
            </a:r>
            <a:endParaRPr sz="1800">
              <a:latin typeface="Trebuchet MS"/>
              <a:cs typeface="Trebuchet MS"/>
            </a:endParaRPr>
          </a:p>
          <a:p>
            <a:pPr marL="12700" marR="335280" algn="just">
              <a:lnSpc>
                <a:spcPct val="100000"/>
              </a:lnSpc>
              <a:spcBef>
                <a:spcPts val="30"/>
              </a:spcBef>
            </a:pPr>
            <a:r>
              <a:rPr sz="1800" spc="-10" dirty="0">
                <a:solidFill>
                  <a:srgbClr val="1F4E79"/>
                </a:solidFill>
                <a:latin typeface="Roboto"/>
                <a:cs typeface="Roboto"/>
              </a:rPr>
              <a:t>Doesn’t</a:t>
            </a:r>
            <a:r>
              <a:rPr sz="1800" spc="-15" dirty="0">
                <a:solidFill>
                  <a:srgbClr val="1F4E79"/>
                </a:solidFill>
                <a:latin typeface="Roboto"/>
                <a:cs typeface="Roboto"/>
              </a:rPr>
              <a:t> </a:t>
            </a:r>
            <a:r>
              <a:rPr sz="1800" dirty="0">
                <a:solidFill>
                  <a:srgbClr val="FFFFFF"/>
                </a:solidFill>
                <a:latin typeface="Roboto"/>
                <a:cs typeface="Roboto"/>
              </a:rPr>
              <a:t>want</a:t>
            </a:r>
            <a:r>
              <a:rPr sz="1800" spc="-20" dirty="0">
                <a:solidFill>
                  <a:srgbClr val="FFFFFF"/>
                </a:solidFill>
                <a:latin typeface="Roboto"/>
                <a:cs typeface="Roboto"/>
              </a:rPr>
              <a:t> </a:t>
            </a:r>
            <a:r>
              <a:rPr sz="1800" dirty="0">
                <a:solidFill>
                  <a:srgbClr val="FFFFFF"/>
                </a:solidFill>
                <a:latin typeface="Roboto"/>
                <a:cs typeface="Roboto"/>
              </a:rPr>
              <a:t>to</a:t>
            </a:r>
            <a:r>
              <a:rPr sz="1800" spc="-20" dirty="0">
                <a:solidFill>
                  <a:srgbClr val="FFFFFF"/>
                </a:solidFill>
                <a:latin typeface="Roboto"/>
                <a:cs typeface="Roboto"/>
              </a:rPr>
              <a:t> </a:t>
            </a:r>
            <a:r>
              <a:rPr sz="1800" dirty="0">
                <a:solidFill>
                  <a:srgbClr val="FFFFFF"/>
                </a:solidFill>
                <a:latin typeface="Roboto"/>
                <a:cs typeface="Roboto"/>
              </a:rPr>
              <a:t>loose</a:t>
            </a:r>
            <a:r>
              <a:rPr sz="1800" spc="-20" dirty="0">
                <a:solidFill>
                  <a:srgbClr val="FFFFFF"/>
                </a:solidFill>
                <a:latin typeface="Roboto"/>
                <a:cs typeface="Roboto"/>
              </a:rPr>
              <a:t> </a:t>
            </a:r>
            <a:r>
              <a:rPr sz="1800" dirty="0">
                <a:solidFill>
                  <a:srgbClr val="FFFFFF"/>
                </a:solidFill>
                <a:latin typeface="Roboto"/>
                <a:cs typeface="Roboto"/>
              </a:rPr>
              <a:t>customers</a:t>
            </a:r>
            <a:r>
              <a:rPr sz="1800" spc="-30" dirty="0">
                <a:solidFill>
                  <a:srgbClr val="FFFFFF"/>
                </a:solidFill>
                <a:latin typeface="Roboto"/>
                <a:cs typeface="Roboto"/>
              </a:rPr>
              <a:t> </a:t>
            </a:r>
            <a:r>
              <a:rPr sz="1800" dirty="0">
                <a:solidFill>
                  <a:srgbClr val="FFFFFF"/>
                </a:solidFill>
                <a:latin typeface="Roboto"/>
                <a:cs typeface="Roboto"/>
              </a:rPr>
              <a:t>who</a:t>
            </a:r>
            <a:r>
              <a:rPr sz="1800" spc="-20" dirty="0">
                <a:solidFill>
                  <a:srgbClr val="FFFFFF"/>
                </a:solidFill>
                <a:latin typeface="Roboto"/>
                <a:cs typeface="Roboto"/>
              </a:rPr>
              <a:t> </a:t>
            </a:r>
            <a:r>
              <a:rPr sz="1800" spc="-10" dirty="0">
                <a:solidFill>
                  <a:srgbClr val="FFFFFF"/>
                </a:solidFill>
                <a:latin typeface="Roboto"/>
                <a:cs typeface="Roboto"/>
              </a:rPr>
              <a:t>prefer </a:t>
            </a:r>
            <a:r>
              <a:rPr sz="1800" dirty="0">
                <a:solidFill>
                  <a:srgbClr val="FFFFFF"/>
                </a:solidFill>
                <a:latin typeface="Roboto"/>
                <a:cs typeface="Roboto"/>
              </a:rPr>
              <a:t>digital</a:t>
            </a:r>
            <a:r>
              <a:rPr sz="1800" spc="-40" dirty="0">
                <a:solidFill>
                  <a:srgbClr val="FFFFFF"/>
                </a:solidFill>
                <a:latin typeface="Roboto"/>
                <a:cs typeface="Roboto"/>
              </a:rPr>
              <a:t> </a:t>
            </a:r>
            <a:r>
              <a:rPr sz="1800" dirty="0">
                <a:solidFill>
                  <a:srgbClr val="FFFFFF"/>
                </a:solidFill>
                <a:latin typeface="Roboto"/>
                <a:cs typeface="Roboto"/>
              </a:rPr>
              <a:t>payments.</a:t>
            </a:r>
            <a:r>
              <a:rPr sz="1800" spc="-5" dirty="0">
                <a:solidFill>
                  <a:srgbClr val="FFFFFF"/>
                </a:solidFill>
                <a:latin typeface="Roboto"/>
                <a:cs typeface="Roboto"/>
              </a:rPr>
              <a:t> </a:t>
            </a:r>
            <a:r>
              <a:rPr sz="1800" dirty="0">
                <a:solidFill>
                  <a:srgbClr val="FFFFFF"/>
                </a:solidFill>
                <a:latin typeface="Roboto"/>
                <a:cs typeface="Roboto"/>
              </a:rPr>
              <a:t>Isn't</a:t>
            </a:r>
            <a:r>
              <a:rPr sz="1800" spc="-10" dirty="0">
                <a:solidFill>
                  <a:srgbClr val="FFFFFF"/>
                </a:solidFill>
                <a:latin typeface="Roboto"/>
                <a:cs typeface="Roboto"/>
              </a:rPr>
              <a:t> </a:t>
            </a:r>
            <a:r>
              <a:rPr sz="1800" dirty="0">
                <a:solidFill>
                  <a:srgbClr val="FFFFFF"/>
                </a:solidFill>
                <a:latin typeface="Roboto"/>
                <a:cs typeface="Roboto"/>
              </a:rPr>
              <a:t>tech</a:t>
            </a:r>
            <a:r>
              <a:rPr sz="1800" spc="-40" dirty="0">
                <a:solidFill>
                  <a:srgbClr val="FFFFFF"/>
                </a:solidFill>
                <a:latin typeface="Roboto"/>
                <a:cs typeface="Roboto"/>
              </a:rPr>
              <a:t> </a:t>
            </a:r>
            <a:r>
              <a:rPr sz="1800" dirty="0">
                <a:solidFill>
                  <a:srgbClr val="FFFFFF"/>
                </a:solidFill>
                <a:latin typeface="Roboto"/>
                <a:cs typeface="Roboto"/>
              </a:rPr>
              <a:t>savvy</a:t>
            </a:r>
            <a:r>
              <a:rPr sz="1800" spc="-30" dirty="0">
                <a:solidFill>
                  <a:srgbClr val="FFFFFF"/>
                </a:solidFill>
                <a:latin typeface="Roboto"/>
                <a:cs typeface="Roboto"/>
              </a:rPr>
              <a:t> </a:t>
            </a:r>
            <a:r>
              <a:rPr sz="1800" dirty="0">
                <a:solidFill>
                  <a:srgbClr val="FFFFFF"/>
                </a:solidFill>
                <a:latin typeface="Roboto"/>
                <a:cs typeface="Roboto"/>
              </a:rPr>
              <a:t>so</a:t>
            </a:r>
            <a:r>
              <a:rPr sz="1800" spc="-25" dirty="0">
                <a:solidFill>
                  <a:srgbClr val="FFFFFF"/>
                </a:solidFill>
                <a:latin typeface="Roboto"/>
                <a:cs typeface="Roboto"/>
              </a:rPr>
              <a:t> </a:t>
            </a:r>
            <a:r>
              <a:rPr sz="1800" dirty="0">
                <a:solidFill>
                  <a:srgbClr val="FFFFFF"/>
                </a:solidFill>
                <a:latin typeface="Roboto"/>
                <a:cs typeface="Roboto"/>
              </a:rPr>
              <a:t>needs</a:t>
            </a:r>
            <a:r>
              <a:rPr sz="1800" spc="-20" dirty="0">
                <a:solidFill>
                  <a:srgbClr val="FFFFFF"/>
                </a:solidFill>
                <a:latin typeface="Roboto"/>
                <a:cs typeface="Roboto"/>
              </a:rPr>
              <a:t> </a:t>
            </a:r>
            <a:r>
              <a:rPr sz="1800" spc="-50" dirty="0">
                <a:solidFill>
                  <a:srgbClr val="FFFFFF"/>
                </a:solidFill>
                <a:latin typeface="Roboto"/>
                <a:cs typeface="Roboto"/>
              </a:rPr>
              <a:t>a </a:t>
            </a:r>
            <a:r>
              <a:rPr sz="1800" dirty="0">
                <a:solidFill>
                  <a:srgbClr val="FFFFFF"/>
                </a:solidFill>
                <a:latin typeface="Roboto"/>
                <a:cs typeface="Roboto"/>
              </a:rPr>
              <a:t>simple</a:t>
            </a:r>
            <a:r>
              <a:rPr sz="1800" spc="-50" dirty="0">
                <a:solidFill>
                  <a:srgbClr val="FFFFFF"/>
                </a:solidFill>
                <a:latin typeface="Roboto"/>
                <a:cs typeface="Roboto"/>
              </a:rPr>
              <a:t> </a:t>
            </a:r>
            <a:r>
              <a:rPr sz="1800" dirty="0">
                <a:solidFill>
                  <a:srgbClr val="FFFFFF"/>
                </a:solidFill>
                <a:latin typeface="Roboto"/>
                <a:cs typeface="Roboto"/>
              </a:rPr>
              <a:t>to</a:t>
            </a:r>
            <a:r>
              <a:rPr sz="1800" spc="-35" dirty="0">
                <a:solidFill>
                  <a:srgbClr val="FFFFFF"/>
                </a:solidFill>
                <a:latin typeface="Roboto"/>
                <a:cs typeface="Roboto"/>
              </a:rPr>
              <a:t> </a:t>
            </a:r>
            <a:r>
              <a:rPr sz="1800" dirty="0">
                <a:solidFill>
                  <a:srgbClr val="FFFFFF"/>
                </a:solidFill>
                <a:latin typeface="Roboto"/>
                <a:cs typeface="Roboto"/>
              </a:rPr>
              <a:t>understand</a:t>
            </a:r>
            <a:r>
              <a:rPr sz="1800" spc="-5" dirty="0">
                <a:solidFill>
                  <a:srgbClr val="FFFFFF"/>
                </a:solidFill>
                <a:latin typeface="Roboto"/>
                <a:cs typeface="Roboto"/>
              </a:rPr>
              <a:t> </a:t>
            </a:r>
            <a:r>
              <a:rPr sz="1800" spc="-25" dirty="0">
                <a:solidFill>
                  <a:srgbClr val="FFFFFF"/>
                </a:solidFill>
                <a:latin typeface="Roboto"/>
                <a:cs typeface="Roboto"/>
              </a:rPr>
              <a:t>UI.</a:t>
            </a:r>
            <a:endParaRPr sz="1800">
              <a:latin typeface="Roboto"/>
              <a:cs typeface="Roboto"/>
            </a:endParaRPr>
          </a:p>
          <a:p>
            <a:pPr marL="12700" marR="177800" algn="just">
              <a:lnSpc>
                <a:spcPct val="100000"/>
              </a:lnSpc>
              <a:spcBef>
                <a:spcPts val="600"/>
              </a:spcBef>
            </a:pPr>
            <a:r>
              <a:rPr sz="1800" dirty="0">
                <a:solidFill>
                  <a:srgbClr val="1F4E79"/>
                </a:solidFill>
                <a:latin typeface="Roboto"/>
                <a:cs typeface="Roboto"/>
              </a:rPr>
              <a:t>Sometimes</a:t>
            </a:r>
            <a:r>
              <a:rPr sz="1800" spc="-20" dirty="0">
                <a:solidFill>
                  <a:srgbClr val="1F4E79"/>
                </a:solidFill>
                <a:latin typeface="Roboto"/>
                <a:cs typeface="Roboto"/>
              </a:rPr>
              <a:t> </a:t>
            </a:r>
            <a:r>
              <a:rPr sz="1800" dirty="0">
                <a:solidFill>
                  <a:srgbClr val="FFFFFF"/>
                </a:solidFill>
                <a:latin typeface="Roboto"/>
                <a:cs typeface="Roboto"/>
              </a:rPr>
              <a:t>doesn’t</a:t>
            </a:r>
            <a:r>
              <a:rPr sz="1800" spc="5" dirty="0">
                <a:solidFill>
                  <a:srgbClr val="FFFFFF"/>
                </a:solidFill>
                <a:latin typeface="Roboto"/>
                <a:cs typeface="Roboto"/>
              </a:rPr>
              <a:t> </a:t>
            </a:r>
            <a:r>
              <a:rPr sz="1800" dirty="0">
                <a:solidFill>
                  <a:srgbClr val="FFFFFF"/>
                </a:solidFill>
                <a:latin typeface="Roboto"/>
                <a:cs typeface="Roboto"/>
              </a:rPr>
              <a:t>have</a:t>
            </a:r>
            <a:r>
              <a:rPr sz="1800" spc="-15" dirty="0">
                <a:solidFill>
                  <a:srgbClr val="FFFFFF"/>
                </a:solidFill>
                <a:latin typeface="Roboto"/>
                <a:cs typeface="Roboto"/>
              </a:rPr>
              <a:t> </a:t>
            </a:r>
            <a:r>
              <a:rPr sz="1800" dirty="0">
                <a:solidFill>
                  <a:srgbClr val="FFFFFF"/>
                </a:solidFill>
                <a:latin typeface="Roboto"/>
                <a:cs typeface="Roboto"/>
              </a:rPr>
              <a:t>exact</a:t>
            </a:r>
            <a:r>
              <a:rPr sz="1800" spc="-10" dirty="0">
                <a:solidFill>
                  <a:srgbClr val="FFFFFF"/>
                </a:solidFill>
                <a:latin typeface="Roboto"/>
                <a:cs typeface="Roboto"/>
              </a:rPr>
              <a:t> </a:t>
            </a:r>
            <a:r>
              <a:rPr sz="1800" dirty="0">
                <a:solidFill>
                  <a:srgbClr val="FFFFFF"/>
                </a:solidFill>
                <a:latin typeface="Roboto"/>
                <a:cs typeface="Roboto"/>
              </a:rPr>
              <a:t>change</a:t>
            </a:r>
            <a:r>
              <a:rPr sz="1800" spc="-5" dirty="0">
                <a:solidFill>
                  <a:srgbClr val="FFFFFF"/>
                </a:solidFill>
                <a:latin typeface="Roboto"/>
                <a:cs typeface="Roboto"/>
              </a:rPr>
              <a:t> </a:t>
            </a:r>
            <a:r>
              <a:rPr sz="1800" dirty="0">
                <a:solidFill>
                  <a:srgbClr val="FFFFFF"/>
                </a:solidFill>
                <a:latin typeface="Roboto"/>
                <a:cs typeface="Roboto"/>
              </a:rPr>
              <a:t>while</a:t>
            </a:r>
            <a:r>
              <a:rPr sz="1800" spc="-35" dirty="0">
                <a:solidFill>
                  <a:srgbClr val="FFFFFF"/>
                </a:solidFill>
                <a:latin typeface="Roboto"/>
                <a:cs typeface="Roboto"/>
              </a:rPr>
              <a:t> </a:t>
            </a:r>
            <a:r>
              <a:rPr sz="1800" spc="-50" dirty="0">
                <a:solidFill>
                  <a:srgbClr val="FFFFFF"/>
                </a:solidFill>
                <a:latin typeface="Roboto"/>
                <a:cs typeface="Roboto"/>
              </a:rPr>
              <a:t>a </a:t>
            </a:r>
            <a:r>
              <a:rPr sz="1800" dirty="0">
                <a:solidFill>
                  <a:srgbClr val="FFFFFF"/>
                </a:solidFill>
                <a:latin typeface="Roboto"/>
                <a:cs typeface="Roboto"/>
              </a:rPr>
              <a:t>customer</a:t>
            </a:r>
            <a:r>
              <a:rPr sz="1800" spc="-15" dirty="0">
                <a:solidFill>
                  <a:srgbClr val="FFFFFF"/>
                </a:solidFill>
                <a:latin typeface="Roboto"/>
                <a:cs typeface="Roboto"/>
              </a:rPr>
              <a:t> </a:t>
            </a:r>
            <a:r>
              <a:rPr sz="1800" dirty="0">
                <a:solidFill>
                  <a:srgbClr val="FFFFFF"/>
                </a:solidFill>
                <a:latin typeface="Roboto"/>
                <a:cs typeface="Roboto"/>
              </a:rPr>
              <a:t>pays</a:t>
            </a:r>
            <a:r>
              <a:rPr sz="1800" spc="-5" dirty="0">
                <a:solidFill>
                  <a:srgbClr val="FFFFFF"/>
                </a:solidFill>
                <a:latin typeface="Roboto"/>
                <a:cs typeface="Roboto"/>
              </a:rPr>
              <a:t> </a:t>
            </a:r>
            <a:r>
              <a:rPr sz="1800" dirty="0">
                <a:solidFill>
                  <a:srgbClr val="FFFFFF"/>
                </a:solidFill>
                <a:latin typeface="Roboto"/>
                <a:cs typeface="Roboto"/>
              </a:rPr>
              <a:t>with</a:t>
            </a:r>
            <a:r>
              <a:rPr sz="1800" spc="-15" dirty="0">
                <a:solidFill>
                  <a:srgbClr val="FFFFFF"/>
                </a:solidFill>
                <a:latin typeface="Roboto"/>
                <a:cs typeface="Roboto"/>
              </a:rPr>
              <a:t> </a:t>
            </a:r>
            <a:r>
              <a:rPr sz="1800" spc="-20" dirty="0">
                <a:solidFill>
                  <a:srgbClr val="FFFFFF"/>
                </a:solidFill>
                <a:latin typeface="Roboto"/>
                <a:cs typeface="Roboto"/>
              </a:rPr>
              <a:t>cash.</a:t>
            </a:r>
            <a:endParaRPr sz="1800">
              <a:latin typeface="Roboto"/>
              <a:cs typeface="Roboto"/>
            </a:endParaRPr>
          </a:p>
          <a:p>
            <a:pPr marL="12700" algn="just">
              <a:lnSpc>
                <a:spcPct val="100000"/>
              </a:lnSpc>
              <a:spcBef>
                <a:spcPts val="590"/>
              </a:spcBef>
            </a:pPr>
            <a:r>
              <a:rPr sz="1800" dirty="0">
                <a:solidFill>
                  <a:srgbClr val="1F4E79"/>
                </a:solidFill>
                <a:latin typeface="Roboto"/>
                <a:cs typeface="Roboto"/>
              </a:rPr>
              <a:t>High </a:t>
            </a:r>
            <a:r>
              <a:rPr sz="1800" dirty="0">
                <a:solidFill>
                  <a:srgbClr val="FFFFFF"/>
                </a:solidFill>
                <a:latin typeface="Roboto"/>
                <a:cs typeface="Roboto"/>
              </a:rPr>
              <a:t>transaction/convenience</a:t>
            </a:r>
            <a:r>
              <a:rPr sz="1800" spc="15" dirty="0">
                <a:solidFill>
                  <a:srgbClr val="FFFFFF"/>
                </a:solidFill>
                <a:latin typeface="Roboto"/>
                <a:cs typeface="Roboto"/>
              </a:rPr>
              <a:t> </a:t>
            </a:r>
            <a:r>
              <a:rPr sz="1800" dirty="0">
                <a:solidFill>
                  <a:srgbClr val="FFFFFF"/>
                </a:solidFill>
                <a:latin typeface="Roboto"/>
                <a:cs typeface="Roboto"/>
              </a:rPr>
              <a:t>fee</a:t>
            </a:r>
            <a:r>
              <a:rPr sz="1800" spc="-5" dirty="0">
                <a:solidFill>
                  <a:srgbClr val="FFFFFF"/>
                </a:solidFill>
                <a:latin typeface="Roboto"/>
                <a:cs typeface="Roboto"/>
              </a:rPr>
              <a:t> </a:t>
            </a:r>
            <a:r>
              <a:rPr sz="1800" dirty="0">
                <a:solidFill>
                  <a:srgbClr val="FFFFFF"/>
                </a:solidFill>
                <a:latin typeface="Roboto"/>
                <a:cs typeface="Roboto"/>
              </a:rPr>
              <a:t>of</a:t>
            </a:r>
            <a:r>
              <a:rPr sz="1800" spc="5" dirty="0">
                <a:solidFill>
                  <a:srgbClr val="FFFFFF"/>
                </a:solidFill>
                <a:latin typeface="Roboto"/>
                <a:cs typeface="Roboto"/>
              </a:rPr>
              <a:t> </a:t>
            </a:r>
            <a:r>
              <a:rPr sz="1800" spc="-10" dirty="0">
                <a:solidFill>
                  <a:srgbClr val="FFFFFF"/>
                </a:solidFill>
                <a:latin typeface="Roboto"/>
                <a:cs typeface="Roboto"/>
              </a:rPr>
              <a:t>cards.</a:t>
            </a:r>
            <a:endParaRPr sz="1800">
              <a:latin typeface="Roboto"/>
              <a:cs typeface="Roboto"/>
            </a:endParaRPr>
          </a:p>
        </p:txBody>
      </p:sp>
      <p:pic>
        <p:nvPicPr>
          <p:cNvPr id="9" name="object 9" descr="Store Shopping Front Cartoon Stock Vector - Illustration of lifestyle,  purchase: 138669154"/>
          <p:cNvPicPr/>
          <p:nvPr/>
        </p:nvPicPr>
        <p:blipFill>
          <a:blip r:embed="rId3" cstate="print"/>
          <a:stretch>
            <a:fillRect/>
          </a:stretch>
        </p:blipFill>
        <p:spPr>
          <a:xfrm>
            <a:off x="637031" y="291084"/>
            <a:ext cx="1913382" cy="2370582"/>
          </a:xfrm>
          <a:prstGeom prst="rect">
            <a:avLst/>
          </a:prstGeom>
        </p:spPr>
      </p:pic>
      <p:pic>
        <p:nvPicPr>
          <p:cNvPr id="10" name="object 10" descr="People Carrying Shopping Bags With Purchases. Men Taking Part In Seasonal  Sale At Store, Shop, Mall. Cartoon Characters Isolated On White Background.  Flat Vector Illustration. Royalty Free SVG, Cliparts, Vectors, And Stock"/>
          <p:cNvPicPr/>
          <p:nvPr/>
        </p:nvPicPr>
        <p:blipFill>
          <a:blip r:embed="rId4" cstate="print"/>
          <a:stretch>
            <a:fillRect/>
          </a:stretch>
        </p:blipFill>
        <p:spPr>
          <a:xfrm>
            <a:off x="6633971" y="219456"/>
            <a:ext cx="2026157" cy="2538222"/>
          </a:xfrm>
          <a:prstGeom prst="rect">
            <a:avLst/>
          </a:prstGeom>
        </p:spPr>
      </p:pic>
      <p:sp>
        <p:nvSpPr>
          <p:cNvPr id="11" name="object 11"/>
          <p:cNvSpPr txBox="1">
            <a:spLocks noGrp="1"/>
          </p:cNvSpPr>
          <p:nvPr>
            <p:ph type="dt" sz="half" idx="6"/>
          </p:nvPr>
        </p:nvSpPr>
        <p:spPr>
          <a:prstGeom prst="rect">
            <a:avLst/>
          </a:prstGeom>
        </p:spPr>
        <p:txBody>
          <a:bodyPr vert="horz" wrap="square" lIns="0" tIns="23495" rIns="0" bIns="0" rtlCol="0">
            <a:spAutoFit/>
          </a:bodyPr>
          <a:lstStyle/>
          <a:p>
            <a:pPr marL="12700">
              <a:lnSpc>
                <a:spcPct val="100000"/>
              </a:lnSpc>
              <a:spcBef>
                <a:spcPts val="185"/>
              </a:spcBef>
            </a:pPr>
            <a:r>
              <a:rPr spc="-10" dirty="0"/>
              <a:t>Overview</a:t>
            </a:r>
          </a:p>
        </p:txBody>
      </p:sp>
      <p:sp>
        <p:nvSpPr>
          <p:cNvPr id="12" name="object 12"/>
          <p:cNvSpPr txBox="1"/>
          <p:nvPr/>
        </p:nvSpPr>
        <p:spPr>
          <a:xfrm>
            <a:off x="3518408" y="6343328"/>
            <a:ext cx="1402080" cy="327025"/>
          </a:xfrm>
          <a:prstGeom prst="rect">
            <a:avLst/>
          </a:prstGeom>
        </p:spPr>
        <p:txBody>
          <a:bodyPr vert="horz" wrap="square" lIns="0" tIns="23495" rIns="0" bIns="0" rtlCol="0">
            <a:spAutoFit/>
          </a:bodyPr>
          <a:lstStyle/>
          <a:p>
            <a:pPr marL="12700">
              <a:lnSpc>
                <a:spcPct val="100000"/>
              </a:lnSpc>
              <a:spcBef>
                <a:spcPts val="185"/>
              </a:spcBef>
            </a:pPr>
            <a:r>
              <a:rPr sz="1800" dirty="0">
                <a:solidFill>
                  <a:srgbClr val="1F4E79"/>
                </a:solidFill>
                <a:latin typeface="Roboto"/>
                <a:cs typeface="Roboto"/>
              </a:rPr>
              <a:t>User</a:t>
            </a:r>
            <a:r>
              <a:rPr sz="1800" spc="-30" dirty="0">
                <a:solidFill>
                  <a:srgbClr val="1F4E79"/>
                </a:solidFill>
                <a:latin typeface="Roboto"/>
                <a:cs typeface="Roboto"/>
              </a:rPr>
              <a:t> </a:t>
            </a:r>
            <a:r>
              <a:rPr sz="1800" spc="-10" dirty="0">
                <a:solidFill>
                  <a:srgbClr val="1F4E79"/>
                </a:solidFill>
                <a:latin typeface="Roboto"/>
                <a:cs typeface="Roboto"/>
              </a:rPr>
              <a:t>Persona</a:t>
            </a:r>
            <a:endParaRPr sz="1800">
              <a:latin typeface="Roboto"/>
              <a:cs typeface="Roboto"/>
            </a:endParaRPr>
          </a:p>
        </p:txBody>
      </p:sp>
      <p:sp>
        <p:nvSpPr>
          <p:cNvPr id="13" name="object 13"/>
          <p:cNvSpPr txBox="1"/>
          <p:nvPr/>
        </p:nvSpPr>
        <p:spPr>
          <a:xfrm>
            <a:off x="6678930" y="6343328"/>
            <a:ext cx="2565400" cy="327025"/>
          </a:xfrm>
          <a:prstGeom prst="rect">
            <a:avLst/>
          </a:prstGeom>
        </p:spPr>
        <p:txBody>
          <a:bodyPr vert="horz" wrap="square" lIns="0" tIns="23495" rIns="0" bIns="0" rtlCol="0">
            <a:spAutoFit/>
          </a:bodyPr>
          <a:lstStyle/>
          <a:p>
            <a:pPr marL="12700">
              <a:lnSpc>
                <a:spcPct val="100000"/>
              </a:lnSpc>
              <a:spcBef>
                <a:spcPts val="185"/>
              </a:spcBef>
            </a:pPr>
            <a:r>
              <a:rPr sz="1800" dirty="0">
                <a:solidFill>
                  <a:srgbClr val="1F4E79"/>
                </a:solidFill>
                <a:latin typeface="Roboto"/>
                <a:cs typeface="Roboto"/>
              </a:rPr>
              <a:t>User</a:t>
            </a:r>
            <a:r>
              <a:rPr sz="1800" spc="20" dirty="0">
                <a:solidFill>
                  <a:srgbClr val="1F4E79"/>
                </a:solidFill>
                <a:latin typeface="Roboto"/>
                <a:cs typeface="Roboto"/>
              </a:rPr>
              <a:t> </a:t>
            </a:r>
            <a:r>
              <a:rPr sz="1800" dirty="0">
                <a:solidFill>
                  <a:srgbClr val="1F4E79"/>
                </a:solidFill>
                <a:latin typeface="Roboto"/>
                <a:cs typeface="Roboto"/>
              </a:rPr>
              <a:t>Experience</a:t>
            </a:r>
            <a:r>
              <a:rPr sz="1800" spc="20" dirty="0">
                <a:solidFill>
                  <a:srgbClr val="1F4E79"/>
                </a:solidFill>
                <a:latin typeface="Roboto"/>
                <a:cs typeface="Roboto"/>
              </a:rPr>
              <a:t> </a:t>
            </a:r>
            <a:r>
              <a:rPr sz="1800" spc="-10" dirty="0">
                <a:solidFill>
                  <a:srgbClr val="1F4E79"/>
                </a:solidFill>
                <a:latin typeface="Roboto"/>
                <a:cs typeface="Roboto"/>
              </a:rPr>
              <a:t>Insights</a:t>
            </a:r>
            <a:endParaRPr sz="1800">
              <a:latin typeface="Roboto"/>
              <a:cs typeface="Roboto"/>
            </a:endParaRPr>
          </a:p>
        </p:txBody>
      </p:sp>
      <p:sp>
        <p:nvSpPr>
          <p:cNvPr id="14" name="object 14"/>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spc="-10" dirty="0"/>
              <a:t>Metrics</a:t>
            </a:r>
          </a:p>
        </p:txBody>
      </p:sp>
      <p:sp>
        <p:nvSpPr>
          <p:cNvPr id="15" name="object 15"/>
          <p:cNvSpPr txBox="1"/>
          <p:nvPr/>
        </p:nvSpPr>
        <p:spPr>
          <a:xfrm>
            <a:off x="5061584" y="6358873"/>
            <a:ext cx="1392555" cy="327025"/>
          </a:xfrm>
          <a:prstGeom prst="rect">
            <a:avLst/>
          </a:prstGeom>
        </p:spPr>
        <p:txBody>
          <a:bodyPr vert="horz" wrap="square" lIns="0" tIns="23495" rIns="0" bIns="0" rtlCol="0">
            <a:spAutoFit/>
          </a:bodyPr>
          <a:lstStyle/>
          <a:p>
            <a:pPr marL="12700">
              <a:lnSpc>
                <a:spcPct val="100000"/>
              </a:lnSpc>
              <a:spcBef>
                <a:spcPts val="185"/>
              </a:spcBef>
            </a:pPr>
            <a:r>
              <a:rPr sz="1800" b="1" u="sng" dirty="0">
                <a:solidFill>
                  <a:srgbClr val="1F4E79"/>
                </a:solidFill>
                <a:uFill>
                  <a:solidFill>
                    <a:srgbClr val="1F4E79"/>
                  </a:solidFill>
                </a:uFill>
                <a:latin typeface="Roboto"/>
                <a:cs typeface="Roboto"/>
              </a:rPr>
              <a:t>User</a:t>
            </a:r>
            <a:r>
              <a:rPr sz="1800" b="1" u="sng" spc="-35" dirty="0">
                <a:solidFill>
                  <a:srgbClr val="1F4E79"/>
                </a:solidFill>
                <a:uFill>
                  <a:solidFill>
                    <a:srgbClr val="1F4E79"/>
                  </a:solidFill>
                </a:uFill>
                <a:latin typeface="Roboto"/>
                <a:cs typeface="Roboto"/>
              </a:rPr>
              <a:t> </a:t>
            </a:r>
            <a:r>
              <a:rPr sz="1800" b="1" u="sng" spc="-10" dirty="0">
                <a:solidFill>
                  <a:srgbClr val="1F4E79"/>
                </a:solidFill>
                <a:uFill>
                  <a:solidFill>
                    <a:srgbClr val="1F4E79"/>
                  </a:solidFill>
                </a:uFill>
                <a:latin typeface="Roboto"/>
                <a:cs typeface="Roboto"/>
              </a:rPr>
              <a:t>Journey</a:t>
            </a:r>
            <a:endParaRPr sz="1800">
              <a:latin typeface="Roboto"/>
              <a:cs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20218" y="1364741"/>
            <a:ext cx="1838325" cy="678180"/>
          </a:xfrm>
          <a:custGeom>
            <a:avLst/>
            <a:gdLst/>
            <a:ahLst/>
            <a:cxnLst/>
            <a:rect l="l" t="t" r="r" b="b"/>
            <a:pathLst>
              <a:path w="1838325" h="678180">
                <a:moveTo>
                  <a:pt x="0" y="113030"/>
                </a:moveTo>
                <a:lnTo>
                  <a:pt x="8883" y="69008"/>
                </a:lnTo>
                <a:lnTo>
                  <a:pt x="33107" y="33083"/>
                </a:lnTo>
                <a:lnTo>
                  <a:pt x="69035" y="8874"/>
                </a:lnTo>
                <a:lnTo>
                  <a:pt x="113029" y="0"/>
                </a:lnTo>
                <a:lnTo>
                  <a:pt x="1724914" y="0"/>
                </a:lnTo>
                <a:lnTo>
                  <a:pt x="1768935" y="8874"/>
                </a:lnTo>
                <a:lnTo>
                  <a:pt x="1804860" y="33083"/>
                </a:lnTo>
                <a:lnTo>
                  <a:pt x="1829069" y="69008"/>
                </a:lnTo>
                <a:lnTo>
                  <a:pt x="1837944" y="113030"/>
                </a:lnTo>
                <a:lnTo>
                  <a:pt x="1837944" y="565150"/>
                </a:lnTo>
                <a:lnTo>
                  <a:pt x="1829069" y="609171"/>
                </a:lnTo>
                <a:lnTo>
                  <a:pt x="1804860" y="645096"/>
                </a:lnTo>
                <a:lnTo>
                  <a:pt x="1768935" y="669305"/>
                </a:lnTo>
                <a:lnTo>
                  <a:pt x="1724914" y="678180"/>
                </a:lnTo>
                <a:lnTo>
                  <a:pt x="113029" y="678180"/>
                </a:lnTo>
                <a:lnTo>
                  <a:pt x="69035" y="669305"/>
                </a:lnTo>
                <a:lnTo>
                  <a:pt x="33107" y="645096"/>
                </a:lnTo>
                <a:lnTo>
                  <a:pt x="8883" y="609171"/>
                </a:lnTo>
                <a:lnTo>
                  <a:pt x="0" y="565150"/>
                </a:lnTo>
                <a:lnTo>
                  <a:pt x="0" y="113030"/>
                </a:lnTo>
                <a:close/>
              </a:path>
            </a:pathLst>
          </a:custGeom>
          <a:ln w="25400">
            <a:solidFill>
              <a:srgbClr val="53C1EF"/>
            </a:solidFill>
          </a:ln>
        </p:spPr>
        <p:txBody>
          <a:bodyPr wrap="square" lIns="0" tIns="0" rIns="0" bIns="0" rtlCol="0"/>
          <a:lstStyle/>
          <a:p>
            <a:endParaRPr/>
          </a:p>
        </p:txBody>
      </p:sp>
      <p:sp>
        <p:nvSpPr>
          <p:cNvPr id="3" name="object 3"/>
          <p:cNvSpPr txBox="1"/>
          <p:nvPr/>
        </p:nvSpPr>
        <p:spPr>
          <a:xfrm>
            <a:off x="826719" y="1542415"/>
            <a:ext cx="62357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4E79"/>
                </a:solidFill>
                <a:latin typeface="Roboto"/>
                <a:cs typeface="Roboto"/>
              </a:rPr>
              <a:t>Doing</a:t>
            </a:r>
            <a:endParaRPr sz="1800">
              <a:latin typeface="Roboto"/>
              <a:cs typeface="Roboto"/>
            </a:endParaRPr>
          </a:p>
        </p:txBody>
      </p:sp>
      <p:sp>
        <p:nvSpPr>
          <p:cNvPr id="4" name="object 4"/>
          <p:cNvSpPr/>
          <p:nvPr/>
        </p:nvSpPr>
        <p:spPr>
          <a:xfrm>
            <a:off x="217170" y="3271265"/>
            <a:ext cx="1838325" cy="680085"/>
          </a:xfrm>
          <a:custGeom>
            <a:avLst/>
            <a:gdLst/>
            <a:ahLst/>
            <a:cxnLst/>
            <a:rect l="l" t="t" r="r" b="b"/>
            <a:pathLst>
              <a:path w="1838325" h="680085">
                <a:moveTo>
                  <a:pt x="0" y="113284"/>
                </a:moveTo>
                <a:lnTo>
                  <a:pt x="8903" y="69169"/>
                </a:lnTo>
                <a:lnTo>
                  <a:pt x="33181" y="33162"/>
                </a:lnTo>
                <a:lnTo>
                  <a:pt x="69190" y="8895"/>
                </a:lnTo>
                <a:lnTo>
                  <a:pt x="113283" y="0"/>
                </a:lnTo>
                <a:lnTo>
                  <a:pt x="1724660" y="0"/>
                </a:lnTo>
                <a:lnTo>
                  <a:pt x="1768774" y="8895"/>
                </a:lnTo>
                <a:lnTo>
                  <a:pt x="1804781" y="33162"/>
                </a:lnTo>
                <a:lnTo>
                  <a:pt x="1829048" y="69169"/>
                </a:lnTo>
                <a:lnTo>
                  <a:pt x="1837944" y="113284"/>
                </a:lnTo>
                <a:lnTo>
                  <a:pt x="1837944" y="566420"/>
                </a:lnTo>
                <a:lnTo>
                  <a:pt x="1829048" y="610534"/>
                </a:lnTo>
                <a:lnTo>
                  <a:pt x="1804781" y="646541"/>
                </a:lnTo>
                <a:lnTo>
                  <a:pt x="1768774" y="670808"/>
                </a:lnTo>
                <a:lnTo>
                  <a:pt x="1724660" y="679704"/>
                </a:lnTo>
                <a:lnTo>
                  <a:pt x="113283" y="679704"/>
                </a:lnTo>
                <a:lnTo>
                  <a:pt x="69190" y="670808"/>
                </a:lnTo>
                <a:lnTo>
                  <a:pt x="33181" y="646541"/>
                </a:lnTo>
                <a:lnTo>
                  <a:pt x="8903" y="610534"/>
                </a:lnTo>
                <a:lnTo>
                  <a:pt x="0" y="566420"/>
                </a:lnTo>
                <a:lnTo>
                  <a:pt x="0" y="113284"/>
                </a:lnTo>
                <a:close/>
              </a:path>
            </a:pathLst>
          </a:custGeom>
          <a:ln w="25400">
            <a:solidFill>
              <a:srgbClr val="53C1EF"/>
            </a:solidFill>
          </a:ln>
        </p:spPr>
        <p:txBody>
          <a:bodyPr wrap="square" lIns="0" tIns="0" rIns="0" bIns="0" rtlCol="0"/>
          <a:lstStyle/>
          <a:p>
            <a:endParaRPr/>
          </a:p>
        </p:txBody>
      </p:sp>
      <p:sp>
        <p:nvSpPr>
          <p:cNvPr id="5" name="object 5"/>
          <p:cNvSpPr txBox="1"/>
          <p:nvPr/>
        </p:nvSpPr>
        <p:spPr>
          <a:xfrm>
            <a:off x="680110" y="3450717"/>
            <a:ext cx="912494"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4E79"/>
                </a:solidFill>
                <a:latin typeface="Roboto"/>
                <a:cs typeface="Roboto"/>
              </a:rPr>
              <a:t>Thinking</a:t>
            </a:r>
            <a:endParaRPr sz="1800">
              <a:latin typeface="Roboto"/>
              <a:cs typeface="Roboto"/>
            </a:endParaRPr>
          </a:p>
        </p:txBody>
      </p:sp>
      <p:sp>
        <p:nvSpPr>
          <p:cNvPr id="6" name="object 6"/>
          <p:cNvSpPr/>
          <p:nvPr/>
        </p:nvSpPr>
        <p:spPr>
          <a:xfrm>
            <a:off x="140970" y="4434078"/>
            <a:ext cx="1914525" cy="672465"/>
          </a:xfrm>
          <a:custGeom>
            <a:avLst/>
            <a:gdLst/>
            <a:ahLst/>
            <a:cxnLst/>
            <a:rect l="l" t="t" r="r" b="b"/>
            <a:pathLst>
              <a:path w="1914525" h="672464">
                <a:moveTo>
                  <a:pt x="0" y="112014"/>
                </a:moveTo>
                <a:lnTo>
                  <a:pt x="8802" y="68419"/>
                </a:lnTo>
                <a:lnTo>
                  <a:pt x="32808" y="32813"/>
                </a:lnTo>
                <a:lnTo>
                  <a:pt x="68413" y="8804"/>
                </a:lnTo>
                <a:lnTo>
                  <a:pt x="112014" y="0"/>
                </a:lnTo>
                <a:lnTo>
                  <a:pt x="1802130" y="0"/>
                </a:lnTo>
                <a:lnTo>
                  <a:pt x="1845724" y="8804"/>
                </a:lnTo>
                <a:lnTo>
                  <a:pt x="1881330" y="32813"/>
                </a:lnTo>
                <a:lnTo>
                  <a:pt x="1905339" y="68419"/>
                </a:lnTo>
                <a:lnTo>
                  <a:pt x="1914144" y="112014"/>
                </a:lnTo>
                <a:lnTo>
                  <a:pt x="1914144" y="560070"/>
                </a:lnTo>
                <a:lnTo>
                  <a:pt x="1905339" y="603664"/>
                </a:lnTo>
                <a:lnTo>
                  <a:pt x="1881330" y="639270"/>
                </a:lnTo>
                <a:lnTo>
                  <a:pt x="1845724" y="663279"/>
                </a:lnTo>
                <a:lnTo>
                  <a:pt x="1802130" y="672084"/>
                </a:lnTo>
                <a:lnTo>
                  <a:pt x="112014" y="672084"/>
                </a:lnTo>
                <a:lnTo>
                  <a:pt x="68413" y="663279"/>
                </a:lnTo>
                <a:lnTo>
                  <a:pt x="32808" y="639270"/>
                </a:lnTo>
                <a:lnTo>
                  <a:pt x="8802" y="603664"/>
                </a:lnTo>
                <a:lnTo>
                  <a:pt x="0" y="560070"/>
                </a:lnTo>
                <a:lnTo>
                  <a:pt x="0" y="112014"/>
                </a:lnTo>
                <a:close/>
              </a:path>
            </a:pathLst>
          </a:custGeom>
          <a:ln w="25400">
            <a:solidFill>
              <a:srgbClr val="53C1EF"/>
            </a:solidFill>
          </a:ln>
        </p:spPr>
        <p:txBody>
          <a:bodyPr wrap="square" lIns="0" tIns="0" rIns="0" bIns="0" rtlCol="0"/>
          <a:lstStyle/>
          <a:p>
            <a:endParaRPr/>
          </a:p>
        </p:txBody>
      </p:sp>
      <p:sp>
        <p:nvSpPr>
          <p:cNvPr id="7" name="object 7"/>
          <p:cNvSpPr txBox="1"/>
          <p:nvPr/>
        </p:nvSpPr>
        <p:spPr>
          <a:xfrm>
            <a:off x="710590" y="4609338"/>
            <a:ext cx="77343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4E79"/>
                </a:solidFill>
                <a:latin typeface="Roboto"/>
                <a:cs typeface="Roboto"/>
              </a:rPr>
              <a:t>Feeling</a:t>
            </a:r>
            <a:endParaRPr sz="1800">
              <a:latin typeface="Roboto"/>
              <a:cs typeface="Roboto"/>
            </a:endParaRPr>
          </a:p>
        </p:txBody>
      </p:sp>
      <p:sp>
        <p:nvSpPr>
          <p:cNvPr id="8" name="object 8"/>
          <p:cNvSpPr/>
          <p:nvPr/>
        </p:nvSpPr>
        <p:spPr>
          <a:xfrm>
            <a:off x="2899410" y="107442"/>
            <a:ext cx="1838325" cy="678180"/>
          </a:xfrm>
          <a:custGeom>
            <a:avLst/>
            <a:gdLst/>
            <a:ahLst/>
            <a:cxnLst/>
            <a:rect l="l" t="t" r="r" b="b"/>
            <a:pathLst>
              <a:path w="1838325" h="678180">
                <a:moveTo>
                  <a:pt x="0" y="0"/>
                </a:moveTo>
                <a:lnTo>
                  <a:pt x="1498853" y="0"/>
                </a:lnTo>
                <a:lnTo>
                  <a:pt x="1837943" y="339089"/>
                </a:lnTo>
                <a:lnTo>
                  <a:pt x="1498853" y="678179"/>
                </a:lnTo>
                <a:lnTo>
                  <a:pt x="0" y="678179"/>
                </a:lnTo>
                <a:lnTo>
                  <a:pt x="0" y="0"/>
                </a:lnTo>
                <a:close/>
              </a:path>
            </a:pathLst>
          </a:custGeom>
          <a:ln w="25400">
            <a:solidFill>
              <a:srgbClr val="53C1EF"/>
            </a:solidFill>
          </a:ln>
        </p:spPr>
        <p:txBody>
          <a:bodyPr wrap="square" lIns="0" tIns="0" rIns="0" bIns="0" rtlCol="0"/>
          <a:lstStyle/>
          <a:p>
            <a:endParaRPr/>
          </a:p>
        </p:txBody>
      </p:sp>
      <p:sp>
        <p:nvSpPr>
          <p:cNvPr id="9" name="object 9"/>
          <p:cNvSpPr/>
          <p:nvPr/>
        </p:nvSpPr>
        <p:spPr>
          <a:xfrm>
            <a:off x="25907" y="342900"/>
            <a:ext cx="11928475" cy="6036310"/>
          </a:xfrm>
          <a:custGeom>
            <a:avLst/>
            <a:gdLst/>
            <a:ahLst/>
            <a:cxnLst/>
            <a:rect l="l" t="t" r="r" b="b"/>
            <a:pathLst>
              <a:path w="11928475" h="6036310">
                <a:moveTo>
                  <a:pt x="2217420" y="33527"/>
                </a:moveTo>
                <a:lnTo>
                  <a:pt x="2217420" y="6036119"/>
                </a:lnTo>
              </a:path>
              <a:path w="11928475" h="6036310">
                <a:moveTo>
                  <a:pt x="56388" y="4762500"/>
                </a:moveTo>
                <a:lnTo>
                  <a:pt x="11928475" y="4762500"/>
                </a:lnTo>
              </a:path>
              <a:path w="11928475" h="6036310">
                <a:moveTo>
                  <a:pt x="0" y="4070604"/>
                </a:moveTo>
                <a:lnTo>
                  <a:pt x="11872087" y="4070604"/>
                </a:lnTo>
              </a:path>
              <a:path w="11928475" h="6036310">
                <a:moveTo>
                  <a:pt x="114300" y="2621279"/>
                </a:moveTo>
                <a:lnTo>
                  <a:pt x="11872849" y="2621279"/>
                </a:lnTo>
              </a:path>
              <a:path w="11928475" h="6036310">
                <a:moveTo>
                  <a:pt x="5195316" y="0"/>
                </a:moveTo>
                <a:lnTo>
                  <a:pt x="5195316" y="6002591"/>
                </a:lnTo>
              </a:path>
              <a:path w="11928475" h="6036310">
                <a:moveTo>
                  <a:pt x="8453628" y="33527"/>
                </a:moveTo>
                <a:lnTo>
                  <a:pt x="8453628" y="6036119"/>
                </a:lnTo>
              </a:path>
            </a:pathLst>
          </a:custGeom>
          <a:ln w="6350">
            <a:solidFill>
              <a:srgbClr val="223166"/>
            </a:solidFill>
            <a:prstDash val="lgDash"/>
          </a:ln>
        </p:spPr>
        <p:txBody>
          <a:bodyPr wrap="square" lIns="0" tIns="0" rIns="0" bIns="0" rtlCol="0"/>
          <a:lstStyle/>
          <a:p>
            <a:endParaRPr/>
          </a:p>
        </p:txBody>
      </p:sp>
      <p:sp>
        <p:nvSpPr>
          <p:cNvPr id="10" name="object 10"/>
          <p:cNvSpPr txBox="1"/>
          <p:nvPr/>
        </p:nvSpPr>
        <p:spPr>
          <a:xfrm>
            <a:off x="3123692" y="285369"/>
            <a:ext cx="121983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4E79"/>
                </a:solidFill>
                <a:latin typeface="Roboto"/>
                <a:cs typeface="Roboto"/>
              </a:rPr>
              <a:t>Home </a:t>
            </a:r>
            <a:r>
              <a:rPr sz="1800" spc="-20" dirty="0">
                <a:solidFill>
                  <a:srgbClr val="1F4E79"/>
                </a:solidFill>
                <a:latin typeface="Roboto"/>
                <a:cs typeface="Roboto"/>
              </a:rPr>
              <a:t>Page</a:t>
            </a:r>
            <a:endParaRPr sz="1800">
              <a:latin typeface="Roboto"/>
              <a:cs typeface="Roboto"/>
            </a:endParaRPr>
          </a:p>
        </p:txBody>
      </p:sp>
      <p:sp>
        <p:nvSpPr>
          <p:cNvPr id="11" name="object 11"/>
          <p:cNvSpPr/>
          <p:nvPr/>
        </p:nvSpPr>
        <p:spPr>
          <a:xfrm>
            <a:off x="127254" y="5310378"/>
            <a:ext cx="1915795" cy="733425"/>
          </a:xfrm>
          <a:custGeom>
            <a:avLst/>
            <a:gdLst/>
            <a:ahLst/>
            <a:cxnLst/>
            <a:rect l="l" t="t" r="r" b="b"/>
            <a:pathLst>
              <a:path w="1915795" h="733425">
                <a:moveTo>
                  <a:pt x="0" y="122174"/>
                </a:moveTo>
                <a:lnTo>
                  <a:pt x="9601" y="74634"/>
                </a:lnTo>
                <a:lnTo>
                  <a:pt x="35783" y="35798"/>
                </a:lnTo>
                <a:lnTo>
                  <a:pt x="74618" y="9606"/>
                </a:lnTo>
                <a:lnTo>
                  <a:pt x="122174" y="0"/>
                </a:lnTo>
                <a:lnTo>
                  <a:pt x="1793494" y="0"/>
                </a:lnTo>
                <a:lnTo>
                  <a:pt x="1841033" y="9606"/>
                </a:lnTo>
                <a:lnTo>
                  <a:pt x="1879869" y="35798"/>
                </a:lnTo>
                <a:lnTo>
                  <a:pt x="1906061" y="74634"/>
                </a:lnTo>
                <a:lnTo>
                  <a:pt x="1915668" y="122174"/>
                </a:lnTo>
                <a:lnTo>
                  <a:pt x="1915668" y="610870"/>
                </a:lnTo>
                <a:lnTo>
                  <a:pt x="1906061" y="658425"/>
                </a:lnTo>
                <a:lnTo>
                  <a:pt x="1879869" y="697260"/>
                </a:lnTo>
                <a:lnTo>
                  <a:pt x="1841033" y="723442"/>
                </a:lnTo>
                <a:lnTo>
                  <a:pt x="1793494" y="733044"/>
                </a:lnTo>
                <a:lnTo>
                  <a:pt x="122174" y="733044"/>
                </a:lnTo>
                <a:lnTo>
                  <a:pt x="74618" y="723442"/>
                </a:lnTo>
                <a:lnTo>
                  <a:pt x="35783" y="697260"/>
                </a:lnTo>
                <a:lnTo>
                  <a:pt x="9601" y="658425"/>
                </a:lnTo>
                <a:lnTo>
                  <a:pt x="0" y="610870"/>
                </a:lnTo>
                <a:lnTo>
                  <a:pt x="0" y="122174"/>
                </a:lnTo>
                <a:close/>
              </a:path>
            </a:pathLst>
          </a:custGeom>
          <a:ln w="25400">
            <a:solidFill>
              <a:srgbClr val="53C1EF"/>
            </a:solidFill>
          </a:ln>
        </p:spPr>
        <p:txBody>
          <a:bodyPr wrap="square" lIns="0" tIns="0" rIns="0" bIns="0" rtlCol="0"/>
          <a:lstStyle/>
          <a:p>
            <a:endParaRPr/>
          </a:p>
        </p:txBody>
      </p:sp>
      <p:sp>
        <p:nvSpPr>
          <p:cNvPr id="12" name="object 12"/>
          <p:cNvSpPr txBox="1"/>
          <p:nvPr/>
        </p:nvSpPr>
        <p:spPr>
          <a:xfrm>
            <a:off x="383844" y="5379516"/>
            <a:ext cx="1402715" cy="574040"/>
          </a:xfrm>
          <a:prstGeom prst="rect">
            <a:avLst/>
          </a:prstGeom>
        </p:spPr>
        <p:txBody>
          <a:bodyPr vert="horz" wrap="square" lIns="0" tIns="12700" rIns="0" bIns="0" rtlCol="0">
            <a:spAutoFit/>
          </a:bodyPr>
          <a:lstStyle/>
          <a:p>
            <a:pPr marL="212090" marR="5080" indent="-200025">
              <a:lnSpc>
                <a:spcPct val="100000"/>
              </a:lnSpc>
              <a:spcBef>
                <a:spcPts val="100"/>
              </a:spcBef>
            </a:pPr>
            <a:r>
              <a:rPr sz="1800" dirty="0">
                <a:solidFill>
                  <a:srgbClr val="1F4E79"/>
                </a:solidFill>
                <a:latin typeface="Roboto"/>
                <a:cs typeface="Roboto"/>
              </a:rPr>
              <a:t>Pain</a:t>
            </a:r>
            <a:r>
              <a:rPr sz="1800" spc="-5" dirty="0">
                <a:solidFill>
                  <a:srgbClr val="1F4E79"/>
                </a:solidFill>
                <a:latin typeface="Roboto"/>
                <a:cs typeface="Roboto"/>
              </a:rPr>
              <a:t> </a:t>
            </a:r>
            <a:r>
              <a:rPr sz="1800" dirty="0">
                <a:solidFill>
                  <a:srgbClr val="1F4E79"/>
                </a:solidFill>
                <a:latin typeface="Roboto"/>
                <a:cs typeface="Roboto"/>
              </a:rPr>
              <a:t>Points</a:t>
            </a:r>
            <a:r>
              <a:rPr sz="1800" spc="-15" dirty="0">
                <a:solidFill>
                  <a:srgbClr val="1F4E79"/>
                </a:solidFill>
                <a:latin typeface="Roboto"/>
                <a:cs typeface="Roboto"/>
              </a:rPr>
              <a:t> </a:t>
            </a:r>
            <a:r>
              <a:rPr sz="1800" spc="-50" dirty="0">
                <a:solidFill>
                  <a:srgbClr val="1F4E79"/>
                </a:solidFill>
                <a:latin typeface="Roboto"/>
                <a:cs typeface="Roboto"/>
              </a:rPr>
              <a:t>&amp; </a:t>
            </a:r>
            <a:r>
              <a:rPr sz="1800" spc="-10" dirty="0">
                <a:solidFill>
                  <a:srgbClr val="1F4E79"/>
                </a:solidFill>
                <a:latin typeface="Roboto"/>
                <a:cs typeface="Roboto"/>
              </a:rPr>
              <a:t>Solutions</a:t>
            </a:r>
            <a:endParaRPr sz="1800">
              <a:latin typeface="Roboto"/>
              <a:cs typeface="Roboto"/>
            </a:endParaRPr>
          </a:p>
        </p:txBody>
      </p:sp>
      <p:sp>
        <p:nvSpPr>
          <p:cNvPr id="13" name="object 13"/>
          <p:cNvSpPr txBox="1"/>
          <p:nvPr/>
        </p:nvSpPr>
        <p:spPr>
          <a:xfrm>
            <a:off x="3200780" y="4346524"/>
            <a:ext cx="794385" cy="697230"/>
          </a:xfrm>
          <a:prstGeom prst="rect">
            <a:avLst/>
          </a:prstGeom>
        </p:spPr>
        <p:txBody>
          <a:bodyPr vert="horz" wrap="square" lIns="0" tIns="13335" rIns="0" bIns="0" rtlCol="0">
            <a:spAutoFit/>
          </a:bodyPr>
          <a:lstStyle/>
          <a:p>
            <a:pPr marL="12700">
              <a:lnSpc>
                <a:spcPct val="100000"/>
              </a:lnSpc>
              <a:spcBef>
                <a:spcPts val="105"/>
              </a:spcBef>
            </a:pPr>
            <a:r>
              <a:rPr sz="4400" spc="-50" dirty="0">
                <a:solidFill>
                  <a:srgbClr val="1F4E79"/>
                </a:solidFill>
                <a:latin typeface="Segoe UI Emoji"/>
                <a:cs typeface="Segoe UI Emoji"/>
              </a:rPr>
              <a:t>😥</a:t>
            </a:r>
            <a:endParaRPr sz="4400">
              <a:latin typeface="Segoe UI Emoji"/>
              <a:cs typeface="Segoe UI Emoji"/>
            </a:endParaRPr>
          </a:p>
        </p:txBody>
      </p:sp>
      <p:sp>
        <p:nvSpPr>
          <p:cNvPr id="14" name="object 14"/>
          <p:cNvSpPr txBox="1"/>
          <p:nvPr/>
        </p:nvSpPr>
        <p:spPr>
          <a:xfrm>
            <a:off x="6203950" y="4345304"/>
            <a:ext cx="793750" cy="696595"/>
          </a:xfrm>
          <a:prstGeom prst="rect">
            <a:avLst/>
          </a:prstGeom>
        </p:spPr>
        <p:txBody>
          <a:bodyPr vert="horz" wrap="square" lIns="0" tIns="12700" rIns="0" bIns="0" rtlCol="0">
            <a:spAutoFit/>
          </a:bodyPr>
          <a:lstStyle/>
          <a:p>
            <a:pPr marL="12700">
              <a:lnSpc>
                <a:spcPct val="100000"/>
              </a:lnSpc>
              <a:spcBef>
                <a:spcPts val="100"/>
              </a:spcBef>
            </a:pPr>
            <a:r>
              <a:rPr sz="4400" spc="-3045" dirty="0">
                <a:solidFill>
                  <a:srgbClr val="1F4E79"/>
                </a:solidFill>
                <a:latin typeface="Segoe UI Emoji"/>
                <a:cs typeface="Segoe UI Emoji"/>
              </a:rPr>
              <a:t>☺️</a:t>
            </a:r>
            <a:endParaRPr sz="4400">
              <a:latin typeface="Segoe UI Emoji"/>
              <a:cs typeface="Segoe UI Emoji"/>
            </a:endParaRPr>
          </a:p>
        </p:txBody>
      </p:sp>
      <p:sp>
        <p:nvSpPr>
          <p:cNvPr id="15" name="object 15"/>
          <p:cNvSpPr txBox="1"/>
          <p:nvPr/>
        </p:nvSpPr>
        <p:spPr>
          <a:xfrm>
            <a:off x="9718675" y="4345304"/>
            <a:ext cx="793750" cy="696595"/>
          </a:xfrm>
          <a:prstGeom prst="rect">
            <a:avLst/>
          </a:prstGeom>
        </p:spPr>
        <p:txBody>
          <a:bodyPr vert="horz" wrap="square" lIns="0" tIns="12700" rIns="0" bIns="0" rtlCol="0">
            <a:spAutoFit/>
          </a:bodyPr>
          <a:lstStyle/>
          <a:p>
            <a:pPr marL="12700">
              <a:lnSpc>
                <a:spcPct val="100000"/>
              </a:lnSpc>
              <a:spcBef>
                <a:spcPts val="100"/>
              </a:spcBef>
            </a:pPr>
            <a:r>
              <a:rPr sz="4400" spc="-3045" dirty="0">
                <a:solidFill>
                  <a:srgbClr val="1F4E79"/>
                </a:solidFill>
                <a:latin typeface="Segoe UI Emoji"/>
                <a:cs typeface="Segoe UI Emoji"/>
              </a:rPr>
              <a:t>☺️</a:t>
            </a:r>
            <a:endParaRPr sz="4400">
              <a:latin typeface="Segoe UI Emoji"/>
              <a:cs typeface="Segoe UI Emoji"/>
            </a:endParaRPr>
          </a:p>
        </p:txBody>
      </p:sp>
      <p:sp>
        <p:nvSpPr>
          <p:cNvPr id="16" name="object 16"/>
          <p:cNvSpPr/>
          <p:nvPr/>
        </p:nvSpPr>
        <p:spPr>
          <a:xfrm>
            <a:off x="5791961" y="107442"/>
            <a:ext cx="1868805" cy="678180"/>
          </a:xfrm>
          <a:custGeom>
            <a:avLst/>
            <a:gdLst/>
            <a:ahLst/>
            <a:cxnLst/>
            <a:rect l="l" t="t" r="r" b="b"/>
            <a:pathLst>
              <a:path w="1868804" h="678180">
                <a:moveTo>
                  <a:pt x="0" y="0"/>
                </a:moveTo>
                <a:lnTo>
                  <a:pt x="1529334" y="0"/>
                </a:lnTo>
                <a:lnTo>
                  <a:pt x="1868423" y="339089"/>
                </a:lnTo>
                <a:lnTo>
                  <a:pt x="1529334" y="678179"/>
                </a:lnTo>
                <a:lnTo>
                  <a:pt x="0" y="678179"/>
                </a:lnTo>
                <a:lnTo>
                  <a:pt x="0" y="0"/>
                </a:lnTo>
                <a:close/>
              </a:path>
            </a:pathLst>
          </a:custGeom>
          <a:ln w="25400">
            <a:solidFill>
              <a:srgbClr val="53C1EF"/>
            </a:solidFill>
          </a:ln>
        </p:spPr>
        <p:txBody>
          <a:bodyPr wrap="square" lIns="0" tIns="0" rIns="0" bIns="0" rtlCol="0"/>
          <a:lstStyle/>
          <a:p>
            <a:endParaRPr/>
          </a:p>
        </p:txBody>
      </p:sp>
      <p:sp>
        <p:nvSpPr>
          <p:cNvPr id="17" name="object 17"/>
          <p:cNvSpPr txBox="1"/>
          <p:nvPr/>
        </p:nvSpPr>
        <p:spPr>
          <a:xfrm>
            <a:off x="6186932" y="285369"/>
            <a:ext cx="90868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4E79"/>
                </a:solidFill>
                <a:latin typeface="Roboto"/>
                <a:cs typeface="Roboto"/>
              </a:rPr>
              <a:t>Scan </a:t>
            </a:r>
            <a:r>
              <a:rPr sz="1800" spc="-25" dirty="0">
                <a:solidFill>
                  <a:srgbClr val="1F4E79"/>
                </a:solidFill>
                <a:latin typeface="Roboto"/>
                <a:cs typeface="Roboto"/>
              </a:rPr>
              <a:t>QR</a:t>
            </a:r>
            <a:endParaRPr sz="1800">
              <a:latin typeface="Roboto"/>
              <a:cs typeface="Roboto"/>
            </a:endParaRPr>
          </a:p>
        </p:txBody>
      </p:sp>
      <p:sp>
        <p:nvSpPr>
          <p:cNvPr id="18" name="object 18"/>
          <p:cNvSpPr/>
          <p:nvPr/>
        </p:nvSpPr>
        <p:spPr>
          <a:xfrm>
            <a:off x="9323069" y="107442"/>
            <a:ext cx="1763395" cy="678180"/>
          </a:xfrm>
          <a:custGeom>
            <a:avLst/>
            <a:gdLst/>
            <a:ahLst/>
            <a:cxnLst/>
            <a:rect l="l" t="t" r="r" b="b"/>
            <a:pathLst>
              <a:path w="1763395" h="678180">
                <a:moveTo>
                  <a:pt x="0" y="0"/>
                </a:moveTo>
                <a:lnTo>
                  <a:pt x="1424177" y="0"/>
                </a:lnTo>
                <a:lnTo>
                  <a:pt x="1763268" y="339089"/>
                </a:lnTo>
                <a:lnTo>
                  <a:pt x="1424177" y="678179"/>
                </a:lnTo>
                <a:lnTo>
                  <a:pt x="0" y="678179"/>
                </a:lnTo>
                <a:lnTo>
                  <a:pt x="0" y="0"/>
                </a:lnTo>
                <a:close/>
              </a:path>
            </a:pathLst>
          </a:custGeom>
          <a:ln w="25400">
            <a:solidFill>
              <a:srgbClr val="53C1EF"/>
            </a:solidFill>
          </a:ln>
        </p:spPr>
        <p:txBody>
          <a:bodyPr wrap="square" lIns="0" tIns="0" rIns="0" bIns="0" rtlCol="0"/>
          <a:lstStyle/>
          <a:p>
            <a:endParaRPr/>
          </a:p>
        </p:txBody>
      </p:sp>
      <p:sp>
        <p:nvSpPr>
          <p:cNvPr id="19" name="object 19"/>
          <p:cNvSpPr txBox="1"/>
          <p:nvPr/>
        </p:nvSpPr>
        <p:spPr>
          <a:xfrm>
            <a:off x="9699117" y="148209"/>
            <a:ext cx="841375" cy="574040"/>
          </a:xfrm>
          <a:prstGeom prst="rect">
            <a:avLst/>
          </a:prstGeom>
        </p:spPr>
        <p:txBody>
          <a:bodyPr vert="horz" wrap="square" lIns="0" tIns="12700" rIns="0" bIns="0" rtlCol="0">
            <a:spAutoFit/>
          </a:bodyPr>
          <a:lstStyle/>
          <a:p>
            <a:pPr marL="12700" marR="5080" indent="137160">
              <a:lnSpc>
                <a:spcPct val="100000"/>
              </a:lnSpc>
              <a:spcBef>
                <a:spcPts val="100"/>
              </a:spcBef>
            </a:pPr>
            <a:r>
              <a:rPr sz="1800" spc="-10" dirty="0">
                <a:solidFill>
                  <a:srgbClr val="1F4E79"/>
                </a:solidFill>
                <a:latin typeface="Roboto"/>
                <a:cs typeface="Roboto"/>
              </a:rPr>
              <a:t>Enter Amount</a:t>
            </a:r>
            <a:endParaRPr sz="1800">
              <a:latin typeface="Roboto"/>
              <a:cs typeface="Roboto"/>
            </a:endParaRPr>
          </a:p>
        </p:txBody>
      </p:sp>
      <p:grpSp>
        <p:nvGrpSpPr>
          <p:cNvPr id="20" name="object 20"/>
          <p:cNvGrpSpPr/>
          <p:nvPr/>
        </p:nvGrpSpPr>
        <p:grpSpPr>
          <a:xfrm>
            <a:off x="204215" y="324484"/>
            <a:ext cx="11697335" cy="6459220"/>
            <a:chOff x="204215" y="324484"/>
            <a:chExt cx="11697335" cy="6459220"/>
          </a:xfrm>
        </p:grpSpPr>
        <p:pic>
          <p:nvPicPr>
            <p:cNvPr id="21" name="object 21" descr="Download Paytm Logo in SVG Vector or PNG File Format - Logo.wine"/>
            <p:cNvPicPr/>
            <p:nvPr/>
          </p:nvPicPr>
          <p:blipFill>
            <a:blip r:embed="rId2" cstate="print"/>
            <a:stretch>
              <a:fillRect/>
            </a:stretch>
          </p:blipFill>
          <p:spPr>
            <a:xfrm>
              <a:off x="204215" y="6246874"/>
              <a:ext cx="1560575" cy="536448"/>
            </a:xfrm>
            <a:prstGeom prst="rect">
              <a:avLst/>
            </a:prstGeom>
          </p:spPr>
        </p:pic>
        <p:pic>
          <p:nvPicPr>
            <p:cNvPr id="22" name="object 22"/>
            <p:cNvPicPr/>
            <p:nvPr/>
          </p:nvPicPr>
          <p:blipFill>
            <a:blip r:embed="rId3" cstate="print"/>
            <a:stretch>
              <a:fillRect/>
            </a:stretch>
          </p:blipFill>
          <p:spPr>
            <a:xfrm>
              <a:off x="3227832" y="851915"/>
              <a:ext cx="946404" cy="2101595"/>
            </a:xfrm>
            <a:prstGeom prst="rect">
              <a:avLst/>
            </a:prstGeom>
          </p:spPr>
        </p:pic>
        <p:sp>
          <p:nvSpPr>
            <p:cNvPr id="23" name="object 23"/>
            <p:cNvSpPr/>
            <p:nvPr/>
          </p:nvSpPr>
          <p:spPr>
            <a:xfrm>
              <a:off x="11897868" y="327659"/>
              <a:ext cx="0" cy="6002655"/>
            </a:xfrm>
            <a:custGeom>
              <a:avLst/>
              <a:gdLst/>
              <a:ahLst/>
              <a:cxnLst/>
              <a:rect l="l" t="t" r="r" b="b"/>
              <a:pathLst>
                <a:path h="6002655">
                  <a:moveTo>
                    <a:pt x="0" y="0"/>
                  </a:moveTo>
                  <a:lnTo>
                    <a:pt x="0" y="6002591"/>
                  </a:lnTo>
                </a:path>
              </a:pathLst>
            </a:custGeom>
            <a:ln w="6350">
              <a:solidFill>
                <a:srgbClr val="223166"/>
              </a:solidFill>
              <a:prstDash val="lgDash"/>
            </a:ln>
          </p:spPr>
          <p:txBody>
            <a:bodyPr wrap="square" lIns="0" tIns="0" rIns="0" bIns="0" rtlCol="0"/>
            <a:lstStyle/>
            <a:p>
              <a:endParaRPr/>
            </a:p>
          </p:txBody>
        </p:sp>
        <p:pic>
          <p:nvPicPr>
            <p:cNvPr id="24" name="object 24"/>
            <p:cNvPicPr/>
            <p:nvPr/>
          </p:nvPicPr>
          <p:blipFill>
            <a:blip r:embed="rId4" cstate="print"/>
            <a:stretch>
              <a:fillRect/>
            </a:stretch>
          </p:blipFill>
          <p:spPr>
            <a:xfrm>
              <a:off x="6124956" y="858011"/>
              <a:ext cx="949451" cy="2109216"/>
            </a:xfrm>
            <a:prstGeom prst="rect">
              <a:avLst/>
            </a:prstGeom>
          </p:spPr>
        </p:pic>
        <p:pic>
          <p:nvPicPr>
            <p:cNvPr id="25" name="object 25"/>
            <p:cNvPicPr/>
            <p:nvPr/>
          </p:nvPicPr>
          <p:blipFill>
            <a:blip r:embed="rId5" cstate="print"/>
            <a:stretch>
              <a:fillRect/>
            </a:stretch>
          </p:blipFill>
          <p:spPr>
            <a:xfrm>
              <a:off x="9704832" y="854963"/>
              <a:ext cx="944879" cy="2098548"/>
            </a:xfrm>
            <a:prstGeom prst="rect">
              <a:avLst/>
            </a:prstGeom>
          </p:spPr>
        </p:pic>
        <p:sp>
          <p:nvSpPr>
            <p:cNvPr id="26" name="object 26"/>
            <p:cNvSpPr/>
            <p:nvPr/>
          </p:nvSpPr>
          <p:spPr>
            <a:xfrm>
              <a:off x="10037825" y="1163573"/>
              <a:ext cx="352425" cy="960119"/>
            </a:xfrm>
            <a:custGeom>
              <a:avLst/>
              <a:gdLst/>
              <a:ahLst/>
              <a:cxnLst/>
              <a:rect l="l" t="t" r="r" b="b"/>
              <a:pathLst>
                <a:path w="352425" h="960119">
                  <a:moveTo>
                    <a:pt x="0" y="0"/>
                  </a:moveTo>
                  <a:lnTo>
                    <a:pt x="268604" y="0"/>
                  </a:lnTo>
                </a:path>
                <a:path w="352425" h="960119">
                  <a:moveTo>
                    <a:pt x="268224" y="960120"/>
                  </a:moveTo>
                  <a:lnTo>
                    <a:pt x="352044" y="960120"/>
                  </a:lnTo>
                </a:path>
              </a:pathLst>
            </a:custGeom>
            <a:ln w="28575">
              <a:solidFill>
                <a:srgbClr val="000000"/>
              </a:solidFill>
            </a:ln>
          </p:spPr>
          <p:txBody>
            <a:bodyPr wrap="square" lIns="0" tIns="0" rIns="0" bIns="0" rtlCol="0"/>
            <a:lstStyle/>
            <a:p>
              <a:endParaRPr/>
            </a:p>
          </p:txBody>
        </p:sp>
      </p:grpSp>
      <p:sp>
        <p:nvSpPr>
          <p:cNvPr id="27" name="object 27"/>
          <p:cNvSpPr txBox="1"/>
          <p:nvPr/>
        </p:nvSpPr>
        <p:spPr>
          <a:xfrm>
            <a:off x="2352548" y="3096894"/>
            <a:ext cx="2674620" cy="1000760"/>
          </a:xfrm>
          <a:prstGeom prst="rect">
            <a:avLst/>
          </a:prstGeom>
        </p:spPr>
        <p:txBody>
          <a:bodyPr vert="horz" wrap="square" lIns="0" tIns="12065" rIns="0" bIns="0" rtlCol="0">
            <a:spAutoFit/>
          </a:bodyPr>
          <a:lstStyle/>
          <a:p>
            <a:pPr marL="12700">
              <a:lnSpc>
                <a:spcPct val="100000"/>
              </a:lnSpc>
              <a:spcBef>
                <a:spcPts val="95"/>
              </a:spcBef>
            </a:pPr>
            <a:r>
              <a:rPr sz="1600" dirty="0">
                <a:solidFill>
                  <a:srgbClr val="1F4E79"/>
                </a:solidFill>
                <a:latin typeface="Roboto"/>
                <a:cs typeface="Roboto"/>
              </a:rPr>
              <a:t>Wow</a:t>
            </a:r>
            <a:r>
              <a:rPr sz="1600" spc="-5" dirty="0">
                <a:solidFill>
                  <a:srgbClr val="1F4E79"/>
                </a:solidFill>
                <a:latin typeface="Roboto"/>
                <a:cs typeface="Roboto"/>
              </a:rPr>
              <a:t> </a:t>
            </a:r>
            <a:r>
              <a:rPr sz="1600" dirty="0">
                <a:solidFill>
                  <a:srgbClr val="1F4E79"/>
                </a:solidFill>
                <a:latin typeface="Roboto"/>
                <a:cs typeface="Roboto"/>
              </a:rPr>
              <a:t>there</a:t>
            </a:r>
            <a:r>
              <a:rPr sz="1600" spc="5" dirty="0">
                <a:solidFill>
                  <a:srgbClr val="1F4E79"/>
                </a:solidFill>
                <a:latin typeface="Roboto"/>
                <a:cs typeface="Roboto"/>
              </a:rPr>
              <a:t> </a:t>
            </a:r>
            <a:r>
              <a:rPr sz="1600" dirty="0">
                <a:solidFill>
                  <a:srgbClr val="1F4E79"/>
                </a:solidFill>
                <a:latin typeface="Roboto"/>
                <a:cs typeface="Roboto"/>
              </a:rPr>
              <a:t>are</a:t>
            </a:r>
            <a:r>
              <a:rPr sz="1600" spc="-15" dirty="0">
                <a:solidFill>
                  <a:srgbClr val="1F4E79"/>
                </a:solidFill>
                <a:latin typeface="Roboto"/>
                <a:cs typeface="Roboto"/>
              </a:rPr>
              <a:t> </a:t>
            </a:r>
            <a:r>
              <a:rPr sz="1600" dirty="0">
                <a:solidFill>
                  <a:srgbClr val="1F4E79"/>
                </a:solidFill>
                <a:latin typeface="Roboto"/>
                <a:cs typeface="Roboto"/>
              </a:rPr>
              <a:t>a</a:t>
            </a:r>
            <a:r>
              <a:rPr sz="1600" spc="-10" dirty="0">
                <a:solidFill>
                  <a:srgbClr val="1F4E79"/>
                </a:solidFill>
                <a:latin typeface="Roboto"/>
                <a:cs typeface="Roboto"/>
              </a:rPr>
              <a:t> </a:t>
            </a:r>
            <a:r>
              <a:rPr sz="1600" dirty="0">
                <a:solidFill>
                  <a:srgbClr val="1F4E79"/>
                </a:solidFill>
                <a:latin typeface="Roboto"/>
                <a:cs typeface="Roboto"/>
              </a:rPr>
              <a:t>lot</a:t>
            </a:r>
            <a:r>
              <a:rPr sz="1600" spc="-30" dirty="0">
                <a:solidFill>
                  <a:srgbClr val="1F4E79"/>
                </a:solidFill>
                <a:latin typeface="Roboto"/>
                <a:cs typeface="Roboto"/>
              </a:rPr>
              <a:t> </a:t>
            </a:r>
            <a:r>
              <a:rPr sz="1600" dirty="0">
                <a:solidFill>
                  <a:srgbClr val="1F4E79"/>
                </a:solidFill>
                <a:latin typeface="Roboto"/>
                <a:cs typeface="Roboto"/>
              </a:rPr>
              <a:t>of </a:t>
            </a:r>
            <a:r>
              <a:rPr sz="1600" spc="-10" dirty="0">
                <a:solidFill>
                  <a:srgbClr val="1F4E79"/>
                </a:solidFill>
                <a:latin typeface="Roboto"/>
                <a:cs typeface="Roboto"/>
              </a:rPr>
              <a:t>icons.</a:t>
            </a:r>
            <a:endParaRPr sz="1600">
              <a:latin typeface="Roboto"/>
              <a:cs typeface="Roboto"/>
            </a:endParaRPr>
          </a:p>
          <a:p>
            <a:pPr marL="12700">
              <a:lnSpc>
                <a:spcPct val="100000"/>
              </a:lnSpc>
            </a:pPr>
            <a:r>
              <a:rPr sz="1600" dirty="0">
                <a:solidFill>
                  <a:srgbClr val="1F4E79"/>
                </a:solidFill>
                <a:latin typeface="Roboto"/>
                <a:cs typeface="Roboto"/>
              </a:rPr>
              <a:t>Good</a:t>
            </a:r>
            <a:r>
              <a:rPr sz="1600" spc="-25" dirty="0">
                <a:solidFill>
                  <a:srgbClr val="1F4E79"/>
                </a:solidFill>
                <a:latin typeface="Roboto"/>
                <a:cs typeface="Roboto"/>
              </a:rPr>
              <a:t> </a:t>
            </a:r>
            <a:r>
              <a:rPr sz="1600" dirty="0">
                <a:solidFill>
                  <a:srgbClr val="1F4E79"/>
                </a:solidFill>
                <a:latin typeface="Roboto"/>
                <a:cs typeface="Roboto"/>
              </a:rPr>
              <a:t>thing</a:t>
            </a:r>
            <a:r>
              <a:rPr sz="1600" spc="-25" dirty="0">
                <a:solidFill>
                  <a:srgbClr val="1F4E79"/>
                </a:solidFill>
                <a:latin typeface="Roboto"/>
                <a:cs typeface="Roboto"/>
              </a:rPr>
              <a:t> </a:t>
            </a:r>
            <a:r>
              <a:rPr sz="1600" dirty="0">
                <a:solidFill>
                  <a:srgbClr val="1F4E79"/>
                </a:solidFill>
                <a:latin typeface="Roboto"/>
                <a:cs typeface="Roboto"/>
              </a:rPr>
              <a:t>they</a:t>
            </a:r>
            <a:r>
              <a:rPr sz="1600" spc="-25" dirty="0">
                <a:solidFill>
                  <a:srgbClr val="1F4E79"/>
                </a:solidFill>
                <a:latin typeface="Roboto"/>
                <a:cs typeface="Roboto"/>
              </a:rPr>
              <a:t> </a:t>
            </a:r>
            <a:r>
              <a:rPr sz="1600" dirty="0">
                <a:solidFill>
                  <a:srgbClr val="1F4E79"/>
                </a:solidFill>
                <a:latin typeface="Roboto"/>
                <a:cs typeface="Roboto"/>
              </a:rPr>
              <a:t>just</a:t>
            </a:r>
            <a:r>
              <a:rPr sz="1600" spc="-20" dirty="0">
                <a:solidFill>
                  <a:srgbClr val="1F4E79"/>
                </a:solidFill>
                <a:latin typeface="Roboto"/>
                <a:cs typeface="Roboto"/>
              </a:rPr>
              <a:t> </a:t>
            </a:r>
            <a:r>
              <a:rPr sz="1600" dirty="0">
                <a:solidFill>
                  <a:srgbClr val="1F4E79"/>
                </a:solidFill>
                <a:latin typeface="Roboto"/>
                <a:cs typeface="Roboto"/>
              </a:rPr>
              <a:t>have</a:t>
            </a:r>
            <a:r>
              <a:rPr sz="1600" spc="-10" dirty="0">
                <a:solidFill>
                  <a:srgbClr val="1F4E79"/>
                </a:solidFill>
                <a:latin typeface="Roboto"/>
                <a:cs typeface="Roboto"/>
              </a:rPr>
              <a:t> </a:t>
            </a:r>
            <a:r>
              <a:rPr sz="1600" spc="-50" dirty="0">
                <a:solidFill>
                  <a:srgbClr val="1F4E79"/>
                </a:solidFill>
                <a:latin typeface="Roboto"/>
                <a:cs typeface="Roboto"/>
              </a:rPr>
              <a:t>a</a:t>
            </a:r>
            <a:endParaRPr sz="1600">
              <a:latin typeface="Roboto"/>
              <a:cs typeface="Roboto"/>
            </a:endParaRPr>
          </a:p>
          <a:p>
            <a:pPr marL="12700">
              <a:lnSpc>
                <a:spcPct val="100000"/>
              </a:lnSpc>
            </a:pPr>
            <a:r>
              <a:rPr sz="1600" dirty="0">
                <a:solidFill>
                  <a:srgbClr val="1F4E79"/>
                </a:solidFill>
                <a:latin typeface="Roboto"/>
                <a:cs typeface="Roboto"/>
              </a:rPr>
              <a:t>separate</a:t>
            </a:r>
            <a:r>
              <a:rPr sz="1600" spc="-40" dirty="0">
                <a:solidFill>
                  <a:srgbClr val="1F4E79"/>
                </a:solidFill>
                <a:latin typeface="Roboto"/>
                <a:cs typeface="Roboto"/>
              </a:rPr>
              <a:t> </a:t>
            </a:r>
            <a:r>
              <a:rPr sz="1600" spc="-25" dirty="0">
                <a:solidFill>
                  <a:srgbClr val="1F4E79"/>
                </a:solidFill>
                <a:latin typeface="Roboto"/>
                <a:cs typeface="Roboto"/>
              </a:rPr>
              <a:t>‘scan</a:t>
            </a:r>
            <a:r>
              <a:rPr sz="1600" spc="-40" dirty="0">
                <a:solidFill>
                  <a:srgbClr val="1F4E79"/>
                </a:solidFill>
                <a:latin typeface="Roboto"/>
                <a:cs typeface="Roboto"/>
              </a:rPr>
              <a:t> </a:t>
            </a:r>
            <a:r>
              <a:rPr sz="1600" dirty="0">
                <a:solidFill>
                  <a:srgbClr val="1F4E79"/>
                </a:solidFill>
                <a:latin typeface="Roboto"/>
                <a:cs typeface="Roboto"/>
              </a:rPr>
              <a:t>QR’</a:t>
            </a:r>
            <a:r>
              <a:rPr sz="1600" spc="-30" dirty="0">
                <a:solidFill>
                  <a:srgbClr val="1F4E79"/>
                </a:solidFill>
                <a:latin typeface="Roboto"/>
                <a:cs typeface="Roboto"/>
              </a:rPr>
              <a:t> </a:t>
            </a:r>
            <a:r>
              <a:rPr sz="1600" dirty="0">
                <a:solidFill>
                  <a:srgbClr val="1F4E79"/>
                </a:solidFill>
                <a:latin typeface="Roboto"/>
                <a:cs typeface="Roboto"/>
              </a:rPr>
              <a:t>button</a:t>
            </a:r>
            <a:r>
              <a:rPr sz="1600" spc="-35" dirty="0">
                <a:solidFill>
                  <a:srgbClr val="1F4E79"/>
                </a:solidFill>
                <a:latin typeface="Roboto"/>
                <a:cs typeface="Roboto"/>
              </a:rPr>
              <a:t> </a:t>
            </a:r>
            <a:r>
              <a:rPr sz="1600" spc="-25" dirty="0">
                <a:solidFill>
                  <a:srgbClr val="1F4E79"/>
                </a:solidFill>
                <a:latin typeface="Roboto"/>
                <a:cs typeface="Roboto"/>
              </a:rPr>
              <a:t>for</a:t>
            </a:r>
            <a:endParaRPr sz="1600">
              <a:latin typeface="Roboto"/>
              <a:cs typeface="Roboto"/>
            </a:endParaRPr>
          </a:p>
          <a:p>
            <a:pPr marL="12700">
              <a:lnSpc>
                <a:spcPct val="100000"/>
              </a:lnSpc>
            </a:pPr>
            <a:r>
              <a:rPr sz="1600" dirty="0">
                <a:solidFill>
                  <a:srgbClr val="1F4E79"/>
                </a:solidFill>
                <a:latin typeface="Roboto"/>
                <a:cs typeface="Roboto"/>
              </a:rPr>
              <a:t>quick</a:t>
            </a:r>
            <a:r>
              <a:rPr sz="1600" spc="-20" dirty="0">
                <a:solidFill>
                  <a:srgbClr val="1F4E79"/>
                </a:solidFill>
                <a:latin typeface="Roboto"/>
                <a:cs typeface="Roboto"/>
              </a:rPr>
              <a:t> </a:t>
            </a:r>
            <a:r>
              <a:rPr sz="1600" spc="-10" dirty="0">
                <a:solidFill>
                  <a:srgbClr val="1F4E79"/>
                </a:solidFill>
                <a:latin typeface="Roboto"/>
                <a:cs typeface="Roboto"/>
              </a:rPr>
              <a:t>navigation.</a:t>
            </a:r>
            <a:endParaRPr sz="1600">
              <a:latin typeface="Roboto"/>
              <a:cs typeface="Roboto"/>
            </a:endParaRPr>
          </a:p>
        </p:txBody>
      </p:sp>
      <p:sp>
        <p:nvSpPr>
          <p:cNvPr id="28" name="object 28"/>
          <p:cNvSpPr txBox="1"/>
          <p:nvPr/>
        </p:nvSpPr>
        <p:spPr>
          <a:xfrm>
            <a:off x="5305425" y="3028949"/>
            <a:ext cx="3106420" cy="1244600"/>
          </a:xfrm>
          <a:prstGeom prst="rect">
            <a:avLst/>
          </a:prstGeom>
        </p:spPr>
        <p:txBody>
          <a:bodyPr vert="horz" wrap="square" lIns="0" tIns="12065" rIns="0" bIns="0" rtlCol="0">
            <a:spAutoFit/>
          </a:bodyPr>
          <a:lstStyle/>
          <a:p>
            <a:pPr marL="12700" marR="5080">
              <a:lnSpc>
                <a:spcPct val="100000"/>
              </a:lnSpc>
              <a:spcBef>
                <a:spcPts val="95"/>
              </a:spcBef>
            </a:pPr>
            <a:r>
              <a:rPr sz="1600" dirty="0">
                <a:solidFill>
                  <a:srgbClr val="1F4E79"/>
                </a:solidFill>
                <a:latin typeface="Roboto"/>
                <a:cs typeface="Roboto"/>
              </a:rPr>
              <a:t>This</a:t>
            </a:r>
            <a:r>
              <a:rPr sz="1600" spc="-20" dirty="0">
                <a:solidFill>
                  <a:srgbClr val="1F4E79"/>
                </a:solidFill>
                <a:latin typeface="Roboto"/>
                <a:cs typeface="Roboto"/>
              </a:rPr>
              <a:t> </a:t>
            </a:r>
            <a:r>
              <a:rPr sz="1600" dirty="0">
                <a:solidFill>
                  <a:srgbClr val="1F4E79"/>
                </a:solidFill>
                <a:latin typeface="Roboto"/>
                <a:cs typeface="Roboto"/>
              </a:rPr>
              <a:t>is</a:t>
            </a:r>
            <a:r>
              <a:rPr sz="1600" spc="-25" dirty="0">
                <a:solidFill>
                  <a:srgbClr val="1F4E79"/>
                </a:solidFill>
                <a:latin typeface="Roboto"/>
                <a:cs typeface="Roboto"/>
              </a:rPr>
              <a:t> </a:t>
            </a:r>
            <a:r>
              <a:rPr sz="1600" dirty="0">
                <a:solidFill>
                  <a:srgbClr val="1F4E79"/>
                </a:solidFill>
                <a:latin typeface="Roboto"/>
                <a:cs typeface="Roboto"/>
              </a:rPr>
              <a:t>good,</a:t>
            </a:r>
            <a:r>
              <a:rPr sz="1600" spc="-15" dirty="0">
                <a:solidFill>
                  <a:srgbClr val="1F4E79"/>
                </a:solidFill>
                <a:latin typeface="Roboto"/>
                <a:cs typeface="Roboto"/>
              </a:rPr>
              <a:t> </a:t>
            </a:r>
            <a:r>
              <a:rPr sz="1600" dirty="0">
                <a:solidFill>
                  <a:srgbClr val="1F4E79"/>
                </a:solidFill>
                <a:latin typeface="Roboto"/>
                <a:cs typeface="Roboto"/>
              </a:rPr>
              <a:t>we</a:t>
            </a:r>
            <a:r>
              <a:rPr sz="1600" spc="-15" dirty="0">
                <a:solidFill>
                  <a:srgbClr val="1F4E79"/>
                </a:solidFill>
                <a:latin typeface="Roboto"/>
                <a:cs typeface="Roboto"/>
              </a:rPr>
              <a:t> </a:t>
            </a:r>
            <a:r>
              <a:rPr sz="1600" dirty="0">
                <a:solidFill>
                  <a:srgbClr val="1F4E79"/>
                </a:solidFill>
                <a:latin typeface="Roboto"/>
                <a:cs typeface="Roboto"/>
              </a:rPr>
              <a:t>can</a:t>
            </a:r>
            <a:r>
              <a:rPr sz="1600" spc="-15" dirty="0">
                <a:solidFill>
                  <a:srgbClr val="1F4E79"/>
                </a:solidFill>
                <a:latin typeface="Roboto"/>
                <a:cs typeface="Roboto"/>
              </a:rPr>
              <a:t> </a:t>
            </a:r>
            <a:r>
              <a:rPr sz="1600" dirty="0">
                <a:solidFill>
                  <a:srgbClr val="1F4E79"/>
                </a:solidFill>
                <a:latin typeface="Roboto"/>
                <a:cs typeface="Roboto"/>
              </a:rPr>
              <a:t>even give</a:t>
            </a:r>
            <a:r>
              <a:rPr sz="1600" spc="-20" dirty="0">
                <a:solidFill>
                  <a:srgbClr val="1F4E79"/>
                </a:solidFill>
                <a:latin typeface="Roboto"/>
                <a:cs typeface="Roboto"/>
              </a:rPr>
              <a:t> </a:t>
            </a:r>
            <a:r>
              <a:rPr sz="1600" spc="-50" dirty="0">
                <a:solidFill>
                  <a:srgbClr val="1F4E79"/>
                </a:solidFill>
                <a:latin typeface="Roboto"/>
                <a:cs typeface="Roboto"/>
              </a:rPr>
              <a:t>a </a:t>
            </a:r>
            <a:r>
              <a:rPr sz="1600" dirty="0">
                <a:solidFill>
                  <a:srgbClr val="1F4E79"/>
                </a:solidFill>
                <a:latin typeface="Roboto"/>
                <a:cs typeface="Roboto"/>
              </a:rPr>
              <a:t>scan</a:t>
            </a:r>
            <a:r>
              <a:rPr sz="1600" spc="-25" dirty="0">
                <a:solidFill>
                  <a:srgbClr val="1F4E79"/>
                </a:solidFill>
                <a:latin typeface="Roboto"/>
                <a:cs typeface="Roboto"/>
              </a:rPr>
              <a:t> </a:t>
            </a:r>
            <a:r>
              <a:rPr sz="1600" dirty="0">
                <a:solidFill>
                  <a:srgbClr val="1F4E79"/>
                </a:solidFill>
                <a:latin typeface="Roboto"/>
                <a:cs typeface="Roboto"/>
              </a:rPr>
              <a:t>from</a:t>
            </a:r>
            <a:r>
              <a:rPr sz="1600" spc="-20" dirty="0">
                <a:solidFill>
                  <a:srgbClr val="1F4E79"/>
                </a:solidFill>
                <a:latin typeface="Roboto"/>
                <a:cs typeface="Roboto"/>
              </a:rPr>
              <a:t> </a:t>
            </a:r>
            <a:r>
              <a:rPr sz="1600" dirty="0">
                <a:solidFill>
                  <a:srgbClr val="1F4E79"/>
                </a:solidFill>
                <a:latin typeface="Roboto"/>
                <a:cs typeface="Roboto"/>
              </a:rPr>
              <a:t>gallery</a:t>
            </a:r>
            <a:r>
              <a:rPr sz="1600" spc="-40" dirty="0">
                <a:solidFill>
                  <a:srgbClr val="1F4E79"/>
                </a:solidFill>
                <a:latin typeface="Roboto"/>
                <a:cs typeface="Roboto"/>
              </a:rPr>
              <a:t> </a:t>
            </a:r>
            <a:r>
              <a:rPr sz="1600" dirty="0">
                <a:solidFill>
                  <a:srgbClr val="1F4E79"/>
                </a:solidFill>
                <a:latin typeface="Roboto"/>
                <a:cs typeface="Roboto"/>
              </a:rPr>
              <a:t>and</a:t>
            </a:r>
            <a:r>
              <a:rPr sz="1600" spc="-20" dirty="0">
                <a:solidFill>
                  <a:srgbClr val="1F4E79"/>
                </a:solidFill>
                <a:latin typeface="Roboto"/>
                <a:cs typeface="Roboto"/>
              </a:rPr>
              <a:t> </a:t>
            </a:r>
            <a:r>
              <a:rPr sz="1600" spc="-10" dirty="0">
                <a:solidFill>
                  <a:srgbClr val="1F4E79"/>
                </a:solidFill>
                <a:latin typeface="Roboto"/>
                <a:cs typeface="Roboto"/>
              </a:rPr>
              <a:t>access </a:t>
            </a:r>
            <a:r>
              <a:rPr sz="1600" dirty="0">
                <a:solidFill>
                  <a:srgbClr val="1F4E79"/>
                </a:solidFill>
                <a:latin typeface="Roboto"/>
                <a:cs typeface="Roboto"/>
              </a:rPr>
              <a:t>recents</a:t>
            </a:r>
            <a:r>
              <a:rPr sz="1600" spc="-5" dirty="0">
                <a:solidFill>
                  <a:srgbClr val="1F4E79"/>
                </a:solidFill>
                <a:latin typeface="Roboto"/>
                <a:cs typeface="Roboto"/>
              </a:rPr>
              <a:t> </a:t>
            </a:r>
            <a:r>
              <a:rPr sz="1600" dirty="0">
                <a:solidFill>
                  <a:srgbClr val="1F4E79"/>
                </a:solidFill>
                <a:latin typeface="Roboto"/>
                <a:cs typeface="Roboto"/>
              </a:rPr>
              <a:t>below.</a:t>
            </a:r>
            <a:r>
              <a:rPr sz="1600" spc="-10" dirty="0">
                <a:solidFill>
                  <a:srgbClr val="1F4E79"/>
                </a:solidFill>
                <a:latin typeface="Roboto"/>
                <a:cs typeface="Roboto"/>
              </a:rPr>
              <a:t> </a:t>
            </a:r>
            <a:r>
              <a:rPr sz="1600" dirty="0">
                <a:solidFill>
                  <a:srgbClr val="1F4E79"/>
                </a:solidFill>
                <a:latin typeface="Roboto"/>
                <a:cs typeface="Roboto"/>
              </a:rPr>
              <a:t>Can</a:t>
            </a:r>
            <a:r>
              <a:rPr sz="1600" spc="-5" dirty="0">
                <a:solidFill>
                  <a:srgbClr val="1F4E79"/>
                </a:solidFill>
                <a:latin typeface="Roboto"/>
                <a:cs typeface="Roboto"/>
              </a:rPr>
              <a:t> </a:t>
            </a:r>
            <a:r>
              <a:rPr sz="1600" dirty="0">
                <a:solidFill>
                  <a:srgbClr val="1F4E79"/>
                </a:solidFill>
                <a:latin typeface="Roboto"/>
                <a:cs typeface="Roboto"/>
              </a:rPr>
              <a:t>even</a:t>
            </a:r>
            <a:r>
              <a:rPr sz="1600" spc="5" dirty="0">
                <a:solidFill>
                  <a:srgbClr val="1F4E79"/>
                </a:solidFill>
                <a:latin typeface="Roboto"/>
                <a:cs typeface="Roboto"/>
              </a:rPr>
              <a:t> </a:t>
            </a:r>
            <a:r>
              <a:rPr sz="1600" dirty="0">
                <a:solidFill>
                  <a:srgbClr val="1F4E79"/>
                </a:solidFill>
                <a:latin typeface="Roboto"/>
                <a:cs typeface="Roboto"/>
              </a:rPr>
              <a:t>enter</a:t>
            </a:r>
            <a:r>
              <a:rPr sz="1600" spc="-5" dirty="0">
                <a:solidFill>
                  <a:srgbClr val="1F4E79"/>
                </a:solidFill>
                <a:latin typeface="Roboto"/>
                <a:cs typeface="Roboto"/>
              </a:rPr>
              <a:t> </a:t>
            </a:r>
            <a:r>
              <a:rPr sz="1600" spc="-25" dirty="0">
                <a:solidFill>
                  <a:srgbClr val="1F4E79"/>
                </a:solidFill>
                <a:latin typeface="Roboto"/>
                <a:cs typeface="Roboto"/>
              </a:rPr>
              <a:t>ph. </a:t>
            </a:r>
            <a:r>
              <a:rPr sz="1600" dirty="0">
                <a:solidFill>
                  <a:srgbClr val="1F4E79"/>
                </a:solidFill>
                <a:latin typeface="Roboto"/>
                <a:cs typeface="Roboto"/>
              </a:rPr>
              <a:t>no</a:t>
            </a:r>
            <a:r>
              <a:rPr sz="1600" spc="-5" dirty="0">
                <a:solidFill>
                  <a:srgbClr val="1F4E79"/>
                </a:solidFill>
                <a:latin typeface="Roboto"/>
                <a:cs typeface="Roboto"/>
              </a:rPr>
              <a:t> </a:t>
            </a:r>
            <a:r>
              <a:rPr sz="1600" dirty="0">
                <a:solidFill>
                  <a:srgbClr val="1F4E79"/>
                </a:solidFill>
                <a:latin typeface="Roboto"/>
                <a:cs typeface="Roboto"/>
              </a:rPr>
              <a:t>if</a:t>
            </a:r>
            <a:r>
              <a:rPr sz="1600" spc="-5" dirty="0">
                <a:solidFill>
                  <a:srgbClr val="1F4E79"/>
                </a:solidFill>
                <a:latin typeface="Roboto"/>
                <a:cs typeface="Roboto"/>
              </a:rPr>
              <a:t> </a:t>
            </a:r>
            <a:r>
              <a:rPr sz="1600" dirty="0">
                <a:solidFill>
                  <a:srgbClr val="1F4E79"/>
                </a:solidFill>
                <a:latin typeface="Roboto"/>
                <a:cs typeface="Roboto"/>
              </a:rPr>
              <a:t>scan</a:t>
            </a:r>
            <a:r>
              <a:rPr sz="1600" spc="-10" dirty="0">
                <a:solidFill>
                  <a:srgbClr val="1F4E79"/>
                </a:solidFill>
                <a:latin typeface="Roboto"/>
                <a:cs typeface="Roboto"/>
              </a:rPr>
              <a:t> </a:t>
            </a:r>
            <a:r>
              <a:rPr sz="1600" dirty="0">
                <a:solidFill>
                  <a:srgbClr val="1F4E79"/>
                </a:solidFill>
                <a:latin typeface="Roboto"/>
                <a:cs typeface="Roboto"/>
              </a:rPr>
              <a:t>not</a:t>
            </a:r>
            <a:r>
              <a:rPr sz="1600" spc="-5" dirty="0">
                <a:solidFill>
                  <a:srgbClr val="1F4E79"/>
                </a:solidFill>
                <a:latin typeface="Roboto"/>
                <a:cs typeface="Roboto"/>
              </a:rPr>
              <a:t> </a:t>
            </a:r>
            <a:r>
              <a:rPr sz="1600" spc="-10" dirty="0">
                <a:solidFill>
                  <a:srgbClr val="1F4E79"/>
                </a:solidFill>
                <a:latin typeface="Roboto"/>
                <a:cs typeface="Roboto"/>
              </a:rPr>
              <a:t>working/available. </a:t>
            </a:r>
            <a:r>
              <a:rPr sz="1600" dirty="0">
                <a:solidFill>
                  <a:srgbClr val="1F4E79"/>
                </a:solidFill>
                <a:latin typeface="Roboto"/>
                <a:cs typeface="Roboto"/>
              </a:rPr>
              <a:t>This</a:t>
            </a:r>
            <a:r>
              <a:rPr sz="1600" spc="-25" dirty="0">
                <a:solidFill>
                  <a:srgbClr val="1F4E79"/>
                </a:solidFill>
                <a:latin typeface="Roboto"/>
                <a:cs typeface="Roboto"/>
              </a:rPr>
              <a:t> </a:t>
            </a:r>
            <a:r>
              <a:rPr sz="1600" dirty="0">
                <a:solidFill>
                  <a:srgbClr val="1F4E79"/>
                </a:solidFill>
                <a:latin typeface="Roboto"/>
                <a:cs typeface="Roboto"/>
              </a:rPr>
              <a:t>is</a:t>
            </a:r>
            <a:r>
              <a:rPr sz="1600" spc="-30" dirty="0">
                <a:solidFill>
                  <a:srgbClr val="1F4E79"/>
                </a:solidFill>
                <a:latin typeface="Roboto"/>
                <a:cs typeface="Roboto"/>
              </a:rPr>
              <a:t> </a:t>
            </a:r>
            <a:r>
              <a:rPr sz="1600" dirty="0">
                <a:solidFill>
                  <a:srgbClr val="1F4E79"/>
                </a:solidFill>
                <a:latin typeface="Roboto"/>
                <a:cs typeface="Roboto"/>
              </a:rPr>
              <a:t>simple</a:t>
            </a:r>
            <a:r>
              <a:rPr sz="1600" spc="-25" dirty="0">
                <a:solidFill>
                  <a:srgbClr val="1F4E79"/>
                </a:solidFill>
                <a:latin typeface="Roboto"/>
                <a:cs typeface="Roboto"/>
              </a:rPr>
              <a:t> </a:t>
            </a:r>
            <a:r>
              <a:rPr sz="1600" dirty="0">
                <a:solidFill>
                  <a:srgbClr val="1F4E79"/>
                </a:solidFill>
                <a:latin typeface="Roboto"/>
                <a:cs typeface="Roboto"/>
              </a:rPr>
              <a:t>&amp;</a:t>
            </a:r>
            <a:r>
              <a:rPr sz="1600" spc="-15" dirty="0">
                <a:solidFill>
                  <a:srgbClr val="1F4E79"/>
                </a:solidFill>
                <a:latin typeface="Roboto"/>
                <a:cs typeface="Roboto"/>
              </a:rPr>
              <a:t> </a:t>
            </a:r>
            <a:r>
              <a:rPr sz="1600" spc="-10" dirty="0">
                <a:solidFill>
                  <a:srgbClr val="1F4E79"/>
                </a:solidFill>
                <a:latin typeface="Roboto"/>
                <a:cs typeface="Roboto"/>
              </a:rPr>
              <a:t>clean.</a:t>
            </a:r>
            <a:endParaRPr sz="1600">
              <a:latin typeface="Roboto"/>
              <a:cs typeface="Roboto"/>
            </a:endParaRPr>
          </a:p>
        </p:txBody>
      </p:sp>
      <p:sp>
        <p:nvSpPr>
          <p:cNvPr id="29" name="object 29"/>
          <p:cNvSpPr txBox="1"/>
          <p:nvPr/>
        </p:nvSpPr>
        <p:spPr>
          <a:xfrm>
            <a:off x="8706739" y="3085845"/>
            <a:ext cx="2981325" cy="1244600"/>
          </a:xfrm>
          <a:prstGeom prst="rect">
            <a:avLst/>
          </a:prstGeom>
        </p:spPr>
        <p:txBody>
          <a:bodyPr vert="horz" wrap="square" lIns="0" tIns="12065" rIns="0" bIns="0" rtlCol="0">
            <a:spAutoFit/>
          </a:bodyPr>
          <a:lstStyle/>
          <a:p>
            <a:pPr marL="12700" marR="5080">
              <a:lnSpc>
                <a:spcPct val="100000"/>
              </a:lnSpc>
              <a:spcBef>
                <a:spcPts val="95"/>
              </a:spcBef>
            </a:pPr>
            <a:r>
              <a:rPr sz="1600" dirty="0">
                <a:solidFill>
                  <a:srgbClr val="1F4E79"/>
                </a:solidFill>
                <a:latin typeface="Roboto"/>
                <a:cs typeface="Roboto"/>
              </a:rPr>
              <a:t>This</a:t>
            </a:r>
            <a:r>
              <a:rPr sz="1600" spc="-35" dirty="0">
                <a:solidFill>
                  <a:srgbClr val="1F4E79"/>
                </a:solidFill>
                <a:latin typeface="Roboto"/>
                <a:cs typeface="Roboto"/>
              </a:rPr>
              <a:t> </a:t>
            </a:r>
            <a:r>
              <a:rPr sz="1600" dirty="0">
                <a:solidFill>
                  <a:srgbClr val="1F4E79"/>
                </a:solidFill>
                <a:latin typeface="Roboto"/>
                <a:cs typeface="Roboto"/>
              </a:rPr>
              <a:t>is</a:t>
            </a:r>
            <a:r>
              <a:rPr sz="1600" spc="-35" dirty="0">
                <a:solidFill>
                  <a:srgbClr val="1F4E79"/>
                </a:solidFill>
                <a:latin typeface="Roboto"/>
                <a:cs typeface="Roboto"/>
              </a:rPr>
              <a:t> </a:t>
            </a:r>
            <a:r>
              <a:rPr sz="1600" dirty="0">
                <a:solidFill>
                  <a:srgbClr val="1F4E79"/>
                </a:solidFill>
                <a:latin typeface="Roboto"/>
                <a:cs typeface="Roboto"/>
              </a:rPr>
              <a:t>simple</a:t>
            </a:r>
            <a:r>
              <a:rPr sz="1600" spc="-40" dirty="0">
                <a:solidFill>
                  <a:srgbClr val="1F4E79"/>
                </a:solidFill>
                <a:latin typeface="Roboto"/>
                <a:cs typeface="Roboto"/>
              </a:rPr>
              <a:t> </a:t>
            </a:r>
            <a:r>
              <a:rPr sz="1600" dirty="0">
                <a:solidFill>
                  <a:srgbClr val="1F4E79"/>
                </a:solidFill>
                <a:latin typeface="Roboto"/>
                <a:cs typeface="Roboto"/>
              </a:rPr>
              <a:t>enough.</a:t>
            </a:r>
            <a:r>
              <a:rPr sz="1600" spc="-25" dirty="0">
                <a:solidFill>
                  <a:srgbClr val="1F4E79"/>
                </a:solidFill>
                <a:latin typeface="Roboto"/>
                <a:cs typeface="Roboto"/>
              </a:rPr>
              <a:t> </a:t>
            </a:r>
            <a:r>
              <a:rPr sz="1600" dirty="0">
                <a:solidFill>
                  <a:srgbClr val="1F4E79"/>
                </a:solidFill>
                <a:latin typeface="Roboto"/>
                <a:cs typeface="Roboto"/>
              </a:rPr>
              <a:t>I</a:t>
            </a:r>
            <a:r>
              <a:rPr sz="1600" spc="-30" dirty="0">
                <a:solidFill>
                  <a:srgbClr val="1F4E79"/>
                </a:solidFill>
                <a:latin typeface="Roboto"/>
                <a:cs typeface="Roboto"/>
              </a:rPr>
              <a:t> </a:t>
            </a:r>
            <a:r>
              <a:rPr sz="1600" spc="-10" dirty="0">
                <a:solidFill>
                  <a:srgbClr val="1F4E79"/>
                </a:solidFill>
                <a:latin typeface="Roboto"/>
                <a:cs typeface="Roboto"/>
              </a:rPr>
              <a:t>really </a:t>
            </a:r>
            <a:r>
              <a:rPr sz="1600" dirty="0">
                <a:solidFill>
                  <a:srgbClr val="1F4E79"/>
                </a:solidFill>
                <a:latin typeface="Roboto"/>
                <a:cs typeface="Roboto"/>
              </a:rPr>
              <a:t>wish</a:t>
            </a:r>
            <a:r>
              <a:rPr sz="1600" spc="-20" dirty="0">
                <a:solidFill>
                  <a:srgbClr val="1F4E79"/>
                </a:solidFill>
                <a:latin typeface="Roboto"/>
                <a:cs typeface="Roboto"/>
              </a:rPr>
              <a:t> </a:t>
            </a:r>
            <a:r>
              <a:rPr sz="1600" dirty="0">
                <a:solidFill>
                  <a:srgbClr val="1F4E79"/>
                </a:solidFill>
                <a:latin typeface="Roboto"/>
                <a:cs typeface="Roboto"/>
              </a:rPr>
              <a:t>all</a:t>
            </a:r>
            <a:r>
              <a:rPr sz="1600" spc="-40" dirty="0">
                <a:solidFill>
                  <a:srgbClr val="1F4E79"/>
                </a:solidFill>
                <a:latin typeface="Roboto"/>
                <a:cs typeface="Roboto"/>
              </a:rPr>
              <a:t> </a:t>
            </a:r>
            <a:r>
              <a:rPr sz="1600" dirty="0">
                <a:solidFill>
                  <a:srgbClr val="1F4E79"/>
                </a:solidFill>
                <a:latin typeface="Roboto"/>
                <a:cs typeface="Roboto"/>
              </a:rPr>
              <a:t>payment gateways</a:t>
            </a:r>
            <a:r>
              <a:rPr sz="1600" spc="-15" dirty="0">
                <a:solidFill>
                  <a:srgbClr val="1F4E79"/>
                </a:solidFill>
                <a:latin typeface="Roboto"/>
                <a:cs typeface="Roboto"/>
              </a:rPr>
              <a:t> </a:t>
            </a:r>
            <a:r>
              <a:rPr sz="1600" spc="-20" dirty="0">
                <a:solidFill>
                  <a:srgbClr val="1F4E79"/>
                </a:solidFill>
                <a:latin typeface="Roboto"/>
                <a:cs typeface="Roboto"/>
              </a:rPr>
              <a:t>were </a:t>
            </a:r>
            <a:r>
              <a:rPr sz="1600" dirty="0">
                <a:solidFill>
                  <a:srgbClr val="1F4E79"/>
                </a:solidFill>
                <a:latin typeface="Roboto"/>
                <a:cs typeface="Roboto"/>
              </a:rPr>
              <a:t>like</a:t>
            </a:r>
            <a:r>
              <a:rPr sz="1600" spc="-15" dirty="0">
                <a:solidFill>
                  <a:srgbClr val="1F4E79"/>
                </a:solidFill>
                <a:latin typeface="Roboto"/>
                <a:cs typeface="Roboto"/>
              </a:rPr>
              <a:t> </a:t>
            </a:r>
            <a:r>
              <a:rPr sz="1600" dirty="0">
                <a:solidFill>
                  <a:srgbClr val="1F4E79"/>
                </a:solidFill>
                <a:latin typeface="Roboto"/>
                <a:cs typeface="Roboto"/>
              </a:rPr>
              <a:t>this.</a:t>
            </a:r>
            <a:r>
              <a:rPr sz="1600" spc="-35" dirty="0">
                <a:solidFill>
                  <a:srgbClr val="1F4E79"/>
                </a:solidFill>
                <a:latin typeface="Roboto"/>
                <a:cs typeface="Roboto"/>
              </a:rPr>
              <a:t> </a:t>
            </a:r>
            <a:r>
              <a:rPr sz="1600" dirty="0">
                <a:solidFill>
                  <a:srgbClr val="1F4E79"/>
                </a:solidFill>
                <a:latin typeface="Roboto"/>
                <a:cs typeface="Roboto"/>
              </a:rPr>
              <a:t>I</a:t>
            </a:r>
            <a:r>
              <a:rPr sz="1600" spc="-10" dirty="0">
                <a:solidFill>
                  <a:srgbClr val="1F4E79"/>
                </a:solidFill>
                <a:latin typeface="Roboto"/>
                <a:cs typeface="Roboto"/>
              </a:rPr>
              <a:t> </a:t>
            </a:r>
            <a:r>
              <a:rPr sz="1600" dirty="0">
                <a:solidFill>
                  <a:srgbClr val="1F4E79"/>
                </a:solidFill>
                <a:latin typeface="Roboto"/>
                <a:cs typeface="Roboto"/>
              </a:rPr>
              <a:t>can</a:t>
            </a:r>
            <a:r>
              <a:rPr sz="1600" spc="-20" dirty="0">
                <a:solidFill>
                  <a:srgbClr val="1F4E79"/>
                </a:solidFill>
                <a:latin typeface="Roboto"/>
                <a:cs typeface="Roboto"/>
              </a:rPr>
              <a:t> </a:t>
            </a:r>
            <a:r>
              <a:rPr sz="1600" dirty="0">
                <a:solidFill>
                  <a:srgbClr val="1F4E79"/>
                </a:solidFill>
                <a:latin typeface="Roboto"/>
                <a:cs typeface="Roboto"/>
              </a:rPr>
              <a:t>also</a:t>
            </a:r>
            <a:r>
              <a:rPr sz="1600" spc="-10" dirty="0">
                <a:solidFill>
                  <a:srgbClr val="1F4E79"/>
                </a:solidFill>
                <a:latin typeface="Roboto"/>
                <a:cs typeface="Roboto"/>
              </a:rPr>
              <a:t> select </a:t>
            </a:r>
            <a:r>
              <a:rPr sz="1600" dirty="0">
                <a:solidFill>
                  <a:srgbClr val="1F4E79"/>
                </a:solidFill>
                <a:latin typeface="Roboto"/>
                <a:cs typeface="Roboto"/>
              </a:rPr>
              <a:t>between</a:t>
            </a:r>
            <a:r>
              <a:rPr sz="1600" spc="5" dirty="0">
                <a:solidFill>
                  <a:srgbClr val="1F4E79"/>
                </a:solidFill>
                <a:latin typeface="Roboto"/>
                <a:cs typeface="Roboto"/>
              </a:rPr>
              <a:t> </a:t>
            </a:r>
            <a:r>
              <a:rPr sz="1600" dirty="0">
                <a:solidFill>
                  <a:srgbClr val="1F4E79"/>
                </a:solidFill>
                <a:latin typeface="Roboto"/>
                <a:cs typeface="Roboto"/>
              </a:rPr>
              <a:t>multiple</a:t>
            </a:r>
            <a:r>
              <a:rPr sz="1600" spc="-30" dirty="0">
                <a:solidFill>
                  <a:srgbClr val="1F4E79"/>
                </a:solidFill>
                <a:latin typeface="Roboto"/>
                <a:cs typeface="Roboto"/>
              </a:rPr>
              <a:t> </a:t>
            </a:r>
            <a:r>
              <a:rPr sz="1600" spc="-10" dirty="0">
                <a:solidFill>
                  <a:srgbClr val="1F4E79"/>
                </a:solidFill>
                <a:latin typeface="Roboto"/>
                <a:cs typeface="Roboto"/>
              </a:rPr>
              <a:t>payment </a:t>
            </a:r>
            <a:r>
              <a:rPr sz="1600" dirty="0">
                <a:solidFill>
                  <a:srgbClr val="1F4E79"/>
                </a:solidFill>
                <a:latin typeface="Roboto"/>
                <a:cs typeface="Roboto"/>
              </a:rPr>
              <a:t>options,</a:t>
            </a:r>
            <a:r>
              <a:rPr sz="1600" spc="-60" dirty="0">
                <a:solidFill>
                  <a:srgbClr val="1F4E79"/>
                </a:solidFill>
                <a:latin typeface="Roboto"/>
                <a:cs typeface="Roboto"/>
              </a:rPr>
              <a:t> </a:t>
            </a:r>
            <a:r>
              <a:rPr sz="1600" spc="-20" dirty="0">
                <a:solidFill>
                  <a:srgbClr val="1F4E79"/>
                </a:solidFill>
                <a:latin typeface="Roboto"/>
                <a:cs typeface="Roboto"/>
              </a:rPr>
              <a:t>nice!</a:t>
            </a:r>
            <a:endParaRPr sz="1600">
              <a:latin typeface="Roboto"/>
              <a:cs typeface="Roboto"/>
            </a:endParaRPr>
          </a:p>
        </p:txBody>
      </p:sp>
      <p:sp>
        <p:nvSpPr>
          <p:cNvPr id="30" name="object 30"/>
          <p:cNvSpPr txBox="1"/>
          <p:nvPr/>
        </p:nvSpPr>
        <p:spPr>
          <a:xfrm>
            <a:off x="2280285" y="5111622"/>
            <a:ext cx="2692400" cy="1244600"/>
          </a:xfrm>
          <a:prstGeom prst="rect">
            <a:avLst/>
          </a:prstGeom>
        </p:spPr>
        <p:txBody>
          <a:bodyPr vert="horz" wrap="square" lIns="0" tIns="12065" rIns="0" bIns="0" rtlCol="0">
            <a:spAutoFit/>
          </a:bodyPr>
          <a:lstStyle/>
          <a:p>
            <a:pPr marL="12700" marR="5080">
              <a:lnSpc>
                <a:spcPct val="100000"/>
              </a:lnSpc>
              <a:spcBef>
                <a:spcPts val="95"/>
              </a:spcBef>
            </a:pPr>
            <a:r>
              <a:rPr sz="1600" b="1" dirty="0">
                <a:solidFill>
                  <a:srgbClr val="1F4E79"/>
                </a:solidFill>
                <a:latin typeface="Roboto"/>
                <a:cs typeface="Roboto"/>
              </a:rPr>
              <a:t>Too</a:t>
            </a:r>
            <a:r>
              <a:rPr sz="1600" b="1" spc="-25" dirty="0">
                <a:solidFill>
                  <a:srgbClr val="1F4E79"/>
                </a:solidFill>
                <a:latin typeface="Roboto"/>
                <a:cs typeface="Roboto"/>
              </a:rPr>
              <a:t> </a:t>
            </a:r>
            <a:r>
              <a:rPr sz="1600" b="1" dirty="0">
                <a:solidFill>
                  <a:srgbClr val="1F4E79"/>
                </a:solidFill>
                <a:latin typeface="Roboto"/>
                <a:cs typeface="Roboto"/>
              </a:rPr>
              <a:t>many</a:t>
            </a:r>
            <a:r>
              <a:rPr sz="1600" b="1" spc="5" dirty="0">
                <a:solidFill>
                  <a:srgbClr val="1F4E79"/>
                </a:solidFill>
                <a:latin typeface="Roboto"/>
                <a:cs typeface="Roboto"/>
              </a:rPr>
              <a:t> </a:t>
            </a:r>
            <a:r>
              <a:rPr sz="1600" b="1" dirty="0">
                <a:solidFill>
                  <a:srgbClr val="1F4E79"/>
                </a:solidFill>
                <a:latin typeface="Roboto"/>
                <a:cs typeface="Roboto"/>
              </a:rPr>
              <a:t>icons.</a:t>
            </a:r>
            <a:r>
              <a:rPr sz="1600" b="1" spc="-25" dirty="0">
                <a:solidFill>
                  <a:srgbClr val="1F4E79"/>
                </a:solidFill>
                <a:latin typeface="Roboto"/>
                <a:cs typeface="Roboto"/>
              </a:rPr>
              <a:t> </a:t>
            </a:r>
            <a:r>
              <a:rPr sz="1600" dirty="0">
                <a:solidFill>
                  <a:srgbClr val="1F4E79"/>
                </a:solidFill>
                <a:latin typeface="Roboto"/>
                <a:cs typeface="Roboto"/>
              </a:rPr>
              <a:t>Need </a:t>
            </a:r>
            <a:r>
              <a:rPr sz="1600" spc="-50" dirty="0">
                <a:solidFill>
                  <a:srgbClr val="1F4E79"/>
                </a:solidFill>
                <a:latin typeface="Roboto"/>
                <a:cs typeface="Roboto"/>
              </a:rPr>
              <a:t>a </a:t>
            </a:r>
            <a:r>
              <a:rPr sz="1600" dirty="0">
                <a:solidFill>
                  <a:srgbClr val="1F4E79"/>
                </a:solidFill>
                <a:latin typeface="Roboto"/>
                <a:cs typeface="Roboto"/>
              </a:rPr>
              <a:t>simple</a:t>
            </a:r>
            <a:r>
              <a:rPr sz="1600" spc="-30" dirty="0">
                <a:solidFill>
                  <a:srgbClr val="1F4E79"/>
                </a:solidFill>
                <a:latin typeface="Roboto"/>
                <a:cs typeface="Roboto"/>
              </a:rPr>
              <a:t> </a:t>
            </a:r>
            <a:r>
              <a:rPr sz="1600" dirty="0">
                <a:solidFill>
                  <a:srgbClr val="1F4E79"/>
                </a:solidFill>
                <a:latin typeface="Roboto"/>
                <a:cs typeface="Roboto"/>
              </a:rPr>
              <a:t>home</a:t>
            </a:r>
            <a:r>
              <a:rPr sz="1600" spc="-10" dirty="0">
                <a:solidFill>
                  <a:srgbClr val="1F4E79"/>
                </a:solidFill>
                <a:latin typeface="Roboto"/>
                <a:cs typeface="Roboto"/>
              </a:rPr>
              <a:t> </a:t>
            </a:r>
            <a:r>
              <a:rPr sz="1600" dirty="0">
                <a:solidFill>
                  <a:srgbClr val="1F4E79"/>
                </a:solidFill>
                <a:latin typeface="Roboto"/>
                <a:cs typeface="Roboto"/>
              </a:rPr>
              <a:t>page</a:t>
            </a:r>
            <a:r>
              <a:rPr sz="1600" spc="-15" dirty="0">
                <a:solidFill>
                  <a:srgbClr val="1F4E79"/>
                </a:solidFill>
                <a:latin typeface="Roboto"/>
                <a:cs typeface="Roboto"/>
              </a:rPr>
              <a:t> </a:t>
            </a:r>
            <a:r>
              <a:rPr sz="1600" spc="-20" dirty="0">
                <a:solidFill>
                  <a:srgbClr val="1F4E79"/>
                </a:solidFill>
                <a:latin typeface="Roboto"/>
                <a:cs typeface="Roboto"/>
              </a:rPr>
              <a:t>with </a:t>
            </a:r>
            <a:r>
              <a:rPr sz="1600" dirty="0">
                <a:solidFill>
                  <a:srgbClr val="1F4E79"/>
                </a:solidFill>
                <a:latin typeface="Roboto"/>
                <a:cs typeface="Roboto"/>
              </a:rPr>
              <a:t>options</a:t>
            </a:r>
            <a:r>
              <a:rPr sz="1600" spc="-30" dirty="0">
                <a:solidFill>
                  <a:srgbClr val="1F4E79"/>
                </a:solidFill>
                <a:latin typeface="Roboto"/>
                <a:cs typeface="Roboto"/>
              </a:rPr>
              <a:t> </a:t>
            </a:r>
            <a:r>
              <a:rPr sz="1600" dirty="0">
                <a:solidFill>
                  <a:srgbClr val="1F4E79"/>
                </a:solidFill>
                <a:latin typeface="Roboto"/>
                <a:cs typeface="Roboto"/>
              </a:rPr>
              <a:t>we</a:t>
            </a:r>
            <a:r>
              <a:rPr sz="1600" spc="5" dirty="0">
                <a:solidFill>
                  <a:srgbClr val="1F4E79"/>
                </a:solidFill>
                <a:latin typeface="Roboto"/>
                <a:cs typeface="Roboto"/>
              </a:rPr>
              <a:t> </a:t>
            </a:r>
            <a:r>
              <a:rPr sz="1600" dirty="0">
                <a:solidFill>
                  <a:srgbClr val="1F4E79"/>
                </a:solidFill>
                <a:latin typeface="Roboto"/>
                <a:cs typeface="Roboto"/>
              </a:rPr>
              <a:t>actually</a:t>
            </a:r>
            <a:r>
              <a:rPr sz="1600" spc="-45" dirty="0">
                <a:solidFill>
                  <a:srgbClr val="1F4E79"/>
                </a:solidFill>
                <a:latin typeface="Roboto"/>
                <a:cs typeface="Roboto"/>
              </a:rPr>
              <a:t> </a:t>
            </a:r>
            <a:r>
              <a:rPr sz="1600" dirty="0">
                <a:solidFill>
                  <a:srgbClr val="1F4E79"/>
                </a:solidFill>
                <a:latin typeface="Roboto"/>
                <a:cs typeface="Roboto"/>
              </a:rPr>
              <a:t>need</a:t>
            </a:r>
            <a:r>
              <a:rPr sz="1600" spc="5" dirty="0">
                <a:solidFill>
                  <a:srgbClr val="1F4E79"/>
                </a:solidFill>
                <a:latin typeface="Roboto"/>
                <a:cs typeface="Roboto"/>
              </a:rPr>
              <a:t> </a:t>
            </a:r>
            <a:r>
              <a:rPr sz="1600" spc="-25" dirty="0">
                <a:solidFill>
                  <a:srgbClr val="1F4E79"/>
                </a:solidFill>
                <a:latin typeface="Roboto"/>
                <a:cs typeface="Roboto"/>
              </a:rPr>
              <a:t>on </a:t>
            </a:r>
            <a:r>
              <a:rPr sz="1600" dirty="0">
                <a:solidFill>
                  <a:srgbClr val="1F4E79"/>
                </a:solidFill>
                <a:latin typeface="Roboto"/>
                <a:cs typeface="Roboto"/>
              </a:rPr>
              <a:t>day</a:t>
            </a:r>
            <a:r>
              <a:rPr sz="1600" spc="-15" dirty="0">
                <a:solidFill>
                  <a:srgbClr val="1F4E79"/>
                </a:solidFill>
                <a:latin typeface="Roboto"/>
                <a:cs typeface="Roboto"/>
              </a:rPr>
              <a:t> </a:t>
            </a:r>
            <a:r>
              <a:rPr sz="1600" dirty="0">
                <a:solidFill>
                  <a:srgbClr val="1F4E79"/>
                </a:solidFill>
                <a:latin typeface="Roboto"/>
                <a:cs typeface="Roboto"/>
              </a:rPr>
              <a:t>to</a:t>
            </a:r>
            <a:r>
              <a:rPr sz="1600" spc="-10" dirty="0">
                <a:solidFill>
                  <a:srgbClr val="1F4E79"/>
                </a:solidFill>
                <a:latin typeface="Roboto"/>
                <a:cs typeface="Roboto"/>
              </a:rPr>
              <a:t> </a:t>
            </a:r>
            <a:r>
              <a:rPr sz="1600" dirty="0">
                <a:solidFill>
                  <a:srgbClr val="1F4E79"/>
                </a:solidFill>
                <a:latin typeface="Roboto"/>
                <a:cs typeface="Roboto"/>
              </a:rPr>
              <a:t>day</a:t>
            </a:r>
            <a:r>
              <a:rPr sz="1600" spc="-10" dirty="0">
                <a:solidFill>
                  <a:srgbClr val="1F4E79"/>
                </a:solidFill>
                <a:latin typeface="Roboto"/>
                <a:cs typeface="Roboto"/>
              </a:rPr>
              <a:t> </a:t>
            </a:r>
            <a:r>
              <a:rPr sz="1600" dirty="0">
                <a:solidFill>
                  <a:srgbClr val="1F4E79"/>
                </a:solidFill>
                <a:latin typeface="Roboto"/>
                <a:cs typeface="Roboto"/>
              </a:rPr>
              <a:t>basis.</a:t>
            </a:r>
            <a:r>
              <a:rPr sz="1600" spc="-15" dirty="0">
                <a:solidFill>
                  <a:srgbClr val="1F4E79"/>
                </a:solidFill>
                <a:latin typeface="Roboto"/>
                <a:cs typeface="Roboto"/>
              </a:rPr>
              <a:t> </a:t>
            </a:r>
            <a:r>
              <a:rPr sz="1600" dirty="0">
                <a:solidFill>
                  <a:srgbClr val="1F4E79"/>
                </a:solidFill>
                <a:latin typeface="Roboto"/>
                <a:cs typeface="Roboto"/>
              </a:rPr>
              <a:t>Rest can </a:t>
            </a:r>
            <a:r>
              <a:rPr sz="1600" spc="-25" dirty="0">
                <a:solidFill>
                  <a:srgbClr val="1F4E79"/>
                </a:solidFill>
                <a:latin typeface="Roboto"/>
                <a:cs typeface="Roboto"/>
              </a:rPr>
              <a:t>be </a:t>
            </a:r>
            <a:r>
              <a:rPr sz="1600" dirty="0">
                <a:solidFill>
                  <a:srgbClr val="1F4E79"/>
                </a:solidFill>
                <a:latin typeface="Roboto"/>
                <a:cs typeface="Roboto"/>
              </a:rPr>
              <a:t>organised</a:t>
            </a:r>
            <a:r>
              <a:rPr sz="1600" spc="-50" dirty="0">
                <a:solidFill>
                  <a:srgbClr val="1F4E79"/>
                </a:solidFill>
                <a:latin typeface="Roboto"/>
                <a:cs typeface="Roboto"/>
              </a:rPr>
              <a:t> </a:t>
            </a:r>
            <a:r>
              <a:rPr sz="1600" dirty="0">
                <a:solidFill>
                  <a:srgbClr val="1F4E79"/>
                </a:solidFill>
                <a:latin typeface="Roboto"/>
                <a:cs typeface="Roboto"/>
              </a:rPr>
              <a:t>in</a:t>
            </a:r>
            <a:r>
              <a:rPr sz="1600" spc="-45" dirty="0">
                <a:solidFill>
                  <a:srgbClr val="1F4E79"/>
                </a:solidFill>
                <a:latin typeface="Roboto"/>
                <a:cs typeface="Roboto"/>
              </a:rPr>
              <a:t> </a:t>
            </a:r>
            <a:r>
              <a:rPr sz="1600" spc="-10" dirty="0">
                <a:solidFill>
                  <a:srgbClr val="1F4E79"/>
                </a:solidFill>
                <a:latin typeface="Roboto"/>
                <a:cs typeface="Roboto"/>
              </a:rPr>
              <a:t>dropdowns.</a:t>
            </a:r>
            <a:endParaRPr sz="1600">
              <a:latin typeface="Roboto"/>
              <a:cs typeface="Roboto"/>
            </a:endParaRPr>
          </a:p>
        </p:txBody>
      </p:sp>
      <p:grpSp>
        <p:nvGrpSpPr>
          <p:cNvPr id="31" name="object 31"/>
          <p:cNvGrpSpPr/>
          <p:nvPr/>
        </p:nvGrpSpPr>
        <p:grpSpPr>
          <a:xfrm>
            <a:off x="2042160" y="1981390"/>
            <a:ext cx="9913620" cy="4401820"/>
            <a:chOff x="2042160" y="1981390"/>
            <a:chExt cx="9913620" cy="4401820"/>
          </a:xfrm>
        </p:grpSpPr>
        <p:sp>
          <p:nvSpPr>
            <p:cNvPr id="32" name="object 32"/>
            <p:cNvSpPr/>
            <p:nvPr/>
          </p:nvSpPr>
          <p:spPr>
            <a:xfrm>
              <a:off x="3839717" y="1995677"/>
              <a:ext cx="241300" cy="0"/>
            </a:xfrm>
            <a:custGeom>
              <a:avLst/>
              <a:gdLst/>
              <a:ahLst/>
              <a:cxnLst/>
              <a:rect l="l" t="t" r="r" b="b"/>
              <a:pathLst>
                <a:path w="241300">
                  <a:moveTo>
                    <a:pt x="0" y="0"/>
                  </a:moveTo>
                  <a:lnTo>
                    <a:pt x="241173" y="0"/>
                  </a:lnTo>
                </a:path>
              </a:pathLst>
            </a:custGeom>
            <a:ln w="28575">
              <a:solidFill>
                <a:srgbClr val="000000"/>
              </a:solidFill>
            </a:ln>
          </p:spPr>
          <p:txBody>
            <a:bodyPr wrap="square" lIns="0" tIns="0" rIns="0" bIns="0" rtlCol="0"/>
            <a:lstStyle/>
            <a:p>
              <a:endParaRPr/>
            </a:p>
          </p:txBody>
        </p:sp>
        <p:sp>
          <p:nvSpPr>
            <p:cNvPr id="33" name="object 33"/>
            <p:cNvSpPr/>
            <p:nvPr/>
          </p:nvSpPr>
          <p:spPr>
            <a:xfrm>
              <a:off x="2042160" y="6379463"/>
              <a:ext cx="9913620" cy="0"/>
            </a:xfrm>
            <a:custGeom>
              <a:avLst/>
              <a:gdLst/>
              <a:ahLst/>
              <a:cxnLst/>
              <a:rect l="l" t="t" r="r" b="b"/>
              <a:pathLst>
                <a:path w="9913620">
                  <a:moveTo>
                    <a:pt x="0" y="0"/>
                  </a:moveTo>
                  <a:lnTo>
                    <a:pt x="9913492" y="0"/>
                  </a:lnTo>
                </a:path>
              </a:pathLst>
            </a:custGeom>
            <a:ln w="6350">
              <a:solidFill>
                <a:srgbClr val="223166"/>
              </a:solidFill>
              <a:prstDash val="lgDash"/>
            </a:ln>
          </p:spPr>
          <p:txBody>
            <a:bodyPr wrap="square" lIns="0" tIns="0" rIns="0" bIns="0" rtlCol="0"/>
            <a:lstStyle/>
            <a:p>
              <a:endParaRPr/>
            </a:p>
          </p:txBody>
        </p:sp>
      </p:grpSp>
      <p:sp>
        <p:nvSpPr>
          <p:cNvPr id="34" name="object 34"/>
          <p:cNvSpPr txBox="1"/>
          <p:nvPr/>
        </p:nvSpPr>
        <p:spPr>
          <a:xfrm>
            <a:off x="8613775" y="5148148"/>
            <a:ext cx="3118485" cy="1093470"/>
          </a:xfrm>
          <a:prstGeom prst="rect">
            <a:avLst/>
          </a:prstGeom>
        </p:spPr>
        <p:txBody>
          <a:bodyPr vert="horz" wrap="square" lIns="0" tIns="13335" rIns="0" bIns="0" rtlCol="0">
            <a:spAutoFit/>
          </a:bodyPr>
          <a:lstStyle/>
          <a:p>
            <a:pPr marL="12700" marR="5080">
              <a:lnSpc>
                <a:spcPct val="100000"/>
              </a:lnSpc>
              <a:spcBef>
                <a:spcPts val="105"/>
              </a:spcBef>
            </a:pPr>
            <a:r>
              <a:rPr sz="1400" dirty="0">
                <a:solidFill>
                  <a:srgbClr val="1F4E79"/>
                </a:solidFill>
                <a:latin typeface="Roboto"/>
                <a:cs typeface="Roboto"/>
              </a:rPr>
              <a:t>For</a:t>
            </a:r>
            <a:r>
              <a:rPr sz="1400" spc="-25" dirty="0">
                <a:solidFill>
                  <a:srgbClr val="1F4E79"/>
                </a:solidFill>
                <a:latin typeface="Roboto"/>
                <a:cs typeface="Roboto"/>
              </a:rPr>
              <a:t> </a:t>
            </a:r>
            <a:r>
              <a:rPr sz="1400" dirty="0">
                <a:solidFill>
                  <a:srgbClr val="1F4E79"/>
                </a:solidFill>
                <a:latin typeface="Roboto"/>
                <a:cs typeface="Roboto"/>
              </a:rPr>
              <a:t>a</a:t>
            </a:r>
            <a:r>
              <a:rPr sz="1400" spc="-15" dirty="0">
                <a:solidFill>
                  <a:srgbClr val="1F4E79"/>
                </a:solidFill>
                <a:latin typeface="Roboto"/>
                <a:cs typeface="Roboto"/>
              </a:rPr>
              <a:t> </a:t>
            </a:r>
            <a:r>
              <a:rPr sz="1400" spc="-80" dirty="0">
                <a:solidFill>
                  <a:srgbClr val="1F4E79"/>
                </a:solidFill>
                <a:latin typeface="Roboto"/>
                <a:cs typeface="Roboto"/>
              </a:rPr>
              <a:t>non-</a:t>
            </a:r>
            <a:r>
              <a:rPr sz="1400" dirty="0">
                <a:solidFill>
                  <a:srgbClr val="1F4E79"/>
                </a:solidFill>
                <a:latin typeface="Roboto"/>
                <a:cs typeface="Roboto"/>
              </a:rPr>
              <a:t>netizen,</a:t>
            </a:r>
            <a:r>
              <a:rPr sz="1400" spc="10" dirty="0">
                <a:solidFill>
                  <a:srgbClr val="1F4E79"/>
                </a:solidFill>
                <a:latin typeface="Roboto"/>
                <a:cs typeface="Roboto"/>
              </a:rPr>
              <a:t> </a:t>
            </a:r>
            <a:r>
              <a:rPr sz="1400" dirty="0">
                <a:solidFill>
                  <a:srgbClr val="1F4E79"/>
                </a:solidFill>
                <a:latin typeface="Roboto"/>
                <a:cs typeface="Roboto"/>
              </a:rPr>
              <a:t>a</a:t>
            </a:r>
            <a:r>
              <a:rPr sz="1400" spc="-20" dirty="0">
                <a:solidFill>
                  <a:srgbClr val="1F4E79"/>
                </a:solidFill>
                <a:latin typeface="Roboto"/>
                <a:cs typeface="Roboto"/>
              </a:rPr>
              <a:t> </a:t>
            </a:r>
            <a:r>
              <a:rPr sz="1400" dirty="0">
                <a:solidFill>
                  <a:srgbClr val="1F4E79"/>
                </a:solidFill>
                <a:latin typeface="Roboto"/>
                <a:cs typeface="Roboto"/>
              </a:rPr>
              <a:t>simple</a:t>
            </a:r>
            <a:r>
              <a:rPr sz="1400" spc="5" dirty="0">
                <a:solidFill>
                  <a:srgbClr val="1F4E79"/>
                </a:solidFill>
                <a:latin typeface="Roboto"/>
                <a:cs typeface="Roboto"/>
              </a:rPr>
              <a:t> </a:t>
            </a:r>
            <a:r>
              <a:rPr sz="1400" b="1" spc="-10" dirty="0">
                <a:solidFill>
                  <a:srgbClr val="1F4E79"/>
                </a:solidFill>
                <a:latin typeface="Roboto"/>
                <a:cs typeface="Roboto"/>
              </a:rPr>
              <a:t>dropdown </a:t>
            </a:r>
            <a:r>
              <a:rPr sz="1400" dirty="0">
                <a:solidFill>
                  <a:srgbClr val="1F4E79"/>
                </a:solidFill>
                <a:latin typeface="Roboto"/>
                <a:cs typeface="Roboto"/>
              </a:rPr>
              <a:t>beside</a:t>
            </a:r>
            <a:r>
              <a:rPr sz="1400" spc="-25" dirty="0">
                <a:solidFill>
                  <a:srgbClr val="1F4E79"/>
                </a:solidFill>
                <a:latin typeface="Roboto"/>
                <a:cs typeface="Roboto"/>
              </a:rPr>
              <a:t> </a:t>
            </a:r>
            <a:r>
              <a:rPr sz="1400" dirty="0">
                <a:solidFill>
                  <a:srgbClr val="1F4E79"/>
                </a:solidFill>
                <a:latin typeface="Roboto"/>
                <a:cs typeface="Roboto"/>
              </a:rPr>
              <a:t>the</a:t>
            </a:r>
            <a:r>
              <a:rPr sz="1400" spc="-20" dirty="0">
                <a:solidFill>
                  <a:srgbClr val="1F4E79"/>
                </a:solidFill>
                <a:latin typeface="Roboto"/>
                <a:cs typeface="Roboto"/>
              </a:rPr>
              <a:t> </a:t>
            </a:r>
            <a:r>
              <a:rPr sz="1400" dirty="0">
                <a:solidFill>
                  <a:srgbClr val="1F4E79"/>
                </a:solidFill>
                <a:latin typeface="Roboto"/>
                <a:cs typeface="Roboto"/>
              </a:rPr>
              <a:t>account</a:t>
            </a:r>
            <a:r>
              <a:rPr sz="1400" spc="-20" dirty="0">
                <a:solidFill>
                  <a:srgbClr val="1F4E79"/>
                </a:solidFill>
                <a:latin typeface="Roboto"/>
                <a:cs typeface="Roboto"/>
              </a:rPr>
              <a:t> </a:t>
            </a:r>
            <a:r>
              <a:rPr sz="1400" dirty="0">
                <a:solidFill>
                  <a:srgbClr val="1F4E79"/>
                </a:solidFill>
                <a:latin typeface="Roboto"/>
                <a:cs typeface="Roboto"/>
              </a:rPr>
              <a:t>detail</a:t>
            </a:r>
            <a:r>
              <a:rPr sz="1400" spc="-10" dirty="0">
                <a:solidFill>
                  <a:srgbClr val="1F4E79"/>
                </a:solidFill>
                <a:latin typeface="Roboto"/>
                <a:cs typeface="Roboto"/>
              </a:rPr>
              <a:t> </a:t>
            </a:r>
            <a:r>
              <a:rPr sz="1400" b="1" spc="-20" dirty="0">
                <a:solidFill>
                  <a:srgbClr val="1F4E79"/>
                </a:solidFill>
                <a:latin typeface="Roboto"/>
                <a:cs typeface="Roboto"/>
              </a:rPr>
              <a:t>isn’t</a:t>
            </a:r>
            <a:r>
              <a:rPr sz="1400" b="1" spc="-30" dirty="0">
                <a:solidFill>
                  <a:srgbClr val="1F4E79"/>
                </a:solidFill>
                <a:latin typeface="Roboto"/>
                <a:cs typeface="Roboto"/>
              </a:rPr>
              <a:t> </a:t>
            </a:r>
            <a:r>
              <a:rPr sz="1400" b="1" spc="-10" dirty="0">
                <a:solidFill>
                  <a:srgbClr val="1F4E79"/>
                </a:solidFill>
                <a:latin typeface="Roboto"/>
                <a:cs typeface="Roboto"/>
              </a:rPr>
              <a:t>intuitive </a:t>
            </a:r>
            <a:r>
              <a:rPr sz="1400" dirty="0">
                <a:solidFill>
                  <a:srgbClr val="1F4E79"/>
                </a:solidFill>
                <a:latin typeface="Roboto"/>
                <a:cs typeface="Roboto"/>
              </a:rPr>
              <a:t>enough</a:t>
            </a:r>
            <a:r>
              <a:rPr sz="1400" spc="-15" dirty="0">
                <a:solidFill>
                  <a:srgbClr val="1F4E79"/>
                </a:solidFill>
                <a:latin typeface="Roboto"/>
                <a:cs typeface="Roboto"/>
              </a:rPr>
              <a:t> </a:t>
            </a:r>
            <a:r>
              <a:rPr sz="1400" dirty="0">
                <a:solidFill>
                  <a:srgbClr val="1F4E79"/>
                </a:solidFill>
                <a:latin typeface="Roboto"/>
                <a:cs typeface="Roboto"/>
              </a:rPr>
              <a:t>to</a:t>
            </a:r>
            <a:r>
              <a:rPr sz="1400" spc="-40" dirty="0">
                <a:solidFill>
                  <a:srgbClr val="1F4E79"/>
                </a:solidFill>
                <a:latin typeface="Roboto"/>
                <a:cs typeface="Roboto"/>
              </a:rPr>
              <a:t> </a:t>
            </a:r>
            <a:r>
              <a:rPr sz="1400" dirty="0">
                <a:solidFill>
                  <a:srgbClr val="1F4E79"/>
                </a:solidFill>
                <a:latin typeface="Roboto"/>
                <a:cs typeface="Roboto"/>
              </a:rPr>
              <a:t>select</a:t>
            </a:r>
            <a:r>
              <a:rPr sz="1400" spc="-40" dirty="0">
                <a:solidFill>
                  <a:srgbClr val="1F4E79"/>
                </a:solidFill>
                <a:latin typeface="Roboto"/>
                <a:cs typeface="Roboto"/>
              </a:rPr>
              <a:t> </a:t>
            </a:r>
            <a:r>
              <a:rPr sz="1400" dirty="0">
                <a:solidFill>
                  <a:srgbClr val="1F4E79"/>
                </a:solidFill>
                <a:latin typeface="Roboto"/>
                <a:cs typeface="Roboto"/>
              </a:rPr>
              <a:t>another</a:t>
            </a:r>
            <a:r>
              <a:rPr sz="1400" spc="-10" dirty="0">
                <a:solidFill>
                  <a:srgbClr val="1F4E79"/>
                </a:solidFill>
                <a:latin typeface="Roboto"/>
                <a:cs typeface="Roboto"/>
              </a:rPr>
              <a:t> account.</a:t>
            </a:r>
            <a:endParaRPr sz="1400">
              <a:latin typeface="Roboto"/>
              <a:cs typeface="Roboto"/>
            </a:endParaRPr>
          </a:p>
          <a:p>
            <a:pPr marL="12700" marR="337820">
              <a:lnSpc>
                <a:spcPct val="100000"/>
              </a:lnSpc>
              <a:spcBef>
                <a:spcPts val="5"/>
              </a:spcBef>
            </a:pPr>
            <a:r>
              <a:rPr sz="1400" dirty="0">
                <a:solidFill>
                  <a:srgbClr val="1F4E79"/>
                </a:solidFill>
                <a:latin typeface="Roboto"/>
                <a:cs typeface="Roboto"/>
              </a:rPr>
              <a:t>Should</a:t>
            </a:r>
            <a:r>
              <a:rPr sz="1400" spc="-15" dirty="0">
                <a:solidFill>
                  <a:srgbClr val="1F4E79"/>
                </a:solidFill>
                <a:latin typeface="Roboto"/>
                <a:cs typeface="Roboto"/>
              </a:rPr>
              <a:t> </a:t>
            </a:r>
            <a:r>
              <a:rPr sz="1400" dirty="0">
                <a:solidFill>
                  <a:srgbClr val="1F4E79"/>
                </a:solidFill>
                <a:latin typeface="Roboto"/>
                <a:cs typeface="Roboto"/>
              </a:rPr>
              <a:t>have</a:t>
            </a:r>
            <a:r>
              <a:rPr sz="1400" spc="-35" dirty="0">
                <a:solidFill>
                  <a:srgbClr val="1F4E79"/>
                </a:solidFill>
                <a:latin typeface="Roboto"/>
                <a:cs typeface="Roboto"/>
              </a:rPr>
              <a:t> </a:t>
            </a:r>
            <a:r>
              <a:rPr sz="1400" dirty="0">
                <a:solidFill>
                  <a:srgbClr val="1F4E79"/>
                </a:solidFill>
                <a:latin typeface="Roboto"/>
                <a:cs typeface="Roboto"/>
              </a:rPr>
              <a:t>more</a:t>
            </a:r>
            <a:r>
              <a:rPr sz="1400" spc="-35" dirty="0">
                <a:solidFill>
                  <a:srgbClr val="1F4E79"/>
                </a:solidFill>
                <a:latin typeface="Roboto"/>
                <a:cs typeface="Roboto"/>
              </a:rPr>
              <a:t> </a:t>
            </a:r>
            <a:r>
              <a:rPr sz="1400" dirty="0">
                <a:solidFill>
                  <a:srgbClr val="1F4E79"/>
                </a:solidFill>
                <a:latin typeface="Roboto"/>
                <a:cs typeface="Roboto"/>
              </a:rPr>
              <a:t>clarity,</a:t>
            </a:r>
            <a:r>
              <a:rPr sz="1400" spc="-35" dirty="0">
                <a:solidFill>
                  <a:srgbClr val="1F4E79"/>
                </a:solidFill>
                <a:latin typeface="Roboto"/>
                <a:cs typeface="Roboto"/>
              </a:rPr>
              <a:t> </a:t>
            </a:r>
            <a:r>
              <a:rPr sz="1400" spc="-10" dirty="0">
                <a:solidFill>
                  <a:srgbClr val="1F4E79"/>
                </a:solidFill>
                <a:latin typeface="Roboto"/>
                <a:cs typeface="Roboto"/>
              </a:rPr>
              <a:t>separate button</a:t>
            </a:r>
            <a:endParaRPr sz="1400">
              <a:latin typeface="Roboto"/>
              <a:cs typeface="Roboto"/>
            </a:endParaRPr>
          </a:p>
        </p:txBody>
      </p:sp>
      <p:sp>
        <p:nvSpPr>
          <p:cNvPr id="35" name="object 35"/>
          <p:cNvSpPr txBox="1">
            <a:spLocks noGrp="1"/>
          </p:cNvSpPr>
          <p:nvPr>
            <p:ph type="dt" sz="half" idx="6"/>
          </p:nvPr>
        </p:nvSpPr>
        <p:spPr>
          <a:prstGeom prst="rect">
            <a:avLst/>
          </a:prstGeom>
        </p:spPr>
        <p:txBody>
          <a:bodyPr vert="horz" wrap="square" lIns="0" tIns="23495" rIns="0" bIns="0" rtlCol="0">
            <a:spAutoFit/>
          </a:bodyPr>
          <a:lstStyle/>
          <a:p>
            <a:pPr marL="12700">
              <a:lnSpc>
                <a:spcPct val="100000"/>
              </a:lnSpc>
              <a:spcBef>
                <a:spcPts val="185"/>
              </a:spcBef>
            </a:pPr>
            <a:r>
              <a:rPr spc="-10" dirty="0"/>
              <a:t>Overview</a:t>
            </a:r>
          </a:p>
        </p:txBody>
      </p:sp>
      <p:sp>
        <p:nvSpPr>
          <p:cNvPr id="36" name="object 36"/>
          <p:cNvSpPr txBox="1"/>
          <p:nvPr/>
        </p:nvSpPr>
        <p:spPr>
          <a:xfrm>
            <a:off x="3518408" y="6343328"/>
            <a:ext cx="1402080" cy="327025"/>
          </a:xfrm>
          <a:prstGeom prst="rect">
            <a:avLst/>
          </a:prstGeom>
        </p:spPr>
        <p:txBody>
          <a:bodyPr vert="horz" wrap="square" lIns="0" tIns="23495" rIns="0" bIns="0" rtlCol="0">
            <a:spAutoFit/>
          </a:bodyPr>
          <a:lstStyle/>
          <a:p>
            <a:pPr marL="12700">
              <a:lnSpc>
                <a:spcPct val="100000"/>
              </a:lnSpc>
              <a:spcBef>
                <a:spcPts val="185"/>
              </a:spcBef>
            </a:pPr>
            <a:r>
              <a:rPr sz="1800" dirty="0">
                <a:solidFill>
                  <a:srgbClr val="1F4E79"/>
                </a:solidFill>
                <a:latin typeface="Roboto"/>
                <a:cs typeface="Roboto"/>
              </a:rPr>
              <a:t>User</a:t>
            </a:r>
            <a:r>
              <a:rPr sz="1800" spc="-30" dirty="0">
                <a:solidFill>
                  <a:srgbClr val="1F4E79"/>
                </a:solidFill>
                <a:latin typeface="Roboto"/>
                <a:cs typeface="Roboto"/>
              </a:rPr>
              <a:t> </a:t>
            </a:r>
            <a:r>
              <a:rPr sz="1800" spc="-10" dirty="0">
                <a:solidFill>
                  <a:srgbClr val="1F4E79"/>
                </a:solidFill>
                <a:latin typeface="Roboto"/>
                <a:cs typeface="Roboto"/>
              </a:rPr>
              <a:t>Persona</a:t>
            </a:r>
            <a:endParaRPr sz="1800">
              <a:latin typeface="Roboto"/>
              <a:cs typeface="Roboto"/>
            </a:endParaRPr>
          </a:p>
        </p:txBody>
      </p:sp>
      <p:sp>
        <p:nvSpPr>
          <p:cNvPr id="37" name="object 37"/>
          <p:cNvSpPr txBox="1"/>
          <p:nvPr/>
        </p:nvSpPr>
        <p:spPr>
          <a:xfrm>
            <a:off x="6678930" y="6343328"/>
            <a:ext cx="2565400" cy="327025"/>
          </a:xfrm>
          <a:prstGeom prst="rect">
            <a:avLst/>
          </a:prstGeom>
        </p:spPr>
        <p:txBody>
          <a:bodyPr vert="horz" wrap="square" lIns="0" tIns="23495" rIns="0" bIns="0" rtlCol="0">
            <a:spAutoFit/>
          </a:bodyPr>
          <a:lstStyle/>
          <a:p>
            <a:pPr marL="12700">
              <a:lnSpc>
                <a:spcPct val="100000"/>
              </a:lnSpc>
              <a:spcBef>
                <a:spcPts val="185"/>
              </a:spcBef>
            </a:pPr>
            <a:r>
              <a:rPr sz="1800" dirty="0">
                <a:solidFill>
                  <a:srgbClr val="1F4E79"/>
                </a:solidFill>
                <a:latin typeface="Roboto"/>
                <a:cs typeface="Roboto"/>
              </a:rPr>
              <a:t>User</a:t>
            </a:r>
            <a:r>
              <a:rPr sz="1800" spc="20" dirty="0">
                <a:solidFill>
                  <a:srgbClr val="1F4E79"/>
                </a:solidFill>
                <a:latin typeface="Roboto"/>
                <a:cs typeface="Roboto"/>
              </a:rPr>
              <a:t> </a:t>
            </a:r>
            <a:r>
              <a:rPr sz="1800" dirty="0">
                <a:solidFill>
                  <a:srgbClr val="1F4E79"/>
                </a:solidFill>
                <a:latin typeface="Roboto"/>
                <a:cs typeface="Roboto"/>
              </a:rPr>
              <a:t>Experience</a:t>
            </a:r>
            <a:r>
              <a:rPr sz="1800" spc="20" dirty="0">
                <a:solidFill>
                  <a:srgbClr val="1F4E79"/>
                </a:solidFill>
                <a:latin typeface="Roboto"/>
                <a:cs typeface="Roboto"/>
              </a:rPr>
              <a:t> </a:t>
            </a:r>
            <a:r>
              <a:rPr sz="1800" spc="-10" dirty="0">
                <a:solidFill>
                  <a:srgbClr val="1F4E79"/>
                </a:solidFill>
                <a:latin typeface="Roboto"/>
                <a:cs typeface="Roboto"/>
              </a:rPr>
              <a:t>Insights</a:t>
            </a:r>
            <a:endParaRPr sz="1800">
              <a:latin typeface="Roboto"/>
              <a:cs typeface="Roboto"/>
            </a:endParaRPr>
          </a:p>
        </p:txBody>
      </p:sp>
      <p:sp>
        <p:nvSpPr>
          <p:cNvPr id="38" name="object 38"/>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spc="-10" dirty="0"/>
              <a:t>Metrics</a:t>
            </a:r>
          </a:p>
        </p:txBody>
      </p:sp>
      <p:sp>
        <p:nvSpPr>
          <p:cNvPr id="39" name="object 39"/>
          <p:cNvSpPr txBox="1"/>
          <p:nvPr/>
        </p:nvSpPr>
        <p:spPr>
          <a:xfrm>
            <a:off x="5061584" y="6358873"/>
            <a:ext cx="1392555" cy="327025"/>
          </a:xfrm>
          <a:prstGeom prst="rect">
            <a:avLst/>
          </a:prstGeom>
        </p:spPr>
        <p:txBody>
          <a:bodyPr vert="horz" wrap="square" lIns="0" tIns="23495" rIns="0" bIns="0" rtlCol="0">
            <a:spAutoFit/>
          </a:bodyPr>
          <a:lstStyle/>
          <a:p>
            <a:pPr marL="12700">
              <a:lnSpc>
                <a:spcPct val="100000"/>
              </a:lnSpc>
              <a:spcBef>
                <a:spcPts val="185"/>
              </a:spcBef>
            </a:pPr>
            <a:r>
              <a:rPr sz="1800" b="1" u="sng" dirty="0">
                <a:solidFill>
                  <a:srgbClr val="1F4E79"/>
                </a:solidFill>
                <a:uFill>
                  <a:solidFill>
                    <a:srgbClr val="1F4E79"/>
                  </a:solidFill>
                </a:uFill>
                <a:latin typeface="Roboto"/>
                <a:cs typeface="Roboto"/>
              </a:rPr>
              <a:t>User</a:t>
            </a:r>
            <a:r>
              <a:rPr sz="1800" b="1" u="sng" spc="-35" dirty="0">
                <a:solidFill>
                  <a:srgbClr val="1F4E79"/>
                </a:solidFill>
                <a:uFill>
                  <a:solidFill>
                    <a:srgbClr val="1F4E79"/>
                  </a:solidFill>
                </a:uFill>
                <a:latin typeface="Roboto"/>
                <a:cs typeface="Roboto"/>
              </a:rPr>
              <a:t> </a:t>
            </a:r>
            <a:r>
              <a:rPr sz="1800" b="1" u="sng" spc="-10" dirty="0">
                <a:solidFill>
                  <a:srgbClr val="1F4E79"/>
                </a:solidFill>
                <a:uFill>
                  <a:solidFill>
                    <a:srgbClr val="1F4E79"/>
                  </a:solidFill>
                </a:uFill>
                <a:latin typeface="Roboto"/>
                <a:cs typeface="Roboto"/>
              </a:rPr>
              <a:t>Journey</a:t>
            </a:r>
            <a:endParaRPr sz="1800">
              <a:latin typeface="Roboto"/>
              <a:cs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20218" y="1364741"/>
            <a:ext cx="1838325" cy="678180"/>
          </a:xfrm>
          <a:custGeom>
            <a:avLst/>
            <a:gdLst/>
            <a:ahLst/>
            <a:cxnLst/>
            <a:rect l="l" t="t" r="r" b="b"/>
            <a:pathLst>
              <a:path w="1838325" h="678180">
                <a:moveTo>
                  <a:pt x="0" y="113030"/>
                </a:moveTo>
                <a:lnTo>
                  <a:pt x="8883" y="69008"/>
                </a:lnTo>
                <a:lnTo>
                  <a:pt x="33107" y="33083"/>
                </a:lnTo>
                <a:lnTo>
                  <a:pt x="69035" y="8874"/>
                </a:lnTo>
                <a:lnTo>
                  <a:pt x="113029" y="0"/>
                </a:lnTo>
                <a:lnTo>
                  <a:pt x="1724914" y="0"/>
                </a:lnTo>
                <a:lnTo>
                  <a:pt x="1768935" y="8874"/>
                </a:lnTo>
                <a:lnTo>
                  <a:pt x="1804860" y="33083"/>
                </a:lnTo>
                <a:lnTo>
                  <a:pt x="1829069" y="69008"/>
                </a:lnTo>
                <a:lnTo>
                  <a:pt x="1837944" y="113030"/>
                </a:lnTo>
                <a:lnTo>
                  <a:pt x="1837944" y="565150"/>
                </a:lnTo>
                <a:lnTo>
                  <a:pt x="1829069" y="609171"/>
                </a:lnTo>
                <a:lnTo>
                  <a:pt x="1804860" y="645096"/>
                </a:lnTo>
                <a:lnTo>
                  <a:pt x="1768935" y="669305"/>
                </a:lnTo>
                <a:lnTo>
                  <a:pt x="1724914" y="678180"/>
                </a:lnTo>
                <a:lnTo>
                  <a:pt x="113029" y="678180"/>
                </a:lnTo>
                <a:lnTo>
                  <a:pt x="69035" y="669305"/>
                </a:lnTo>
                <a:lnTo>
                  <a:pt x="33107" y="645096"/>
                </a:lnTo>
                <a:lnTo>
                  <a:pt x="8883" y="609171"/>
                </a:lnTo>
                <a:lnTo>
                  <a:pt x="0" y="565150"/>
                </a:lnTo>
                <a:lnTo>
                  <a:pt x="0" y="113030"/>
                </a:lnTo>
                <a:close/>
              </a:path>
            </a:pathLst>
          </a:custGeom>
          <a:ln w="25400">
            <a:solidFill>
              <a:srgbClr val="53C1EF"/>
            </a:solidFill>
          </a:ln>
        </p:spPr>
        <p:txBody>
          <a:bodyPr wrap="square" lIns="0" tIns="0" rIns="0" bIns="0" rtlCol="0"/>
          <a:lstStyle/>
          <a:p>
            <a:endParaRPr/>
          </a:p>
        </p:txBody>
      </p:sp>
      <p:sp>
        <p:nvSpPr>
          <p:cNvPr id="3" name="object 3"/>
          <p:cNvSpPr txBox="1"/>
          <p:nvPr/>
        </p:nvSpPr>
        <p:spPr>
          <a:xfrm>
            <a:off x="826719" y="1542415"/>
            <a:ext cx="62357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4E79"/>
                </a:solidFill>
                <a:latin typeface="Roboto"/>
                <a:cs typeface="Roboto"/>
              </a:rPr>
              <a:t>Doing</a:t>
            </a:r>
            <a:endParaRPr sz="1800">
              <a:latin typeface="Roboto"/>
              <a:cs typeface="Roboto"/>
            </a:endParaRPr>
          </a:p>
        </p:txBody>
      </p:sp>
      <p:sp>
        <p:nvSpPr>
          <p:cNvPr id="4" name="object 4"/>
          <p:cNvSpPr/>
          <p:nvPr/>
        </p:nvSpPr>
        <p:spPr>
          <a:xfrm>
            <a:off x="177545" y="3321558"/>
            <a:ext cx="1839595" cy="678180"/>
          </a:xfrm>
          <a:custGeom>
            <a:avLst/>
            <a:gdLst/>
            <a:ahLst/>
            <a:cxnLst/>
            <a:rect l="l" t="t" r="r" b="b"/>
            <a:pathLst>
              <a:path w="1839595" h="678179">
                <a:moveTo>
                  <a:pt x="0" y="113029"/>
                </a:moveTo>
                <a:lnTo>
                  <a:pt x="8883" y="69008"/>
                </a:lnTo>
                <a:lnTo>
                  <a:pt x="33107" y="33083"/>
                </a:lnTo>
                <a:lnTo>
                  <a:pt x="69035" y="8874"/>
                </a:lnTo>
                <a:lnTo>
                  <a:pt x="113029" y="0"/>
                </a:lnTo>
                <a:lnTo>
                  <a:pt x="1726438" y="0"/>
                </a:lnTo>
                <a:lnTo>
                  <a:pt x="1770459" y="8874"/>
                </a:lnTo>
                <a:lnTo>
                  <a:pt x="1806384" y="33083"/>
                </a:lnTo>
                <a:lnTo>
                  <a:pt x="1830593" y="69008"/>
                </a:lnTo>
                <a:lnTo>
                  <a:pt x="1839468" y="113029"/>
                </a:lnTo>
                <a:lnTo>
                  <a:pt x="1839468" y="565149"/>
                </a:lnTo>
                <a:lnTo>
                  <a:pt x="1830593" y="609171"/>
                </a:lnTo>
                <a:lnTo>
                  <a:pt x="1806384" y="645096"/>
                </a:lnTo>
                <a:lnTo>
                  <a:pt x="1770459" y="669305"/>
                </a:lnTo>
                <a:lnTo>
                  <a:pt x="1726438" y="678179"/>
                </a:lnTo>
                <a:lnTo>
                  <a:pt x="113029" y="678179"/>
                </a:lnTo>
                <a:lnTo>
                  <a:pt x="69035" y="669305"/>
                </a:lnTo>
                <a:lnTo>
                  <a:pt x="33107" y="645096"/>
                </a:lnTo>
                <a:lnTo>
                  <a:pt x="8883" y="609171"/>
                </a:lnTo>
                <a:lnTo>
                  <a:pt x="0" y="565149"/>
                </a:lnTo>
                <a:lnTo>
                  <a:pt x="0" y="113029"/>
                </a:lnTo>
                <a:close/>
              </a:path>
            </a:pathLst>
          </a:custGeom>
          <a:ln w="25400">
            <a:solidFill>
              <a:srgbClr val="53C1EF"/>
            </a:solidFill>
          </a:ln>
        </p:spPr>
        <p:txBody>
          <a:bodyPr wrap="square" lIns="0" tIns="0" rIns="0" bIns="0" rtlCol="0"/>
          <a:lstStyle/>
          <a:p>
            <a:endParaRPr/>
          </a:p>
        </p:txBody>
      </p:sp>
      <p:sp>
        <p:nvSpPr>
          <p:cNvPr id="5" name="object 5"/>
          <p:cNvSpPr txBox="1"/>
          <p:nvPr/>
        </p:nvSpPr>
        <p:spPr>
          <a:xfrm>
            <a:off x="641705" y="3500120"/>
            <a:ext cx="911225"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4E79"/>
                </a:solidFill>
                <a:latin typeface="Roboto"/>
                <a:cs typeface="Roboto"/>
              </a:rPr>
              <a:t>Thinking</a:t>
            </a:r>
            <a:endParaRPr sz="1800">
              <a:latin typeface="Roboto"/>
              <a:cs typeface="Roboto"/>
            </a:endParaRPr>
          </a:p>
        </p:txBody>
      </p:sp>
      <p:sp>
        <p:nvSpPr>
          <p:cNvPr id="6" name="object 6"/>
          <p:cNvSpPr/>
          <p:nvPr/>
        </p:nvSpPr>
        <p:spPr>
          <a:xfrm>
            <a:off x="176021" y="4228338"/>
            <a:ext cx="1844039" cy="561340"/>
          </a:xfrm>
          <a:custGeom>
            <a:avLst/>
            <a:gdLst/>
            <a:ahLst/>
            <a:cxnLst/>
            <a:rect l="l" t="t" r="r" b="b"/>
            <a:pathLst>
              <a:path w="1844039" h="561339">
                <a:moveTo>
                  <a:pt x="0" y="93472"/>
                </a:moveTo>
                <a:lnTo>
                  <a:pt x="7345" y="57114"/>
                </a:lnTo>
                <a:lnTo>
                  <a:pt x="27376" y="27400"/>
                </a:lnTo>
                <a:lnTo>
                  <a:pt x="57087" y="7354"/>
                </a:lnTo>
                <a:lnTo>
                  <a:pt x="93472" y="0"/>
                </a:lnTo>
                <a:lnTo>
                  <a:pt x="1750567" y="0"/>
                </a:lnTo>
                <a:lnTo>
                  <a:pt x="1786925" y="7354"/>
                </a:lnTo>
                <a:lnTo>
                  <a:pt x="1816639" y="27400"/>
                </a:lnTo>
                <a:lnTo>
                  <a:pt x="1836685" y="57114"/>
                </a:lnTo>
                <a:lnTo>
                  <a:pt x="1844039" y="93472"/>
                </a:lnTo>
                <a:lnTo>
                  <a:pt x="1844039" y="467360"/>
                </a:lnTo>
                <a:lnTo>
                  <a:pt x="1836685" y="503717"/>
                </a:lnTo>
                <a:lnTo>
                  <a:pt x="1816639" y="533431"/>
                </a:lnTo>
                <a:lnTo>
                  <a:pt x="1786925" y="553477"/>
                </a:lnTo>
                <a:lnTo>
                  <a:pt x="1750567" y="560832"/>
                </a:lnTo>
                <a:lnTo>
                  <a:pt x="93472" y="560832"/>
                </a:lnTo>
                <a:lnTo>
                  <a:pt x="57087" y="553477"/>
                </a:lnTo>
                <a:lnTo>
                  <a:pt x="27376" y="533431"/>
                </a:lnTo>
                <a:lnTo>
                  <a:pt x="7345" y="503717"/>
                </a:lnTo>
                <a:lnTo>
                  <a:pt x="0" y="467360"/>
                </a:lnTo>
                <a:lnTo>
                  <a:pt x="0" y="93472"/>
                </a:lnTo>
                <a:close/>
              </a:path>
            </a:pathLst>
          </a:custGeom>
          <a:ln w="25400">
            <a:solidFill>
              <a:srgbClr val="53C1EF"/>
            </a:solidFill>
          </a:ln>
        </p:spPr>
        <p:txBody>
          <a:bodyPr wrap="square" lIns="0" tIns="0" rIns="0" bIns="0" rtlCol="0"/>
          <a:lstStyle/>
          <a:p>
            <a:endParaRPr/>
          </a:p>
        </p:txBody>
      </p:sp>
      <p:sp>
        <p:nvSpPr>
          <p:cNvPr id="7" name="object 7"/>
          <p:cNvSpPr txBox="1"/>
          <p:nvPr/>
        </p:nvSpPr>
        <p:spPr>
          <a:xfrm>
            <a:off x="712114" y="4348353"/>
            <a:ext cx="77089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4E79"/>
                </a:solidFill>
                <a:latin typeface="Roboto"/>
                <a:cs typeface="Roboto"/>
              </a:rPr>
              <a:t>Feeling</a:t>
            </a:r>
            <a:endParaRPr sz="1800">
              <a:latin typeface="Roboto"/>
              <a:cs typeface="Roboto"/>
            </a:endParaRPr>
          </a:p>
        </p:txBody>
      </p:sp>
      <p:sp>
        <p:nvSpPr>
          <p:cNvPr id="8" name="object 8"/>
          <p:cNvSpPr/>
          <p:nvPr/>
        </p:nvSpPr>
        <p:spPr>
          <a:xfrm>
            <a:off x="6058661" y="157734"/>
            <a:ext cx="1838325" cy="678180"/>
          </a:xfrm>
          <a:custGeom>
            <a:avLst/>
            <a:gdLst/>
            <a:ahLst/>
            <a:cxnLst/>
            <a:rect l="l" t="t" r="r" b="b"/>
            <a:pathLst>
              <a:path w="1838325" h="678180">
                <a:moveTo>
                  <a:pt x="0" y="0"/>
                </a:moveTo>
                <a:lnTo>
                  <a:pt x="1498854" y="0"/>
                </a:lnTo>
                <a:lnTo>
                  <a:pt x="1837943" y="339090"/>
                </a:lnTo>
                <a:lnTo>
                  <a:pt x="1498854" y="678180"/>
                </a:lnTo>
                <a:lnTo>
                  <a:pt x="0" y="678180"/>
                </a:lnTo>
                <a:lnTo>
                  <a:pt x="0" y="0"/>
                </a:lnTo>
                <a:close/>
              </a:path>
            </a:pathLst>
          </a:custGeom>
          <a:ln w="25399">
            <a:solidFill>
              <a:srgbClr val="53C1EF"/>
            </a:solidFill>
          </a:ln>
        </p:spPr>
        <p:txBody>
          <a:bodyPr wrap="square" lIns="0" tIns="0" rIns="0" bIns="0" rtlCol="0"/>
          <a:lstStyle/>
          <a:p>
            <a:endParaRPr/>
          </a:p>
        </p:txBody>
      </p:sp>
      <p:sp>
        <p:nvSpPr>
          <p:cNvPr id="9" name="object 9"/>
          <p:cNvSpPr/>
          <p:nvPr/>
        </p:nvSpPr>
        <p:spPr>
          <a:xfrm>
            <a:off x="25907" y="327659"/>
            <a:ext cx="11872595" cy="6040755"/>
          </a:xfrm>
          <a:custGeom>
            <a:avLst/>
            <a:gdLst/>
            <a:ahLst/>
            <a:cxnLst/>
            <a:rect l="l" t="t" r="r" b="b"/>
            <a:pathLst>
              <a:path w="11872595" h="6040755">
                <a:moveTo>
                  <a:pt x="5312664" y="86868"/>
                </a:moveTo>
                <a:lnTo>
                  <a:pt x="5312664" y="6040526"/>
                </a:lnTo>
              </a:path>
              <a:path w="11872595" h="6040755">
                <a:moveTo>
                  <a:pt x="0" y="4558284"/>
                </a:moveTo>
                <a:lnTo>
                  <a:pt x="11872087" y="4558284"/>
                </a:lnTo>
              </a:path>
              <a:path w="11872595" h="6040755">
                <a:moveTo>
                  <a:pt x="0" y="3784092"/>
                </a:moveTo>
                <a:lnTo>
                  <a:pt x="11822684" y="3784092"/>
                </a:lnTo>
              </a:path>
              <a:path w="11872595" h="6040755">
                <a:moveTo>
                  <a:pt x="114300" y="2831592"/>
                </a:moveTo>
                <a:lnTo>
                  <a:pt x="11823446" y="2831592"/>
                </a:lnTo>
              </a:path>
              <a:path w="11872595" h="6040755">
                <a:moveTo>
                  <a:pt x="8621268" y="0"/>
                </a:moveTo>
                <a:lnTo>
                  <a:pt x="8621268" y="6002591"/>
                </a:lnTo>
              </a:path>
              <a:path w="11872595" h="6040755">
                <a:moveTo>
                  <a:pt x="11823192" y="38100"/>
                </a:moveTo>
                <a:lnTo>
                  <a:pt x="11823192" y="6040691"/>
                </a:lnTo>
              </a:path>
            </a:pathLst>
          </a:custGeom>
          <a:ln w="6350">
            <a:solidFill>
              <a:srgbClr val="223166"/>
            </a:solidFill>
            <a:prstDash val="lgDash"/>
          </a:ln>
        </p:spPr>
        <p:txBody>
          <a:bodyPr wrap="square" lIns="0" tIns="0" rIns="0" bIns="0" rtlCol="0"/>
          <a:lstStyle/>
          <a:p>
            <a:endParaRPr/>
          </a:p>
        </p:txBody>
      </p:sp>
      <p:sp>
        <p:nvSpPr>
          <p:cNvPr id="10" name="object 10"/>
          <p:cNvSpPr txBox="1"/>
          <p:nvPr/>
        </p:nvSpPr>
        <p:spPr>
          <a:xfrm>
            <a:off x="6304915" y="336296"/>
            <a:ext cx="117475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4E79"/>
                </a:solidFill>
                <a:latin typeface="Roboto"/>
                <a:cs typeface="Roboto"/>
              </a:rPr>
              <a:t>Processing</a:t>
            </a:r>
            <a:endParaRPr sz="1800">
              <a:latin typeface="Roboto"/>
              <a:cs typeface="Roboto"/>
            </a:endParaRPr>
          </a:p>
        </p:txBody>
      </p:sp>
      <p:sp>
        <p:nvSpPr>
          <p:cNvPr id="11" name="object 11"/>
          <p:cNvSpPr/>
          <p:nvPr/>
        </p:nvSpPr>
        <p:spPr>
          <a:xfrm>
            <a:off x="140970" y="5176265"/>
            <a:ext cx="1914525" cy="733425"/>
          </a:xfrm>
          <a:custGeom>
            <a:avLst/>
            <a:gdLst/>
            <a:ahLst/>
            <a:cxnLst/>
            <a:rect l="l" t="t" r="r" b="b"/>
            <a:pathLst>
              <a:path w="1914525" h="733425">
                <a:moveTo>
                  <a:pt x="0" y="122173"/>
                </a:moveTo>
                <a:lnTo>
                  <a:pt x="9601" y="74634"/>
                </a:lnTo>
                <a:lnTo>
                  <a:pt x="35783" y="35798"/>
                </a:lnTo>
                <a:lnTo>
                  <a:pt x="74618" y="9606"/>
                </a:lnTo>
                <a:lnTo>
                  <a:pt x="122173" y="0"/>
                </a:lnTo>
                <a:lnTo>
                  <a:pt x="1791970" y="0"/>
                </a:lnTo>
                <a:lnTo>
                  <a:pt x="1839509" y="9606"/>
                </a:lnTo>
                <a:lnTo>
                  <a:pt x="1878345" y="35798"/>
                </a:lnTo>
                <a:lnTo>
                  <a:pt x="1904537" y="74634"/>
                </a:lnTo>
                <a:lnTo>
                  <a:pt x="1914144" y="122173"/>
                </a:lnTo>
                <a:lnTo>
                  <a:pt x="1914144" y="610869"/>
                </a:lnTo>
                <a:lnTo>
                  <a:pt x="1904537" y="658425"/>
                </a:lnTo>
                <a:lnTo>
                  <a:pt x="1878345" y="697260"/>
                </a:lnTo>
                <a:lnTo>
                  <a:pt x="1839509" y="723442"/>
                </a:lnTo>
                <a:lnTo>
                  <a:pt x="1791970" y="733043"/>
                </a:lnTo>
                <a:lnTo>
                  <a:pt x="122173" y="733043"/>
                </a:lnTo>
                <a:lnTo>
                  <a:pt x="74618" y="723442"/>
                </a:lnTo>
                <a:lnTo>
                  <a:pt x="35783" y="697260"/>
                </a:lnTo>
                <a:lnTo>
                  <a:pt x="9601" y="658425"/>
                </a:lnTo>
                <a:lnTo>
                  <a:pt x="0" y="610869"/>
                </a:lnTo>
                <a:lnTo>
                  <a:pt x="0" y="122173"/>
                </a:lnTo>
                <a:close/>
              </a:path>
            </a:pathLst>
          </a:custGeom>
          <a:ln w="25400">
            <a:solidFill>
              <a:srgbClr val="53C1EF"/>
            </a:solidFill>
          </a:ln>
        </p:spPr>
        <p:txBody>
          <a:bodyPr wrap="square" lIns="0" tIns="0" rIns="0" bIns="0" rtlCol="0"/>
          <a:lstStyle/>
          <a:p>
            <a:endParaRPr/>
          </a:p>
        </p:txBody>
      </p:sp>
      <p:sp>
        <p:nvSpPr>
          <p:cNvPr id="12" name="object 12"/>
          <p:cNvSpPr txBox="1"/>
          <p:nvPr/>
        </p:nvSpPr>
        <p:spPr>
          <a:xfrm>
            <a:off x="396951" y="5244541"/>
            <a:ext cx="1403350" cy="574675"/>
          </a:xfrm>
          <a:prstGeom prst="rect">
            <a:avLst/>
          </a:prstGeom>
        </p:spPr>
        <p:txBody>
          <a:bodyPr vert="horz" wrap="square" lIns="0" tIns="12700" rIns="0" bIns="0" rtlCol="0">
            <a:spAutoFit/>
          </a:bodyPr>
          <a:lstStyle/>
          <a:p>
            <a:pPr algn="ctr">
              <a:lnSpc>
                <a:spcPct val="100000"/>
              </a:lnSpc>
              <a:spcBef>
                <a:spcPts val="100"/>
              </a:spcBef>
            </a:pPr>
            <a:r>
              <a:rPr sz="1800" dirty="0">
                <a:solidFill>
                  <a:srgbClr val="1F4E79"/>
                </a:solidFill>
                <a:latin typeface="Roboto"/>
                <a:cs typeface="Roboto"/>
              </a:rPr>
              <a:t>Pain</a:t>
            </a:r>
            <a:r>
              <a:rPr sz="1800" spc="-15" dirty="0">
                <a:solidFill>
                  <a:srgbClr val="1F4E79"/>
                </a:solidFill>
                <a:latin typeface="Roboto"/>
                <a:cs typeface="Roboto"/>
              </a:rPr>
              <a:t> </a:t>
            </a:r>
            <a:r>
              <a:rPr sz="1800" dirty="0">
                <a:solidFill>
                  <a:srgbClr val="1F4E79"/>
                </a:solidFill>
                <a:latin typeface="Roboto"/>
                <a:cs typeface="Roboto"/>
              </a:rPr>
              <a:t>Points</a:t>
            </a:r>
            <a:r>
              <a:rPr sz="1800" spc="-15" dirty="0">
                <a:solidFill>
                  <a:srgbClr val="1F4E79"/>
                </a:solidFill>
                <a:latin typeface="Roboto"/>
                <a:cs typeface="Roboto"/>
              </a:rPr>
              <a:t> </a:t>
            </a:r>
            <a:r>
              <a:rPr sz="1800" spc="-50" dirty="0">
                <a:solidFill>
                  <a:srgbClr val="1F4E79"/>
                </a:solidFill>
                <a:latin typeface="Roboto"/>
                <a:cs typeface="Roboto"/>
              </a:rPr>
              <a:t>&amp;</a:t>
            </a:r>
            <a:endParaRPr sz="1800">
              <a:latin typeface="Roboto"/>
              <a:cs typeface="Roboto"/>
            </a:endParaRPr>
          </a:p>
          <a:p>
            <a:pPr algn="ctr">
              <a:lnSpc>
                <a:spcPct val="100000"/>
              </a:lnSpc>
              <a:spcBef>
                <a:spcPts val="5"/>
              </a:spcBef>
            </a:pPr>
            <a:r>
              <a:rPr sz="1800" spc="-10" dirty="0">
                <a:solidFill>
                  <a:srgbClr val="1F4E79"/>
                </a:solidFill>
                <a:latin typeface="Roboto"/>
                <a:cs typeface="Roboto"/>
              </a:rPr>
              <a:t>Solutions</a:t>
            </a:r>
            <a:endParaRPr sz="1800">
              <a:latin typeface="Roboto"/>
              <a:cs typeface="Roboto"/>
            </a:endParaRPr>
          </a:p>
        </p:txBody>
      </p:sp>
      <p:sp>
        <p:nvSpPr>
          <p:cNvPr id="13" name="object 13"/>
          <p:cNvSpPr txBox="1"/>
          <p:nvPr/>
        </p:nvSpPr>
        <p:spPr>
          <a:xfrm>
            <a:off x="3394328" y="4090796"/>
            <a:ext cx="793750" cy="696595"/>
          </a:xfrm>
          <a:prstGeom prst="rect">
            <a:avLst/>
          </a:prstGeom>
        </p:spPr>
        <p:txBody>
          <a:bodyPr vert="horz" wrap="square" lIns="0" tIns="12700" rIns="0" bIns="0" rtlCol="0">
            <a:spAutoFit/>
          </a:bodyPr>
          <a:lstStyle/>
          <a:p>
            <a:pPr marL="12700">
              <a:lnSpc>
                <a:spcPct val="100000"/>
              </a:lnSpc>
              <a:spcBef>
                <a:spcPts val="100"/>
              </a:spcBef>
            </a:pPr>
            <a:r>
              <a:rPr sz="4400" spc="-50" dirty="0">
                <a:solidFill>
                  <a:srgbClr val="1F4E79"/>
                </a:solidFill>
                <a:latin typeface="Segoe UI Emoji"/>
                <a:cs typeface="Segoe UI Emoji"/>
              </a:rPr>
              <a:t>😥</a:t>
            </a:r>
            <a:endParaRPr sz="4400">
              <a:latin typeface="Segoe UI Emoji"/>
              <a:cs typeface="Segoe UI Emoji"/>
            </a:endParaRPr>
          </a:p>
        </p:txBody>
      </p:sp>
      <p:sp>
        <p:nvSpPr>
          <p:cNvPr id="14" name="object 14"/>
          <p:cNvSpPr txBox="1"/>
          <p:nvPr/>
        </p:nvSpPr>
        <p:spPr>
          <a:xfrm>
            <a:off x="9816845" y="4142994"/>
            <a:ext cx="793750" cy="696595"/>
          </a:xfrm>
          <a:prstGeom prst="rect">
            <a:avLst/>
          </a:prstGeom>
        </p:spPr>
        <p:txBody>
          <a:bodyPr vert="horz" wrap="square" lIns="0" tIns="12700" rIns="0" bIns="0" rtlCol="0">
            <a:spAutoFit/>
          </a:bodyPr>
          <a:lstStyle/>
          <a:p>
            <a:pPr marL="12700">
              <a:lnSpc>
                <a:spcPct val="100000"/>
              </a:lnSpc>
              <a:spcBef>
                <a:spcPts val="100"/>
              </a:spcBef>
            </a:pPr>
            <a:r>
              <a:rPr sz="4400" spc="-50" dirty="0">
                <a:solidFill>
                  <a:srgbClr val="1F4E79"/>
                </a:solidFill>
                <a:latin typeface="Segoe UI Emoji"/>
                <a:cs typeface="Segoe UI Emoji"/>
              </a:rPr>
              <a:t>🤩</a:t>
            </a:r>
            <a:endParaRPr sz="4400">
              <a:latin typeface="Segoe UI Emoji"/>
              <a:cs typeface="Segoe UI Emoji"/>
            </a:endParaRPr>
          </a:p>
        </p:txBody>
      </p:sp>
      <p:sp>
        <p:nvSpPr>
          <p:cNvPr id="15" name="object 15"/>
          <p:cNvSpPr/>
          <p:nvPr/>
        </p:nvSpPr>
        <p:spPr>
          <a:xfrm>
            <a:off x="9291066" y="157734"/>
            <a:ext cx="1868805" cy="678180"/>
          </a:xfrm>
          <a:custGeom>
            <a:avLst/>
            <a:gdLst/>
            <a:ahLst/>
            <a:cxnLst/>
            <a:rect l="l" t="t" r="r" b="b"/>
            <a:pathLst>
              <a:path w="1868804" h="678180">
                <a:moveTo>
                  <a:pt x="0" y="0"/>
                </a:moveTo>
                <a:lnTo>
                  <a:pt x="1529333" y="0"/>
                </a:lnTo>
                <a:lnTo>
                  <a:pt x="1868424" y="339090"/>
                </a:lnTo>
                <a:lnTo>
                  <a:pt x="1529333" y="678180"/>
                </a:lnTo>
                <a:lnTo>
                  <a:pt x="0" y="678180"/>
                </a:lnTo>
                <a:lnTo>
                  <a:pt x="0" y="0"/>
                </a:lnTo>
                <a:close/>
              </a:path>
            </a:pathLst>
          </a:custGeom>
          <a:ln w="25400">
            <a:solidFill>
              <a:srgbClr val="53C1EF"/>
            </a:solidFill>
          </a:ln>
        </p:spPr>
        <p:txBody>
          <a:bodyPr wrap="square" lIns="0" tIns="0" rIns="0" bIns="0" rtlCol="0"/>
          <a:lstStyle/>
          <a:p>
            <a:endParaRPr/>
          </a:p>
        </p:txBody>
      </p:sp>
      <p:sp>
        <p:nvSpPr>
          <p:cNvPr id="16" name="object 16"/>
          <p:cNvSpPr txBox="1"/>
          <p:nvPr/>
        </p:nvSpPr>
        <p:spPr>
          <a:xfrm>
            <a:off x="9457435" y="336296"/>
            <a:ext cx="136525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4E79"/>
                </a:solidFill>
                <a:latin typeface="Roboto"/>
                <a:cs typeface="Roboto"/>
              </a:rPr>
              <a:t>Confirmation</a:t>
            </a:r>
            <a:endParaRPr sz="1800">
              <a:latin typeface="Roboto"/>
              <a:cs typeface="Roboto"/>
            </a:endParaRPr>
          </a:p>
        </p:txBody>
      </p:sp>
      <p:grpSp>
        <p:nvGrpSpPr>
          <p:cNvPr id="17" name="object 17"/>
          <p:cNvGrpSpPr/>
          <p:nvPr/>
        </p:nvGrpSpPr>
        <p:grpSpPr>
          <a:xfrm>
            <a:off x="204215" y="897636"/>
            <a:ext cx="10391140" cy="5885815"/>
            <a:chOff x="204215" y="897636"/>
            <a:chExt cx="10391140" cy="5885815"/>
          </a:xfrm>
        </p:grpSpPr>
        <p:pic>
          <p:nvPicPr>
            <p:cNvPr id="18" name="object 18" descr="Download Paytm Logo in SVG Vector or PNG File Format - Logo.wine"/>
            <p:cNvPicPr/>
            <p:nvPr/>
          </p:nvPicPr>
          <p:blipFill>
            <a:blip r:embed="rId2" cstate="print"/>
            <a:stretch>
              <a:fillRect/>
            </a:stretch>
          </p:blipFill>
          <p:spPr>
            <a:xfrm>
              <a:off x="204215" y="6246874"/>
              <a:ext cx="1560575" cy="536448"/>
            </a:xfrm>
            <a:prstGeom prst="rect">
              <a:avLst/>
            </a:prstGeom>
          </p:spPr>
        </p:pic>
        <p:pic>
          <p:nvPicPr>
            <p:cNvPr id="19" name="object 19"/>
            <p:cNvPicPr/>
            <p:nvPr/>
          </p:nvPicPr>
          <p:blipFill>
            <a:blip r:embed="rId3" cstate="print"/>
            <a:stretch>
              <a:fillRect/>
            </a:stretch>
          </p:blipFill>
          <p:spPr>
            <a:xfrm>
              <a:off x="6347460" y="912876"/>
              <a:ext cx="969263" cy="2153411"/>
            </a:xfrm>
            <a:prstGeom prst="rect">
              <a:avLst/>
            </a:prstGeom>
          </p:spPr>
        </p:pic>
        <p:pic>
          <p:nvPicPr>
            <p:cNvPr id="20" name="object 20"/>
            <p:cNvPicPr/>
            <p:nvPr/>
          </p:nvPicPr>
          <p:blipFill>
            <a:blip r:embed="rId4" cstate="print"/>
            <a:stretch>
              <a:fillRect/>
            </a:stretch>
          </p:blipFill>
          <p:spPr>
            <a:xfrm>
              <a:off x="9621011" y="897636"/>
              <a:ext cx="973836" cy="2164080"/>
            </a:xfrm>
            <a:prstGeom prst="rect">
              <a:avLst/>
            </a:prstGeom>
          </p:spPr>
        </p:pic>
      </p:grpSp>
      <p:sp>
        <p:nvSpPr>
          <p:cNvPr id="21" name="object 21"/>
          <p:cNvSpPr txBox="1"/>
          <p:nvPr/>
        </p:nvSpPr>
        <p:spPr>
          <a:xfrm>
            <a:off x="5697982" y="3269107"/>
            <a:ext cx="2246630" cy="756920"/>
          </a:xfrm>
          <a:prstGeom prst="rect">
            <a:avLst/>
          </a:prstGeom>
        </p:spPr>
        <p:txBody>
          <a:bodyPr vert="horz" wrap="square" lIns="0" tIns="12065" rIns="0" bIns="0" rtlCol="0">
            <a:spAutoFit/>
          </a:bodyPr>
          <a:lstStyle/>
          <a:p>
            <a:pPr marL="12700" marR="5080">
              <a:lnSpc>
                <a:spcPct val="100000"/>
              </a:lnSpc>
              <a:spcBef>
                <a:spcPts val="95"/>
              </a:spcBef>
            </a:pPr>
            <a:r>
              <a:rPr sz="1600" dirty="0">
                <a:solidFill>
                  <a:srgbClr val="1F4E79"/>
                </a:solidFill>
                <a:latin typeface="Roboto"/>
                <a:cs typeface="Roboto"/>
              </a:rPr>
              <a:t>I</a:t>
            </a:r>
            <a:r>
              <a:rPr sz="1600" spc="-20" dirty="0">
                <a:solidFill>
                  <a:srgbClr val="1F4E79"/>
                </a:solidFill>
                <a:latin typeface="Roboto"/>
                <a:cs typeface="Roboto"/>
              </a:rPr>
              <a:t> </a:t>
            </a:r>
            <a:r>
              <a:rPr sz="1600" dirty="0">
                <a:solidFill>
                  <a:srgbClr val="1F4E79"/>
                </a:solidFill>
                <a:latin typeface="Roboto"/>
                <a:cs typeface="Roboto"/>
              </a:rPr>
              <a:t>really</a:t>
            </a:r>
            <a:r>
              <a:rPr sz="1600" spc="-30" dirty="0">
                <a:solidFill>
                  <a:srgbClr val="1F4E79"/>
                </a:solidFill>
                <a:latin typeface="Roboto"/>
                <a:cs typeface="Roboto"/>
              </a:rPr>
              <a:t> </a:t>
            </a:r>
            <a:r>
              <a:rPr sz="1600" dirty="0">
                <a:solidFill>
                  <a:srgbClr val="1F4E79"/>
                </a:solidFill>
                <a:latin typeface="Roboto"/>
                <a:cs typeface="Roboto"/>
              </a:rPr>
              <a:t>hope</a:t>
            </a:r>
            <a:r>
              <a:rPr sz="1600" spc="-15" dirty="0">
                <a:solidFill>
                  <a:srgbClr val="1F4E79"/>
                </a:solidFill>
                <a:latin typeface="Roboto"/>
                <a:cs typeface="Roboto"/>
              </a:rPr>
              <a:t> </a:t>
            </a:r>
            <a:r>
              <a:rPr sz="1600" dirty="0">
                <a:solidFill>
                  <a:srgbClr val="1F4E79"/>
                </a:solidFill>
                <a:latin typeface="Roboto"/>
                <a:cs typeface="Roboto"/>
              </a:rPr>
              <a:t>this</a:t>
            </a:r>
            <a:r>
              <a:rPr sz="1600" spc="-15" dirty="0">
                <a:solidFill>
                  <a:srgbClr val="1F4E79"/>
                </a:solidFill>
                <a:latin typeface="Roboto"/>
                <a:cs typeface="Roboto"/>
              </a:rPr>
              <a:t> </a:t>
            </a:r>
            <a:r>
              <a:rPr sz="1600" spc="-10" dirty="0">
                <a:solidFill>
                  <a:srgbClr val="1F4E79"/>
                </a:solidFill>
                <a:latin typeface="Roboto"/>
                <a:cs typeface="Roboto"/>
              </a:rPr>
              <a:t>doesn’t </a:t>
            </a:r>
            <a:r>
              <a:rPr sz="1600" dirty="0">
                <a:solidFill>
                  <a:srgbClr val="1F4E79"/>
                </a:solidFill>
                <a:latin typeface="Roboto"/>
                <a:cs typeface="Roboto"/>
              </a:rPr>
              <a:t>take much</a:t>
            </a:r>
            <a:r>
              <a:rPr sz="1600" spc="-5" dirty="0">
                <a:solidFill>
                  <a:srgbClr val="1F4E79"/>
                </a:solidFill>
                <a:latin typeface="Roboto"/>
                <a:cs typeface="Roboto"/>
              </a:rPr>
              <a:t> </a:t>
            </a:r>
            <a:r>
              <a:rPr sz="1600" dirty="0">
                <a:solidFill>
                  <a:srgbClr val="1F4E79"/>
                </a:solidFill>
                <a:latin typeface="Roboto"/>
                <a:cs typeface="Roboto"/>
              </a:rPr>
              <a:t>time.</a:t>
            </a:r>
            <a:r>
              <a:rPr sz="1600" spc="-5" dirty="0">
                <a:solidFill>
                  <a:srgbClr val="1F4E79"/>
                </a:solidFill>
                <a:latin typeface="Roboto"/>
                <a:cs typeface="Roboto"/>
              </a:rPr>
              <a:t> </a:t>
            </a:r>
            <a:r>
              <a:rPr sz="1600" dirty="0">
                <a:solidFill>
                  <a:srgbClr val="1F4E79"/>
                </a:solidFill>
                <a:latin typeface="Roboto"/>
                <a:cs typeface="Roboto"/>
              </a:rPr>
              <a:t>Is</a:t>
            </a:r>
            <a:r>
              <a:rPr sz="1600" spc="-10" dirty="0">
                <a:solidFill>
                  <a:srgbClr val="1F4E79"/>
                </a:solidFill>
                <a:latin typeface="Roboto"/>
                <a:cs typeface="Roboto"/>
              </a:rPr>
              <a:t> </a:t>
            </a:r>
            <a:r>
              <a:rPr sz="1600" spc="-25" dirty="0">
                <a:solidFill>
                  <a:srgbClr val="1F4E79"/>
                </a:solidFill>
                <a:latin typeface="Roboto"/>
                <a:cs typeface="Roboto"/>
              </a:rPr>
              <a:t>my </a:t>
            </a:r>
            <a:r>
              <a:rPr sz="1600" dirty="0">
                <a:solidFill>
                  <a:srgbClr val="1F4E79"/>
                </a:solidFill>
                <a:latin typeface="Roboto"/>
                <a:cs typeface="Roboto"/>
              </a:rPr>
              <a:t>internet</a:t>
            </a:r>
            <a:r>
              <a:rPr sz="1600" spc="-35" dirty="0">
                <a:solidFill>
                  <a:srgbClr val="1F4E79"/>
                </a:solidFill>
                <a:latin typeface="Roboto"/>
                <a:cs typeface="Roboto"/>
              </a:rPr>
              <a:t> </a:t>
            </a:r>
            <a:r>
              <a:rPr sz="1600" spc="-10" dirty="0">
                <a:solidFill>
                  <a:srgbClr val="1F4E79"/>
                </a:solidFill>
                <a:latin typeface="Roboto"/>
                <a:cs typeface="Roboto"/>
              </a:rPr>
              <a:t>alright?</a:t>
            </a:r>
            <a:endParaRPr sz="1600">
              <a:latin typeface="Roboto"/>
              <a:cs typeface="Roboto"/>
            </a:endParaRPr>
          </a:p>
        </p:txBody>
      </p:sp>
      <p:sp>
        <p:nvSpPr>
          <p:cNvPr id="22" name="object 22"/>
          <p:cNvSpPr txBox="1"/>
          <p:nvPr/>
        </p:nvSpPr>
        <p:spPr>
          <a:xfrm>
            <a:off x="8987155" y="3269107"/>
            <a:ext cx="2338705" cy="756920"/>
          </a:xfrm>
          <a:prstGeom prst="rect">
            <a:avLst/>
          </a:prstGeom>
        </p:spPr>
        <p:txBody>
          <a:bodyPr vert="horz" wrap="square" lIns="0" tIns="12065" rIns="0" bIns="0" rtlCol="0">
            <a:spAutoFit/>
          </a:bodyPr>
          <a:lstStyle/>
          <a:p>
            <a:pPr marL="12700" marR="5080">
              <a:lnSpc>
                <a:spcPct val="100000"/>
              </a:lnSpc>
              <a:spcBef>
                <a:spcPts val="95"/>
              </a:spcBef>
            </a:pPr>
            <a:r>
              <a:rPr sz="1600" dirty="0">
                <a:solidFill>
                  <a:srgbClr val="1F4E79"/>
                </a:solidFill>
                <a:latin typeface="Roboto"/>
                <a:cs typeface="Roboto"/>
              </a:rPr>
              <a:t>Yay!</a:t>
            </a:r>
            <a:r>
              <a:rPr sz="1600" spc="-25" dirty="0">
                <a:solidFill>
                  <a:srgbClr val="1F4E79"/>
                </a:solidFill>
                <a:latin typeface="Roboto"/>
                <a:cs typeface="Roboto"/>
              </a:rPr>
              <a:t> </a:t>
            </a:r>
            <a:r>
              <a:rPr sz="1600" dirty="0">
                <a:solidFill>
                  <a:srgbClr val="1F4E79"/>
                </a:solidFill>
                <a:latin typeface="Roboto"/>
                <a:cs typeface="Roboto"/>
              </a:rPr>
              <a:t>That</a:t>
            </a:r>
            <a:r>
              <a:rPr sz="1600" spc="-25" dirty="0">
                <a:solidFill>
                  <a:srgbClr val="1F4E79"/>
                </a:solidFill>
                <a:latin typeface="Roboto"/>
                <a:cs typeface="Roboto"/>
              </a:rPr>
              <a:t> </a:t>
            </a:r>
            <a:r>
              <a:rPr sz="1600" dirty="0">
                <a:solidFill>
                  <a:srgbClr val="1F4E79"/>
                </a:solidFill>
                <a:latin typeface="Roboto"/>
                <a:cs typeface="Roboto"/>
              </a:rPr>
              <a:t>was</a:t>
            </a:r>
            <a:r>
              <a:rPr sz="1600" spc="-30" dirty="0">
                <a:solidFill>
                  <a:srgbClr val="1F4E79"/>
                </a:solidFill>
                <a:latin typeface="Roboto"/>
                <a:cs typeface="Roboto"/>
              </a:rPr>
              <a:t> </a:t>
            </a:r>
            <a:r>
              <a:rPr sz="1600" dirty="0">
                <a:solidFill>
                  <a:srgbClr val="1F4E79"/>
                </a:solidFill>
                <a:latin typeface="Roboto"/>
                <a:cs typeface="Roboto"/>
              </a:rPr>
              <a:t>fast!</a:t>
            </a:r>
            <a:r>
              <a:rPr sz="1600" spc="-30" dirty="0">
                <a:solidFill>
                  <a:srgbClr val="1F4E79"/>
                </a:solidFill>
                <a:latin typeface="Roboto"/>
                <a:cs typeface="Roboto"/>
              </a:rPr>
              <a:t> </a:t>
            </a:r>
            <a:r>
              <a:rPr sz="1600" dirty="0">
                <a:solidFill>
                  <a:srgbClr val="1F4E79"/>
                </a:solidFill>
                <a:latin typeface="Roboto"/>
                <a:cs typeface="Roboto"/>
              </a:rPr>
              <a:t>Now</a:t>
            </a:r>
            <a:r>
              <a:rPr sz="1600" spc="-25" dirty="0">
                <a:solidFill>
                  <a:srgbClr val="1F4E79"/>
                </a:solidFill>
                <a:latin typeface="Roboto"/>
                <a:cs typeface="Roboto"/>
              </a:rPr>
              <a:t> </a:t>
            </a:r>
            <a:r>
              <a:rPr sz="1600" spc="-50" dirty="0">
                <a:solidFill>
                  <a:srgbClr val="1F4E79"/>
                </a:solidFill>
                <a:latin typeface="Roboto"/>
                <a:cs typeface="Roboto"/>
              </a:rPr>
              <a:t>I </a:t>
            </a:r>
            <a:r>
              <a:rPr sz="1600" dirty="0">
                <a:solidFill>
                  <a:srgbClr val="1F4E79"/>
                </a:solidFill>
                <a:latin typeface="Roboto"/>
                <a:cs typeface="Roboto"/>
              </a:rPr>
              <a:t>can</a:t>
            </a:r>
            <a:r>
              <a:rPr sz="1600" spc="-20" dirty="0">
                <a:solidFill>
                  <a:srgbClr val="1F4E79"/>
                </a:solidFill>
                <a:latin typeface="Roboto"/>
                <a:cs typeface="Roboto"/>
              </a:rPr>
              <a:t> </a:t>
            </a:r>
            <a:r>
              <a:rPr sz="1600" dirty="0">
                <a:solidFill>
                  <a:srgbClr val="1F4E79"/>
                </a:solidFill>
                <a:latin typeface="Roboto"/>
                <a:cs typeface="Roboto"/>
              </a:rPr>
              <a:t>enjoy</a:t>
            </a:r>
            <a:r>
              <a:rPr sz="1600" spc="-15" dirty="0">
                <a:solidFill>
                  <a:srgbClr val="1F4E79"/>
                </a:solidFill>
                <a:latin typeface="Roboto"/>
                <a:cs typeface="Roboto"/>
              </a:rPr>
              <a:t> </a:t>
            </a:r>
            <a:r>
              <a:rPr sz="1600" dirty="0">
                <a:solidFill>
                  <a:srgbClr val="1F4E79"/>
                </a:solidFill>
                <a:latin typeface="Roboto"/>
                <a:cs typeface="Roboto"/>
              </a:rPr>
              <a:t>my</a:t>
            </a:r>
            <a:r>
              <a:rPr sz="1600" spc="-20" dirty="0">
                <a:solidFill>
                  <a:srgbClr val="1F4E79"/>
                </a:solidFill>
                <a:latin typeface="Roboto"/>
                <a:cs typeface="Roboto"/>
              </a:rPr>
              <a:t> </a:t>
            </a:r>
            <a:r>
              <a:rPr sz="1600" spc="-10" dirty="0">
                <a:solidFill>
                  <a:srgbClr val="1F4E79"/>
                </a:solidFill>
                <a:latin typeface="Roboto"/>
                <a:cs typeface="Roboto"/>
              </a:rPr>
              <a:t>favourite Pizza!</a:t>
            </a:r>
            <a:endParaRPr sz="1600">
              <a:latin typeface="Roboto"/>
              <a:cs typeface="Roboto"/>
            </a:endParaRPr>
          </a:p>
        </p:txBody>
      </p:sp>
      <p:sp>
        <p:nvSpPr>
          <p:cNvPr id="23" name="object 23"/>
          <p:cNvSpPr txBox="1"/>
          <p:nvPr/>
        </p:nvSpPr>
        <p:spPr>
          <a:xfrm>
            <a:off x="5409438" y="4904943"/>
            <a:ext cx="3044825" cy="1488440"/>
          </a:xfrm>
          <a:prstGeom prst="rect">
            <a:avLst/>
          </a:prstGeom>
        </p:spPr>
        <p:txBody>
          <a:bodyPr vert="horz" wrap="square" lIns="0" tIns="12065" rIns="0" bIns="0" rtlCol="0">
            <a:spAutoFit/>
          </a:bodyPr>
          <a:lstStyle/>
          <a:p>
            <a:pPr marL="12700" marR="5080">
              <a:lnSpc>
                <a:spcPct val="100000"/>
              </a:lnSpc>
              <a:spcBef>
                <a:spcPts val="95"/>
              </a:spcBef>
            </a:pPr>
            <a:r>
              <a:rPr sz="1600" dirty="0">
                <a:solidFill>
                  <a:srgbClr val="1F4E79"/>
                </a:solidFill>
                <a:latin typeface="Roboto"/>
                <a:cs typeface="Roboto"/>
              </a:rPr>
              <a:t>In</a:t>
            </a:r>
            <a:r>
              <a:rPr sz="1600" spc="-25" dirty="0">
                <a:solidFill>
                  <a:srgbClr val="1F4E79"/>
                </a:solidFill>
                <a:latin typeface="Roboto"/>
                <a:cs typeface="Roboto"/>
              </a:rPr>
              <a:t> </a:t>
            </a:r>
            <a:r>
              <a:rPr sz="1600" dirty="0">
                <a:solidFill>
                  <a:srgbClr val="1F4E79"/>
                </a:solidFill>
                <a:latin typeface="Roboto"/>
                <a:cs typeface="Roboto"/>
              </a:rPr>
              <a:t>low</a:t>
            </a:r>
            <a:r>
              <a:rPr sz="1600" spc="-25" dirty="0">
                <a:solidFill>
                  <a:srgbClr val="1F4E79"/>
                </a:solidFill>
                <a:latin typeface="Roboto"/>
                <a:cs typeface="Roboto"/>
              </a:rPr>
              <a:t> </a:t>
            </a:r>
            <a:r>
              <a:rPr sz="1600" dirty="0">
                <a:solidFill>
                  <a:srgbClr val="1F4E79"/>
                </a:solidFill>
                <a:latin typeface="Roboto"/>
                <a:cs typeface="Roboto"/>
              </a:rPr>
              <a:t>internet</a:t>
            </a:r>
            <a:r>
              <a:rPr sz="1600" spc="-20" dirty="0">
                <a:solidFill>
                  <a:srgbClr val="1F4E79"/>
                </a:solidFill>
                <a:latin typeface="Roboto"/>
                <a:cs typeface="Roboto"/>
              </a:rPr>
              <a:t> </a:t>
            </a:r>
            <a:r>
              <a:rPr sz="1600" dirty="0">
                <a:solidFill>
                  <a:srgbClr val="1F4E79"/>
                </a:solidFill>
                <a:latin typeface="Roboto"/>
                <a:cs typeface="Roboto"/>
              </a:rPr>
              <a:t>speed</a:t>
            </a:r>
            <a:r>
              <a:rPr sz="1600" spc="-20" dirty="0">
                <a:solidFill>
                  <a:srgbClr val="1F4E79"/>
                </a:solidFill>
                <a:latin typeface="Roboto"/>
                <a:cs typeface="Roboto"/>
              </a:rPr>
              <a:t> </a:t>
            </a:r>
            <a:r>
              <a:rPr sz="1600" dirty="0">
                <a:solidFill>
                  <a:srgbClr val="1F4E79"/>
                </a:solidFill>
                <a:latin typeface="Roboto"/>
                <a:cs typeface="Roboto"/>
              </a:rPr>
              <a:t>areas,</a:t>
            </a:r>
            <a:r>
              <a:rPr sz="1600" spc="-20" dirty="0">
                <a:solidFill>
                  <a:srgbClr val="1F4E79"/>
                </a:solidFill>
                <a:latin typeface="Roboto"/>
                <a:cs typeface="Roboto"/>
              </a:rPr>
              <a:t> </a:t>
            </a:r>
            <a:r>
              <a:rPr sz="1600" spc="-25" dirty="0">
                <a:solidFill>
                  <a:srgbClr val="1F4E79"/>
                </a:solidFill>
                <a:latin typeface="Roboto"/>
                <a:cs typeface="Roboto"/>
              </a:rPr>
              <a:t>we </a:t>
            </a:r>
            <a:r>
              <a:rPr sz="1600" dirty="0">
                <a:solidFill>
                  <a:srgbClr val="1F4E79"/>
                </a:solidFill>
                <a:latin typeface="Roboto"/>
                <a:cs typeface="Roboto"/>
              </a:rPr>
              <a:t>might</a:t>
            </a:r>
            <a:r>
              <a:rPr sz="1600" spc="-25" dirty="0">
                <a:solidFill>
                  <a:srgbClr val="1F4E79"/>
                </a:solidFill>
                <a:latin typeface="Roboto"/>
                <a:cs typeface="Roboto"/>
              </a:rPr>
              <a:t> </a:t>
            </a:r>
            <a:r>
              <a:rPr sz="1600" dirty="0">
                <a:solidFill>
                  <a:srgbClr val="1F4E79"/>
                </a:solidFill>
                <a:latin typeface="Roboto"/>
                <a:cs typeface="Roboto"/>
              </a:rPr>
              <a:t>introduce</a:t>
            </a:r>
            <a:r>
              <a:rPr sz="1600" spc="-20" dirty="0">
                <a:solidFill>
                  <a:srgbClr val="1F4E79"/>
                </a:solidFill>
                <a:latin typeface="Roboto"/>
                <a:cs typeface="Roboto"/>
              </a:rPr>
              <a:t> </a:t>
            </a:r>
            <a:r>
              <a:rPr sz="1600" dirty="0">
                <a:solidFill>
                  <a:srgbClr val="1F4E79"/>
                </a:solidFill>
                <a:latin typeface="Roboto"/>
                <a:cs typeface="Roboto"/>
              </a:rPr>
              <a:t>a</a:t>
            </a:r>
            <a:r>
              <a:rPr sz="1600" spc="-20" dirty="0">
                <a:solidFill>
                  <a:srgbClr val="1F4E79"/>
                </a:solidFill>
                <a:latin typeface="Roboto"/>
                <a:cs typeface="Roboto"/>
              </a:rPr>
              <a:t> </a:t>
            </a:r>
            <a:r>
              <a:rPr sz="1600" dirty="0">
                <a:solidFill>
                  <a:srgbClr val="1F4E79"/>
                </a:solidFill>
                <a:latin typeface="Roboto"/>
                <a:cs typeface="Roboto"/>
              </a:rPr>
              <a:t>timer</a:t>
            </a:r>
            <a:r>
              <a:rPr sz="1600" spc="-10" dirty="0">
                <a:solidFill>
                  <a:srgbClr val="1F4E79"/>
                </a:solidFill>
                <a:latin typeface="Roboto"/>
                <a:cs typeface="Roboto"/>
              </a:rPr>
              <a:t> </a:t>
            </a:r>
            <a:r>
              <a:rPr sz="1600" dirty="0">
                <a:solidFill>
                  <a:srgbClr val="1F4E79"/>
                </a:solidFill>
                <a:latin typeface="Roboto"/>
                <a:cs typeface="Roboto"/>
              </a:rPr>
              <a:t>to</a:t>
            </a:r>
            <a:r>
              <a:rPr sz="1600" spc="-20" dirty="0">
                <a:solidFill>
                  <a:srgbClr val="1F4E79"/>
                </a:solidFill>
                <a:latin typeface="Roboto"/>
                <a:cs typeface="Roboto"/>
              </a:rPr>
              <a:t> show </a:t>
            </a:r>
            <a:r>
              <a:rPr sz="1600" dirty="0">
                <a:solidFill>
                  <a:srgbClr val="1F4E79"/>
                </a:solidFill>
                <a:latin typeface="Roboto"/>
                <a:cs typeface="Roboto"/>
              </a:rPr>
              <a:t>that</a:t>
            </a:r>
            <a:r>
              <a:rPr sz="1600" spc="-30" dirty="0">
                <a:solidFill>
                  <a:srgbClr val="1F4E79"/>
                </a:solidFill>
                <a:latin typeface="Roboto"/>
                <a:cs typeface="Roboto"/>
              </a:rPr>
              <a:t> </a:t>
            </a:r>
            <a:r>
              <a:rPr sz="1600" dirty="0">
                <a:solidFill>
                  <a:srgbClr val="1F4E79"/>
                </a:solidFill>
                <a:latin typeface="Roboto"/>
                <a:cs typeface="Roboto"/>
              </a:rPr>
              <a:t>the</a:t>
            </a:r>
            <a:r>
              <a:rPr sz="1600" spc="-20" dirty="0">
                <a:solidFill>
                  <a:srgbClr val="1F4E79"/>
                </a:solidFill>
                <a:latin typeface="Roboto"/>
                <a:cs typeface="Roboto"/>
              </a:rPr>
              <a:t> </a:t>
            </a:r>
            <a:r>
              <a:rPr sz="1600" dirty="0">
                <a:solidFill>
                  <a:srgbClr val="1F4E79"/>
                </a:solidFill>
                <a:latin typeface="Roboto"/>
                <a:cs typeface="Roboto"/>
              </a:rPr>
              <a:t>server</a:t>
            </a:r>
            <a:r>
              <a:rPr sz="1600" spc="-15" dirty="0">
                <a:solidFill>
                  <a:srgbClr val="1F4E79"/>
                </a:solidFill>
                <a:latin typeface="Roboto"/>
                <a:cs typeface="Roboto"/>
              </a:rPr>
              <a:t> </a:t>
            </a:r>
            <a:r>
              <a:rPr sz="1600" dirty="0">
                <a:solidFill>
                  <a:srgbClr val="1F4E79"/>
                </a:solidFill>
                <a:latin typeface="Roboto"/>
                <a:cs typeface="Roboto"/>
              </a:rPr>
              <a:t>is</a:t>
            </a:r>
            <a:r>
              <a:rPr sz="1600" spc="-25" dirty="0">
                <a:solidFill>
                  <a:srgbClr val="1F4E79"/>
                </a:solidFill>
                <a:latin typeface="Roboto"/>
                <a:cs typeface="Roboto"/>
              </a:rPr>
              <a:t> </a:t>
            </a:r>
            <a:r>
              <a:rPr sz="1600" dirty="0">
                <a:solidFill>
                  <a:srgbClr val="1F4E79"/>
                </a:solidFill>
                <a:latin typeface="Roboto"/>
                <a:cs typeface="Roboto"/>
              </a:rPr>
              <a:t>responding</a:t>
            </a:r>
            <a:r>
              <a:rPr sz="1600" spc="-30" dirty="0">
                <a:solidFill>
                  <a:srgbClr val="1F4E79"/>
                </a:solidFill>
                <a:latin typeface="Roboto"/>
                <a:cs typeface="Roboto"/>
              </a:rPr>
              <a:t> </a:t>
            </a:r>
            <a:r>
              <a:rPr sz="1600" spc="-50" dirty="0">
                <a:solidFill>
                  <a:srgbClr val="1F4E79"/>
                </a:solidFill>
                <a:latin typeface="Roboto"/>
                <a:cs typeface="Roboto"/>
              </a:rPr>
              <a:t>&amp; </a:t>
            </a:r>
            <a:r>
              <a:rPr sz="1600" dirty="0">
                <a:solidFill>
                  <a:srgbClr val="1F4E79"/>
                </a:solidFill>
                <a:latin typeface="Roboto"/>
                <a:cs typeface="Roboto"/>
              </a:rPr>
              <a:t>request</a:t>
            </a:r>
            <a:r>
              <a:rPr sz="1600" spc="-15" dirty="0">
                <a:solidFill>
                  <a:srgbClr val="1F4E79"/>
                </a:solidFill>
                <a:latin typeface="Roboto"/>
                <a:cs typeface="Roboto"/>
              </a:rPr>
              <a:t> </a:t>
            </a:r>
            <a:r>
              <a:rPr sz="1600" dirty="0">
                <a:solidFill>
                  <a:srgbClr val="1F4E79"/>
                </a:solidFill>
                <a:latin typeface="Roboto"/>
                <a:cs typeface="Roboto"/>
              </a:rPr>
              <a:t>is</a:t>
            </a:r>
            <a:r>
              <a:rPr sz="1600" spc="-45" dirty="0">
                <a:solidFill>
                  <a:srgbClr val="1F4E79"/>
                </a:solidFill>
                <a:latin typeface="Roboto"/>
                <a:cs typeface="Roboto"/>
              </a:rPr>
              <a:t> </a:t>
            </a:r>
            <a:r>
              <a:rPr sz="1600" dirty="0">
                <a:solidFill>
                  <a:srgbClr val="1F4E79"/>
                </a:solidFill>
                <a:latin typeface="Roboto"/>
                <a:cs typeface="Roboto"/>
              </a:rPr>
              <a:t>being</a:t>
            </a:r>
            <a:r>
              <a:rPr sz="1600" spc="-20" dirty="0">
                <a:solidFill>
                  <a:srgbClr val="1F4E79"/>
                </a:solidFill>
                <a:latin typeface="Roboto"/>
                <a:cs typeface="Roboto"/>
              </a:rPr>
              <a:t> </a:t>
            </a:r>
            <a:r>
              <a:rPr sz="1600" dirty="0">
                <a:solidFill>
                  <a:srgbClr val="1F4E79"/>
                </a:solidFill>
                <a:latin typeface="Roboto"/>
                <a:cs typeface="Roboto"/>
              </a:rPr>
              <a:t>processed</a:t>
            </a:r>
            <a:r>
              <a:rPr sz="1600" spc="-30" dirty="0">
                <a:solidFill>
                  <a:srgbClr val="1F4E79"/>
                </a:solidFill>
                <a:latin typeface="Roboto"/>
                <a:cs typeface="Roboto"/>
              </a:rPr>
              <a:t> </a:t>
            </a:r>
            <a:r>
              <a:rPr sz="1600" spc="-25" dirty="0">
                <a:solidFill>
                  <a:srgbClr val="1F4E79"/>
                </a:solidFill>
                <a:latin typeface="Roboto"/>
                <a:cs typeface="Roboto"/>
              </a:rPr>
              <a:t>but </a:t>
            </a:r>
            <a:r>
              <a:rPr sz="1600" dirty="0">
                <a:solidFill>
                  <a:srgbClr val="1F4E79"/>
                </a:solidFill>
                <a:latin typeface="Roboto"/>
                <a:cs typeface="Roboto"/>
              </a:rPr>
              <a:t>due</a:t>
            </a:r>
            <a:r>
              <a:rPr sz="1600" spc="-30" dirty="0">
                <a:solidFill>
                  <a:srgbClr val="1F4E79"/>
                </a:solidFill>
                <a:latin typeface="Roboto"/>
                <a:cs typeface="Roboto"/>
              </a:rPr>
              <a:t> </a:t>
            </a:r>
            <a:r>
              <a:rPr sz="1600" dirty="0">
                <a:solidFill>
                  <a:srgbClr val="1F4E79"/>
                </a:solidFill>
                <a:latin typeface="Roboto"/>
                <a:cs typeface="Roboto"/>
              </a:rPr>
              <a:t>to</a:t>
            </a:r>
            <a:r>
              <a:rPr sz="1600" spc="-25" dirty="0">
                <a:solidFill>
                  <a:srgbClr val="1F4E79"/>
                </a:solidFill>
                <a:latin typeface="Roboto"/>
                <a:cs typeface="Roboto"/>
              </a:rPr>
              <a:t> </a:t>
            </a:r>
            <a:r>
              <a:rPr sz="1600" dirty="0">
                <a:solidFill>
                  <a:srgbClr val="1F4E79"/>
                </a:solidFill>
                <a:latin typeface="Roboto"/>
                <a:cs typeface="Roboto"/>
              </a:rPr>
              <a:t>low</a:t>
            </a:r>
            <a:r>
              <a:rPr sz="1600" spc="-25" dirty="0">
                <a:solidFill>
                  <a:srgbClr val="1F4E79"/>
                </a:solidFill>
                <a:latin typeface="Roboto"/>
                <a:cs typeface="Roboto"/>
              </a:rPr>
              <a:t> </a:t>
            </a:r>
            <a:r>
              <a:rPr sz="1600" dirty="0">
                <a:solidFill>
                  <a:srgbClr val="1F4E79"/>
                </a:solidFill>
                <a:latin typeface="Roboto"/>
                <a:cs typeface="Roboto"/>
              </a:rPr>
              <a:t>speeds</a:t>
            </a:r>
            <a:r>
              <a:rPr sz="1600" spc="-5" dirty="0">
                <a:solidFill>
                  <a:srgbClr val="1F4E79"/>
                </a:solidFill>
                <a:latin typeface="Roboto"/>
                <a:cs typeface="Roboto"/>
              </a:rPr>
              <a:t> </a:t>
            </a:r>
            <a:r>
              <a:rPr sz="1600" dirty="0">
                <a:solidFill>
                  <a:srgbClr val="1F4E79"/>
                </a:solidFill>
                <a:latin typeface="Roboto"/>
                <a:cs typeface="Roboto"/>
              </a:rPr>
              <a:t>its</a:t>
            </a:r>
            <a:r>
              <a:rPr sz="1600" spc="-15" dirty="0">
                <a:solidFill>
                  <a:srgbClr val="1F4E79"/>
                </a:solidFill>
                <a:latin typeface="Roboto"/>
                <a:cs typeface="Roboto"/>
              </a:rPr>
              <a:t> </a:t>
            </a:r>
            <a:r>
              <a:rPr sz="1600" b="1" dirty="0">
                <a:solidFill>
                  <a:srgbClr val="1F4E79"/>
                </a:solidFill>
                <a:latin typeface="Roboto"/>
                <a:cs typeface="Roboto"/>
              </a:rPr>
              <a:t>taking</a:t>
            </a:r>
            <a:r>
              <a:rPr sz="1600" b="1" spc="5" dirty="0">
                <a:solidFill>
                  <a:srgbClr val="1F4E79"/>
                </a:solidFill>
                <a:latin typeface="Roboto"/>
                <a:cs typeface="Roboto"/>
              </a:rPr>
              <a:t> </a:t>
            </a:r>
            <a:r>
              <a:rPr sz="1600" b="1" spc="-20" dirty="0">
                <a:solidFill>
                  <a:srgbClr val="1F4E79"/>
                </a:solidFill>
                <a:latin typeface="Roboto"/>
                <a:cs typeface="Roboto"/>
              </a:rPr>
              <a:t>time </a:t>
            </a:r>
            <a:r>
              <a:rPr sz="1600" b="1" dirty="0">
                <a:solidFill>
                  <a:srgbClr val="1F4E79"/>
                </a:solidFill>
                <a:latin typeface="Roboto"/>
                <a:cs typeface="Roboto"/>
              </a:rPr>
              <a:t>to</a:t>
            </a:r>
            <a:r>
              <a:rPr sz="1600" b="1" spc="-10" dirty="0">
                <a:solidFill>
                  <a:srgbClr val="1F4E79"/>
                </a:solidFill>
                <a:latin typeface="Roboto"/>
                <a:cs typeface="Roboto"/>
              </a:rPr>
              <a:t> reflect.</a:t>
            </a:r>
            <a:endParaRPr sz="1600">
              <a:latin typeface="Roboto"/>
              <a:cs typeface="Roboto"/>
            </a:endParaRPr>
          </a:p>
        </p:txBody>
      </p:sp>
      <p:grpSp>
        <p:nvGrpSpPr>
          <p:cNvPr id="24" name="object 24"/>
          <p:cNvGrpSpPr/>
          <p:nvPr/>
        </p:nvGrpSpPr>
        <p:grpSpPr>
          <a:xfrm>
            <a:off x="2151760" y="145034"/>
            <a:ext cx="8201659" cy="6226810"/>
            <a:chOff x="2151760" y="145034"/>
            <a:chExt cx="8201659" cy="6226810"/>
          </a:xfrm>
        </p:grpSpPr>
        <p:pic>
          <p:nvPicPr>
            <p:cNvPr id="25" name="object 25"/>
            <p:cNvPicPr/>
            <p:nvPr/>
          </p:nvPicPr>
          <p:blipFill>
            <a:blip r:embed="rId5" cstate="print"/>
            <a:stretch>
              <a:fillRect/>
            </a:stretch>
          </p:blipFill>
          <p:spPr>
            <a:xfrm>
              <a:off x="10186416" y="1403603"/>
              <a:ext cx="77722" cy="68579"/>
            </a:xfrm>
            <a:prstGeom prst="rect">
              <a:avLst/>
            </a:prstGeom>
          </p:spPr>
        </p:pic>
        <p:sp>
          <p:nvSpPr>
            <p:cNvPr id="26" name="object 26"/>
            <p:cNvSpPr/>
            <p:nvPr/>
          </p:nvSpPr>
          <p:spPr>
            <a:xfrm>
              <a:off x="10066781" y="1270253"/>
              <a:ext cx="268605" cy="0"/>
            </a:xfrm>
            <a:custGeom>
              <a:avLst/>
              <a:gdLst/>
              <a:ahLst/>
              <a:cxnLst/>
              <a:rect l="l" t="t" r="r" b="b"/>
              <a:pathLst>
                <a:path w="268604">
                  <a:moveTo>
                    <a:pt x="0" y="0"/>
                  </a:moveTo>
                  <a:lnTo>
                    <a:pt x="268604" y="0"/>
                  </a:lnTo>
                </a:path>
              </a:pathLst>
            </a:custGeom>
            <a:ln w="34925">
              <a:solidFill>
                <a:srgbClr val="000000"/>
              </a:solidFill>
            </a:ln>
          </p:spPr>
          <p:txBody>
            <a:bodyPr wrap="square" lIns="0" tIns="0" rIns="0" bIns="0" rtlCol="0"/>
            <a:lstStyle/>
            <a:p>
              <a:endParaRPr/>
            </a:p>
          </p:txBody>
        </p:sp>
        <p:sp>
          <p:nvSpPr>
            <p:cNvPr id="27" name="object 27"/>
            <p:cNvSpPr/>
            <p:nvPr/>
          </p:nvSpPr>
          <p:spPr>
            <a:xfrm>
              <a:off x="6793229" y="1273301"/>
              <a:ext cx="268605" cy="0"/>
            </a:xfrm>
            <a:custGeom>
              <a:avLst/>
              <a:gdLst/>
              <a:ahLst/>
              <a:cxnLst/>
              <a:rect l="l" t="t" r="r" b="b"/>
              <a:pathLst>
                <a:path w="268604">
                  <a:moveTo>
                    <a:pt x="0" y="0"/>
                  </a:moveTo>
                  <a:lnTo>
                    <a:pt x="268604" y="0"/>
                  </a:lnTo>
                </a:path>
              </a:pathLst>
            </a:custGeom>
            <a:ln w="31750">
              <a:solidFill>
                <a:srgbClr val="000000"/>
              </a:solidFill>
            </a:ln>
          </p:spPr>
          <p:txBody>
            <a:bodyPr wrap="square" lIns="0" tIns="0" rIns="0" bIns="0" rtlCol="0"/>
            <a:lstStyle/>
            <a:p>
              <a:endParaRPr/>
            </a:p>
          </p:txBody>
        </p:sp>
        <p:sp>
          <p:nvSpPr>
            <p:cNvPr id="28" name="object 28"/>
            <p:cNvSpPr/>
            <p:nvPr/>
          </p:nvSpPr>
          <p:spPr>
            <a:xfrm>
              <a:off x="2154935" y="428243"/>
              <a:ext cx="0" cy="5940425"/>
            </a:xfrm>
            <a:custGeom>
              <a:avLst/>
              <a:gdLst/>
              <a:ahLst/>
              <a:cxnLst/>
              <a:rect l="l" t="t" r="r" b="b"/>
              <a:pathLst>
                <a:path h="5940425">
                  <a:moveTo>
                    <a:pt x="0" y="0"/>
                  </a:moveTo>
                  <a:lnTo>
                    <a:pt x="0" y="5940386"/>
                  </a:lnTo>
                </a:path>
              </a:pathLst>
            </a:custGeom>
            <a:ln w="6350">
              <a:solidFill>
                <a:srgbClr val="223166"/>
              </a:solidFill>
              <a:prstDash val="lgDash"/>
            </a:ln>
          </p:spPr>
          <p:txBody>
            <a:bodyPr wrap="square" lIns="0" tIns="0" rIns="0" bIns="0" rtlCol="0"/>
            <a:lstStyle/>
            <a:p>
              <a:endParaRPr/>
            </a:p>
          </p:txBody>
        </p:sp>
        <p:sp>
          <p:nvSpPr>
            <p:cNvPr id="29" name="object 29"/>
            <p:cNvSpPr/>
            <p:nvPr/>
          </p:nvSpPr>
          <p:spPr>
            <a:xfrm>
              <a:off x="2859785" y="157734"/>
              <a:ext cx="1838325" cy="678180"/>
            </a:xfrm>
            <a:custGeom>
              <a:avLst/>
              <a:gdLst/>
              <a:ahLst/>
              <a:cxnLst/>
              <a:rect l="l" t="t" r="r" b="b"/>
              <a:pathLst>
                <a:path w="1838325" h="678180">
                  <a:moveTo>
                    <a:pt x="0" y="0"/>
                  </a:moveTo>
                  <a:lnTo>
                    <a:pt x="1498853" y="0"/>
                  </a:lnTo>
                  <a:lnTo>
                    <a:pt x="1837943" y="339090"/>
                  </a:lnTo>
                  <a:lnTo>
                    <a:pt x="1498853" y="678180"/>
                  </a:lnTo>
                  <a:lnTo>
                    <a:pt x="0" y="678180"/>
                  </a:lnTo>
                  <a:lnTo>
                    <a:pt x="0" y="0"/>
                  </a:lnTo>
                  <a:close/>
                </a:path>
              </a:pathLst>
            </a:custGeom>
            <a:ln w="25399">
              <a:solidFill>
                <a:srgbClr val="53C1EF"/>
              </a:solidFill>
            </a:ln>
          </p:spPr>
          <p:txBody>
            <a:bodyPr wrap="square" lIns="0" tIns="0" rIns="0" bIns="0" rtlCol="0"/>
            <a:lstStyle/>
            <a:p>
              <a:endParaRPr/>
            </a:p>
          </p:txBody>
        </p:sp>
      </p:grpSp>
      <p:sp>
        <p:nvSpPr>
          <p:cNvPr id="30" name="object 30"/>
          <p:cNvSpPr txBox="1"/>
          <p:nvPr/>
        </p:nvSpPr>
        <p:spPr>
          <a:xfrm>
            <a:off x="3194050" y="336296"/>
            <a:ext cx="998219"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1F4E79"/>
                </a:solidFill>
                <a:latin typeface="Roboto"/>
                <a:cs typeface="Roboto"/>
              </a:rPr>
              <a:t>Enter</a:t>
            </a:r>
            <a:r>
              <a:rPr sz="1800" spc="40" dirty="0">
                <a:solidFill>
                  <a:srgbClr val="1F4E79"/>
                </a:solidFill>
                <a:latin typeface="Roboto"/>
                <a:cs typeface="Roboto"/>
              </a:rPr>
              <a:t> </a:t>
            </a:r>
            <a:r>
              <a:rPr sz="1800" spc="-25" dirty="0">
                <a:solidFill>
                  <a:srgbClr val="1F4E79"/>
                </a:solidFill>
                <a:latin typeface="Roboto"/>
                <a:cs typeface="Roboto"/>
              </a:rPr>
              <a:t>PIN</a:t>
            </a:r>
            <a:endParaRPr sz="1800">
              <a:latin typeface="Roboto"/>
              <a:cs typeface="Roboto"/>
            </a:endParaRPr>
          </a:p>
        </p:txBody>
      </p:sp>
      <p:grpSp>
        <p:nvGrpSpPr>
          <p:cNvPr id="31" name="object 31"/>
          <p:cNvGrpSpPr/>
          <p:nvPr/>
        </p:nvGrpSpPr>
        <p:grpSpPr>
          <a:xfrm>
            <a:off x="2151760" y="883919"/>
            <a:ext cx="9749155" cy="5490845"/>
            <a:chOff x="2151760" y="883919"/>
            <a:chExt cx="9749155" cy="5490845"/>
          </a:xfrm>
        </p:grpSpPr>
        <p:pic>
          <p:nvPicPr>
            <p:cNvPr id="32" name="object 32" descr="UPI screen issue on Samsung Galaxy M42 - Samsung Members"/>
            <p:cNvPicPr/>
            <p:nvPr/>
          </p:nvPicPr>
          <p:blipFill>
            <a:blip r:embed="rId6" cstate="print"/>
            <a:stretch>
              <a:fillRect/>
            </a:stretch>
          </p:blipFill>
          <p:spPr>
            <a:xfrm>
              <a:off x="3174491" y="883919"/>
              <a:ext cx="979932" cy="2189988"/>
            </a:xfrm>
            <a:prstGeom prst="rect">
              <a:avLst/>
            </a:prstGeom>
          </p:spPr>
        </p:pic>
        <p:sp>
          <p:nvSpPr>
            <p:cNvPr id="33" name="object 33"/>
            <p:cNvSpPr/>
            <p:nvPr/>
          </p:nvSpPr>
          <p:spPr>
            <a:xfrm>
              <a:off x="10037064" y="1432559"/>
              <a:ext cx="110489" cy="0"/>
            </a:xfrm>
            <a:custGeom>
              <a:avLst/>
              <a:gdLst/>
              <a:ahLst/>
              <a:cxnLst/>
              <a:rect l="l" t="t" r="r" b="b"/>
              <a:pathLst>
                <a:path w="110490">
                  <a:moveTo>
                    <a:pt x="0" y="0"/>
                  </a:moveTo>
                  <a:lnTo>
                    <a:pt x="110489" y="0"/>
                  </a:lnTo>
                </a:path>
              </a:pathLst>
            </a:custGeom>
            <a:ln w="76200">
              <a:solidFill>
                <a:srgbClr val="000000"/>
              </a:solidFill>
            </a:ln>
          </p:spPr>
          <p:txBody>
            <a:bodyPr wrap="square" lIns="0" tIns="0" rIns="0" bIns="0" rtlCol="0"/>
            <a:lstStyle/>
            <a:p>
              <a:endParaRPr/>
            </a:p>
          </p:txBody>
        </p:sp>
        <p:sp>
          <p:nvSpPr>
            <p:cNvPr id="34" name="object 34"/>
            <p:cNvSpPr/>
            <p:nvPr/>
          </p:nvSpPr>
          <p:spPr>
            <a:xfrm>
              <a:off x="10069829" y="1597913"/>
              <a:ext cx="79375" cy="0"/>
            </a:xfrm>
            <a:custGeom>
              <a:avLst/>
              <a:gdLst/>
              <a:ahLst/>
              <a:cxnLst/>
              <a:rect l="l" t="t" r="r" b="b"/>
              <a:pathLst>
                <a:path w="79375">
                  <a:moveTo>
                    <a:pt x="0" y="0"/>
                  </a:moveTo>
                  <a:lnTo>
                    <a:pt x="78867" y="0"/>
                  </a:lnTo>
                </a:path>
              </a:pathLst>
            </a:custGeom>
            <a:ln w="28575">
              <a:solidFill>
                <a:srgbClr val="000000"/>
              </a:solidFill>
            </a:ln>
          </p:spPr>
          <p:txBody>
            <a:bodyPr wrap="square" lIns="0" tIns="0" rIns="0" bIns="0" rtlCol="0"/>
            <a:lstStyle/>
            <a:p>
              <a:endParaRPr/>
            </a:p>
          </p:txBody>
        </p:sp>
        <p:sp>
          <p:nvSpPr>
            <p:cNvPr id="35" name="object 35"/>
            <p:cNvSpPr/>
            <p:nvPr/>
          </p:nvSpPr>
          <p:spPr>
            <a:xfrm>
              <a:off x="6816851" y="1446275"/>
              <a:ext cx="110489" cy="0"/>
            </a:xfrm>
            <a:custGeom>
              <a:avLst/>
              <a:gdLst/>
              <a:ahLst/>
              <a:cxnLst/>
              <a:rect l="l" t="t" r="r" b="b"/>
              <a:pathLst>
                <a:path w="110490">
                  <a:moveTo>
                    <a:pt x="0" y="0"/>
                  </a:moveTo>
                  <a:lnTo>
                    <a:pt x="110490" y="0"/>
                  </a:lnTo>
                </a:path>
              </a:pathLst>
            </a:custGeom>
            <a:ln w="82550">
              <a:solidFill>
                <a:srgbClr val="000000"/>
              </a:solidFill>
            </a:ln>
          </p:spPr>
          <p:txBody>
            <a:bodyPr wrap="square" lIns="0" tIns="0" rIns="0" bIns="0" rtlCol="0"/>
            <a:lstStyle/>
            <a:p>
              <a:endParaRPr/>
            </a:p>
          </p:txBody>
        </p:sp>
        <p:sp>
          <p:nvSpPr>
            <p:cNvPr id="36" name="object 36"/>
            <p:cNvSpPr/>
            <p:nvPr/>
          </p:nvSpPr>
          <p:spPr>
            <a:xfrm>
              <a:off x="3201923" y="1036319"/>
              <a:ext cx="238125" cy="120650"/>
            </a:xfrm>
            <a:custGeom>
              <a:avLst/>
              <a:gdLst/>
              <a:ahLst/>
              <a:cxnLst/>
              <a:rect l="l" t="t" r="r" b="b"/>
              <a:pathLst>
                <a:path w="238125" h="120650">
                  <a:moveTo>
                    <a:pt x="0" y="120395"/>
                  </a:moveTo>
                  <a:lnTo>
                    <a:pt x="237998" y="120395"/>
                  </a:lnTo>
                </a:path>
                <a:path w="238125" h="120650">
                  <a:moveTo>
                    <a:pt x="7619" y="0"/>
                  </a:moveTo>
                  <a:lnTo>
                    <a:pt x="202564" y="0"/>
                  </a:lnTo>
                </a:path>
              </a:pathLst>
            </a:custGeom>
            <a:ln w="76200">
              <a:solidFill>
                <a:srgbClr val="000000"/>
              </a:solidFill>
            </a:ln>
          </p:spPr>
          <p:txBody>
            <a:bodyPr wrap="square" lIns="0" tIns="0" rIns="0" bIns="0" rtlCol="0"/>
            <a:lstStyle/>
            <a:p>
              <a:endParaRPr/>
            </a:p>
          </p:txBody>
        </p:sp>
        <p:sp>
          <p:nvSpPr>
            <p:cNvPr id="37" name="object 37"/>
            <p:cNvSpPr/>
            <p:nvPr/>
          </p:nvSpPr>
          <p:spPr>
            <a:xfrm>
              <a:off x="2154935" y="6368796"/>
              <a:ext cx="9742805" cy="2540"/>
            </a:xfrm>
            <a:custGeom>
              <a:avLst/>
              <a:gdLst/>
              <a:ahLst/>
              <a:cxnLst/>
              <a:rect l="l" t="t" r="r" b="b"/>
              <a:pathLst>
                <a:path w="9742805" h="2539">
                  <a:moveTo>
                    <a:pt x="0" y="0"/>
                  </a:moveTo>
                  <a:lnTo>
                    <a:pt x="9742678" y="2197"/>
                  </a:lnTo>
                </a:path>
              </a:pathLst>
            </a:custGeom>
            <a:ln w="6350">
              <a:solidFill>
                <a:srgbClr val="223166"/>
              </a:solidFill>
              <a:prstDash val="lgDash"/>
            </a:ln>
          </p:spPr>
          <p:txBody>
            <a:bodyPr wrap="square" lIns="0" tIns="0" rIns="0" bIns="0" rtlCol="0"/>
            <a:lstStyle/>
            <a:p>
              <a:endParaRPr/>
            </a:p>
          </p:txBody>
        </p:sp>
      </p:grpSp>
      <p:sp>
        <p:nvSpPr>
          <p:cNvPr id="38" name="object 38"/>
          <p:cNvSpPr txBox="1"/>
          <p:nvPr/>
        </p:nvSpPr>
        <p:spPr>
          <a:xfrm>
            <a:off x="2654554" y="3458083"/>
            <a:ext cx="2241550" cy="269240"/>
          </a:xfrm>
          <a:prstGeom prst="rect">
            <a:avLst/>
          </a:prstGeom>
        </p:spPr>
        <p:txBody>
          <a:bodyPr vert="horz" wrap="square" lIns="0" tIns="12065" rIns="0" bIns="0" rtlCol="0">
            <a:spAutoFit/>
          </a:bodyPr>
          <a:lstStyle/>
          <a:p>
            <a:pPr marL="12700">
              <a:lnSpc>
                <a:spcPct val="100000"/>
              </a:lnSpc>
              <a:spcBef>
                <a:spcPts val="95"/>
              </a:spcBef>
            </a:pPr>
            <a:r>
              <a:rPr sz="1600" dirty="0">
                <a:solidFill>
                  <a:srgbClr val="1F4E79"/>
                </a:solidFill>
                <a:latin typeface="Roboto"/>
                <a:cs typeface="Roboto"/>
              </a:rPr>
              <a:t>I</a:t>
            </a:r>
            <a:r>
              <a:rPr sz="1600" spc="-15" dirty="0">
                <a:solidFill>
                  <a:srgbClr val="1F4E79"/>
                </a:solidFill>
                <a:latin typeface="Roboto"/>
                <a:cs typeface="Roboto"/>
              </a:rPr>
              <a:t> </a:t>
            </a:r>
            <a:r>
              <a:rPr sz="1600" dirty="0">
                <a:solidFill>
                  <a:srgbClr val="1F4E79"/>
                </a:solidFill>
                <a:latin typeface="Roboto"/>
                <a:cs typeface="Roboto"/>
              </a:rPr>
              <a:t>hope</a:t>
            </a:r>
            <a:r>
              <a:rPr sz="1600" spc="-15" dirty="0">
                <a:solidFill>
                  <a:srgbClr val="1F4E79"/>
                </a:solidFill>
                <a:latin typeface="Roboto"/>
                <a:cs typeface="Roboto"/>
              </a:rPr>
              <a:t> </a:t>
            </a:r>
            <a:r>
              <a:rPr sz="1600" dirty="0">
                <a:solidFill>
                  <a:srgbClr val="1F4E79"/>
                </a:solidFill>
                <a:latin typeface="Roboto"/>
                <a:cs typeface="Roboto"/>
              </a:rPr>
              <a:t>no</a:t>
            </a:r>
            <a:r>
              <a:rPr sz="1600" spc="-5" dirty="0">
                <a:solidFill>
                  <a:srgbClr val="1F4E79"/>
                </a:solidFill>
                <a:latin typeface="Roboto"/>
                <a:cs typeface="Roboto"/>
              </a:rPr>
              <a:t> </a:t>
            </a:r>
            <a:r>
              <a:rPr sz="1600" dirty="0">
                <a:solidFill>
                  <a:srgbClr val="1F4E79"/>
                </a:solidFill>
                <a:latin typeface="Roboto"/>
                <a:cs typeface="Roboto"/>
              </a:rPr>
              <a:t>one</a:t>
            </a:r>
            <a:r>
              <a:rPr sz="1600" spc="-10" dirty="0">
                <a:solidFill>
                  <a:srgbClr val="1F4E79"/>
                </a:solidFill>
                <a:latin typeface="Roboto"/>
                <a:cs typeface="Roboto"/>
              </a:rPr>
              <a:t> </a:t>
            </a:r>
            <a:r>
              <a:rPr sz="1600" dirty="0">
                <a:solidFill>
                  <a:srgbClr val="1F4E79"/>
                </a:solidFill>
                <a:latin typeface="Roboto"/>
                <a:cs typeface="Roboto"/>
              </a:rPr>
              <a:t>is</a:t>
            </a:r>
            <a:r>
              <a:rPr sz="1600" spc="-25" dirty="0">
                <a:solidFill>
                  <a:srgbClr val="1F4E79"/>
                </a:solidFill>
                <a:latin typeface="Roboto"/>
                <a:cs typeface="Roboto"/>
              </a:rPr>
              <a:t> </a:t>
            </a:r>
            <a:r>
              <a:rPr sz="1600" spc="-10" dirty="0">
                <a:solidFill>
                  <a:srgbClr val="1F4E79"/>
                </a:solidFill>
                <a:latin typeface="Roboto"/>
                <a:cs typeface="Roboto"/>
              </a:rPr>
              <a:t>looking.</a:t>
            </a:r>
            <a:endParaRPr sz="1600">
              <a:latin typeface="Roboto"/>
              <a:cs typeface="Roboto"/>
            </a:endParaRPr>
          </a:p>
        </p:txBody>
      </p:sp>
      <p:sp>
        <p:nvSpPr>
          <p:cNvPr id="42" name="object 42"/>
          <p:cNvSpPr txBox="1">
            <a:spLocks noGrp="1"/>
          </p:cNvSpPr>
          <p:nvPr>
            <p:ph type="dt" sz="half" idx="6"/>
          </p:nvPr>
        </p:nvSpPr>
        <p:spPr>
          <a:prstGeom prst="rect">
            <a:avLst/>
          </a:prstGeom>
        </p:spPr>
        <p:txBody>
          <a:bodyPr vert="horz" wrap="square" lIns="0" tIns="23495" rIns="0" bIns="0" rtlCol="0">
            <a:spAutoFit/>
          </a:bodyPr>
          <a:lstStyle/>
          <a:p>
            <a:pPr marL="12700">
              <a:lnSpc>
                <a:spcPct val="100000"/>
              </a:lnSpc>
              <a:spcBef>
                <a:spcPts val="185"/>
              </a:spcBef>
            </a:pPr>
            <a:r>
              <a:rPr spc="-10" dirty="0"/>
              <a:t>Overview</a:t>
            </a:r>
          </a:p>
        </p:txBody>
      </p:sp>
      <p:sp>
        <p:nvSpPr>
          <p:cNvPr id="43" name="object 43"/>
          <p:cNvSpPr txBox="1"/>
          <p:nvPr/>
        </p:nvSpPr>
        <p:spPr>
          <a:xfrm>
            <a:off x="3518408" y="6343328"/>
            <a:ext cx="1402080" cy="327025"/>
          </a:xfrm>
          <a:prstGeom prst="rect">
            <a:avLst/>
          </a:prstGeom>
        </p:spPr>
        <p:txBody>
          <a:bodyPr vert="horz" wrap="square" lIns="0" tIns="23495" rIns="0" bIns="0" rtlCol="0">
            <a:spAutoFit/>
          </a:bodyPr>
          <a:lstStyle/>
          <a:p>
            <a:pPr marL="12700">
              <a:lnSpc>
                <a:spcPct val="100000"/>
              </a:lnSpc>
              <a:spcBef>
                <a:spcPts val="185"/>
              </a:spcBef>
            </a:pPr>
            <a:r>
              <a:rPr sz="1800" dirty="0">
                <a:solidFill>
                  <a:srgbClr val="1F4E79"/>
                </a:solidFill>
                <a:latin typeface="Roboto"/>
                <a:cs typeface="Roboto"/>
              </a:rPr>
              <a:t>User</a:t>
            </a:r>
            <a:r>
              <a:rPr sz="1800" spc="-30" dirty="0">
                <a:solidFill>
                  <a:srgbClr val="1F4E79"/>
                </a:solidFill>
                <a:latin typeface="Roboto"/>
                <a:cs typeface="Roboto"/>
              </a:rPr>
              <a:t> </a:t>
            </a:r>
            <a:r>
              <a:rPr sz="1800" spc="-10" dirty="0">
                <a:solidFill>
                  <a:srgbClr val="1F4E79"/>
                </a:solidFill>
                <a:latin typeface="Roboto"/>
                <a:cs typeface="Roboto"/>
              </a:rPr>
              <a:t>Persona</a:t>
            </a:r>
            <a:endParaRPr sz="1800">
              <a:latin typeface="Roboto"/>
              <a:cs typeface="Roboto"/>
            </a:endParaRPr>
          </a:p>
        </p:txBody>
      </p:sp>
      <p:sp>
        <p:nvSpPr>
          <p:cNvPr id="44" name="object 44"/>
          <p:cNvSpPr txBox="1"/>
          <p:nvPr/>
        </p:nvSpPr>
        <p:spPr>
          <a:xfrm>
            <a:off x="6678930" y="6343328"/>
            <a:ext cx="2565400" cy="327025"/>
          </a:xfrm>
          <a:prstGeom prst="rect">
            <a:avLst/>
          </a:prstGeom>
        </p:spPr>
        <p:txBody>
          <a:bodyPr vert="horz" wrap="square" lIns="0" tIns="23495" rIns="0" bIns="0" rtlCol="0">
            <a:spAutoFit/>
          </a:bodyPr>
          <a:lstStyle/>
          <a:p>
            <a:pPr marL="12700">
              <a:lnSpc>
                <a:spcPct val="100000"/>
              </a:lnSpc>
              <a:spcBef>
                <a:spcPts val="185"/>
              </a:spcBef>
            </a:pPr>
            <a:r>
              <a:rPr sz="1800" dirty="0">
                <a:solidFill>
                  <a:srgbClr val="1F4E79"/>
                </a:solidFill>
                <a:latin typeface="Roboto"/>
                <a:cs typeface="Roboto"/>
              </a:rPr>
              <a:t>User</a:t>
            </a:r>
            <a:r>
              <a:rPr sz="1800" spc="20" dirty="0">
                <a:solidFill>
                  <a:srgbClr val="1F4E79"/>
                </a:solidFill>
                <a:latin typeface="Roboto"/>
                <a:cs typeface="Roboto"/>
              </a:rPr>
              <a:t> </a:t>
            </a:r>
            <a:r>
              <a:rPr sz="1800" dirty="0">
                <a:solidFill>
                  <a:srgbClr val="1F4E79"/>
                </a:solidFill>
                <a:latin typeface="Roboto"/>
                <a:cs typeface="Roboto"/>
              </a:rPr>
              <a:t>Experience</a:t>
            </a:r>
            <a:r>
              <a:rPr sz="1800" spc="20" dirty="0">
                <a:solidFill>
                  <a:srgbClr val="1F4E79"/>
                </a:solidFill>
                <a:latin typeface="Roboto"/>
                <a:cs typeface="Roboto"/>
              </a:rPr>
              <a:t> </a:t>
            </a:r>
            <a:r>
              <a:rPr sz="1800" spc="-10" dirty="0">
                <a:solidFill>
                  <a:srgbClr val="1F4E79"/>
                </a:solidFill>
                <a:latin typeface="Roboto"/>
                <a:cs typeface="Roboto"/>
              </a:rPr>
              <a:t>Insights</a:t>
            </a:r>
            <a:endParaRPr sz="1800">
              <a:latin typeface="Roboto"/>
              <a:cs typeface="Roboto"/>
            </a:endParaRPr>
          </a:p>
        </p:txBody>
      </p:sp>
      <p:sp>
        <p:nvSpPr>
          <p:cNvPr id="45" name="object 45"/>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spc="-10" dirty="0"/>
              <a:t>Metrics</a:t>
            </a:r>
          </a:p>
        </p:txBody>
      </p:sp>
      <p:sp>
        <p:nvSpPr>
          <p:cNvPr id="46" name="object 46"/>
          <p:cNvSpPr txBox="1"/>
          <p:nvPr/>
        </p:nvSpPr>
        <p:spPr>
          <a:xfrm>
            <a:off x="5061584" y="6358873"/>
            <a:ext cx="1392555" cy="327025"/>
          </a:xfrm>
          <a:prstGeom prst="rect">
            <a:avLst/>
          </a:prstGeom>
        </p:spPr>
        <p:txBody>
          <a:bodyPr vert="horz" wrap="square" lIns="0" tIns="23495" rIns="0" bIns="0" rtlCol="0">
            <a:spAutoFit/>
          </a:bodyPr>
          <a:lstStyle/>
          <a:p>
            <a:pPr marL="12700">
              <a:lnSpc>
                <a:spcPct val="100000"/>
              </a:lnSpc>
              <a:spcBef>
                <a:spcPts val="185"/>
              </a:spcBef>
            </a:pPr>
            <a:r>
              <a:rPr sz="1800" b="1" u="sng" dirty="0">
                <a:solidFill>
                  <a:srgbClr val="1F4E79"/>
                </a:solidFill>
                <a:uFill>
                  <a:solidFill>
                    <a:srgbClr val="1F4E79"/>
                  </a:solidFill>
                </a:uFill>
                <a:latin typeface="Roboto"/>
                <a:cs typeface="Roboto"/>
              </a:rPr>
              <a:t>User</a:t>
            </a:r>
            <a:r>
              <a:rPr sz="1800" b="1" u="sng" spc="-35" dirty="0">
                <a:solidFill>
                  <a:srgbClr val="1F4E79"/>
                </a:solidFill>
                <a:uFill>
                  <a:solidFill>
                    <a:srgbClr val="1F4E79"/>
                  </a:solidFill>
                </a:uFill>
                <a:latin typeface="Roboto"/>
                <a:cs typeface="Roboto"/>
              </a:rPr>
              <a:t> </a:t>
            </a:r>
            <a:r>
              <a:rPr sz="1800" b="1" u="sng" spc="-10" dirty="0">
                <a:solidFill>
                  <a:srgbClr val="1F4E79"/>
                </a:solidFill>
                <a:uFill>
                  <a:solidFill>
                    <a:srgbClr val="1F4E79"/>
                  </a:solidFill>
                </a:uFill>
                <a:latin typeface="Roboto"/>
                <a:cs typeface="Roboto"/>
              </a:rPr>
              <a:t>Journey</a:t>
            </a:r>
            <a:endParaRPr sz="1800">
              <a:latin typeface="Roboto"/>
              <a:cs typeface="Roboto"/>
            </a:endParaRPr>
          </a:p>
        </p:txBody>
      </p:sp>
      <p:sp>
        <p:nvSpPr>
          <p:cNvPr id="39" name="object 39"/>
          <p:cNvSpPr txBox="1"/>
          <p:nvPr/>
        </p:nvSpPr>
        <p:spPr>
          <a:xfrm>
            <a:off x="6488048" y="4130421"/>
            <a:ext cx="793750" cy="696595"/>
          </a:xfrm>
          <a:prstGeom prst="rect">
            <a:avLst/>
          </a:prstGeom>
        </p:spPr>
        <p:txBody>
          <a:bodyPr vert="horz" wrap="square" lIns="0" tIns="12700" rIns="0" bIns="0" rtlCol="0">
            <a:spAutoFit/>
          </a:bodyPr>
          <a:lstStyle/>
          <a:p>
            <a:pPr marL="12700">
              <a:lnSpc>
                <a:spcPct val="100000"/>
              </a:lnSpc>
              <a:spcBef>
                <a:spcPts val="100"/>
              </a:spcBef>
            </a:pPr>
            <a:r>
              <a:rPr sz="4400" spc="-50" dirty="0">
                <a:solidFill>
                  <a:srgbClr val="1F4E79"/>
                </a:solidFill>
                <a:latin typeface="Segoe UI Emoji"/>
                <a:cs typeface="Segoe UI Emoji"/>
              </a:rPr>
              <a:t>😕</a:t>
            </a:r>
            <a:endParaRPr sz="4400">
              <a:latin typeface="Segoe UI Emoji"/>
              <a:cs typeface="Segoe UI Emoji"/>
            </a:endParaRPr>
          </a:p>
        </p:txBody>
      </p:sp>
      <p:sp>
        <p:nvSpPr>
          <p:cNvPr id="40" name="object 40"/>
          <p:cNvSpPr txBox="1"/>
          <p:nvPr/>
        </p:nvSpPr>
        <p:spPr>
          <a:xfrm>
            <a:off x="2234564" y="4927853"/>
            <a:ext cx="2924810" cy="1243965"/>
          </a:xfrm>
          <a:prstGeom prst="rect">
            <a:avLst/>
          </a:prstGeom>
        </p:spPr>
        <p:txBody>
          <a:bodyPr vert="horz" wrap="square" lIns="0" tIns="12065" rIns="0" bIns="0" rtlCol="0">
            <a:spAutoFit/>
          </a:bodyPr>
          <a:lstStyle/>
          <a:p>
            <a:pPr marL="12700" marR="5080">
              <a:lnSpc>
                <a:spcPct val="100000"/>
              </a:lnSpc>
              <a:spcBef>
                <a:spcPts val="95"/>
              </a:spcBef>
            </a:pPr>
            <a:r>
              <a:rPr sz="1600" dirty="0">
                <a:solidFill>
                  <a:srgbClr val="1F4E79"/>
                </a:solidFill>
                <a:latin typeface="Roboto"/>
                <a:cs typeface="Roboto"/>
              </a:rPr>
              <a:t>The</a:t>
            </a:r>
            <a:r>
              <a:rPr sz="1600" spc="-55" dirty="0">
                <a:solidFill>
                  <a:srgbClr val="1F4E79"/>
                </a:solidFill>
                <a:latin typeface="Roboto"/>
                <a:cs typeface="Roboto"/>
              </a:rPr>
              <a:t> </a:t>
            </a:r>
            <a:r>
              <a:rPr sz="1600" dirty="0">
                <a:solidFill>
                  <a:srgbClr val="1F4E79"/>
                </a:solidFill>
                <a:latin typeface="Roboto"/>
                <a:cs typeface="Roboto"/>
              </a:rPr>
              <a:t>numbers</a:t>
            </a:r>
            <a:r>
              <a:rPr sz="1600" spc="-30" dirty="0">
                <a:solidFill>
                  <a:srgbClr val="1F4E79"/>
                </a:solidFill>
                <a:latin typeface="Roboto"/>
                <a:cs typeface="Roboto"/>
              </a:rPr>
              <a:t> </a:t>
            </a:r>
            <a:r>
              <a:rPr sz="1600" dirty="0">
                <a:solidFill>
                  <a:srgbClr val="1F4E79"/>
                </a:solidFill>
                <a:latin typeface="Roboto"/>
                <a:cs typeface="Roboto"/>
              </a:rPr>
              <a:t>in</a:t>
            </a:r>
            <a:r>
              <a:rPr sz="1600" spc="-50" dirty="0">
                <a:solidFill>
                  <a:srgbClr val="1F4E79"/>
                </a:solidFill>
                <a:latin typeface="Roboto"/>
                <a:cs typeface="Roboto"/>
              </a:rPr>
              <a:t> </a:t>
            </a:r>
            <a:r>
              <a:rPr sz="1600" dirty="0">
                <a:solidFill>
                  <a:srgbClr val="1F4E79"/>
                </a:solidFill>
                <a:latin typeface="Roboto"/>
                <a:cs typeface="Roboto"/>
              </a:rPr>
              <a:t>keypads</a:t>
            </a:r>
            <a:r>
              <a:rPr sz="1600" spc="-50" dirty="0">
                <a:solidFill>
                  <a:srgbClr val="1F4E79"/>
                </a:solidFill>
                <a:latin typeface="Roboto"/>
                <a:cs typeface="Roboto"/>
              </a:rPr>
              <a:t> </a:t>
            </a:r>
            <a:r>
              <a:rPr sz="1600" spc="-10" dirty="0">
                <a:solidFill>
                  <a:srgbClr val="1F4E79"/>
                </a:solidFill>
                <a:latin typeface="Roboto"/>
                <a:cs typeface="Roboto"/>
              </a:rPr>
              <a:t>should </a:t>
            </a:r>
            <a:r>
              <a:rPr sz="1600" dirty="0">
                <a:solidFill>
                  <a:srgbClr val="1F4E79"/>
                </a:solidFill>
                <a:latin typeface="Roboto"/>
                <a:cs typeface="Roboto"/>
              </a:rPr>
              <a:t>be</a:t>
            </a:r>
            <a:r>
              <a:rPr sz="1600" spc="-15" dirty="0">
                <a:solidFill>
                  <a:srgbClr val="1F4E79"/>
                </a:solidFill>
                <a:latin typeface="Roboto"/>
                <a:cs typeface="Roboto"/>
              </a:rPr>
              <a:t> </a:t>
            </a:r>
            <a:r>
              <a:rPr sz="1600" dirty="0">
                <a:solidFill>
                  <a:srgbClr val="1F4E79"/>
                </a:solidFill>
                <a:latin typeface="Roboto"/>
                <a:cs typeface="Roboto"/>
              </a:rPr>
              <a:t>shuffled</a:t>
            </a:r>
            <a:r>
              <a:rPr sz="1600" spc="-15" dirty="0">
                <a:solidFill>
                  <a:srgbClr val="1F4E79"/>
                </a:solidFill>
                <a:latin typeface="Roboto"/>
                <a:cs typeface="Roboto"/>
              </a:rPr>
              <a:t> </a:t>
            </a:r>
            <a:r>
              <a:rPr sz="1600" dirty="0">
                <a:solidFill>
                  <a:srgbClr val="1F4E79"/>
                </a:solidFill>
                <a:latin typeface="Roboto"/>
                <a:cs typeface="Roboto"/>
              </a:rPr>
              <a:t>to</a:t>
            </a:r>
            <a:r>
              <a:rPr sz="1600" spc="-10" dirty="0">
                <a:solidFill>
                  <a:srgbClr val="1F4E79"/>
                </a:solidFill>
                <a:latin typeface="Roboto"/>
                <a:cs typeface="Roboto"/>
              </a:rPr>
              <a:t> </a:t>
            </a:r>
            <a:r>
              <a:rPr sz="1600" dirty="0">
                <a:solidFill>
                  <a:srgbClr val="1F4E79"/>
                </a:solidFill>
                <a:latin typeface="Roboto"/>
                <a:cs typeface="Roboto"/>
              </a:rPr>
              <a:t>avoid</a:t>
            </a:r>
            <a:r>
              <a:rPr sz="1600" spc="15" dirty="0">
                <a:solidFill>
                  <a:srgbClr val="1F4E79"/>
                </a:solidFill>
                <a:latin typeface="Roboto"/>
                <a:cs typeface="Roboto"/>
              </a:rPr>
              <a:t> </a:t>
            </a:r>
            <a:r>
              <a:rPr sz="1600" b="1" dirty="0">
                <a:solidFill>
                  <a:srgbClr val="1F4E79"/>
                </a:solidFill>
                <a:latin typeface="Roboto"/>
                <a:cs typeface="Roboto"/>
              </a:rPr>
              <a:t>PIN</a:t>
            </a:r>
            <a:r>
              <a:rPr sz="1600" b="1" spc="-10" dirty="0">
                <a:solidFill>
                  <a:srgbClr val="1F4E79"/>
                </a:solidFill>
                <a:latin typeface="Roboto"/>
                <a:cs typeface="Roboto"/>
              </a:rPr>
              <a:t> leaks</a:t>
            </a:r>
            <a:r>
              <a:rPr sz="1600" spc="-10" dirty="0">
                <a:solidFill>
                  <a:srgbClr val="1F4E79"/>
                </a:solidFill>
                <a:latin typeface="Roboto"/>
                <a:cs typeface="Roboto"/>
              </a:rPr>
              <a:t>.</a:t>
            </a:r>
            <a:endParaRPr sz="1600">
              <a:latin typeface="Roboto"/>
              <a:cs typeface="Roboto"/>
            </a:endParaRPr>
          </a:p>
          <a:p>
            <a:pPr marL="12700" marR="410209">
              <a:lnSpc>
                <a:spcPct val="100000"/>
              </a:lnSpc>
            </a:pPr>
            <a:r>
              <a:rPr sz="1600" dirty="0">
                <a:solidFill>
                  <a:srgbClr val="1F4E79"/>
                </a:solidFill>
                <a:latin typeface="Roboto"/>
                <a:cs typeface="Roboto"/>
              </a:rPr>
              <a:t>Can</a:t>
            </a:r>
            <a:r>
              <a:rPr sz="1600" spc="-20" dirty="0">
                <a:solidFill>
                  <a:srgbClr val="1F4E79"/>
                </a:solidFill>
                <a:latin typeface="Roboto"/>
                <a:cs typeface="Roboto"/>
              </a:rPr>
              <a:t> </a:t>
            </a:r>
            <a:r>
              <a:rPr sz="1600" dirty="0">
                <a:solidFill>
                  <a:srgbClr val="1F4E79"/>
                </a:solidFill>
                <a:latin typeface="Roboto"/>
                <a:cs typeface="Roboto"/>
              </a:rPr>
              <a:t>also</a:t>
            </a:r>
            <a:r>
              <a:rPr sz="1600" spc="-35" dirty="0">
                <a:solidFill>
                  <a:srgbClr val="1F4E79"/>
                </a:solidFill>
                <a:latin typeface="Roboto"/>
                <a:cs typeface="Roboto"/>
              </a:rPr>
              <a:t> </a:t>
            </a:r>
            <a:r>
              <a:rPr sz="1600" dirty="0">
                <a:solidFill>
                  <a:srgbClr val="1F4E79"/>
                </a:solidFill>
                <a:latin typeface="Roboto"/>
                <a:cs typeface="Roboto"/>
              </a:rPr>
              <a:t>add</a:t>
            </a:r>
            <a:r>
              <a:rPr sz="1600" spc="-20" dirty="0">
                <a:solidFill>
                  <a:srgbClr val="1F4E79"/>
                </a:solidFill>
                <a:latin typeface="Roboto"/>
                <a:cs typeface="Roboto"/>
              </a:rPr>
              <a:t> </a:t>
            </a:r>
            <a:r>
              <a:rPr sz="1600" dirty="0">
                <a:solidFill>
                  <a:srgbClr val="1F4E79"/>
                </a:solidFill>
                <a:latin typeface="Roboto"/>
                <a:cs typeface="Roboto"/>
              </a:rPr>
              <a:t>other</a:t>
            </a:r>
            <a:r>
              <a:rPr sz="1600" spc="-20" dirty="0">
                <a:solidFill>
                  <a:srgbClr val="1F4E79"/>
                </a:solidFill>
                <a:latin typeface="Roboto"/>
                <a:cs typeface="Roboto"/>
              </a:rPr>
              <a:t> </a:t>
            </a:r>
            <a:r>
              <a:rPr sz="1600" spc="-10" dirty="0">
                <a:solidFill>
                  <a:srgbClr val="1F4E79"/>
                </a:solidFill>
                <a:latin typeface="Roboto"/>
                <a:cs typeface="Roboto"/>
              </a:rPr>
              <a:t>security </a:t>
            </a:r>
            <a:r>
              <a:rPr sz="1600" dirty="0">
                <a:solidFill>
                  <a:srgbClr val="1F4E79"/>
                </a:solidFill>
                <a:latin typeface="Roboto"/>
                <a:cs typeface="Roboto"/>
              </a:rPr>
              <a:t>options</a:t>
            </a:r>
            <a:r>
              <a:rPr sz="1600" spc="-40" dirty="0">
                <a:solidFill>
                  <a:srgbClr val="1F4E79"/>
                </a:solidFill>
                <a:latin typeface="Roboto"/>
                <a:cs typeface="Roboto"/>
              </a:rPr>
              <a:t> </a:t>
            </a:r>
            <a:r>
              <a:rPr sz="1600" dirty="0">
                <a:solidFill>
                  <a:srgbClr val="1F4E79"/>
                </a:solidFill>
                <a:latin typeface="Roboto"/>
                <a:cs typeface="Roboto"/>
              </a:rPr>
              <a:t>like</a:t>
            </a:r>
            <a:r>
              <a:rPr sz="1600" spc="-40" dirty="0">
                <a:solidFill>
                  <a:srgbClr val="1F4E79"/>
                </a:solidFill>
                <a:latin typeface="Roboto"/>
                <a:cs typeface="Roboto"/>
              </a:rPr>
              <a:t> </a:t>
            </a:r>
            <a:r>
              <a:rPr sz="1600" spc="-10" dirty="0">
                <a:solidFill>
                  <a:srgbClr val="1F4E79"/>
                </a:solidFill>
                <a:latin typeface="Roboto"/>
                <a:cs typeface="Roboto"/>
              </a:rPr>
              <a:t>fingerprint.</a:t>
            </a:r>
            <a:endParaRPr sz="1600">
              <a:latin typeface="Roboto"/>
              <a:cs typeface="Roboto"/>
            </a:endParaRPr>
          </a:p>
          <a:p>
            <a:pPr marL="12700">
              <a:lnSpc>
                <a:spcPct val="100000"/>
              </a:lnSpc>
            </a:pPr>
            <a:r>
              <a:rPr sz="1600" dirty="0">
                <a:solidFill>
                  <a:srgbClr val="1F4E79"/>
                </a:solidFill>
                <a:latin typeface="Roboto"/>
                <a:cs typeface="Roboto"/>
              </a:rPr>
              <a:t>Screenshot</a:t>
            </a:r>
            <a:r>
              <a:rPr sz="1600" spc="-25" dirty="0">
                <a:solidFill>
                  <a:srgbClr val="1F4E79"/>
                </a:solidFill>
                <a:latin typeface="Roboto"/>
                <a:cs typeface="Roboto"/>
              </a:rPr>
              <a:t> </a:t>
            </a:r>
            <a:r>
              <a:rPr sz="1600" spc="-10" dirty="0">
                <a:solidFill>
                  <a:srgbClr val="1F4E79"/>
                </a:solidFill>
                <a:latin typeface="Roboto"/>
                <a:cs typeface="Roboto"/>
              </a:rPr>
              <a:t>prevention.</a:t>
            </a:r>
            <a:endParaRPr sz="1600">
              <a:latin typeface="Roboto"/>
              <a:cs typeface="Roboto"/>
            </a:endParaRPr>
          </a:p>
        </p:txBody>
      </p:sp>
      <p:sp>
        <p:nvSpPr>
          <p:cNvPr id="41" name="object 41"/>
          <p:cNvSpPr txBox="1"/>
          <p:nvPr/>
        </p:nvSpPr>
        <p:spPr>
          <a:xfrm>
            <a:off x="8761856" y="4977765"/>
            <a:ext cx="2829560" cy="1000760"/>
          </a:xfrm>
          <a:prstGeom prst="rect">
            <a:avLst/>
          </a:prstGeom>
        </p:spPr>
        <p:txBody>
          <a:bodyPr vert="horz" wrap="square" lIns="0" tIns="12065" rIns="0" bIns="0" rtlCol="0">
            <a:spAutoFit/>
          </a:bodyPr>
          <a:lstStyle/>
          <a:p>
            <a:pPr marL="12700" marR="5080">
              <a:lnSpc>
                <a:spcPct val="100000"/>
              </a:lnSpc>
              <a:spcBef>
                <a:spcPts val="95"/>
              </a:spcBef>
            </a:pPr>
            <a:r>
              <a:rPr sz="1600" dirty="0">
                <a:solidFill>
                  <a:srgbClr val="1F4E79"/>
                </a:solidFill>
                <a:latin typeface="Roboto"/>
                <a:cs typeface="Roboto"/>
              </a:rPr>
              <a:t>It is</a:t>
            </a:r>
            <a:r>
              <a:rPr sz="1600" spc="-5" dirty="0">
                <a:solidFill>
                  <a:srgbClr val="1F4E79"/>
                </a:solidFill>
                <a:latin typeface="Roboto"/>
                <a:cs typeface="Roboto"/>
              </a:rPr>
              <a:t> </a:t>
            </a:r>
            <a:r>
              <a:rPr sz="1600" dirty="0">
                <a:solidFill>
                  <a:srgbClr val="1F4E79"/>
                </a:solidFill>
                <a:latin typeface="Roboto"/>
                <a:cs typeface="Roboto"/>
              </a:rPr>
              <a:t>not intuitive</a:t>
            </a:r>
            <a:r>
              <a:rPr sz="1600" spc="-10" dirty="0">
                <a:solidFill>
                  <a:srgbClr val="1F4E79"/>
                </a:solidFill>
                <a:latin typeface="Roboto"/>
                <a:cs typeface="Roboto"/>
              </a:rPr>
              <a:t> </a:t>
            </a:r>
            <a:r>
              <a:rPr sz="1600" dirty="0">
                <a:solidFill>
                  <a:srgbClr val="1F4E79"/>
                </a:solidFill>
                <a:latin typeface="Roboto"/>
                <a:cs typeface="Roboto"/>
              </a:rPr>
              <a:t>to</a:t>
            </a:r>
            <a:r>
              <a:rPr sz="1600" spc="10" dirty="0">
                <a:solidFill>
                  <a:srgbClr val="1F4E79"/>
                </a:solidFill>
                <a:latin typeface="Roboto"/>
                <a:cs typeface="Roboto"/>
              </a:rPr>
              <a:t> </a:t>
            </a:r>
            <a:r>
              <a:rPr sz="1600" dirty="0">
                <a:solidFill>
                  <a:srgbClr val="1F4E79"/>
                </a:solidFill>
                <a:latin typeface="Roboto"/>
                <a:cs typeface="Roboto"/>
              </a:rPr>
              <a:t>click </a:t>
            </a:r>
            <a:r>
              <a:rPr sz="1600" spc="-20" dirty="0">
                <a:solidFill>
                  <a:srgbClr val="1F4E79"/>
                </a:solidFill>
                <a:latin typeface="Roboto"/>
                <a:cs typeface="Roboto"/>
              </a:rPr>
              <a:t>scan </a:t>
            </a:r>
            <a:r>
              <a:rPr sz="1600" dirty="0">
                <a:solidFill>
                  <a:srgbClr val="1F4E79"/>
                </a:solidFill>
                <a:latin typeface="Roboto"/>
                <a:cs typeface="Roboto"/>
              </a:rPr>
              <a:t>button</a:t>
            </a:r>
            <a:r>
              <a:rPr sz="1600" spc="-15" dirty="0">
                <a:solidFill>
                  <a:srgbClr val="1F4E79"/>
                </a:solidFill>
                <a:latin typeface="Roboto"/>
                <a:cs typeface="Roboto"/>
              </a:rPr>
              <a:t> </a:t>
            </a:r>
            <a:r>
              <a:rPr sz="1600" dirty="0">
                <a:solidFill>
                  <a:srgbClr val="1F4E79"/>
                </a:solidFill>
                <a:latin typeface="Roboto"/>
                <a:cs typeface="Roboto"/>
              </a:rPr>
              <a:t>below</a:t>
            </a:r>
            <a:r>
              <a:rPr sz="1600" spc="-10" dirty="0">
                <a:solidFill>
                  <a:srgbClr val="1F4E79"/>
                </a:solidFill>
                <a:latin typeface="Roboto"/>
                <a:cs typeface="Roboto"/>
              </a:rPr>
              <a:t> </a:t>
            </a:r>
            <a:r>
              <a:rPr sz="1600" dirty="0">
                <a:solidFill>
                  <a:srgbClr val="1F4E79"/>
                </a:solidFill>
                <a:latin typeface="Roboto"/>
                <a:cs typeface="Roboto"/>
              </a:rPr>
              <a:t>to</a:t>
            </a:r>
            <a:r>
              <a:rPr sz="1600" spc="-10" dirty="0">
                <a:solidFill>
                  <a:srgbClr val="1F4E79"/>
                </a:solidFill>
                <a:latin typeface="Roboto"/>
                <a:cs typeface="Roboto"/>
              </a:rPr>
              <a:t> </a:t>
            </a:r>
            <a:r>
              <a:rPr sz="1600" dirty="0">
                <a:solidFill>
                  <a:srgbClr val="1F4E79"/>
                </a:solidFill>
                <a:latin typeface="Roboto"/>
                <a:cs typeface="Roboto"/>
              </a:rPr>
              <a:t>make</a:t>
            </a:r>
            <a:r>
              <a:rPr sz="1600" spc="5" dirty="0">
                <a:solidFill>
                  <a:srgbClr val="1F4E79"/>
                </a:solidFill>
                <a:latin typeface="Roboto"/>
                <a:cs typeface="Roboto"/>
              </a:rPr>
              <a:t> </a:t>
            </a:r>
            <a:r>
              <a:rPr sz="1600" spc="-10" dirty="0">
                <a:solidFill>
                  <a:srgbClr val="1F4E79"/>
                </a:solidFill>
                <a:latin typeface="Roboto"/>
                <a:cs typeface="Roboto"/>
              </a:rPr>
              <a:t>another </a:t>
            </a:r>
            <a:r>
              <a:rPr sz="1600" dirty="0">
                <a:solidFill>
                  <a:srgbClr val="1F4E79"/>
                </a:solidFill>
                <a:latin typeface="Roboto"/>
                <a:cs typeface="Roboto"/>
              </a:rPr>
              <a:t>payment</a:t>
            </a:r>
            <a:r>
              <a:rPr sz="1600" spc="5" dirty="0">
                <a:solidFill>
                  <a:srgbClr val="1F4E79"/>
                </a:solidFill>
                <a:latin typeface="Roboto"/>
                <a:cs typeface="Roboto"/>
              </a:rPr>
              <a:t> </a:t>
            </a:r>
            <a:r>
              <a:rPr sz="1600" dirty="0">
                <a:solidFill>
                  <a:srgbClr val="1F4E79"/>
                </a:solidFill>
                <a:latin typeface="Roboto"/>
                <a:cs typeface="Roboto"/>
              </a:rPr>
              <a:t>with</a:t>
            </a:r>
            <a:r>
              <a:rPr sz="1600" spc="5" dirty="0">
                <a:solidFill>
                  <a:srgbClr val="1F4E79"/>
                </a:solidFill>
                <a:latin typeface="Roboto"/>
                <a:cs typeface="Roboto"/>
              </a:rPr>
              <a:t> </a:t>
            </a:r>
            <a:r>
              <a:rPr sz="1600" dirty="0">
                <a:solidFill>
                  <a:srgbClr val="1F4E79"/>
                </a:solidFill>
                <a:latin typeface="Roboto"/>
                <a:cs typeface="Roboto"/>
              </a:rPr>
              <a:t>different</a:t>
            </a:r>
            <a:r>
              <a:rPr sz="1600" spc="5" dirty="0">
                <a:solidFill>
                  <a:srgbClr val="1F4E79"/>
                </a:solidFill>
                <a:latin typeface="Roboto"/>
                <a:cs typeface="Roboto"/>
              </a:rPr>
              <a:t> </a:t>
            </a:r>
            <a:r>
              <a:rPr sz="1600" spc="-10" dirty="0">
                <a:solidFill>
                  <a:srgbClr val="1F4E79"/>
                </a:solidFill>
                <a:latin typeface="Roboto"/>
                <a:cs typeface="Roboto"/>
              </a:rPr>
              <a:t>vendor. </a:t>
            </a:r>
            <a:r>
              <a:rPr sz="1600" dirty="0">
                <a:solidFill>
                  <a:srgbClr val="1F4E79"/>
                </a:solidFill>
                <a:latin typeface="Roboto"/>
                <a:cs typeface="Roboto"/>
              </a:rPr>
              <a:t>Should</a:t>
            </a:r>
            <a:r>
              <a:rPr sz="1600" spc="-20" dirty="0">
                <a:solidFill>
                  <a:srgbClr val="1F4E79"/>
                </a:solidFill>
                <a:latin typeface="Roboto"/>
                <a:cs typeface="Roboto"/>
              </a:rPr>
              <a:t> </a:t>
            </a:r>
            <a:r>
              <a:rPr sz="1600" dirty="0">
                <a:solidFill>
                  <a:srgbClr val="1F4E79"/>
                </a:solidFill>
                <a:latin typeface="Roboto"/>
                <a:cs typeface="Roboto"/>
              </a:rPr>
              <a:t>have</a:t>
            </a:r>
            <a:r>
              <a:rPr sz="1600" spc="-10" dirty="0">
                <a:solidFill>
                  <a:srgbClr val="1F4E79"/>
                </a:solidFill>
                <a:latin typeface="Roboto"/>
                <a:cs typeface="Roboto"/>
              </a:rPr>
              <a:t> </a:t>
            </a:r>
            <a:r>
              <a:rPr sz="1600" dirty="0">
                <a:solidFill>
                  <a:srgbClr val="1F4E79"/>
                </a:solidFill>
                <a:latin typeface="Roboto"/>
                <a:cs typeface="Roboto"/>
              </a:rPr>
              <a:t>more</a:t>
            </a:r>
            <a:r>
              <a:rPr sz="1600" spc="-5" dirty="0">
                <a:solidFill>
                  <a:srgbClr val="1F4E79"/>
                </a:solidFill>
                <a:latin typeface="Roboto"/>
                <a:cs typeface="Roboto"/>
              </a:rPr>
              <a:t> </a:t>
            </a:r>
            <a:r>
              <a:rPr sz="1600" spc="-10" dirty="0">
                <a:solidFill>
                  <a:srgbClr val="1F4E79"/>
                </a:solidFill>
                <a:latin typeface="Roboto"/>
                <a:cs typeface="Roboto"/>
              </a:rPr>
              <a:t>clarity.</a:t>
            </a:r>
            <a:endParaRPr sz="1600">
              <a:latin typeface="Roboto"/>
              <a:cs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Download Paytm Logo in SVG Vector or PNG File Format - Logo.wine"/>
          <p:cNvPicPr/>
          <p:nvPr/>
        </p:nvPicPr>
        <p:blipFill>
          <a:blip r:embed="rId2" cstate="print"/>
          <a:stretch>
            <a:fillRect/>
          </a:stretch>
        </p:blipFill>
        <p:spPr>
          <a:xfrm>
            <a:off x="204215" y="6246874"/>
            <a:ext cx="1560575" cy="536448"/>
          </a:xfrm>
          <a:prstGeom prst="rect">
            <a:avLst/>
          </a:prstGeom>
        </p:spPr>
      </p:pic>
      <p:sp>
        <p:nvSpPr>
          <p:cNvPr id="3" name="object 3"/>
          <p:cNvSpPr txBox="1"/>
          <p:nvPr/>
        </p:nvSpPr>
        <p:spPr>
          <a:xfrm>
            <a:off x="890422" y="1148841"/>
            <a:ext cx="4964430" cy="372427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2F8BCC"/>
                </a:solidFill>
                <a:latin typeface="Roboto"/>
                <a:cs typeface="Roboto"/>
              </a:rPr>
              <a:t>The</a:t>
            </a:r>
            <a:r>
              <a:rPr sz="2400" b="1" spc="-15" dirty="0">
                <a:solidFill>
                  <a:srgbClr val="2F8BCC"/>
                </a:solidFill>
                <a:latin typeface="Roboto"/>
                <a:cs typeface="Roboto"/>
              </a:rPr>
              <a:t> </a:t>
            </a:r>
            <a:r>
              <a:rPr sz="2400" b="1" spc="-20" dirty="0">
                <a:solidFill>
                  <a:srgbClr val="2F8BCC"/>
                </a:solidFill>
                <a:latin typeface="Roboto"/>
                <a:cs typeface="Roboto"/>
              </a:rPr>
              <a:t>Pros</a:t>
            </a:r>
            <a:endParaRPr sz="2400">
              <a:latin typeface="Roboto"/>
              <a:cs typeface="Roboto"/>
            </a:endParaRPr>
          </a:p>
          <a:p>
            <a:pPr marL="240029" marR="66675" indent="-227329">
              <a:lnSpc>
                <a:spcPct val="80000"/>
              </a:lnSpc>
              <a:spcBef>
                <a:spcPts val="2505"/>
              </a:spcBef>
              <a:buFont typeface="Arial MT"/>
              <a:buChar char="•"/>
              <a:tabLst>
                <a:tab pos="241300" algn="l"/>
              </a:tabLst>
            </a:pPr>
            <a:r>
              <a:rPr sz="2400" dirty="0">
                <a:solidFill>
                  <a:srgbClr val="2F8BCC"/>
                </a:solidFill>
                <a:latin typeface="Calibri"/>
                <a:cs typeface="Calibri"/>
              </a:rPr>
              <a:t>Clear</a:t>
            </a:r>
            <a:r>
              <a:rPr sz="2400" spc="-45" dirty="0">
                <a:solidFill>
                  <a:srgbClr val="2F8BCC"/>
                </a:solidFill>
                <a:latin typeface="Calibri"/>
                <a:cs typeface="Calibri"/>
              </a:rPr>
              <a:t> </a:t>
            </a:r>
            <a:r>
              <a:rPr sz="2400" dirty="0">
                <a:solidFill>
                  <a:srgbClr val="2F8BCC"/>
                </a:solidFill>
                <a:latin typeface="Calibri"/>
                <a:cs typeface="Calibri"/>
              </a:rPr>
              <a:t>to</a:t>
            </a:r>
            <a:r>
              <a:rPr sz="2400" spc="-25" dirty="0">
                <a:solidFill>
                  <a:srgbClr val="2F8BCC"/>
                </a:solidFill>
                <a:latin typeface="Calibri"/>
                <a:cs typeface="Calibri"/>
              </a:rPr>
              <a:t> </a:t>
            </a:r>
            <a:r>
              <a:rPr sz="2400" dirty="0">
                <a:solidFill>
                  <a:srgbClr val="2F8BCC"/>
                </a:solidFill>
                <a:latin typeface="Calibri"/>
                <a:cs typeface="Calibri"/>
              </a:rPr>
              <a:t>see</a:t>
            </a:r>
            <a:r>
              <a:rPr sz="2400" spc="-15" dirty="0">
                <a:solidFill>
                  <a:srgbClr val="2F8BCC"/>
                </a:solidFill>
                <a:latin typeface="Calibri"/>
                <a:cs typeface="Calibri"/>
              </a:rPr>
              <a:t> </a:t>
            </a:r>
            <a:r>
              <a:rPr sz="2400" dirty="0">
                <a:solidFill>
                  <a:srgbClr val="2F8BCC"/>
                </a:solidFill>
                <a:latin typeface="Calibri"/>
                <a:cs typeface="Calibri"/>
              </a:rPr>
              <a:t>“scan</a:t>
            </a:r>
            <a:r>
              <a:rPr sz="2400" spc="-30" dirty="0">
                <a:solidFill>
                  <a:srgbClr val="2F8BCC"/>
                </a:solidFill>
                <a:latin typeface="Calibri"/>
                <a:cs typeface="Calibri"/>
              </a:rPr>
              <a:t> </a:t>
            </a:r>
            <a:r>
              <a:rPr sz="2400" dirty="0">
                <a:solidFill>
                  <a:srgbClr val="2F8BCC"/>
                </a:solidFill>
                <a:latin typeface="Calibri"/>
                <a:cs typeface="Calibri"/>
              </a:rPr>
              <a:t>QR”</a:t>
            </a:r>
            <a:r>
              <a:rPr sz="2400" spc="-45" dirty="0">
                <a:solidFill>
                  <a:srgbClr val="2F8BCC"/>
                </a:solidFill>
                <a:latin typeface="Calibri"/>
                <a:cs typeface="Calibri"/>
              </a:rPr>
              <a:t> </a:t>
            </a:r>
            <a:r>
              <a:rPr sz="2400" dirty="0">
                <a:solidFill>
                  <a:srgbClr val="2F8BCC"/>
                </a:solidFill>
                <a:latin typeface="Calibri"/>
                <a:cs typeface="Calibri"/>
              </a:rPr>
              <a:t>button.</a:t>
            </a:r>
            <a:r>
              <a:rPr sz="2400" spc="-35" dirty="0">
                <a:solidFill>
                  <a:srgbClr val="2F8BCC"/>
                </a:solidFill>
                <a:latin typeface="Calibri"/>
                <a:cs typeface="Calibri"/>
              </a:rPr>
              <a:t> </a:t>
            </a:r>
            <a:r>
              <a:rPr sz="2400" spc="-10" dirty="0">
                <a:solidFill>
                  <a:srgbClr val="2F8BCC"/>
                </a:solidFill>
                <a:latin typeface="Calibri"/>
                <a:cs typeface="Calibri"/>
              </a:rPr>
              <a:t>Makes 	</a:t>
            </a:r>
            <a:r>
              <a:rPr sz="2400" dirty="0">
                <a:solidFill>
                  <a:srgbClr val="2F8BCC"/>
                </a:solidFill>
                <a:latin typeface="Calibri"/>
                <a:cs typeface="Calibri"/>
              </a:rPr>
              <a:t>it</a:t>
            </a:r>
            <a:r>
              <a:rPr sz="2400" spc="-30" dirty="0">
                <a:solidFill>
                  <a:srgbClr val="2F8BCC"/>
                </a:solidFill>
                <a:latin typeface="Calibri"/>
                <a:cs typeface="Calibri"/>
              </a:rPr>
              <a:t> </a:t>
            </a:r>
            <a:r>
              <a:rPr sz="2400" dirty="0">
                <a:solidFill>
                  <a:srgbClr val="2F8BCC"/>
                </a:solidFill>
                <a:latin typeface="Calibri"/>
                <a:cs typeface="Calibri"/>
              </a:rPr>
              <a:t>simple</a:t>
            </a:r>
            <a:r>
              <a:rPr sz="2400" spc="-15" dirty="0">
                <a:solidFill>
                  <a:srgbClr val="2F8BCC"/>
                </a:solidFill>
                <a:latin typeface="Calibri"/>
                <a:cs typeface="Calibri"/>
              </a:rPr>
              <a:t> </a:t>
            </a:r>
            <a:r>
              <a:rPr sz="2400" dirty="0">
                <a:solidFill>
                  <a:srgbClr val="2F8BCC"/>
                </a:solidFill>
                <a:latin typeface="Calibri"/>
                <a:cs typeface="Calibri"/>
              </a:rPr>
              <a:t>for quick</a:t>
            </a:r>
            <a:r>
              <a:rPr sz="2400" spc="-15" dirty="0">
                <a:solidFill>
                  <a:srgbClr val="2F8BCC"/>
                </a:solidFill>
                <a:latin typeface="Calibri"/>
                <a:cs typeface="Calibri"/>
              </a:rPr>
              <a:t> </a:t>
            </a:r>
            <a:r>
              <a:rPr sz="2400" spc="-10" dirty="0">
                <a:solidFill>
                  <a:srgbClr val="2F8BCC"/>
                </a:solidFill>
                <a:latin typeface="Calibri"/>
                <a:cs typeface="Calibri"/>
              </a:rPr>
              <a:t>transactions.</a:t>
            </a:r>
            <a:endParaRPr sz="2400">
              <a:latin typeface="Calibri"/>
              <a:cs typeface="Calibri"/>
            </a:endParaRPr>
          </a:p>
          <a:p>
            <a:pPr marL="240029" marR="123189" indent="-227329">
              <a:lnSpc>
                <a:spcPts val="2300"/>
              </a:lnSpc>
              <a:spcBef>
                <a:spcPts val="980"/>
              </a:spcBef>
              <a:buFont typeface="Arial MT"/>
              <a:buChar char="•"/>
              <a:tabLst>
                <a:tab pos="241300" algn="l"/>
              </a:tabLst>
            </a:pPr>
            <a:r>
              <a:rPr sz="2400" dirty="0">
                <a:solidFill>
                  <a:srgbClr val="2F8BCC"/>
                </a:solidFill>
                <a:latin typeface="Calibri"/>
                <a:cs typeface="Calibri"/>
              </a:rPr>
              <a:t>Scan,</a:t>
            </a:r>
            <a:r>
              <a:rPr sz="2400" spc="-65" dirty="0">
                <a:solidFill>
                  <a:srgbClr val="2F8BCC"/>
                </a:solidFill>
                <a:latin typeface="Calibri"/>
                <a:cs typeface="Calibri"/>
              </a:rPr>
              <a:t> </a:t>
            </a:r>
            <a:r>
              <a:rPr sz="2400" dirty="0">
                <a:solidFill>
                  <a:srgbClr val="2F8BCC"/>
                </a:solidFill>
                <a:latin typeface="Calibri"/>
                <a:cs typeface="Calibri"/>
              </a:rPr>
              <a:t>phone</a:t>
            </a:r>
            <a:r>
              <a:rPr sz="2400" spc="-40" dirty="0">
                <a:solidFill>
                  <a:srgbClr val="2F8BCC"/>
                </a:solidFill>
                <a:latin typeface="Calibri"/>
                <a:cs typeface="Calibri"/>
              </a:rPr>
              <a:t> </a:t>
            </a:r>
            <a:r>
              <a:rPr sz="2400" dirty="0">
                <a:solidFill>
                  <a:srgbClr val="2F8BCC"/>
                </a:solidFill>
                <a:latin typeface="Calibri"/>
                <a:cs typeface="Calibri"/>
              </a:rPr>
              <a:t>number</a:t>
            </a:r>
            <a:r>
              <a:rPr sz="2400" spc="-60" dirty="0">
                <a:solidFill>
                  <a:srgbClr val="2F8BCC"/>
                </a:solidFill>
                <a:latin typeface="Calibri"/>
                <a:cs typeface="Calibri"/>
              </a:rPr>
              <a:t> </a:t>
            </a:r>
            <a:r>
              <a:rPr sz="2400" dirty="0">
                <a:solidFill>
                  <a:srgbClr val="2F8BCC"/>
                </a:solidFill>
                <a:latin typeface="Calibri"/>
                <a:cs typeface="Calibri"/>
              </a:rPr>
              <a:t>&amp;</a:t>
            </a:r>
            <a:r>
              <a:rPr sz="2400" spc="-50" dirty="0">
                <a:solidFill>
                  <a:srgbClr val="2F8BCC"/>
                </a:solidFill>
                <a:latin typeface="Calibri"/>
                <a:cs typeface="Calibri"/>
              </a:rPr>
              <a:t> </a:t>
            </a:r>
            <a:r>
              <a:rPr sz="2400" dirty="0">
                <a:solidFill>
                  <a:srgbClr val="2F8BCC"/>
                </a:solidFill>
                <a:latin typeface="Calibri"/>
                <a:cs typeface="Calibri"/>
              </a:rPr>
              <a:t>other</a:t>
            </a:r>
            <a:r>
              <a:rPr sz="2400" spc="-45" dirty="0">
                <a:solidFill>
                  <a:srgbClr val="2F8BCC"/>
                </a:solidFill>
                <a:latin typeface="Calibri"/>
                <a:cs typeface="Calibri"/>
              </a:rPr>
              <a:t> </a:t>
            </a:r>
            <a:r>
              <a:rPr sz="2400" spc="-10" dirty="0">
                <a:solidFill>
                  <a:srgbClr val="2F8BCC"/>
                </a:solidFill>
                <a:latin typeface="Calibri"/>
                <a:cs typeface="Calibri"/>
              </a:rPr>
              <a:t>options 	</a:t>
            </a:r>
            <a:r>
              <a:rPr sz="2400" dirty="0">
                <a:solidFill>
                  <a:srgbClr val="2F8BCC"/>
                </a:solidFill>
                <a:latin typeface="Calibri"/>
                <a:cs typeface="Calibri"/>
              </a:rPr>
              <a:t>present</a:t>
            </a:r>
            <a:r>
              <a:rPr sz="2400" spc="-35" dirty="0">
                <a:solidFill>
                  <a:srgbClr val="2F8BCC"/>
                </a:solidFill>
                <a:latin typeface="Calibri"/>
                <a:cs typeface="Calibri"/>
              </a:rPr>
              <a:t> </a:t>
            </a:r>
            <a:r>
              <a:rPr sz="2400" dirty="0">
                <a:solidFill>
                  <a:srgbClr val="2F8BCC"/>
                </a:solidFill>
                <a:latin typeface="Calibri"/>
                <a:cs typeface="Calibri"/>
              </a:rPr>
              <a:t>at</a:t>
            </a:r>
            <a:r>
              <a:rPr sz="2400" spc="-45" dirty="0">
                <a:solidFill>
                  <a:srgbClr val="2F8BCC"/>
                </a:solidFill>
                <a:latin typeface="Calibri"/>
                <a:cs typeface="Calibri"/>
              </a:rPr>
              <a:t> </a:t>
            </a:r>
            <a:r>
              <a:rPr sz="2400" dirty="0">
                <a:solidFill>
                  <a:srgbClr val="2F8BCC"/>
                </a:solidFill>
                <a:latin typeface="Calibri"/>
                <a:cs typeface="Calibri"/>
              </a:rPr>
              <a:t>the</a:t>
            </a:r>
            <a:r>
              <a:rPr sz="2400" spc="-30" dirty="0">
                <a:solidFill>
                  <a:srgbClr val="2F8BCC"/>
                </a:solidFill>
                <a:latin typeface="Calibri"/>
                <a:cs typeface="Calibri"/>
              </a:rPr>
              <a:t> </a:t>
            </a:r>
            <a:r>
              <a:rPr sz="2400" dirty="0">
                <a:solidFill>
                  <a:srgbClr val="2F8BCC"/>
                </a:solidFill>
                <a:latin typeface="Calibri"/>
                <a:cs typeface="Calibri"/>
              </a:rPr>
              <a:t>centre</a:t>
            </a:r>
            <a:r>
              <a:rPr sz="2400" spc="-35" dirty="0">
                <a:solidFill>
                  <a:srgbClr val="2F8BCC"/>
                </a:solidFill>
                <a:latin typeface="Calibri"/>
                <a:cs typeface="Calibri"/>
              </a:rPr>
              <a:t> </a:t>
            </a:r>
            <a:r>
              <a:rPr sz="2400" dirty="0">
                <a:solidFill>
                  <a:srgbClr val="2F8BCC"/>
                </a:solidFill>
                <a:latin typeface="Calibri"/>
                <a:cs typeface="Calibri"/>
              </a:rPr>
              <a:t>of</a:t>
            </a:r>
            <a:r>
              <a:rPr sz="2400" spc="-40" dirty="0">
                <a:solidFill>
                  <a:srgbClr val="2F8BCC"/>
                </a:solidFill>
                <a:latin typeface="Calibri"/>
                <a:cs typeface="Calibri"/>
              </a:rPr>
              <a:t> </a:t>
            </a:r>
            <a:r>
              <a:rPr sz="2400" dirty="0">
                <a:solidFill>
                  <a:srgbClr val="2F8BCC"/>
                </a:solidFill>
                <a:latin typeface="Calibri"/>
                <a:cs typeface="Calibri"/>
              </a:rPr>
              <a:t>home</a:t>
            </a:r>
            <a:r>
              <a:rPr sz="2400" spc="-30" dirty="0">
                <a:solidFill>
                  <a:srgbClr val="2F8BCC"/>
                </a:solidFill>
                <a:latin typeface="Calibri"/>
                <a:cs typeface="Calibri"/>
              </a:rPr>
              <a:t> </a:t>
            </a:r>
            <a:r>
              <a:rPr sz="2400" spc="-20" dirty="0">
                <a:solidFill>
                  <a:srgbClr val="2F8BCC"/>
                </a:solidFill>
                <a:latin typeface="Calibri"/>
                <a:cs typeface="Calibri"/>
              </a:rPr>
              <a:t>page</a:t>
            </a:r>
            <a:endParaRPr sz="2400">
              <a:latin typeface="Calibri"/>
              <a:cs typeface="Calibri"/>
            </a:endParaRPr>
          </a:p>
          <a:p>
            <a:pPr marL="241300" marR="5080">
              <a:lnSpc>
                <a:spcPts val="2300"/>
              </a:lnSpc>
              <a:spcBef>
                <a:spcPts val="10"/>
              </a:spcBef>
            </a:pPr>
            <a:r>
              <a:rPr sz="2400" dirty="0">
                <a:solidFill>
                  <a:srgbClr val="2F8BCC"/>
                </a:solidFill>
                <a:latin typeface="Calibri"/>
                <a:cs typeface="Calibri"/>
              </a:rPr>
              <a:t>right</a:t>
            </a:r>
            <a:r>
              <a:rPr sz="2400" spc="-55" dirty="0">
                <a:solidFill>
                  <a:srgbClr val="2F8BCC"/>
                </a:solidFill>
                <a:latin typeface="Calibri"/>
                <a:cs typeface="Calibri"/>
              </a:rPr>
              <a:t> </a:t>
            </a:r>
            <a:r>
              <a:rPr sz="2400" dirty="0">
                <a:solidFill>
                  <a:srgbClr val="2F8BCC"/>
                </a:solidFill>
                <a:latin typeface="Calibri"/>
                <a:cs typeface="Calibri"/>
              </a:rPr>
              <a:t>where</a:t>
            </a:r>
            <a:r>
              <a:rPr sz="2400" spc="-35" dirty="0">
                <a:solidFill>
                  <a:srgbClr val="2F8BCC"/>
                </a:solidFill>
                <a:latin typeface="Calibri"/>
                <a:cs typeface="Calibri"/>
              </a:rPr>
              <a:t> </a:t>
            </a:r>
            <a:r>
              <a:rPr sz="2400" dirty="0">
                <a:solidFill>
                  <a:srgbClr val="2F8BCC"/>
                </a:solidFill>
                <a:latin typeface="Calibri"/>
                <a:cs typeface="Calibri"/>
              </a:rPr>
              <a:t>the</a:t>
            </a:r>
            <a:r>
              <a:rPr sz="2400" spc="-55" dirty="0">
                <a:solidFill>
                  <a:srgbClr val="2F8BCC"/>
                </a:solidFill>
                <a:latin typeface="Calibri"/>
                <a:cs typeface="Calibri"/>
              </a:rPr>
              <a:t> </a:t>
            </a:r>
            <a:r>
              <a:rPr sz="2400" dirty="0">
                <a:solidFill>
                  <a:srgbClr val="2F8BCC"/>
                </a:solidFill>
                <a:latin typeface="Calibri"/>
                <a:cs typeface="Calibri"/>
              </a:rPr>
              <a:t>user’s</a:t>
            </a:r>
            <a:r>
              <a:rPr sz="2400" spc="-45" dirty="0">
                <a:solidFill>
                  <a:srgbClr val="2F8BCC"/>
                </a:solidFill>
                <a:latin typeface="Calibri"/>
                <a:cs typeface="Calibri"/>
              </a:rPr>
              <a:t> </a:t>
            </a:r>
            <a:r>
              <a:rPr sz="2400" dirty="0">
                <a:solidFill>
                  <a:srgbClr val="2F8BCC"/>
                </a:solidFill>
                <a:latin typeface="Calibri"/>
                <a:cs typeface="Calibri"/>
              </a:rPr>
              <a:t>vision</a:t>
            </a:r>
            <a:r>
              <a:rPr sz="2400" spc="-35" dirty="0">
                <a:solidFill>
                  <a:srgbClr val="2F8BCC"/>
                </a:solidFill>
                <a:latin typeface="Calibri"/>
                <a:cs typeface="Calibri"/>
              </a:rPr>
              <a:t> </a:t>
            </a:r>
            <a:r>
              <a:rPr sz="2400" dirty="0">
                <a:solidFill>
                  <a:srgbClr val="2F8BCC"/>
                </a:solidFill>
                <a:latin typeface="Calibri"/>
                <a:cs typeface="Calibri"/>
              </a:rPr>
              <a:t>goes</a:t>
            </a:r>
            <a:r>
              <a:rPr sz="2400" spc="-45" dirty="0">
                <a:solidFill>
                  <a:srgbClr val="2F8BCC"/>
                </a:solidFill>
                <a:latin typeface="Calibri"/>
                <a:cs typeface="Calibri"/>
              </a:rPr>
              <a:t> </a:t>
            </a:r>
            <a:r>
              <a:rPr sz="2400" spc="-10" dirty="0">
                <a:solidFill>
                  <a:srgbClr val="2F8BCC"/>
                </a:solidFill>
                <a:latin typeface="Calibri"/>
                <a:cs typeface="Calibri"/>
              </a:rPr>
              <a:t>first typically.</a:t>
            </a:r>
            <a:endParaRPr sz="2400">
              <a:latin typeface="Calibri"/>
              <a:cs typeface="Calibri"/>
            </a:endParaRPr>
          </a:p>
          <a:p>
            <a:pPr marL="240029" marR="826769" indent="-227329">
              <a:lnSpc>
                <a:spcPct val="80000"/>
              </a:lnSpc>
              <a:spcBef>
                <a:spcPts val="1030"/>
              </a:spcBef>
              <a:buFont typeface="Arial MT"/>
              <a:buChar char="•"/>
              <a:tabLst>
                <a:tab pos="241300" algn="l"/>
              </a:tabLst>
            </a:pPr>
            <a:r>
              <a:rPr sz="2400" dirty="0">
                <a:solidFill>
                  <a:srgbClr val="2F8BCC"/>
                </a:solidFill>
                <a:latin typeface="Calibri"/>
                <a:cs typeface="Calibri"/>
              </a:rPr>
              <a:t>Allows</a:t>
            </a:r>
            <a:r>
              <a:rPr sz="2400" spc="-40" dirty="0">
                <a:solidFill>
                  <a:srgbClr val="2F8BCC"/>
                </a:solidFill>
                <a:latin typeface="Calibri"/>
                <a:cs typeface="Calibri"/>
              </a:rPr>
              <a:t> </a:t>
            </a:r>
            <a:r>
              <a:rPr sz="2400" dirty="0">
                <a:solidFill>
                  <a:srgbClr val="2F8BCC"/>
                </a:solidFill>
                <a:latin typeface="Calibri"/>
                <a:cs typeface="Calibri"/>
              </a:rPr>
              <a:t>me</a:t>
            </a:r>
            <a:r>
              <a:rPr sz="2400" spc="-35" dirty="0">
                <a:solidFill>
                  <a:srgbClr val="2F8BCC"/>
                </a:solidFill>
                <a:latin typeface="Calibri"/>
                <a:cs typeface="Calibri"/>
              </a:rPr>
              <a:t> </a:t>
            </a:r>
            <a:r>
              <a:rPr sz="2400" dirty="0">
                <a:solidFill>
                  <a:srgbClr val="2F8BCC"/>
                </a:solidFill>
                <a:latin typeface="Calibri"/>
                <a:cs typeface="Calibri"/>
              </a:rPr>
              <a:t>to</a:t>
            </a:r>
            <a:r>
              <a:rPr sz="2400" spc="-25" dirty="0">
                <a:solidFill>
                  <a:srgbClr val="2F8BCC"/>
                </a:solidFill>
                <a:latin typeface="Calibri"/>
                <a:cs typeface="Calibri"/>
              </a:rPr>
              <a:t> </a:t>
            </a:r>
            <a:r>
              <a:rPr sz="2400" dirty="0">
                <a:solidFill>
                  <a:srgbClr val="2F8BCC"/>
                </a:solidFill>
                <a:latin typeface="Calibri"/>
                <a:cs typeface="Calibri"/>
              </a:rPr>
              <a:t>check</a:t>
            </a:r>
            <a:r>
              <a:rPr sz="2400" spc="-50" dirty="0">
                <a:solidFill>
                  <a:srgbClr val="2F8BCC"/>
                </a:solidFill>
                <a:latin typeface="Calibri"/>
                <a:cs typeface="Calibri"/>
              </a:rPr>
              <a:t> </a:t>
            </a:r>
            <a:r>
              <a:rPr sz="2400" dirty="0">
                <a:solidFill>
                  <a:srgbClr val="2F8BCC"/>
                </a:solidFill>
                <a:latin typeface="Calibri"/>
                <a:cs typeface="Calibri"/>
              </a:rPr>
              <a:t>my</a:t>
            </a:r>
            <a:r>
              <a:rPr sz="2400" spc="-30" dirty="0">
                <a:solidFill>
                  <a:srgbClr val="2F8BCC"/>
                </a:solidFill>
                <a:latin typeface="Calibri"/>
                <a:cs typeface="Calibri"/>
              </a:rPr>
              <a:t> </a:t>
            </a:r>
            <a:r>
              <a:rPr sz="2400" spc="-10" dirty="0">
                <a:solidFill>
                  <a:srgbClr val="2F8BCC"/>
                </a:solidFill>
                <a:latin typeface="Calibri"/>
                <a:cs typeface="Calibri"/>
              </a:rPr>
              <a:t>account 	</a:t>
            </a:r>
            <a:r>
              <a:rPr sz="2400" dirty="0">
                <a:solidFill>
                  <a:srgbClr val="2F8BCC"/>
                </a:solidFill>
                <a:latin typeface="Calibri"/>
                <a:cs typeface="Calibri"/>
              </a:rPr>
              <a:t>balance</a:t>
            </a:r>
            <a:r>
              <a:rPr sz="2400" spc="-85" dirty="0">
                <a:solidFill>
                  <a:srgbClr val="2F8BCC"/>
                </a:solidFill>
                <a:latin typeface="Calibri"/>
                <a:cs typeface="Calibri"/>
              </a:rPr>
              <a:t> </a:t>
            </a:r>
            <a:r>
              <a:rPr sz="2400" spc="-10" dirty="0">
                <a:solidFill>
                  <a:srgbClr val="2F8BCC"/>
                </a:solidFill>
                <a:latin typeface="Calibri"/>
                <a:cs typeface="Calibri"/>
              </a:rPr>
              <a:t>conveniently.</a:t>
            </a:r>
            <a:endParaRPr sz="2400">
              <a:latin typeface="Calibri"/>
              <a:cs typeface="Calibri"/>
            </a:endParaRPr>
          </a:p>
          <a:p>
            <a:pPr marL="240029" indent="-227329">
              <a:lnSpc>
                <a:spcPct val="100000"/>
              </a:lnSpc>
              <a:spcBef>
                <a:spcPts val="420"/>
              </a:spcBef>
              <a:buFont typeface="Arial MT"/>
              <a:buChar char="•"/>
              <a:tabLst>
                <a:tab pos="240029" algn="l"/>
              </a:tabLst>
            </a:pPr>
            <a:r>
              <a:rPr sz="2400" dirty="0">
                <a:solidFill>
                  <a:srgbClr val="2F8BCC"/>
                </a:solidFill>
                <a:latin typeface="Calibri"/>
                <a:cs typeface="Calibri"/>
              </a:rPr>
              <a:t>Helps</a:t>
            </a:r>
            <a:r>
              <a:rPr sz="2400" spc="-35" dirty="0">
                <a:solidFill>
                  <a:srgbClr val="2F8BCC"/>
                </a:solidFill>
                <a:latin typeface="Calibri"/>
                <a:cs typeface="Calibri"/>
              </a:rPr>
              <a:t> </a:t>
            </a:r>
            <a:r>
              <a:rPr sz="2400" dirty="0">
                <a:solidFill>
                  <a:srgbClr val="2F8BCC"/>
                </a:solidFill>
                <a:latin typeface="Calibri"/>
                <a:cs typeface="Calibri"/>
              </a:rPr>
              <a:t>keep</a:t>
            </a:r>
            <a:r>
              <a:rPr sz="2400" spc="-35" dirty="0">
                <a:solidFill>
                  <a:srgbClr val="2F8BCC"/>
                </a:solidFill>
                <a:latin typeface="Calibri"/>
                <a:cs typeface="Calibri"/>
              </a:rPr>
              <a:t> </a:t>
            </a:r>
            <a:r>
              <a:rPr sz="2400" dirty="0">
                <a:solidFill>
                  <a:srgbClr val="2F8BCC"/>
                </a:solidFill>
                <a:latin typeface="Calibri"/>
                <a:cs typeface="Calibri"/>
              </a:rPr>
              <a:t>track</a:t>
            </a:r>
            <a:r>
              <a:rPr sz="2400" spc="-55" dirty="0">
                <a:solidFill>
                  <a:srgbClr val="2F8BCC"/>
                </a:solidFill>
                <a:latin typeface="Calibri"/>
                <a:cs typeface="Calibri"/>
              </a:rPr>
              <a:t> </a:t>
            </a:r>
            <a:r>
              <a:rPr sz="2400" dirty="0">
                <a:solidFill>
                  <a:srgbClr val="2F8BCC"/>
                </a:solidFill>
                <a:latin typeface="Calibri"/>
                <a:cs typeface="Calibri"/>
              </a:rPr>
              <a:t>of</a:t>
            </a:r>
            <a:r>
              <a:rPr sz="2400" spc="-35" dirty="0">
                <a:solidFill>
                  <a:srgbClr val="2F8BCC"/>
                </a:solidFill>
                <a:latin typeface="Calibri"/>
                <a:cs typeface="Calibri"/>
              </a:rPr>
              <a:t> </a:t>
            </a:r>
            <a:r>
              <a:rPr sz="2400" spc="-10" dirty="0">
                <a:solidFill>
                  <a:srgbClr val="2F8BCC"/>
                </a:solidFill>
                <a:latin typeface="Calibri"/>
                <a:cs typeface="Calibri"/>
              </a:rPr>
              <a:t>payments.</a:t>
            </a:r>
            <a:endParaRPr sz="2400">
              <a:latin typeface="Calibri"/>
              <a:cs typeface="Calibri"/>
            </a:endParaRPr>
          </a:p>
        </p:txBody>
      </p:sp>
      <p:sp>
        <p:nvSpPr>
          <p:cNvPr id="5" name="object 5"/>
          <p:cNvSpPr txBox="1">
            <a:spLocks noGrp="1"/>
          </p:cNvSpPr>
          <p:nvPr>
            <p:ph type="dt" sz="half" idx="6"/>
          </p:nvPr>
        </p:nvSpPr>
        <p:spPr>
          <a:prstGeom prst="rect">
            <a:avLst/>
          </a:prstGeom>
        </p:spPr>
        <p:txBody>
          <a:bodyPr vert="horz" wrap="square" lIns="0" tIns="23495" rIns="0" bIns="0" rtlCol="0">
            <a:spAutoFit/>
          </a:bodyPr>
          <a:lstStyle/>
          <a:p>
            <a:pPr marL="12700">
              <a:lnSpc>
                <a:spcPct val="100000"/>
              </a:lnSpc>
              <a:spcBef>
                <a:spcPts val="185"/>
              </a:spcBef>
            </a:pPr>
            <a:r>
              <a:rPr spc="-10" dirty="0"/>
              <a:t>Overview</a:t>
            </a:r>
          </a:p>
        </p:txBody>
      </p:sp>
      <p:sp>
        <p:nvSpPr>
          <p:cNvPr id="6" name="object 6"/>
          <p:cNvSpPr txBox="1"/>
          <p:nvPr/>
        </p:nvSpPr>
        <p:spPr>
          <a:xfrm>
            <a:off x="3518408" y="6343328"/>
            <a:ext cx="1402080" cy="327025"/>
          </a:xfrm>
          <a:prstGeom prst="rect">
            <a:avLst/>
          </a:prstGeom>
        </p:spPr>
        <p:txBody>
          <a:bodyPr vert="horz" wrap="square" lIns="0" tIns="23495" rIns="0" bIns="0" rtlCol="0">
            <a:spAutoFit/>
          </a:bodyPr>
          <a:lstStyle/>
          <a:p>
            <a:pPr marL="12700">
              <a:lnSpc>
                <a:spcPct val="100000"/>
              </a:lnSpc>
              <a:spcBef>
                <a:spcPts val="185"/>
              </a:spcBef>
            </a:pPr>
            <a:r>
              <a:rPr sz="1800" dirty="0">
                <a:solidFill>
                  <a:srgbClr val="1F4E79"/>
                </a:solidFill>
                <a:latin typeface="Roboto"/>
                <a:cs typeface="Roboto"/>
              </a:rPr>
              <a:t>User</a:t>
            </a:r>
            <a:r>
              <a:rPr sz="1800" spc="-30" dirty="0">
                <a:solidFill>
                  <a:srgbClr val="1F4E79"/>
                </a:solidFill>
                <a:latin typeface="Roboto"/>
                <a:cs typeface="Roboto"/>
              </a:rPr>
              <a:t> </a:t>
            </a:r>
            <a:r>
              <a:rPr sz="1800" spc="-10" dirty="0">
                <a:solidFill>
                  <a:srgbClr val="1F4E79"/>
                </a:solidFill>
                <a:latin typeface="Roboto"/>
                <a:cs typeface="Roboto"/>
              </a:rPr>
              <a:t>Persona</a:t>
            </a:r>
            <a:endParaRPr sz="1800">
              <a:latin typeface="Roboto"/>
              <a:cs typeface="Roboto"/>
            </a:endParaRPr>
          </a:p>
        </p:txBody>
      </p:sp>
      <p:sp>
        <p:nvSpPr>
          <p:cNvPr id="7" name="object 7"/>
          <p:cNvSpPr txBox="1"/>
          <p:nvPr/>
        </p:nvSpPr>
        <p:spPr>
          <a:xfrm>
            <a:off x="6678930" y="6343328"/>
            <a:ext cx="2565400" cy="327025"/>
          </a:xfrm>
          <a:prstGeom prst="rect">
            <a:avLst/>
          </a:prstGeom>
        </p:spPr>
        <p:txBody>
          <a:bodyPr vert="horz" wrap="square" lIns="0" tIns="23495" rIns="0" bIns="0" rtlCol="0">
            <a:spAutoFit/>
          </a:bodyPr>
          <a:lstStyle/>
          <a:p>
            <a:pPr marL="12700">
              <a:lnSpc>
                <a:spcPct val="100000"/>
              </a:lnSpc>
              <a:spcBef>
                <a:spcPts val="185"/>
              </a:spcBef>
            </a:pPr>
            <a:r>
              <a:rPr sz="1800" dirty="0">
                <a:solidFill>
                  <a:srgbClr val="1F4E79"/>
                </a:solidFill>
                <a:latin typeface="Roboto"/>
                <a:cs typeface="Roboto"/>
              </a:rPr>
              <a:t>User</a:t>
            </a:r>
            <a:r>
              <a:rPr sz="1800" spc="20" dirty="0">
                <a:solidFill>
                  <a:srgbClr val="1F4E79"/>
                </a:solidFill>
                <a:latin typeface="Roboto"/>
                <a:cs typeface="Roboto"/>
              </a:rPr>
              <a:t> </a:t>
            </a:r>
            <a:r>
              <a:rPr sz="1800" dirty="0">
                <a:solidFill>
                  <a:srgbClr val="1F4E79"/>
                </a:solidFill>
                <a:latin typeface="Roboto"/>
                <a:cs typeface="Roboto"/>
              </a:rPr>
              <a:t>Experience</a:t>
            </a:r>
            <a:r>
              <a:rPr sz="1800" spc="20" dirty="0">
                <a:solidFill>
                  <a:srgbClr val="1F4E79"/>
                </a:solidFill>
                <a:latin typeface="Roboto"/>
                <a:cs typeface="Roboto"/>
              </a:rPr>
              <a:t> </a:t>
            </a:r>
            <a:r>
              <a:rPr sz="1800" spc="-10" dirty="0">
                <a:solidFill>
                  <a:srgbClr val="1F4E79"/>
                </a:solidFill>
                <a:latin typeface="Roboto"/>
                <a:cs typeface="Roboto"/>
              </a:rPr>
              <a:t>Insights</a:t>
            </a:r>
            <a:endParaRPr sz="1800">
              <a:latin typeface="Roboto"/>
              <a:cs typeface="Roboto"/>
            </a:endParaRPr>
          </a:p>
        </p:txBody>
      </p:sp>
      <p:sp>
        <p:nvSpPr>
          <p:cNvPr id="8" name="object 8"/>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spc="-10" dirty="0"/>
              <a:t>Metrics</a:t>
            </a:r>
          </a:p>
        </p:txBody>
      </p:sp>
      <p:sp>
        <p:nvSpPr>
          <p:cNvPr id="9" name="object 9"/>
          <p:cNvSpPr txBox="1"/>
          <p:nvPr/>
        </p:nvSpPr>
        <p:spPr>
          <a:xfrm>
            <a:off x="5061584" y="6358873"/>
            <a:ext cx="1392555" cy="327025"/>
          </a:xfrm>
          <a:prstGeom prst="rect">
            <a:avLst/>
          </a:prstGeom>
        </p:spPr>
        <p:txBody>
          <a:bodyPr vert="horz" wrap="square" lIns="0" tIns="23495" rIns="0" bIns="0" rtlCol="0">
            <a:spAutoFit/>
          </a:bodyPr>
          <a:lstStyle/>
          <a:p>
            <a:pPr marL="12700">
              <a:lnSpc>
                <a:spcPct val="100000"/>
              </a:lnSpc>
              <a:spcBef>
                <a:spcPts val="185"/>
              </a:spcBef>
            </a:pPr>
            <a:r>
              <a:rPr sz="1800" b="1" u="sng" dirty="0">
                <a:solidFill>
                  <a:srgbClr val="1F4E79"/>
                </a:solidFill>
                <a:uFill>
                  <a:solidFill>
                    <a:srgbClr val="1F4E79"/>
                  </a:solidFill>
                </a:uFill>
                <a:latin typeface="Roboto"/>
                <a:cs typeface="Roboto"/>
              </a:rPr>
              <a:t>User</a:t>
            </a:r>
            <a:r>
              <a:rPr sz="1800" b="1" u="sng" spc="-35" dirty="0">
                <a:solidFill>
                  <a:srgbClr val="1F4E79"/>
                </a:solidFill>
                <a:uFill>
                  <a:solidFill>
                    <a:srgbClr val="1F4E79"/>
                  </a:solidFill>
                </a:uFill>
                <a:latin typeface="Roboto"/>
                <a:cs typeface="Roboto"/>
              </a:rPr>
              <a:t> </a:t>
            </a:r>
            <a:r>
              <a:rPr sz="1800" b="1" u="sng" spc="-10" dirty="0">
                <a:solidFill>
                  <a:srgbClr val="1F4E79"/>
                </a:solidFill>
                <a:uFill>
                  <a:solidFill>
                    <a:srgbClr val="1F4E79"/>
                  </a:solidFill>
                </a:uFill>
                <a:latin typeface="Roboto"/>
                <a:cs typeface="Roboto"/>
              </a:rPr>
              <a:t>Journey</a:t>
            </a:r>
            <a:endParaRPr sz="1800">
              <a:latin typeface="Roboto"/>
              <a:cs typeface="Roboto"/>
            </a:endParaRPr>
          </a:p>
        </p:txBody>
      </p:sp>
      <p:sp>
        <p:nvSpPr>
          <p:cNvPr id="4" name="object 4"/>
          <p:cNvSpPr txBox="1"/>
          <p:nvPr/>
        </p:nvSpPr>
        <p:spPr>
          <a:xfrm>
            <a:off x="6248527" y="1148841"/>
            <a:ext cx="4996180" cy="401701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2F8BCC"/>
                </a:solidFill>
                <a:latin typeface="Roboto"/>
                <a:cs typeface="Roboto"/>
              </a:rPr>
              <a:t>The</a:t>
            </a:r>
            <a:r>
              <a:rPr sz="2400" b="1" spc="-15" dirty="0">
                <a:solidFill>
                  <a:srgbClr val="2F8BCC"/>
                </a:solidFill>
                <a:latin typeface="Roboto"/>
                <a:cs typeface="Roboto"/>
              </a:rPr>
              <a:t> </a:t>
            </a:r>
            <a:r>
              <a:rPr sz="2400" b="1" spc="-20" dirty="0">
                <a:solidFill>
                  <a:srgbClr val="2F8BCC"/>
                </a:solidFill>
                <a:latin typeface="Roboto"/>
                <a:cs typeface="Roboto"/>
              </a:rPr>
              <a:t>Cons</a:t>
            </a:r>
            <a:endParaRPr sz="2400">
              <a:latin typeface="Roboto"/>
              <a:cs typeface="Roboto"/>
            </a:endParaRPr>
          </a:p>
          <a:p>
            <a:pPr marL="240029" marR="5080" indent="-227329">
              <a:lnSpc>
                <a:spcPct val="80000"/>
              </a:lnSpc>
              <a:spcBef>
                <a:spcPts val="2505"/>
              </a:spcBef>
              <a:buFont typeface="Arial MT"/>
              <a:buChar char="•"/>
              <a:tabLst>
                <a:tab pos="241300" algn="l"/>
              </a:tabLst>
            </a:pPr>
            <a:r>
              <a:rPr sz="2400" dirty="0">
                <a:solidFill>
                  <a:srgbClr val="2F8BCC"/>
                </a:solidFill>
                <a:latin typeface="Calibri"/>
                <a:cs typeface="Calibri"/>
              </a:rPr>
              <a:t>Ads</a:t>
            </a:r>
            <a:r>
              <a:rPr sz="2400" spc="-40" dirty="0">
                <a:solidFill>
                  <a:srgbClr val="2F8BCC"/>
                </a:solidFill>
                <a:latin typeface="Calibri"/>
                <a:cs typeface="Calibri"/>
              </a:rPr>
              <a:t> </a:t>
            </a:r>
            <a:r>
              <a:rPr sz="2400" dirty="0">
                <a:solidFill>
                  <a:srgbClr val="2F8BCC"/>
                </a:solidFill>
                <a:latin typeface="Calibri"/>
                <a:cs typeface="Calibri"/>
              </a:rPr>
              <a:t>in</a:t>
            </a:r>
            <a:r>
              <a:rPr sz="2400" spc="-40" dirty="0">
                <a:solidFill>
                  <a:srgbClr val="2F8BCC"/>
                </a:solidFill>
                <a:latin typeface="Calibri"/>
                <a:cs typeface="Calibri"/>
              </a:rPr>
              <a:t> </a:t>
            </a:r>
            <a:r>
              <a:rPr sz="2400" dirty="0">
                <a:solidFill>
                  <a:srgbClr val="2F8BCC"/>
                </a:solidFill>
                <a:latin typeface="Calibri"/>
                <a:cs typeface="Calibri"/>
              </a:rPr>
              <a:t>the</a:t>
            </a:r>
            <a:r>
              <a:rPr sz="2400" spc="-45" dirty="0">
                <a:solidFill>
                  <a:srgbClr val="2F8BCC"/>
                </a:solidFill>
                <a:latin typeface="Calibri"/>
                <a:cs typeface="Calibri"/>
              </a:rPr>
              <a:t> </a:t>
            </a:r>
            <a:r>
              <a:rPr sz="2400" dirty="0">
                <a:solidFill>
                  <a:srgbClr val="2F8BCC"/>
                </a:solidFill>
                <a:latin typeface="Calibri"/>
                <a:cs typeface="Calibri"/>
              </a:rPr>
              <a:t>home</a:t>
            </a:r>
            <a:r>
              <a:rPr sz="2400" spc="-35" dirty="0">
                <a:solidFill>
                  <a:srgbClr val="2F8BCC"/>
                </a:solidFill>
                <a:latin typeface="Calibri"/>
                <a:cs typeface="Calibri"/>
              </a:rPr>
              <a:t> </a:t>
            </a:r>
            <a:r>
              <a:rPr sz="2400" dirty="0">
                <a:solidFill>
                  <a:srgbClr val="2F8BCC"/>
                </a:solidFill>
                <a:latin typeface="Calibri"/>
                <a:cs typeface="Calibri"/>
              </a:rPr>
              <a:t>screen</a:t>
            </a:r>
            <a:r>
              <a:rPr sz="2400" spc="-40" dirty="0">
                <a:solidFill>
                  <a:srgbClr val="2F8BCC"/>
                </a:solidFill>
                <a:latin typeface="Calibri"/>
                <a:cs typeface="Calibri"/>
              </a:rPr>
              <a:t> </a:t>
            </a:r>
            <a:r>
              <a:rPr sz="2400" dirty="0">
                <a:solidFill>
                  <a:srgbClr val="2F8BCC"/>
                </a:solidFill>
                <a:latin typeface="Calibri"/>
                <a:cs typeface="Calibri"/>
              </a:rPr>
              <a:t>are</a:t>
            </a:r>
            <a:r>
              <a:rPr sz="2400" spc="-40" dirty="0">
                <a:solidFill>
                  <a:srgbClr val="2F8BCC"/>
                </a:solidFill>
                <a:latin typeface="Calibri"/>
                <a:cs typeface="Calibri"/>
              </a:rPr>
              <a:t> </a:t>
            </a:r>
            <a:r>
              <a:rPr sz="2400" spc="-10" dirty="0">
                <a:solidFill>
                  <a:srgbClr val="2F8BCC"/>
                </a:solidFill>
                <a:latin typeface="Calibri"/>
                <a:cs typeface="Calibri"/>
              </a:rPr>
              <a:t>distracting 	</a:t>
            </a:r>
            <a:r>
              <a:rPr sz="2400" dirty="0">
                <a:solidFill>
                  <a:srgbClr val="2F8BCC"/>
                </a:solidFill>
                <a:latin typeface="Calibri"/>
                <a:cs typeface="Calibri"/>
              </a:rPr>
              <a:t>elements</a:t>
            </a:r>
            <a:r>
              <a:rPr sz="2400" spc="-60" dirty="0">
                <a:solidFill>
                  <a:srgbClr val="2F8BCC"/>
                </a:solidFill>
                <a:latin typeface="Calibri"/>
                <a:cs typeface="Calibri"/>
              </a:rPr>
              <a:t> </a:t>
            </a:r>
            <a:r>
              <a:rPr sz="2400" dirty="0">
                <a:solidFill>
                  <a:srgbClr val="2F8BCC"/>
                </a:solidFill>
                <a:latin typeface="Calibri"/>
                <a:cs typeface="Calibri"/>
              </a:rPr>
              <a:t>of</a:t>
            </a:r>
            <a:r>
              <a:rPr sz="2400" spc="-40" dirty="0">
                <a:solidFill>
                  <a:srgbClr val="2F8BCC"/>
                </a:solidFill>
                <a:latin typeface="Calibri"/>
                <a:cs typeface="Calibri"/>
              </a:rPr>
              <a:t> </a:t>
            </a:r>
            <a:r>
              <a:rPr sz="2400" dirty="0">
                <a:solidFill>
                  <a:srgbClr val="2F8BCC"/>
                </a:solidFill>
                <a:latin typeface="Calibri"/>
                <a:cs typeface="Calibri"/>
              </a:rPr>
              <a:t>the</a:t>
            </a:r>
            <a:r>
              <a:rPr sz="2400" spc="-50" dirty="0">
                <a:solidFill>
                  <a:srgbClr val="2F8BCC"/>
                </a:solidFill>
                <a:latin typeface="Calibri"/>
                <a:cs typeface="Calibri"/>
              </a:rPr>
              <a:t> </a:t>
            </a:r>
            <a:r>
              <a:rPr sz="2400" spc="-25" dirty="0">
                <a:solidFill>
                  <a:srgbClr val="2F8BCC"/>
                </a:solidFill>
                <a:latin typeface="Calibri"/>
                <a:cs typeface="Calibri"/>
              </a:rPr>
              <a:t>UI.</a:t>
            </a:r>
            <a:endParaRPr sz="2400">
              <a:latin typeface="Calibri"/>
              <a:cs typeface="Calibri"/>
            </a:endParaRPr>
          </a:p>
          <a:p>
            <a:pPr marL="240029" marR="135890" indent="-227329">
              <a:lnSpc>
                <a:spcPct val="80000"/>
              </a:lnSpc>
              <a:spcBef>
                <a:spcPts val="994"/>
              </a:spcBef>
              <a:buFont typeface="Arial MT"/>
              <a:buChar char="•"/>
              <a:tabLst>
                <a:tab pos="241300" algn="l"/>
              </a:tabLst>
            </a:pPr>
            <a:r>
              <a:rPr sz="2400" spc="-110" dirty="0">
                <a:solidFill>
                  <a:srgbClr val="2F8BCC"/>
                </a:solidFill>
                <a:latin typeface="Calibri"/>
                <a:cs typeface="Calibri"/>
              </a:rPr>
              <a:t>To</a:t>
            </a:r>
            <a:r>
              <a:rPr sz="2400" spc="-25" dirty="0">
                <a:solidFill>
                  <a:srgbClr val="2F8BCC"/>
                </a:solidFill>
                <a:latin typeface="Calibri"/>
                <a:cs typeface="Calibri"/>
              </a:rPr>
              <a:t> </a:t>
            </a:r>
            <a:r>
              <a:rPr sz="2400" dirty="0">
                <a:solidFill>
                  <a:srgbClr val="2F8BCC"/>
                </a:solidFill>
                <a:latin typeface="Calibri"/>
                <a:cs typeface="Calibri"/>
              </a:rPr>
              <a:t>provide</a:t>
            </a:r>
            <a:r>
              <a:rPr sz="2400" spc="-60" dirty="0">
                <a:solidFill>
                  <a:srgbClr val="2F8BCC"/>
                </a:solidFill>
                <a:latin typeface="Calibri"/>
                <a:cs typeface="Calibri"/>
              </a:rPr>
              <a:t> </a:t>
            </a:r>
            <a:r>
              <a:rPr sz="2400" dirty="0">
                <a:solidFill>
                  <a:srgbClr val="2F8BCC"/>
                </a:solidFill>
                <a:latin typeface="Calibri"/>
                <a:cs typeface="Calibri"/>
              </a:rPr>
              <a:t>ease</a:t>
            </a:r>
            <a:r>
              <a:rPr sz="2400" spc="-55" dirty="0">
                <a:solidFill>
                  <a:srgbClr val="2F8BCC"/>
                </a:solidFill>
                <a:latin typeface="Calibri"/>
                <a:cs typeface="Calibri"/>
              </a:rPr>
              <a:t> </a:t>
            </a:r>
            <a:r>
              <a:rPr sz="2400" dirty="0">
                <a:solidFill>
                  <a:srgbClr val="2F8BCC"/>
                </a:solidFill>
                <a:latin typeface="Calibri"/>
                <a:cs typeface="Calibri"/>
              </a:rPr>
              <a:t>of</a:t>
            </a:r>
            <a:r>
              <a:rPr sz="2400" spc="-45" dirty="0">
                <a:solidFill>
                  <a:srgbClr val="2F8BCC"/>
                </a:solidFill>
                <a:latin typeface="Calibri"/>
                <a:cs typeface="Calibri"/>
              </a:rPr>
              <a:t> </a:t>
            </a:r>
            <a:r>
              <a:rPr sz="2400" dirty="0">
                <a:solidFill>
                  <a:srgbClr val="2F8BCC"/>
                </a:solidFill>
                <a:latin typeface="Calibri"/>
                <a:cs typeface="Calibri"/>
              </a:rPr>
              <a:t>access</a:t>
            </a:r>
            <a:r>
              <a:rPr sz="2400" spc="-55" dirty="0">
                <a:solidFill>
                  <a:srgbClr val="2F8BCC"/>
                </a:solidFill>
                <a:latin typeface="Calibri"/>
                <a:cs typeface="Calibri"/>
              </a:rPr>
              <a:t> </a:t>
            </a:r>
            <a:r>
              <a:rPr sz="2400" dirty="0">
                <a:solidFill>
                  <a:srgbClr val="2F8BCC"/>
                </a:solidFill>
                <a:latin typeface="Calibri"/>
                <a:cs typeface="Calibri"/>
              </a:rPr>
              <a:t>to</a:t>
            </a:r>
            <a:r>
              <a:rPr sz="2400" spc="-65" dirty="0">
                <a:solidFill>
                  <a:srgbClr val="2F8BCC"/>
                </a:solidFill>
                <a:latin typeface="Calibri"/>
                <a:cs typeface="Calibri"/>
              </a:rPr>
              <a:t> </a:t>
            </a:r>
            <a:r>
              <a:rPr sz="2400" dirty="0">
                <a:solidFill>
                  <a:srgbClr val="2F8BCC"/>
                </a:solidFill>
                <a:latin typeface="Calibri"/>
                <a:cs typeface="Calibri"/>
              </a:rPr>
              <a:t>its</a:t>
            </a:r>
            <a:r>
              <a:rPr sz="2400" spc="-45" dirty="0">
                <a:solidFill>
                  <a:srgbClr val="2F8BCC"/>
                </a:solidFill>
                <a:latin typeface="Calibri"/>
                <a:cs typeface="Calibri"/>
              </a:rPr>
              <a:t> </a:t>
            </a:r>
            <a:r>
              <a:rPr sz="2400" spc="-20" dirty="0">
                <a:solidFill>
                  <a:srgbClr val="2F8BCC"/>
                </a:solidFill>
                <a:latin typeface="Calibri"/>
                <a:cs typeface="Calibri"/>
              </a:rPr>
              <a:t>vast 	</a:t>
            </a:r>
            <a:r>
              <a:rPr sz="2400" dirty="0">
                <a:solidFill>
                  <a:srgbClr val="2F8BCC"/>
                </a:solidFill>
                <a:latin typeface="Calibri"/>
                <a:cs typeface="Calibri"/>
              </a:rPr>
              <a:t>number</a:t>
            </a:r>
            <a:r>
              <a:rPr sz="2400" spc="-45" dirty="0">
                <a:solidFill>
                  <a:srgbClr val="2F8BCC"/>
                </a:solidFill>
                <a:latin typeface="Calibri"/>
                <a:cs typeface="Calibri"/>
              </a:rPr>
              <a:t> </a:t>
            </a:r>
            <a:r>
              <a:rPr sz="2400" dirty="0">
                <a:solidFill>
                  <a:srgbClr val="2F8BCC"/>
                </a:solidFill>
                <a:latin typeface="Calibri"/>
                <a:cs typeface="Calibri"/>
              </a:rPr>
              <a:t>of</a:t>
            </a:r>
            <a:r>
              <a:rPr sz="2400" spc="-50" dirty="0">
                <a:solidFill>
                  <a:srgbClr val="2F8BCC"/>
                </a:solidFill>
                <a:latin typeface="Calibri"/>
                <a:cs typeface="Calibri"/>
              </a:rPr>
              <a:t> </a:t>
            </a:r>
            <a:r>
              <a:rPr sz="2400" dirty="0">
                <a:solidFill>
                  <a:srgbClr val="2F8BCC"/>
                </a:solidFill>
                <a:latin typeface="Calibri"/>
                <a:cs typeface="Calibri"/>
              </a:rPr>
              <a:t>products,</a:t>
            </a:r>
            <a:r>
              <a:rPr sz="2400" spc="-60" dirty="0">
                <a:solidFill>
                  <a:srgbClr val="2F8BCC"/>
                </a:solidFill>
                <a:latin typeface="Calibri"/>
                <a:cs typeface="Calibri"/>
              </a:rPr>
              <a:t> </a:t>
            </a:r>
            <a:r>
              <a:rPr sz="2400" dirty="0">
                <a:solidFill>
                  <a:srgbClr val="2F8BCC"/>
                </a:solidFill>
                <a:latin typeface="Calibri"/>
                <a:cs typeface="Calibri"/>
              </a:rPr>
              <a:t>the</a:t>
            </a:r>
            <a:r>
              <a:rPr sz="2400" spc="-40" dirty="0">
                <a:solidFill>
                  <a:srgbClr val="2F8BCC"/>
                </a:solidFill>
                <a:latin typeface="Calibri"/>
                <a:cs typeface="Calibri"/>
              </a:rPr>
              <a:t> </a:t>
            </a:r>
            <a:r>
              <a:rPr sz="2400" dirty="0">
                <a:solidFill>
                  <a:srgbClr val="2F8BCC"/>
                </a:solidFill>
                <a:latin typeface="Calibri"/>
                <a:cs typeface="Calibri"/>
              </a:rPr>
              <a:t>UI</a:t>
            </a:r>
            <a:r>
              <a:rPr sz="2400" spc="-55" dirty="0">
                <a:solidFill>
                  <a:srgbClr val="2F8BCC"/>
                </a:solidFill>
                <a:latin typeface="Calibri"/>
                <a:cs typeface="Calibri"/>
              </a:rPr>
              <a:t> </a:t>
            </a:r>
            <a:r>
              <a:rPr sz="2400" dirty="0">
                <a:solidFill>
                  <a:srgbClr val="2F8BCC"/>
                </a:solidFill>
                <a:latin typeface="Calibri"/>
                <a:cs typeface="Calibri"/>
              </a:rPr>
              <a:t>gives</a:t>
            </a:r>
            <a:r>
              <a:rPr sz="2400" spc="-45" dirty="0">
                <a:solidFill>
                  <a:srgbClr val="2F8BCC"/>
                </a:solidFill>
                <a:latin typeface="Calibri"/>
                <a:cs typeface="Calibri"/>
              </a:rPr>
              <a:t> </a:t>
            </a:r>
            <a:r>
              <a:rPr sz="2400" spc="-50" dirty="0">
                <a:solidFill>
                  <a:srgbClr val="2F8BCC"/>
                </a:solidFill>
                <a:latin typeface="Calibri"/>
                <a:cs typeface="Calibri"/>
              </a:rPr>
              <a:t>a 	</a:t>
            </a:r>
            <a:r>
              <a:rPr sz="2400" dirty="0">
                <a:solidFill>
                  <a:srgbClr val="2F8BCC"/>
                </a:solidFill>
                <a:latin typeface="Calibri"/>
                <a:cs typeface="Calibri"/>
              </a:rPr>
              <a:t>crowded</a:t>
            </a:r>
            <a:r>
              <a:rPr sz="2400" spc="-80" dirty="0">
                <a:solidFill>
                  <a:srgbClr val="2F8BCC"/>
                </a:solidFill>
                <a:latin typeface="Calibri"/>
                <a:cs typeface="Calibri"/>
              </a:rPr>
              <a:t> </a:t>
            </a:r>
            <a:r>
              <a:rPr sz="2400" dirty="0">
                <a:solidFill>
                  <a:srgbClr val="2F8BCC"/>
                </a:solidFill>
                <a:latin typeface="Calibri"/>
                <a:cs typeface="Calibri"/>
              </a:rPr>
              <a:t>impression.</a:t>
            </a:r>
            <a:r>
              <a:rPr sz="2400" spc="-100" dirty="0">
                <a:solidFill>
                  <a:srgbClr val="2F8BCC"/>
                </a:solidFill>
                <a:latin typeface="Calibri"/>
                <a:cs typeface="Calibri"/>
              </a:rPr>
              <a:t> </a:t>
            </a:r>
            <a:r>
              <a:rPr sz="2400" dirty="0">
                <a:solidFill>
                  <a:srgbClr val="2F8BCC"/>
                </a:solidFill>
                <a:latin typeface="Calibri"/>
                <a:cs typeface="Calibri"/>
              </a:rPr>
              <a:t>Need</a:t>
            </a:r>
            <a:r>
              <a:rPr sz="2400" spc="-65" dirty="0">
                <a:solidFill>
                  <a:srgbClr val="2F8BCC"/>
                </a:solidFill>
                <a:latin typeface="Calibri"/>
                <a:cs typeface="Calibri"/>
              </a:rPr>
              <a:t> </a:t>
            </a:r>
            <a:r>
              <a:rPr sz="2400" dirty="0">
                <a:solidFill>
                  <a:srgbClr val="2F8BCC"/>
                </a:solidFill>
                <a:latin typeface="Calibri"/>
                <a:cs typeface="Calibri"/>
              </a:rPr>
              <a:t>to</a:t>
            </a:r>
            <a:r>
              <a:rPr sz="2400" spc="-95" dirty="0">
                <a:solidFill>
                  <a:srgbClr val="2F8BCC"/>
                </a:solidFill>
                <a:latin typeface="Calibri"/>
                <a:cs typeface="Calibri"/>
              </a:rPr>
              <a:t> </a:t>
            </a:r>
            <a:r>
              <a:rPr sz="2400" dirty="0">
                <a:solidFill>
                  <a:srgbClr val="2F8BCC"/>
                </a:solidFill>
                <a:latin typeface="Calibri"/>
                <a:cs typeface="Calibri"/>
              </a:rPr>
              <a:t>make</a:t>
            </a:r>
            <a:r>
              <a:rPr sz="2400" spc="-95" dirty="0">
                <a:solidFill>
                  <a:srgbClr val="2F8BCC"/>
                </a:solidFill>
                <a:latin typeface="Calibri"/>
                <a:cs typeface="Calibri"/>
              </a:rPr>
              <a:t> </a:t>
            </a:r>
            <a:r>
              <a:rPr sz="2400" spc="-25" dirty="0">
                <a:solidFill>
                  <a:srgbClr val="2F8BCC"/>
                </a:solidFill>
                <a:latin typeface="Calibri"/>
                <a:cs typeface="Calibri"/>
              </a:rPr>
              <a:t>it 	</a:t>
            </a:r>
            <a:r>
              <a:rPr sz="2400" dirty="0">
                <a:solidFill>
                  <a:srgbClr val="2F8BCC"/>
                </a:solidFill>
                <a:latin typeface="Calibri"/>
                <a:cs typeface="Calibri"/>
              </a:rPr>
              <a:t>more</a:t>
            </a:r>
            <a:r>
              <a:rPr sz="2400" spc="-55" dirty="0">
                <a:solidFill>
                  <a:srgbClr val="2F8BCC"/>
                </a:solidFill>
                <a:latin typeface="Calibri"/>
                <a:cs typeface="Calibri"/>
              </a:rPr>
              <a:t> </a:t>
            </a:r>
            <a:r>
              <a:rPr sz="2400" spc="-10" dirty="0">
                <a:solidFill>
                  <a:srgbClr val="2F8BCC"/>
                </a:solidFill>
                <a:latin typeface="Calibri"/>
                <a:cs typeface="Calibri"/>
              </a:rPr>
              <a:t>sleek.</a:t>
            </a:r>
            <a:endParaRPr sz="2400">
              <a:latin typeface="Calibri"/>
              <a:cs typeface="Calibri"/>
            </a:endParaRPr>
          </a:p>
          <a:p>
            <a:pPr marL="240029" marR="228600" indent="-227329">
              <a:lnSpc>
                <a:spcPct val="80000"/>
              </a:lnSpc>
              <a:spcBef>
                <a:spcPts val="1010"/>
              </a:spcBef>
              <a:buFont typeface="Arial MT"/>
              <a:buChar char="•"/>
              <a:tabLst>
                <a:tab pos="241300" algn="l"/>
              </a:tabLst>
            </a:pPr>
            <a:r>
              <a:rPr sz="2400" dirty="0">
                <a:solidFill>
                  <a:srgbClr val="2F8BCC"/>
                </a:solidFill>
                <a:latin typeface="Calibri"/>
                <a:cs typeface="Calibri"/>
              </a:rPr>
              <a:t>Needs</a:t>
            </a:r>
            <a:r>
              <a:rPr sz="2400" spc="-65" dirty="0">
                <a:solidFill>
                  <a:srgbClr val="2F8BCC"/>
                </a:solidFill>
                <a:latin typeface="Calibri"/>
                <a:cs typeface="Calibri"/>
              </a:rPr>
              <a:t> </a:t>
            </a:r>
            <a:r>
              <a:rPr sz="2400" dirty="0">
                <a:solidFill>
                  <a:srgbClr val="2F8BCC"/>
                </a:solidFill>
                <a:latin typeface="Calibri"/>
                <a:cs typeface="Calibri"/>
              </a:rPr>
              <a:t>high</a:t>
            </a:r>
            <a:r>
              <a:rPr sz="2400" spc="-65" dirty="0">
                <a:solidFill>
                  <a:srgbClr val="2F8BCC"/>
                </a:solidFill>
                <a:latin typeface="Calibri"/>
                <a:cs typeface="Calibri"/>
              </a:rPr>
              <a:t> </a:t>
            </a:r>
            <a:r>
              <a:rPr sz="2400" dirty="0">
                <a:solidFill>
                  <a:srgbClr val="2F8BCC"/>
                </a:solidFill>
                <a:latin typeface="Calibri"/>
                <a:cs typeface="Calibri"/>
              </a:rPr>
              <a:t>speed</a:t>
            </a:r>
            <a:r>
              <a:rPr sz="2400" spc="-60" dirty="0">
                <a:solidFill>
                  <a:srgbClr val="2F8BCC"/>
                </a:solidFill>
                <a:latin typeface="Calibri"/>
                <a:cs typeface="Calibri"/>
              </a:rPr>
              <a:t> </a:t>
            </a:r>
            <a:r>
              <a:rPr sz="2400" dirty="0">
                <a:solidFill>
                  <a:srgbClr val="2F8BCC"/>
                </a:solidFill>
                <a:latin typeface="Calibri"/>
                <a:cs typeface="Calibri"/>
              </a:rPr>
              <a:t>connection.</a:t>
            </a:r>
            <a:r>
              <a:rPr sz="2400" spc="-70" dirty="0">
                <a:solidFill>
                  <a:srgbClr val="2F8BCC"/>
                </a:solidFill>
                <a:latin typeface="Calibri"/>
                <a:cs typeface="Calibri"/>
              </a:rPr>
              <a:t> </a:t>
            </a:r>
            <a:r>
              <a:rPr sz="2400" spc="-10" dirty="0">
                <a:solidFill>
                  <a:srgbClr val="2F8BCC"/>
                </a:solidFill>
                <a:latin typeface="Calibri"/>
                <a:cs typeface="Calibri"/>
              </a:rPr>
              <a:t>Might 	affect</a:t>
            </a:r>
            <a:r>
              <a:rPr sz="2400" spc="-45" dirty="0">
                <a:solidFill>
                  <a:srgbClr val="2F8BCC"/>
                </a:solidFill>
                <a:latin typeface="Calibri"/>
                <a:cs typeface="Calibri"/>
              </a:rPr>
              <a:t> </a:t>
            </a:r>
            <a:r>
              <a:rPr sz="2400" dirty="0">
                <a:solidFill>
                  <a:srgbClr val="2F8BCC"/>
                </a:solidFill>
                <a:latin typeface="Calibri"/>
                <a:cs typeface="Calibri"/>
              </a:rPr>
              <a:t>tier</a:t>
            </a:r>
            <a:r>
              <a:rPr sz="2400" spc="-30" dirty="0">
                <a:solidFill>
                  <a:srgbClr val="2F8BCC"/>
                </a:solidFill>
                <a:latin typeface="Calibri"/>
                <a:cs typeface="Calibri"/>
              </a:rPr>
              <a:t> </a:t>
            </a:r>
            <a:r>
              <a:rPr sz="2400" dirty="0">
                <a:solidFill>
                  <a:srgbClr val="2F8BCC"/>
                </a:solidFill>
                <a:latin typeface="Calibri"/>
                <a:cs typeface="Calibri"/>
              </a:rPr>
              <a:t>3</a:t>
            </a:r>
            <a:r>
              <a:rPr sz="2400" spc="-50" dirty="0">
                <a:solidFill>
                  <a:srgbClr val="2F8BCC"/>
                </a:solidFill>
                <a:latin typeface="Calibri"/>
                <a:cs typeface="Calibri"/>
              </a:rPr>
              <a:t> </a:t>
            </a:r>
            <a:r>
              <a:rPr sz="2400" dirty="0">
                <a:solidFill>
                  <a:srgbClr val="2F8BCC"/>
                </a:solidFill>
                <a:latin typeface="Calibri"/>
                <a:cs typeface="Calibri"/>
              </a:rPr>
              <a:t>city</a:t>
            </a:r>
            <a:r>
              <a:rPr sz="2400" spc="-40" dirty="0">
                <a:solidFill>
                  <a:srgbClr val="2F8BCC"/>
                </a:solidFill>
                <a:latin typeface="Calibri"/>
                <a:cs typeface="Calibri"/>
              </a:rPr>
              <a:t> </a:t>
            </a:r>
            <a:r>
              <a:rPr sz="2400" spc="-10" dirty="0">
                <a:solidFill>
                  <a:srgbClr val="2F8BCC"/>
                </a:solidFill>
                <a:latin typeface="Calibri"/>
                <a:cs typeface="Calibri"/>
              </a:rPr>
              <a:t>market</a:t>
            </a:r>
            <a:r>
              <a:rPr sz="2400" spc="-80" dirty="0">
                <a:solidFill>
                  <a:srgbClr val="2F8BCC"/>
                </a:solidFill>
                <a:latin typeface="Calibri"/>
                <a:cs typeface="Calibri"/>
              </a:rPr>
              <a:t> </a:t>
            </a:r>
            <a:r>
              <a:rPr sz="2400" spc="-10" dirty="0">
                <a:solidFill>
                  <a:srgbClr val="2F8BCC"/>
                </a:solidFill>
                <a:latin typeface="Calibri"/>
                <a:cs typeface="Calibri"/>
              </a:rPr>
              <a:t>penetration.</a:t>
            </a:r>
            <a:endParaRPr sz="2400">
              <a:latin typeface="Calibri"/>
              <a:cs typeface="Calibri"/>
            </a:endParaRPr>
          </a:p>
          <a:p>
            <a:pPr marL="240029" marR="1207135" indent="-227329">
              <a:lnSpc>
                <a:spcPts val="2300"/>
              </a:lnSpc>
              <a:spcBef>
                <a:spcPts val="980"/>
              </a:spcBef>
              <a:buFont typeface="Arial MT"/>
              <a:buChar char="•"/>
              <a:tabLst>
                <a:tab pos="241300" algn="l"/>
              </a:tabLst>
            </a:pPr>
            <a:r>
              <a:rPr sz="2400" dirty="0">
                <a:solidFill>
                  <a:srgbClr val="2F8BCC"/>
                </a:solidFill>
                <a:latin typeface="Calibri"/>
                <a:cs typeface="Calibri"/>
              </a:rPr>
              <a:t>Can’t</a:t>
            </a:r>
            <a:r>
              <a:rPr sz="2400" spc="-45" dirty="0">
                <a:solidFill>
                  <a:srgbClr val="2F8BCC"/>
                </a:solidFill>
                <a:latin typeface="Calibri"/>
                <a:cs typeface="Calibri"/>
              </a:rPr>
              <a:t> </a:t>
            </a:r>
            <a:r>
              <a:rPr sz="2400" dirty="0">
                <a:solidFill>
                  <a:srgbClr val="2F8BCC"/>
                </a:solidFill>
                <a:latin typeface="Calibri"/>
                <a:cs typeface="Calibri"/>
              </a:rPr>
              <a:t>send</a:t>
            </a:r>
            <a:r>
              <a:rPr sz="2400" spc="-35" dirty="0">
                <a:solidFill>
                  <a:srgbClr val="2F8BCC"/>
                </a:solidFill>
                <a:latin typeface="Calibri"/>
                <a:cs typeface="Calibri"/>
              </a:rPr>
              <a:t> </a:t>
            </a:r>
            <a:r>
              <a:rPr sz="2400" dirty="0">
                <a:solidFill>
                  <a:srgbClr val="2F8BCC"/>
                </a:solidFill>
                <a:latin typeface="Calibri"/>
                <a:cs typeface="Calibri"/>
              </a:rPr>
              <a:t>bills</a:t>
            </a:r>
            <a:r>
              <a:rPr sz="2400" spc="-30" dirty="0">
                <a:solidFill>
                  <a:srgbClr val="2F8BCC"/>
                </a:solidFill>
                <a:latin typeface="Calibri"/>
                <a:cs typeface="Calibri"/>
              </a:rPr>
              <a:t> </a:t>
            </a:r>
            <a:r>
              <a:rPr sz="2400" dirty="0">
                <a:solidFill>
                  <a:srgbClr val="2F8BCC"/>
                </a:solidFill>
                <a:latin typeface="Calibri"/>
                <a:cs typeface="Calibri"/>
              </a:rPr>
              <a:t>to</a:t>
            </a:r>
            <a:r>
              <a:rPr sz="2400" spc="-55" dirty="0">
                <a:solidFill>
                  <a:srgbClr val="2F8BCC"/>
                </a:solidFill>
                <a:latin typeface="Calibri"/>
                <a:cs typeface="Calibri"/>
              </a:rPr>
              <a:t> </a:t>
            </a:r>
            <a:r>
              <a:rPr sz="2400" spc="-10" dirty="0">
                <a:solidFill>
                  <a:srgbClr val="2F8BCC"/>
                </a:solidFill>
                <a:latin typeface="Calibri"/>
                <a:cs typeface="Calibri"/>
              </a:rPr>
              <a:t>customers 	conveniently.</a:t>
            </a:r>
            <a:endParaRPr sz="240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b="1" dirty="0">
                <a:latin typeface="Roboto"/>
                <a:cs typeface="Roboto"/>
              </a:rPr>
              <a:t>North</a:t>
            </a:r>
            <a:r>
              <a:rPr b="1" spc="-20" dirty="0">
                <a:latin typeface="Roboto"/>
                <a:cs typeface="Roboto"/>
              </a:rPr>
              <a:t> </a:t>
            </a:r>
            <a:r>
              <a:rPr b="1" dirty="0">
                <a:latin typeface="Roboto"/>
                <a:cs typeface="Roboto"/>
              </a:rPr>
              <a:t>Star</a:t>
            </a:r>
            <a:r>
              <a:rPr b="1" spc="-30" dirty="0">
                <a:latin typeface="Roboto"/>
                <a:cs typeface="Roboto"/>
              </a:rPr>
              <a:t> </a:t>
            </a:r>
            <a:r>
              <a:rPr b="1" dirty="0">
                <a:latin typeface="Roboto"/>
                <a:cs typeface="Roboto"/>
              </a:rPr>
              <a:t>Metric: </a:t>
            </a:r>
            <a:r>
              <a:rPr dirty="0"/>
              <a:t>Payment</a:t>
            </a:r>
            <a:r>
              <a:rPr spc="-35" dirty="0"/>
              <a:t> </a:t>
            </a:r>
            <a:r>
              <a:rPr dirty="0"/>
              <a:t>success</a:t>
            </a:r>
            <a:r>
              <a:rPr spc="-5" dirty="0"/>
              <a:t> </a:t>
            </a:r>
            <a:r>
              <a:rPr spc="-20" dirty="0"/>
              <a:t>rate</a:t>
            </a:r>
          </a:p>
        </p:txBody>
      </p:sp>
      <p:sp>
        <p:nvSpPr>
          <p:cNvPr id="5" name="object 5"/>
          <p:cNvSpPr txBox="1">
            <a:spLocks noGrp="1"/>
          </p:cNvSpPr>
          <p:nvPr>
            <p:ph type="dt" sz="half" idx="6"/>
          </p:nvPr>
        </p:nvSpPr>
        <p:spPr>
          <a:prstGeom prst="rect">
            <a:avLst/>
          </a:prstGeom>
        </p:spPr>
        <p:txBody>
          <a:bodyPr vert="horz" wrap="square" lIns="0" tIns="23495" rIns="0" bIns="0" rtlCol="0">
            <a:spAutoFit/>
          </a:bodyPr>
          <a:lstStyle/>
          <a:p>
            <a:pPr marL="12700">
              <a:lnSpc>
                <a:spcPct val="100000"/>
              </a:lnSpc>
              <a:spcBef>
                <a:spcPts val="185"/>
              </a:spcBef>
            </a:pPr>
            <a:r>
              <a:rPr spc="-10" dirty="0"/>
              <a:t>Overview</a:t>
            </a:r>
          </a:p>
        </p:txBody>
      </p:sp>
      <p:sp>
        <p:nvSpPr>
          <p:cNvPr id="6" name="object 6"/>
          <p:cNvSpPr txBox="1"/>
          <p:nvPr/>
        </p:nvSpPr>
        <p:spPr>
          <a:xfrm>
            <a:off x="3518408" y="6343328"/>
            <a:ext cx="1402080" cy="327025"/>
          </a:xfrm>
          <a:prstGeom prst="rect">
            <a:avLst/>
          </a:prstGeom>
        </p:spPr>
        <p:txBody>
          <a:bodyPr vert="horz" wrap="square" lIns="0" tIns="23495" rIns="0" bIns="0" rtlCol="0">
            <a:spAutoFit/>
          </a:bodyPr>
          <a:lstStyle/>
          <a:p>
            <a:pPr marL="12700">
              <a:lnSpc>
                <a:spcPct val="100000"/>
              </a:lnSpc>
              <a:spcBef>
                <a:spcPts val="185"/>
              </a:spcBef>
            </a:pPr>
            <a:r>
              <a:rPr sz="1800" dirty="0">
                <a:solidFill>
                  <a:srgbClr val="1F4E79"/>
                </a:solidFill>
                <a:latin typeface="Roboto"/>
                <a:cs typeface="Roboto"/>
              </a:rPr>
              <a:t>User</a:t>
            </a:r>
            <a:r>
              <a:rPr sz="1800" spc="-30" dirty="0">
                <a:solidFill>
                  <a:srgbClr val="1F4E79"/>
                </a:solidFill>
                <a:latin typeface="Roboto"/>
                <a:cs typeface="Roboto"/>
              </a:rPr>
              <a:t> </a:t>
            </a:r>
            <a:r>
              <a:rPr sz="1800" spc="-10" dirty="0">
                <a:solidFill>
                  <a:srgbClr val="1F4E79"/>
                </a:solidFill>
                <a:latin typeface="Roboto"/>
                <a:cs typeface="Roboto"/>
              </a:rPr>
              <a:t>Persona</a:t>
            </a:r>
            <a:endParaRPr sz="1800">
              <a:latin typeface="Roboto"/>
              <a:cs typeface="Roboto"/>
            </a:endParaRPr>
          </a:p>
        </p:txBody>
      </p:sp>
      <p:sp>
        <p:nvSpPr>
          <p:cNvPr id="7" name="object 7"/>
          <p:cNvSpPr txBox="1"/>
          <p:nvPr/>
        </p:nvSpPr>
        <p:spPr>
          <a:xfrm>
            <a:off x="6678930" y="6343328"/>
            <a:ext cx="2565400" cy="327025"/>
          </a:xfrm>
          <a:prstGeom prst="rect">
            <a:avLst/>
          </a:prstGeom>
        </p:spPr>
        <p:txBody>
          <a:bodyPr vert="horz" wrap="square" lIns="0" tIns="23495" rIns="0" bIns="0" rtlCol="0">
            <a:spAutoFit/>
          </a:bodyPr>
          <a:lstStyle/>
          <a:p>
            <a:pPr marL="12700">
              <a:lnSpc>
                <a:spcPct val="100000"/>
              </a:lnSpc>
              <a:spcBef>
                <a:spcPts val="185"/>
              </a:spcBef>
            </a:pPr>
            <a:r>
              <a:rPr sz="1800" dirty="0">
                <a:solidFill>
                  <a:srgbClr val="1F4E79"/>
                </a:solidFill>
                <a:latin typeface="Roboto"/>
                <a:cs typeface="Roboto"/>
              </a:rPr>
              <a:t>User</a:t>
            </a:r>
            <a:r>
              <a:rPr sz="1800" spc="20" dirty="0">
                <a:solidFill>
                  <a:srgbClr val="1F4E79"/>
                </a:solidFill>
                <a:latin typeface="Roboto"/>
                <a:cs typeface="Roboto"/>
              </a:rPr>
              <a:t> </a:t>
            </a:r>
            <a:r>
              <a:rPr sz="1800" dirty="0">
                <a:solidFill>
                  <a:srgbClr val="1F4E79"/>
                </a:solidFill>
                <a:latin typeface="Roboto"/>
                <a:cs typeface="Roboto"/>
              </a:rPr>
              <a:t>Experience</a:t>
            </a:r>
            <a:r>
              <a:rPr sz="1800" spc="20" dirty="0">
                <a:solidFill>
                  <a:srgbClr val="1F4E79"/>
                </a:solidFill>
                <a:latin typeface="Roboto"/>
                <a:cs typeface="Roboto"/>
              </a:rPr>
              <a:t> </a:t>
            </a:r>
            <a:r>
              <a:rPr sz="1800" spc="-10" dirty="0">
                <a:solidFill>
                  <a:srgbClr val="1F4E79"/>
                </a:solidFill>
                <a:latin typeface="Roboto"/>
                <a:cs typeface="Roboto"/>
              </a:rPr>
              <a:t>Insights</a:t>
            </a:r>
            <a:endParaRPr sz="1800">
              <a:latin typeface="Roboto"/>
              <a:cs typeface="Roboto"/>
            </a:endParaRPr>
          </a:p>
        </p:txBody>
      </p:sp>
      <p:sp>
        <p:nvSpPr>
          <p:cNvPr id="8" name="object 8"/>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spc="-10" dirty="0"/>
              <a:t>Metrics</a:t>
            </a:r>
          </a:p>
        </p:txBody>
      </p:sp>
      <p:sp>
        <p:nvSpPr>
          <p:cNvPr id="9" name="object 9"/>
          <p:cNvSpPr txBox="1"/>
          <p:nvPr/>
        </p:nvSpPr>
        <p:spPr>
          <a:xfrm>
            <a:off x="5061584" y="6358873"/>
            <a:ext cx="1392555" cy="327025"/>
          </a:xfrm>
          <a:prstGeom prst="rect">
            <a:avLst/>
          </a:prstGeom>
        </p:spPr>
        <p:txBody>
          <a:bodyPr vert="horz" wrap="square" lIns="0" tIns="23495" rIns="0" bIns="0" rtlCol="0">
            <a:spAutoFit/>
          </a:bodyPr>
          <a:lstStyle/>
          <a:p>
            <a:pPr marL="12700">
              <a:lnSpc>
                <a:spcPct val="100000"/>
              </a:lnSpc>
              <a:spcBef>
                <a:spcPts val="185"/>
              </a:spcBef>
            </a:pPr>
            <a:r>
              <a:rPr sz="1800" b="1" u="sng" dirty="0">
                <a:solidFill>
                  <a:srgbClr val="1F4E79"/>
                </a:solidFill>
                <a:uFill>
                  <a:solidFill>
                    <a:srgbClr val="1F4E79"/>
                  </a:solidFill>
                </a:uFill>
                <a:latin typeface="Roboto"/>
                <a:cs typeface="Roboto"/>
              </a:rPr>
              <a:t>User</a:t>
            </a:r>
            <a:r>
              <a:rPr sz="1800" b="1" u="sng" spc="-35" dirty="0">
                <a:solidFill>
                  <a:srgbClr val="1F4E79"/>
                </a:solidFill>
                <a:uFill>
                  <a:solidFill>
                    <a:srgbClr val="1F4E79"/>
                  </a:solidFill>
                </a:uFill>
                <a:latin typeface="Roboto"/>
                <a:cs typeface="Roboto"/>
              </a:rPr>
              <a:t> </a:t>
            </a:r>
            <a:r>
              <a:rPr sz="1800" b="1" u="sng" spc="-10" dirty="0">
                <a:solidFill>
                  <a:srgbClr val="1F4E79"/>
                </a:solidFill>
                <a:uFill>
                  <a:solidFill>
                    <a:srgbClr val="1F4E79"/>
                  </a:solidFill>
                </a:uFill>
                <a:latin typeface="Roboto"/>
                <a:cs typeface="Roboto"/>
              </a:rPr>
              <a:t>Journey</a:t>
            </a:r>
            <a:endParaRPr sz="1800">
              <a:latin typeface="Roboto"/>
              <a:cs typeface="Roboto"/>
            </a:endParaRPr>
          </a:p>
        </p:txBody>
      </p:sp>
      <p:sp>
        <p:nvSpPr>
          <p:cNvPr id="3" name="object 3"/>
          <p:cNvSpPr txBox="1"/>
          <p:nvPr/>
        </p:nvSpPr>
        <p:spPr>
          <a:xfrm>
            <a:off x="916939" y="1716379"/>
            <a:ext cx="4916170" cy="2737485"/>
          </a:xfrm>
          <a:prstGeom prst="rect">
            <a:avLst/>
          </a:prstGeom>
        </p:spPr>
        <p:txBody>
          <a:bodyPr vert="horz" wrap="square" lIns="0" tIns="108585" rIns="0" bIns="0" rtlCol="0">
            <a:spAutoFit/>
          </a:bodyPr>
          <a:lstStyle/>
          <a:p>
            <a:pPr marL="239395" indent="-226695">
              <a:lnSpc>
                <a:spcPct val="100000"/>
              </a:lnSpc>
              <a:spcBef>
                <a:spcPts val="855"/>
              </a:spcBef>
              <a:buFont typeface="Arial MT"/>
              <a:buChar char="•"/>
              <a:tabLst>
                <a:tab pos="239395" algn="l"/>
              </a:tabLst>
            </a:pPr>
            <a:r>
              <a:rPr sz="2000" spc="-30" dirty="0">
                <a:solidFill>
                  <a:srgbClr val="53C1EF"/>
                </a:solidFill>
                <a:latin typeface="Calibri"/>
                <a:cs typeface="Calibri"/>
              </a:rPr>
              <a:t>Total</a:t>
            </a:r>
            <a:r>
              <a:rPr sz="2000" spc="-55" dirty="0">
                <a:solidFill>
                  <a:srgbClr val="53C1EF"/>
                </a:solidFill>
                <a:latin typeface="Calibri"/>
                <a:cs typeface="Calibri"/>
              </a:rPr>
              <a:t> </a:t>
            </a:r>
            <a:r>
              <a:rPr sz="2000" dirty="0">
                <a:solidFill>
                  <a:srgbClr val="53C1EF"/>
                </a:solidFill>
                <a:latin typeface="Calibri"/>
                <a:cs typeface="Calibri"/>
              </a:rPr>
              <a:t>#</a:t>
            </a:r>
            <a:r>
              <a:rPr sz="2000" spc="-55" dirty="0">
                <a:solidFill>
                  <a:srgbClr val="53C1EF"/>
                </a:solidFill>
                <a:latin typeface="Calibri"/>
                <a:cs typeface="Calibri"/>
              </a:rPr>
              <a:t> </a:t>
            </a:r>
            <a:r>
              <a:rPr sz="2000" spc="-20" dirty="0">
                <a:solidFill>
                  <a:srgbClr val="53C1EF"/>
                </a:solidFill>
                <a:latin typeface="Calibri"/>
                <a:cs typeface="Calibri"/>
              </a:rPr>
              <a:t>Trxn</a:t>
            </a:r>
            <a:r>
              <a:rPr sz="2000" spc="-50" dirty="0">
                <a:solidFill>
                  <a:srgbClr val="53C1EF"/>
                </a:solidFill>
                <a:latin typeface="Calibri"/>
                <a:cs typeface="Calibri"/>
              </a:rPr>
              <a:t> </a:t>
            </a:r>
            <a:r>
              <a:rPr sz="2000" spc="-10" dirty="0">
                <a:solidFill>
                  <a:srgbClr val="53C1EF"/>
                </a:solidFill>
                <a:latin typeface="Calibri"/>
                <a:cs typeface="Calibri"/>
              </a:rPr>
              <a:t>completed.</a:t>
            </a:r>
            <a:endParaRPr sz="2000">
              <a:latin typeface="Calibri"/>
              <a:cs typeface="Calibri"/>
            </a:endParaRPr>
          </a:p>
          <a:p>
            <a:pPr marL="239395" indent="-226695">
              <a:lnSpc>
                <a:spcPts val="2280"/>
              </a:lnSpc>
              <a:spcBef>
                <a:spcPts val="755"/>
              </a:spcBef>
              <a:buFont typeface="Arial MT"/>
              <a:buChar char="•"/>
              <a:tabLst>
                <a:tab pos="239395" algn="l"/>
              </a:tabLst>
            </a:pPr>
            <a:r>
              <a:rPr sz="2000" spc="-30" dirty="0">
                <a:solidFill>
                  <a:srgbClr val="53C1EF"/>
                </a:solidFill>
                <a:latin typeface="Calibri"/>
                <a:cs typeface="Calibri"/>
              </a:rPr>
              <a:t>Total</a:t>
            </a:r>
            <a:r>
              <a:rPr sz="2000" spc="-70" dirty="0">
                <a:solidFill>
                  <a:srgbClr val="53C1EF"/>
                </a:solidFill>
                <a:latin typeface="Calibri"/>
                <a:cs typeface="Calibri"/>
              </a:rPr>
              <a:t> </a:t>
            </a:r>
            <a:r>
              <a:rPr sz="2000" spc="-10" dirty="0">
                <a:solidFill>
                  <a:srgbClr val="53C1EF"/>
                </a:solidFill>
                <a:latin typeface="Calibri"/>
                <a:cs typeface="Calibri"/>
              </a:rPr>
              <a:t>#transactions</a:t>
            </a:r>
            <a:r>
              <a:rPr sz="2000" spc="-65" dirty="0">
                <a:solidFill>
                  <a:srgbClr val="53C1EF"/>
                </a:solidFill>
                <a:latin typeface="Calibri"/>
                <a:cs typeface="Calibri"/>
              </a:rPr>
              <a:t> </a:t>
            </a:r>
            <a:r>
              <a:rPr sz="2000" dirty="0">
                <a:solidFill>
                  <a:srgbClr val="53C1EF"/>
                </a:solidFill>
                <a:latin typeface="Calibri"/>
                <a:cs typeface="Calibri"/>
              </a:rPr>
              <a:t>completed</a:t>
            </a:r>
            <a:r>
              <a:rPr sz="2000" spc="-70" dirty="0">
                <a:solidFill>
                  <a:srgbClr val="53C1EF"/>
                </a:solidFill>
                <a:latin typeface="Calibri"/>
                <a:cs typeface="Calibri"/>
              </a:rPr>
              <a:t> </a:t>
            </a:r>
            <a:r>
              <a:rPr sz="2000" dirty="0">
                <a:solidFill>
                  <a:srgbClr val="53C1EF"/>
                </a:solidFill>
                <a:latin typeface="Calibri"/>
                <a:cs typeface="Calibri"/>
              </a:rPr>
              <a:t>/</a:t>
            </a:r>
            <a:r>
              <a:rPr sz="2000" spc="-70" dirty="0">
                <a:solidFill>
                  <a:srgbClr val="53C1EF"/>
                </a:solidFill>
                <a:latin typeface="Calibri"/>
                <a:cs typeface="Calibri"/>
              </a:rPr>
              <a:t> </a:t>
            </a:r>
            <a:r>
              <a:rPr sz="2000" spc="-30" dirty="0">
                <a:solidFill>
                  <a:srgbClr val="53C1EF"/>
                </a:solidFill>
                <a:latin typeface="Calibri"/>
                <a:cs typeface="Calibri"/>
              </a:rPr>
              <a:t>Total</a:t>
            </a:r>
            <a:r>
              <a:rPr sz="2000" spc="-70" dirty="0">
                <a:solidFill>
                  <a:srgbClr val="53C1EF"/>
                </a:solidFill>
                <a:latin typeface="Calibri"/>
                <a:cs typeface="Calibri"/>
              </a:rPr>
              <a:t> </a:t>
            </a:r>
            <a:r>
              <a:rPr sz="2000" spc="-25" dirty="0">
                <a:solidFill>
                  <a:srgbClr val="53C1EF"/>
                </a:solidFill>
                <a:latin typeface="Calibri"/>
                <a:cs typeface="Calibri"/>
              </a:rPr>
              <a:t>Taps</a:t>
            </a:r>
            <a:r>
              <a:rPr sz="2000" spc="-60" dirty="0">
                <a:solidFill>
                  <a:srgbClr val="53C1EF"/>
                </a:solidFill>
                <a:latin typeface="Calibri"/>
                <a:cs typeface="Calibri"/>
              </a:rPr>
              <a:t> </a:t>
            </a:r>
            <a:r>
              <a:rPr sz="2000" spc="-25" dirty="0">
                <a:solidFill>
                  <a:srgbClr val="53C1EF"/>
                </a:solidFill>
                <a:latin typeface="Calibri"/>
                <a:cs typeface="Calibri"/>
              </a:rPr>
              <a:t>on</a:t>
            </a:r>
            <a:endParaRPr sz="2000">
              <a:latin typeface="Calibri"/>
              <a:cs typeface="Calibri"/>
            </a:endParaRPr>
          </a:p>
          <a:p>
            <a:pPr marL="241300">
              <a:lnSpc>
                <a:spcPts val="2280"/>
              </a:lnSpc>
            </a:pPr>
            <a:r>
              <a:rPr sz="2000" dirty="0">
                <a:solidFill>
                  <a:srgbClr val="53C1EF"/>
                </a:solidFill>
                <a:latin typeface="Calibri"/>
                <a:cs typeface="Calibri"/>
              </a:rPr>
              <a:t>payment</a:t>
            </a:r>
            <a:r>
              <a:rPr sz="2000" spc="-95" dirty="0">
                <a:solidFill>
                  <a:srgbClr val="53C1EF"/>
                </a:solidFill>
                <a:latin typeface="Calibri"/>
                <a:cs typeface="Calibri"/>
              </a:rPr>
              <a:t> </a:t>
            </a:r>
            <a:r>
              <a:rPr sz="2000" dirty="0">
                <a:solidFill>
                  <a:srgbClr val="53C1EF"/>
                </a:solidFill>
                <a:latin typeface="Calibri"/>
                <a:cs typeface="Calibri"/>
              </a:rPr>
              <a:t>initiator</a:t>
            </a:r>
            <a:r>
              <a:rPr sz="2000" spc="-70" dirty="0">
                <a:solidFill>
                  <a:srgbClr val="53C1EF"/>
                </a:solidFill>
                <a:latin typeface="Calibri"/>
                <a:cs typeface="Calibri"/>
              </a:rPr>
              <a:t> </a:t>
            </a:r>
            <a:r>
              <a:rPr sz="2000" spc="-10" dirty="0">
                <a:solidFill>
                  <a:srgbClr val="53C1EF"/>
                </a:solidFill>
                <a:latin typeface="Calibri"/>
                <a:cs typeface="Calibri"/>
              </a:rPr>
              <a:t>buttons.</a:t>
            </a:r>
            <a:endParaRPr sz="2000">
              <a:latin typeface="Calibri"/>
              <a:cs typeface="Calibri"/>
            </a:endParaRPr>
          </a:p>
          <a:p>
            <a:pPr marL="469900" marR="9525">
              <a:lnSpc>
                <a:spcPts val="1939"/>
              </a:lnSpc>
              <a:spcBef>
                <a:spcPts val="545"/>
              </a:spcBef>
            </a:pPr>
            <a:r>
              <a:rPr sz="1800" dirty="0">
                <a:solidFill>
                  <a:srgbClr val="53C1EF"/>
                </a:solidFill>
                <a:latin typeface="Calibri"/>
                <a:cs typeface="Calibri"/>
              </a:rPr>
              <a:t>Here,</a:t>
            </a:r>
            <a:r>
              <a:rPr sz="1800" spc="-45" dirty="0">
                <a:solidFill>
                  <a:srgbClr val="53C1EF"/>
                </a:solidFill>
                <a:latin typeface="Calibri"/>
                <a:cs typeface="Calibri"/>
              </a:rPr>
              <a:t> </a:t>
            </a:r>
            <a:r>
              <a:rPr sz="1800" spc="-10" dirty="0">
                <a:solidFill>
                  <a:srgbClr val="53C1EF"/>
                </a:solidFill>
                <a:latin typeface="Calibri"/>
                <a:cs typeface="Calibri"/>
              </a:rPr>
              <a:t>payment</a:t>
            </a:r>
            <a:r>
              <a:rPr sz="1800" spc="-65" dirty="0">
                <a:solidFill>
                  <a:srgbClr val="53C1EF"/>
                </a:solidFill>
                <a:latin typeface="Calibri"/>
                <a:cs typeface="Calibri"/>
              </a:rPr>
              <a:t> </a:t>
            </a:r>
            <a:r>
              <a:rPr sz="1800" dirty="0">
                <a:solidFill>
                  <a:srgbClr val="53C1EF"/>
                </a:solidFill>
                <a:latin typeface="Calibri"/>
                <a:cs typeface="Calibri"/>
              </a:rPr>
              <a:t>initiator</a:t>
            </a:r>
            <a:r>
              <a:rPr sz="1800" spc="-55" dirty="0">
                <a:solidFill>
                  <a:srgbClr val="53C1EF"/>
                </a:solidFill>
                <a:latin typeface="Calibri"/>
                <a:cs typeface="Calibri"/>
              </a:rPr>
              <a:t> </a:t>
            </a:r>
            <a:r>
              <a:rPr sz="1800" dirty="0">
                <a:solidFill>
                  <a:srgbClr val="53C1EF"/>
                </a:solidFill>
                <a:latin typeface="Calibri"/>
                <a:cs typeface="Calibri"/>
              </a:rPr>
              <a:t>button</a:t>
            </a:r>
            <a:r>
              <a:rPr sz="1800" spc="-65" dirty="0">
                <a:solidFill>
                  <a:srgbClr val="53C1EF"/>
                </a:solidFill>
                <a:latin typeface="Calibri"/>
                <a:cs typeface="Calibri"/>
              </a:rPr>
              <a:t> </a:t>
            </a:r>
            <a:r>
              <a:rPr sz="1800" dirty="0">
                <a:solidFill>
                  <a:srgbClr val="53C1EF"/>
                </a:solidFill>
                <a:latin typeface="Calibri"/>
                <a:cs typeface="Calibri"/>
              </a:rPr>
              <a:t>is</a:t>
            </a:r>
            <a:r>
              <a:rPr sz="1800" spc="-65" dirty="0">
                <a:solidFill>
                  <a:srgbClr val="53C1EF"/>
                </a:solidFill>
                <a:latin typeface="Calibri"/>
                <a:cs typeface="Calibri"/>
              </a:rPr>
              <a:t> </a:t>
            </a:r>
            <a:r>
              <a:rPr sz="1800" dirty="0">
                <a:solidFill>
                  <a:srgbClr val="53C1EF"/>
                </a:solidFill>
                <a:latin typeface="Calibri"/>
                <a:cs typeface="Calibri"/>
              </a:rPr>
              <a:t>“scan</a:t>
            </a:r>
            <a:r>
              <a:rPr sz="1800" spc="-70" dirty="0">
                <a:solidFill>
                  <a:srgbClr val="53C1EF"/>
                </a:solidFill>
                <a:latin typeface="Calibri"/>
                <a:cs typeface="Calibri"/>
              </a:rPr>
              <a:t> </a:t>
            </a:r>
            <a:r>
              <a:rPr sz="1800" spc="-30" dirty="0">
                <a:solidFill>
                  <a:srgbClr val="53C1EF"/>
                </a:solidFill>
                <a:latin typeface="Calibri"/>
                <a:cs typeface="Calibri"/>
              </a:rPr>
              <a:t>QR”,</a:t>
            </a:r>
            <a:r>
              <a:rPr sz="1800" spc="-65" dirty="0">
                <a:solidFill>
                  <a:srgbClr val="53C1EF"/>
                </a:solidFill>
                <a:latin typeface="Calibri"/>
                <a:cs typeface="Calibri"/>
              </a:rPr>
              <a:t> </a:t>
            </a:r>
            <a:r>
              <a:rPr sz="1800" spc="-25" dirty="0">
                <a:solidFill>
                  <a:srgbClr val="53C1EF"/>
                </a:solidFill>
                <a:latin typeface="Calibri"/>
                <a:cs typeface="Calibri"/>
              </a:rPr>
              <a:t>“To mobile”,</a:t>
            </a:r>
            <a:r>
              <a:rPr sz="1800" spc="-20" dirty="0">
                <a:solidFill>
                  <a:srgbClr val="53C1EF"/>
                </a:solidFill>
                <a:latin typeface="Calibri"/>
                <a:cs typeface="Calibri"/>
              </a:rPr>
              <a:t> </a:t>
            </a:r>
            <a:r>
              <a:rPr sz="1800" dirty="0">
                <a:solidFill>
                  <a:srgbClr val="53C1EF"/>
                </a:solidFill>
                <a:latin typeface="Calibri"/>
                <a:cs typeface="Calibri"/>
              </a:rPr>
              <a:t>“To</a:t>
            </a:r>
            <a:r>
              <a:rPr sz="1800" spc="-35" dirty="0">
                <a:solidFill>
                  <a:srgbClr val="53C1EF"/>
                </a:solidFill>
                <a:latin typeface="Calibri"/>
                <a:cs typeface="Calibri"/>
              </a:rPr>
              <a:t> </a:t>
            </a:r>
            <a:r>
              <a:rPr sz="1800" dirty="0">
                <a:solidFill>
                  <a:srgbClr val="53C1EF"/>
                </a:solidFill>
                <a:latin typeface="Calibri"/>
                <a:cs typeface="Calibri"/>
              </a:rPr>
              <a:t>Bank</a:t>
            </a:r>
            <a:r>
              <a:rPr sz="1800" spc="-35" dirty="0">
                <a:solidFill>
                  <a:srgbClr val="53C1EF"/>
                </a:solidFill>
                <a:latin typeface="Calibri"/>
                <a:cs typeface="Calibri"/>
              </a:rPr>
              <a:t> </a:t>
            </a:r>
            <a:r>
              <a:rPr sz="1800" dirty="0">
                <a:solidFill>
                  <a:srgbClr val="53C1EF"/>
                </a:solidFill>
                <a:latin typeface="Calibri"/>
                <a:cs typeface="Calibri"/>
              </a:rPr>
              <a:t>A/C”</a:t>
            </a:r>
            <a:r>
              <a:rPr sz="1800" spc="-10" dirty="0">
                <a:solidFill>
                  <a:srgbClr val="53C1EF"/>
                </a:solidFill>
                <a:latin typeface="Calibri"/>
                <a:cs typeface="Calibri"/>
              </a:rPr>
              <a:t> </a:t>
            </a:r>
            <a:r>
              <a:rPr sz="1800" spc="-20" dirty="0">
                <a:solidFill>
                  <a:srgbClr val="53C1EF"/>
                </a:solidFill>
                <a:latin typeface="Calibri"/>
                <a:cs typeface="Calibri"/>
              </a:rPr>
              <a:t>etc.</a:t>
            </a:r>
            <a:endParaRPr sz="1800">
              <a:latin typeface="Calibri"/>
              <a:cs typeface="Calibri"/>
            </a:endParaRPr>
          </a:p>
          <a:p>
            <a:pPr marL="238760" marR="424180" indent="-226695">
              <a:lnSpc>
                <a:spcPts val="2160"/>
              </a:lnSpc>
              <a:spcBef>
                <a:spcPts val="1000"/>
              </a:spcBef>
              <a:buFont typeface="Arial MT"/>
              <a:buChar char="•"/>
              <a:tabLst>
                <a:tab pos="241300" algn="l"/>
              </a:tabLst>
            </a:pPr>
            <a:r>
              <a:rPr sz="2000" spc="-10" dirty="0">
                <a:solidFill>
                  <a:srgbClr val="53C1EF"/>
                </a:solidFill>
                <a:latin typeface="Calibri"/>
                <a:cs typeface="Calibri"/>
              </a:rPr>
              <a:t>#Merchant</a:t>
            </a:r>
            <a:r>
              <a:rPr sz="2000" spc="-65" dirty="0">
                <a:solidFill>
                  <a:srgbClr val="53C1EF"/>
                </a:solidFill>
                <a:latin typeface="Calibri"/>
                <a:cs typeface="Calibri"/>
              </a:rPr>
              <a:t> </a:t>
            </a:r>
            <a:r>
              <a:rPr sz="2000" dirty="0">
                <a:solidFill>
                  <a:srgbClr val="53C1EF"/>
                </a:solidFill>
                <a:latin typeface="Calibri"/>
                <a:cs typeface="Calibri"/>
              </a:rPr>
              <a:t>renewing</a:t>
            </a:r>
            <a:r>
              <a:rPr sz="2000" spc="-60" dirty="0">
                <a:solidFill>
                  <a:srgbClr val="53C1EF"/>
                </a:solidFill>
                <a:latin typeface="Calibri"/>
                <a:cs typeface="Calibri"/>
              </a:rPr>
              <a:t> </a:t>
            </a:r>
            <a:r>
              <a:rPr sz="2000" spc="-10" dirty="0">
                <a:solidFill>
                  <a:srgbClr val="53C1EF"/>
                </a:solidFill>
                <a:latin typeface="Calibri"/>
                <a:cs typeface="Calibri"/>
              </a:rPr>
              <a:t>contract</a:t>
            </a:r>
            <a:r>
              <a:rPr sz="2000" spc="-60" dirty="0">
                <a:solidFill>
                  <a:srgbClr val="53C1EF"/>
                </a:solidFill>
                <a:latin typeface="Calibri"/>
                <a:cs typeface="Calibri"/>
              </a:rPr>
              <a:t> </a:t>
            </a:r>
            <a:r>
              <a:rPr sz="2000" dirty="0">
                <a:solidFill>
                  <a:srgbClr val="53C1EF"/>
                </a:solidFill>
                <a:latin typeface="Calibri"/>
                <a:cs typeface="Calibri"/>
              </a:rPr>
              <a:t>/</a:t>
            </a:r>
            <a:r>
              <a:rPr sz="2000" spc="-65" dirty="0">
                <a:solidFill>
                  <a:srgbClr val="53C1EF"/>
                </a:solidFill>
                <a:latin typeface="Calibri"/>
                <a:cs typeface="Calibri"/>
              </a:rPr>
              <a:t> </a:t>
            </a:r>
            <a:r>
              <a:rPr sz="2000" dirty="0">
                <a:solidFill>
                  <a:srgbClr val="53C1EF"/>
                </a:solidFill>
                <a:latin typeface="Calibri"/>
                <a:cs typeface="Calibri"/>
              </a:rPr>
              <a:t>repeat</a:t>
            </a:r>
            <a:r>
              <a:rPr sz="2000" spc="-45" dirty="0">
                <a:solidFill>
                  <a:srgbClr val="53C1EF"/>
                </a:solidFill>
                <a:latin typeface="Calibri"/>
                <a:cs typeface="Calibri"/>
              </a:rPr>
              <a:t> </a:t>
            </a:r>
            <a:r>
              <a:rPr sz="2000" spc="-25" dirty="0">
                <a:solidFill>
                  <a:srgbClr val="53C1EF"/>
                </a:solidFill>
                <a:latin typeface="Calibri"/>
                <a:cs typeface="Calibri"/>
              </a:rPr>
              <a:t>or 	</a:t>
            </a:r>
            <a:r>
              <a:rPr sz="2000" spc="-10" dirty="0">
                <a:solidFill>
                  <a:srgbClr val="53C1EF"/>
                </a:solidFill>
                <a:latin typeface="Calibri"/>
                <a:cs typeface="Calibri"/>
              </a:rPr>
              <a:t>resurrected</a:t>
            </a:r>
            <a:r>
              <a:rPr sz="2000" spc="-45" dirty="0">
                <a:solidFill>
                  <a:srgbClr val="53C1EF"/>
                </a:solidFill>
                <a:latin typeface="Calibri"/>
                <a:cs typeface="Calibri"/>
              </a:rPr>
              <a:t> </a:t>
            </a:r>
            <a:r>
              <a:rPr sz="2000" spc="-10" dirty="0">
                <a:solidFill>
                  <a:srgbClr val="53C1EF"/>
                </a:solidFill>
                <a:latin typeface="Calibri"/>
                <a:cs typeface="Calibri"/>
              </a:rPr>
              <a:t>merchants.</a:t>
            </a:r>
            <a:endParaRPr sz="2000">
              <a:latin typeface="Calibri"/>
              <a:cs typeface="Calibri"/>
            </a:endParaRPr>
          </a:p>
          <a:p>
            <a:pPr marL="239395" indent="-226695">
              <a:lnSpc>
                <a:spcPct val="100000"/>
              </a:lnSpc>
              <a:spcBef>
                <a:spcPts val="735"/>
              </a:spcBef>
              <a:buFont typeface="Arial MT"/>
              <a:buChar char="•"/>
              <a:tabLst>
                <a:tab pos="239395" algn="l"/>
              </a:tabLst>
            </a:pPr>
            <a:r>
              <a:rPr sz="2000" spc="-20" dirty="0">
                <a:solidFill>
                  <a:srgbClr val="53C1EF"/>
                </a:solidFill>
                <a:latin typeface="Calibri"/>
                <a:cs typeface="Calibri"/>
              </a:rPr>
              <a:t>#Trxn</a:t>
            </a:r>
            <a:r>
              <a:rPr sz="2000" spc="-60" dirty="0">
                <a:solidFill>
                  <a:srgbClr val="53C1EF"/>
                </a:solidFill>
                <a:latin typeface="Calibri"/>
                <a:cs typeface="Calibri"/>
              </a:rPr>
              <a:t> </a:t>
            </a:r>
            <a:r>
              <a:rPr sz="2000" dirty="0">
                <a:solidFill>
                  <a:srgbClr val="53C1EF"/>
                </a:solidFill>
                <a:latin typeface="Calibri"/>
                <a:cs typeface="Calibri"/>
              </a:rPr>
              <a:t>completed</a:t>
            </a:r>
            <a:r>
              <a:rPr sz="2000" spc="-55" dirty="0">
                <a:solidFill>
                  <a:srgbClr val="53C1EF"/>
                </a:solidFill>
                <a:latin typeface="Calibri"/>
                <a:cs typeface="Calibri"/>
              </a:rPr>
              <a:t> </a:t>
            </a:r>
            <a:r>
              <a:rPr sz="2000" dirty="0">
                <a:solidFill>
                  <a:srgbClr val="53C1EF"/>
                </a:solidFill>
                <a:latin typeface="Calibri"/>
                <a:cs typeface="Calibri"/>
              </a:rPr>
              <a:t>per</a:t>
            </a:r>
            <a:r>
              <a:rPr sz="2000" spc="-50" dirty="0">
                <a:solidFill>
                  <a:srgbClr val="53C1EF"/>
                </a:solidFill>
                <a:latin typeface="Calibri"/>
                <a:cs typeface="Calibri"/>
              </a:rPr>
              <a:t> </a:t>
            </a:r>
            <a:r>
              <a:rPr sz="2000" spc="-10" dirty="0">
                <a:solidFill>
                  <a:srgbClr val="53C1EF"/>
                </a:solidFill>
                <a:latin typeface="Calibri"/>
                <a:cs typeface="Calibri"/>
              </a:rPr>
              <a:t>customer.</a:t>
            </a:r>
            <a:endParaRPr sz="2000">
              <a:latin typeface="Calibri"/>
              <a:cs typeface="Calibri"/>
            </a:endParaRPr>
          </a:p>
        </p:txBody>
      </p:sp>
      <p:sp>
        <p:nvSpPr>
          <p:cNvPr id="4" name="object 4"/>
          <p:cNvSpPr txBox="1"/>
          <p:nvPr/>
        </p:nvSpPr>
        <p:spPr>
          <a:xfrm>
            <a:off x="6251828" y="1716379"/>
            <a:ext cx="4915535" cy="2891155"/>
          </a:xfrm>
          <a:prstGeom prst="rect">
            <a:avLst/>
          </a:prstGeom>
        </p:spPr>
        <p:txBody>
          <a:bodyPr vert="horz" wrap="square" lIns="0" tIns="108585" rIns="0" bIns="0" rtlCol="0">
            <a:spAutoFit/>
          </a:bodyPr>
          <a:lstStyle/>
          <a:p>
            <a:pPr marL="239395" indent="-226695">
              <a:lnSpc>
                <a:spcPct val="100000"/>
              </a:lnSpc>
              <a:spcBef>
                <a:spcPts val="855"/>
              </a:spcBef>
              <a:buFont typeface="Arial MT"/>
              <a:buChar char="•"/>
              <a:tabLst>
                <a:tab pos="239395" algn="l"/>
              </a:tabLst>
            </a:pPr>
            <a:r>
              <a:rPr sz="2000" dirty="0">
                <a:solidFill>
                  <a:srgbClr val="53C1EF"/>
                </a:solidFill>
                <a:latin typeface="Calibri"/>
                <a:cs typeface="Calibri"/>
              </a:rPr>
              <a:t>DAU</a:t>
            </a:r>
            <a:r>
              <a:rPr sz="2000" spc="-65" dirty="0">
                <a:solidFill>
                  <a:srgbClr val="53C1EF"/>
                </a:solidFill>
                <a:latin typeface="Calibri"/>
                <a:cs typeface="Calibri"/>
              </a:rPr>
              <a:t> </a:t>
            </a:r>
            <a:r>
              <a:rPr sz="2000" dirty="0">
                <a:solidFill>
                  <a:srgbClr val="53C1EF"/>
                </a:solidFill>
                <a:latin typeface="Calibri"/>
                <a:cs typeface="Calibri"/>
              </a:rPr>
              <a:t>/</a:t>
            </a:r>
            <a:r>
              <a:rPr sz="2000" spc="-55" dirty="0">
                <a:solidFill>
                  <a:srgbClr val="53C1EF"/>
                </a:solidFill>
                <a:latin typeface="Calibri"/>
                <a:cs typeface="Calibri"/>
              </a:rPr>
              <a:t> </a:t>
            </a:r>
            <a:r>
              <a:rPr sz="2000" dirty="0">
                <a:solidFill>
                  <a:srgbClr val="53C1EF"/>
                </a:solidFill>
                <a:latin typeface="Calibri"/>
                <a:cs typeface="Calibri"/>
              </a:rPr>
              <a:t>MAU</a:t>
            </a:r>
            <a:r>
              <a:rPr sz="2000" spc="-60" dirty="0">
                <a:solidFill>
                  <a:srgbClr val="53C1EF"/>
                </a:solidFill>
                <a:latin typeface="Calibri"/>
                <a:cs typeface="Calibri"/>
              </a:rPr>
              <a:t> </a:t>
            </a:r>
            <a:r>
              <a:rPr sz="2000" dirty="0">
                <a:solidFill>
                  <a:srgbClr val="53C1EF"/>
                </a:solidFill>
                <a:latin typeface="Calibri"/>
                <a:cs typeface="Calibri"/>
              </a:rPr>
              <a:t>of</a:t>
            </a:r>
            <a:r>
              <a:rPr sz="2000" spc="-50" dirty="0">
                <a:solidFill>
                  <a:srgbClr val="53C1EF"/>
                </a:solidFill>
                <a:latin typeface="Calibri"/>
                <a:cs typeface="Calibri"/>
              </a:rPr>
              <a:t> </a:t>
            </a:r>
            <a:r>
              <a:rPr sz="2000" spc="-10" dirty="0">
                <a:solidFill>
                  <a:srgbClr val="53C1EF"/>
                </a:solidFill>
                <a:latin typeface="Calibri"/>
                <a:cs typeface="Calibri"/>
              </a:rPr>
              <a:t>Paytm</a:t>
            </a:r>
            <a:r>
              <a:rPr sz="2000" spc="-65" dirty="0">
                <a:solidFill>
                  <a:srgbClr val="53C1EF"/>
                </a:solidFill>
                <a:latin typeface="Calibri"/>
                <a:cs typeface="Calibri"/>
              </a:rPr>
              <a:t> </a:t>
            </a:r>
            <a:r>
              <a:rPr sz="2000" spc="-10" dirty="0">
                <a:solidFill>
                  <a:srgbClr val="53C1EF"/>
                </a:solidFill>
                <a:latin typeface="Calibri"/>
                <a:cs typeface="Calibri"/>
              </a:rPr>
              <a:t>(“stickiness</a:t>
            </a:r>
            <a:r>
              <a:rPr sz="2000" spc="-25" dirty="0">
                <a:solidFill>
                  <a:srgbClr val="53C1EF"/>
                </a:solidFill>
                <a:latin typeface="Calibri"/>
                <a:cs typeface="Calibri"/>
              </a:rPr>
              <a:t> </a:t>
            </a:r>
            <a:r>
              <a:rPr sz="2000" dirty="0">
                <a:solidFill>
                  <a:srgbClr val="53C1EF"/>
                </a:solidFill>
                <a:latin typeface="Calibri"/>
                <a:cs typeface="Calibri"/>
              </a:rPr>
              <a:t>of</a:t>
            </a:r>
            <a:r>
              <a:rPr sz="2000" spc="-55" dirty="0">
                <a:solidFill>
                  <a:srgbClr val="53C1EF"/>
                </a:solidFill>
                <a:latin typeface="Calibri"/>
                <a:cs typeface="Calibri"/>
              </a:rPr>
              <a:t> </a:t>
            </a:r>
            <a:r>
              <a:rPr sz="2000" spc="-10" dirty="0">
                <a:solidFill>
                  <a:srgbClr val="53C1EF"/>
                </a:solidFill>
                <a:latin typeface="Calibri"/>
                <a:cs typeface="Calibri"/>
              </a:rPr>
              <a:t>app”)</a:t>
            </a:r>
            <a:endParaRPr sz="2000">
              <a:latin typeface="Calibri"/>
              <a:cs typeface="Calibri"/>
            </a:endParaRPr>
          </a:p>
          <a:p>
            <a:pPr marL="239395" indent="-226695">
              <a:lnSpc>
                <a:spcPct val="100000"/>
              </a:lnSpc>
              <a:spcBef>
                <a:spcPts val="755"/>
              </a:spcBef>
              <a:buFont typeface="Arial MT"/>
              <a:buChar char="•"/>
              <a:tabLst>
                <a:tab pos="239395" algn="l"/>
              </a:tabLst>
            </a:pPr>
            <a:r>
              <a:rPr sz="2000" dirty="0">
                <a:solidFill>
                  <a:srgbClr val="53C1EF"/>
                </a:solidFill>
                <a:latin typeface="Calibri"/>
                <a:cs typeface="Calibri"/>
              </a:rPr>
              <a:t>Merchant</a:t>
            </a:r>
            <a:r>
              <a:rPr sz="2000" spc="-105" dirty="0">
                <a:solidFill>
                  <a:srgbClr val="53C1EF"/>
                </a:solidFill>
                <a:latin typeface="Calibri"/>
                <a:cs typeface="Calibri"/>
              </a:rPr>
              <a:t> </a:t>
            </a:r>
            <a:r>
              <a:rPr sz="2000" dirty="0">
                <a:solidFill>
                  <a:srgbClr val="53C1EF"/>
                </a:solidFill>
                <a:latin typeface="Calibri"/>
                <a:cs typeface="Calibri"/>
              </a:rPr>
              <a:t>payment</a:t>
            </a:r>
            <a:r>
              <a:rPr sz="2000" spc="-100" dirty="0">
                <a:solidFill>
                  <a:srgbClr val="53C1EF"/>
                </a:solidFill>
                <a:latin typeface="Calibri"/>
                <a:cs typeface="Calibri"/>
              </a:rPr>
              <a:t> </a:t>
            </a:r>
            <a:r>
              <a:rPr sz="2000" spc="-10" dirty="0">
                <a:solidFill>
                  <a:srgbClr val="53C1EF"/>
                </a:solidFill>
                <a:latin typeface="Calibri"/>
                <a:cs typeface="Calibri"/>
              </a:rPr>
              <a:t>volume</a:t>
            </a:r>
            <a:endParaRPr sz="2000">
              <a:latin typeface="Calibri"/>
              <a:cs typeface="Calibri"/>
            </a:endParaRPr>
          </a:p>
          <a:p>
            <a:pPr marL="469900">
              <a:lnSpc>
                <a:spcPct val="100000"/>
              </a:lnSpc>
              <a:spcBef>
                <a:spcPts val="295"/>
              </a:spcBef>
            </a:pPr>
            <a:r>
              <a:rPr sz="1800" dirty="0">
                <a:solidFill>
                  <a:srgbClr val="53C1EF"/>
                </a:solidFill>
                <a:latin typeface="Calibri"/>
                <a:cs typeface="Calibri"/>
              </a:rPr>
              <a:t>#</a:t>
            </a:r>
            <a:r>
              <a:rPr sz="1800" spc="-50" dirty="0">
                <a:solidFill>
                  <a:srgbClr val="53C1EF"/>
                </a:solidFill>
                <a:latin typeface="Calibri"/>
                <a:cs typeface="Calibri"/>
              </a:rPr>
              <a:t> </a:t>
            </a:r>
            <a:r>
              <a:rPr sz="1800" spc="-20" dirty="0">
                <a:solidFill>
                  <a:srgbClr val="53C1EF"/>
                </a:solidFill>
                <a:latin typeface="Calibri"/>
                <a:cs typeface="Calibri"/>
              </a:rPr>
              <a:t>Trxn</a:t>
            </a:r>
            <a:r>
              <a:rPr sz="1800" spc="-55" dirty="0">
                <a:solidFill>
                  <a:srgbClr val="53C1EF"/>
                </a:solidFill>
                <a:latin typeface="Calibri"/>
                <a:cs typeface="Calibri"/>
              </a:rPr>
              <a:t> </a:t>
            </a:r>
            <a:r>
              <a:rPr sz="1800" dirty="0">
                <a:solidFill>
                  <a:srgbClr val="53C1EF"/>
                </a:solidFill>
                <a:latin typeface="Calibri"/>
                <a:cs typeface="Calibri"/>
              </a:rPr>
              <a:t>completed</a:t>
            </a:r>
            <a:r>
              <a:rPr sz="1800" spc="-25" dirty="0">
                <a:solidFill>
                  <a:srgbClr val="53C1EF"/>
                </a:solidFill>
                <a:latin typeface="Calibri"/>
                <a:cs typeface="Calibri"/>
              </a:rPr>
              <a:t> </a:t>
            </a:r>
            <a:r>
              <a:rPr sz="1800" dirty="0">
                <a:solidFill>
                  <a:srgbClr val="53C1EF"/>
                </a:solidFill>
                <a:latin typeface="Calibri"/>
                <a:cs typeface="Calibri"/>
              </a:rPr>
              <a:t>per</a:t>
            </a:r>
            <a:r>
              <a:rPr sz="1800" spc="-40" dirty="0">
                <a:solidFill>
                  <a:srgbClr val="53C1EF"/>
                </a:solidFill>
                <a:latin typeface="Calibri"/>
                <a:cs typeface="Calibri"/>
              </a:rPr>
              <a:t> </a:t>
            </a:r>
            <a:r>
              <a:rPr sz="1800" spc="-10" dirty="0">
                <a:solidFill>
                  <a:srgbClr val="53C1EF"/>
                </a:solidFill>
                <a:latin typeface="Calibri"/>
                <a:cs typeface="Calibri"/>
              </a:rPr>
              <a:t>merchant</a:t>
            </a:r>
            <a:endParaRPr sz="1800">
              <a:latin typeface="Calibri"/>
              <a:cs typeface="Calibri"/>
            </a:endParaRPr>
          </a:p>
          <a:p>
            <a:pPr marL="239395" marR="863600" indent="-226695">
              <a:lnSpc>
                <a:spcPts val="2160"/>
              </a:lnSpc>
              <a:spcBef>
                <a:spcPts val="1025"/>
              </a:spcBef>
              <a:buFont typeface="Arial MT"/>
              <a:buChar char="•"/>
              <a:tabLst>
                <a:tab pos="241300" algn="l"/>
              </a:tabLst>
            </a:pPr>
            <a:r>
              <a:rPr sz="2000" spc="-60" dirty="0">
                <a:solidFill>
                  <a:srgbClr val="53C1EF"/>
                </a:solidFill>
                <a:latin typeface="Calibri"/>
                <a:cs typeface="Calibri"/>
              </a:rPr>
              <a:t>Av.</a:t>
            </a:r>
            <a:r>
              <a:rPr sz="2000" spc="-55" dirty="0">
                <a:solidFill>
                  <a:srgbClr val="53C1EF"/>
                </a:solidFill>
                <a:latin typeface="Calibri"/>
                <a:cs typeface="Calibri"/>
              </a:rPr>
              <a:t> </a:t>
            </a:r>
            <a:r>
              <a:rPr sz="2000" dirty="0">
                <a:solidFill>
                  <a:srgbClr val="53C1EF"/>
                </a:solidFill>
                <a:latin typeface="Calibri"/>
                <a:cs typeface="Calibri"/>
              </a:rPr>
              <a:t>Merchant</a:t>
            </a:r>
            <a:r>
              <a:rPr sz="2000" spc="-60" dirty="0">
                <a:solidFill>
                  <a:srgbClr val="53C1EF"/>
                </a:solidFill>
                <a:latin typeface="Calibri"/>
                <a:cs typeface="Calibri"/>
              </a:rPr>
              <a:t> </a:t>
            </a:r>
            <a:r>
              <a:rPr sz="2000" dirty="0">
                <a:solidFill>
                  <a:srgbClr val="53C1EF"/>
                </a:solidFill>
                <a:latin typeface="Calibri"/>
                <a:cs typeface="Calibri"/>
              </a:rPr>
              <a:t>Onboarding</a:t>
            </a:r>
            <a:r>
              <a:rPr sz="2000" spc="-70" dirty="0">
                <a:solidFill>
                  <a:srgbClr val="53C1EF"/>
                </a:solidFill>
                <a:latin typeface="Calibri"/>
                <a:cs typeface="Calibri"/>
              </a:rPr>
              <a:t> </a:t>
            </a:r>
            <a:r>
              <a:rPr sz="2000" dirty="0">
                <a:solidFill>
                  <a:srgbClr val="53C1EF"/>
                </a:solidFill>
                <a:latin typeface="Calibri"/>
                <a:cs typeface="Calibri"/>
              </a:rPr>
              <a:t>Time</a:t>
            </a:r>
            <a:r>
              <a:rPr sz="2000" spc="-40" dirty="0">
                <a:solidFill>
                  <a:srgbClr val="53C1EF"/>
                </a:solidFill>
                <a:latin typeface="Calibri"/>
                <a:cs typeface="Calibri"/>
              </a:rPr>
              <a:t> </a:t>
            </a:r>
            <a:r>
              <a:rPr sz="2000" dirty="0">
                <a:solidFill>
                  <a:srgbClr val="53C1EF"/>
                </a:solidFill>
                <a:latin typeface="Calibri"/>
                <a:cs typeface="Calibri"/>
              </a:rPr>
              <a:t>&amp;</a:t>
            </a:r>
            <a:r>
              <a:rPr sz="2000" spc="-50" dirty="0">
                <a:solidFill>
                  <a:srgbClr val="53C1EF"/>
                </a:solidFill>
                <a:latin typeface="Calibri"/>
                <a:cs typeface="Calibri"/>
              </a:rPr>
              <a:t> </a:t>
            </a:r>
            <a:r>
              <a:rPr sz="2000" spc="-25" dirty="0">
                <a:solidFill>
                  <a:srgbClr val="53C1EF"/>
                </a:solidFill>
                <a:latin typeface="Calibri"/>
                <a:cs typeface="Calibri"/>
              </a:rPr>
              <a:t>Av. 	</a:t>
            </a:r>
            <a:r>
              <a:rPr sz="2000" dirty="0">
                <a:solidFill>
                  <a:srgbClr val="53C1EF"/>
                </a:solidFill>
                <a:latin typeface="Calibri"/>
                <a:cs typeface="Calibri"/>
              </a:rPr>
              <a:t>Customer</a:t>
            </a:r>
            <a:r>
              <a:rPr sz="2000" spc="-60" dirty="0">
                <a:solidFill>
                  <a:srgbClr val="53C1EF"/>
                </a:solidFill>
                <a:latin typeface="Calibri"/>
                <a:cs typeface="Calibri"/>
              </a:rPr>
              <a:t> </a:t>
            </a:r>
            <a:r>
              <a:rPr sz="2000" dirty="0">
                <a:solidFill>
                  <a:srgbClr val="53C1EF"/>
                </a:solidFill>
                <a:latin typeface="Calibri"/>
                <a:cs typeface="Calibri"/>
              </a:rPr>
              <a:t>Onboarding</a:t>
            </a:r>
            <a:r>
              <a:rPr sz="2000" spc="-80" dirty="0">
                <a:solidFill>
                  <a:srgbClr val="53C1EF"/>
                </a:solidFill>
                <a:latin typeface="Calibri"/>
                <a:cs typeface="Calibri"/>
              </a:rPr>
              <a:t> </a:t>
            </a:r>
            <a:r>
              <a:rPr sz="2000" spc="-20" dirty="0">
                <a:solidFill>
                  <a:srgbClr val="53C1EF"/>
                </a:solidFill>
                <a:latin typeface="Calibri"/>
                <a:cs typeface="Calibri"/>
              </a:rPr>
              <a:t>Time</a:t>
            </a:r>
            <a:endParaRPr sz="2000">
              <a:latin typeface="Calibri"/>
              <a:cs typeface="Calibri"/>
            </a:endParaRPr>
          </a:p>
          <a:p>
            <a:pPr marL="239395" marR="5080" indent="-226695">
              <a:lnSpc>
                <a:spcPts val="2160"/>
              </a:lnSpc>
              <a:spcBef>
                <a:spcPts val="1005"/>
              </a:spcBef>
              <a:buFont typeface="Arial MT"/>
              <a:buChar char="•"/>
              <a:tabLst>
                <a:tab pos="241300" algn="l"/>
              </a:tabLst>
            </a:pPr>
            <a:r>
              <a:rPr sz="2000" dirty="0">
                <a:solidFill>
                  <a:srgbClr val="53C1EF"/>
                </a:solidFill>
                <a:latin typeface="Calibri"/>
                <a:cs typeface="Calibri"/>
              </a:rPr>
              <a:t>Cost</a:t>
            </a:r>
            <a:r>
              <a:rPr sz="2000" spc="-50" dirty="0">
                <a:solidFill>
                  <a:srgbClr val="53C1EF"/>
                </a:solidFill>
                <a:latin typeface="Calibri"/>
                <a:cs typeface="Calibri"/>
              </a:rPr>
              <a:t> </a:t>
            </a:r>
            <a:r>
              <a:rPr sz="2000" dirty="0">
                <a:solidFill>
                  <a:srgbClr val="53C1EF"/>
                </a:solidFill>
                <a:latin typeface="Calibri"/>
                <a:cs typeface="Calibri"/>
              </a:rPr>
              <a:t>of</a:t>
            </a:r>
            <a:r>
              <a:rPr sz="2000" spc="-45" dirty="0">
                <a:solidFill>
                  <a:srgbClr val="53C1EF"/>
                </a:solidFill>
                <a:latin typeface="Calibri"/>
                <a:cs typeface="Calibri"/>
              </a:rPr>
              <a:t> </a:t>
            </a:r>
            <a:r>
              <a:rPr sz="2000" dirty="0">
                <a:solidFill>
                  <a:srgbClr val="53C1EF"/>
                </a:solidFill>
                <a:latin typeface="Calibri"/>
                <a:cs typeface="Calibri"/>
              </a:rPr>
              <a:t>customer</a:t>
            </a:r>
            <a:r>
              <a:rPr sz="2000" spc="-45" dirty="0">
                <a:solidFill>
                  <a:srgbClr val="53C1EF"/>
                </a:solidFill>
                <a:latin typeface="Calibri"/>
                <a:cs typeface="Calibri"/>
              </a:rPr>
              <a:t> </a:t>
            </a:r>
            <a:r>
              <a:rPr sz="2000" dirty="0">
                <a:solidFill>
                  <a:srgbClr val="53C1EF"/>
                </a:solidFill>
                <a:latin typeface="Calibri"/>
                <a:cs typeface="Calibri"/>
              </a:rPr>
              <a:t>acquisition</a:t>
            </a:r>
            <a:r>
              <a:rPr sz="2000" spc="-50" dirty="0">
                <a:solidFill>
                  <a:srgbClr val="53C1EF"/>
                </a:solidFill>
                <a:latin typeface="Calibri"/>
                <a:cs typeface="Calibri"/>
              </a:rPr>
              <a:t> </a:t>
            </a:r>
            <a:r>
              <a:rPr sz="2000" dirty="0">
                <a:solidFill>
                  <a:srgbClr val="53C1EF"/>
                </a:solidFill>
                <a:latin typeface="Calibri"/>
                <a:cs typeface="Calibri"/>
              </a:rPr>
              <a:t>=</a:t>
            </a:r>
            <a:r>
              <a:rPr sz="2000" spc="-45" dirty="0">
                <a:solidFill>
                  <a:srgbClr val="53C1EF"/>
                </a:solidFill>
                <a:latin typeface="Calibri"/>
                <a:cs typeface="Calibri"/>
              </a:rPr>
              <a:t> </a:t>
            </a:r>
            <a:r>
              <a:rPr sz="2000" dirty="0">
                <a:solidFill>
                  <a:srgbClr val="53C1EF"/>
                </a:solidFill>
                <a:latin typeface="Calibri"/>
                <a:cs typeface="Calibri"/>
              </a:rPr>
              <a:t>cost</a:t>
            </a:r>
            <a:r>
              <a:rPr sz="2000" spc="-45" dirty="0">
                <a:solidFill>
                  <a:srgbClr val="53C1EF"/>
                </a:solidFill>
                <a:latin typeface="Calibri"/>
                <a:cs typeface="Calibri"/>
              </a:rPr>
              <a:t> </a:t>
            </a:r>
            <a:r>
              <a:rPr sz="2000" dirty="0">
                <a:solidFill>
                  <a:srgbClr val="53C1EF"/>
                </a:solidFill>
                <a:latin typeface="Calibri"/>
                <a:cs typeface="Calibri"/>
              </a:rPr>
              <a:t>of</a:t>
            </a:r>
            <a:r>
              <a:rPr sz="2000" spc="-50" dirty="0">
                <a:solidFill>
                  <a:srgbClr val="53C1EF"/>
                </a:solidFill>
                <a:latin typeface="Calibri"/>
                <a:cs typeface="Calibri"/>
              </a:rPr>
              <a:t> </a:t>
            </a:r>
            <a:r>
              <a:rPr sz="2000" dirty="0">
                <a:solidFill>
                  <a:srgbClr val="53C1EF"/>
                </a:solidFill>
                <a:latin typeface="Calibri"/>
                <a:cs typeface="Calibri"/>
              </a:rPr>
              <a:t>sales</a:t>
            </a:r>
            <a:r>
              <a:rPr sz="2000" spc="-30" dirty="0">
                <a:solidFill>
                  <a:srgbClr val="53C1EF"/>
                </a:solidFill>
                <a:latin typeface="Calibri"/>
                <a:cs typeface="Calibri"/>
              </a:rPr>
              <a:t> </a:t>
            </a:r>
            <a:r>
              <a:rPr sz="2000" spc="-50" dirty="0">
                <a:solidFill>
                  <a:srgbClr val="53C1EF"/>
                </a:solidFill>
                <a:latin typeface="Calibri"/>
                <a:cs typeface="Calibri"/>
              </a:rPr>
              <a:t>&amp; 	</a:t>
            </a:r>
            <a:r>
              <a:rPr sz="2000" spc="-10" dirty="0">
                <a:solidFill>
                  <a:srgbClr val="53C1EF"/>
                </a:solidFill>
                <a:latin typeface="Calibri"/>
                <a:cs typeface="Calibri"/>
              </a:rPr>
              <a:t>marketing</a:t>
            </a:r>
            <a:r>
              <a:rPr sz="2000" spc="-20" dirty="0">
                <a:solidFill>
                  <a:srgbClr val="53C1EF"/>
                </a:solidFill>
                <a:latin typeface="Calibri"/>
                <a:cs typeface="Calibri"/>
              </a:rPr>
              <a:t> </a:t>
            </a:r>
            <a:r>
              <a:rPr sz="2000" dirty="0">
                <a:solidFill>
                  <a:srgbClr val="53C1EF"/>
                </a:solidFill>
                <a:latin typeface="Calibri"/>
                <a:cs typeface="Calibri"/>
              </a:rPr>
              <a:t>/</a:t>
            </a:r>
            <a:r>
              <a:rPr sz="2000" spc="-25" dirty="0">
                <a:solidFill>
                  <a:srgbClr val="53C1EF"/>
                </a:solidFill>
                <a:latin typeface="Calibri"/>
                <a:cs typeface="Calibri"/>
              </a:rPr>
              <a:t> </a:t>
            </a:r>
            <a:r>
              <a:rPr sz="2000" dirty="0">
                <a:solidFill>
                  <a:srgbClr val="53C1EF"/>
                </a:solidFill>
                <a:latin typeface="Calibri"/>
                <a:cs typeface="Calibri"/>
              </a:rPr>
              <a:t>#Cx</a:t>
            </a:r>
            <a:r>
              <a:rPr sz="2000" spc="-35" dirty="0">
                <a:solidFill>
                  <a:srgbClr val="53C1EF"/>
                </a:solidFill>
                <a:latin typeface="Calibri"/>
                <a:cs typeface="Calibri"/>
              </a:rPr>
              <a:t> </a:t>
            </a:r>
            <a:r>
              <a:rPr sz="2000" spc="-10" dirty="0">
                <a:solidFill>
                  <a:srgbClr val="53C1EF"/>
                </a:solidFill>
                <a:latin typeface="Calibri"/>
                <a:cs typeface="Calibri"/>
              </a:rPr>
              <a:t>acquired.</a:t>
            </a:r>
            <a:endParaRPr sz="2000">
              <a:latin typeface="Calibri"/>
              <a:cs typeface="Calibri"/>
            </a:endParaRPr>
          </a:p>
          <a:p>
            <a:pPr marL="239395" indent="-226695">
              <a:lnSpc>
                <a:spcPct val="100000"/>
              </a:lnSpc>
              <a:spcBef>
                <a:spcPts val="730"/>
              </a:spcBef>
              <a:buFont typeface="Arial MT"/>
              <a:buChar char="•"/>
              <a:tabLst>
                <a:tab pos="239395" algn="l"/>
              </a:tabLst>
            </a:pPr>
            <a:r>
              <a:rPr sz="2000" dirty="0">
                <a:solidFill>
                  <a:srgbClr val="53C1EF"/>
                </a:solidFill>
                <a:latin typeface="Calibri"/>
                <a:cs typeface="Calibri"/>
              </a:rPr>
              <a:t>Customer</a:t>
            </a:r>
            <a:r>
              <a:rPr sz="2000" spc="-75" dirty="0">
                <a:solidFill>
                  <a:srgbClr val="53C1EF"/>
                </a:solidFill>
                <a:latin typeface="Calibri"/>
                <a:cs typeface="Calibri"/>
              </a:rPr>
              <a:t> </a:t>
            </a:r>
            <a:r>
              <a:rPr sz="2000" spc="-10" dirty="0">
                <a:solidFill>
                  <a:srgbClr val="53C1EF"/>
                </a:solidFill>
                <a:latin typeface="Calibri"/>
                <a:cs typeface="Calibri"/>
              </a:rPr>
              <a:t>lifetime</a:t>
            </a:r>
            <a:r>
              <a:rPr sz="2000" spc="-45" dirty="0">
                <a:solidFill>
                  <a:srgbClr val="53C1EF"/>
                </a:solidFill>
                <a:latin typeface="Calibri"/>
                <a:cs typeface="Calibri"/>
              </a:rPr>
              <a:t> </a:t>
            </a:r>
            <a:r>
              <a:rPr sz="2000" spc="-10" dirty="0">
                <a:solidFill>
                  <a:srgbClr val="53C1EF"/>
                </a:solidFill>
                <a:latin typeface="Calibri"/>
                <a:cs typeface="Calibri"/>
              </a:rPr>
              <a:t>value</a:t>
            </a:r>
            <a:endParaRPr sz="20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TotalTime>
  <Words>885</Words>
  <Application>Microsoft Office PowerPoint</Application>
  <PresentationFormat>Widescreen</PresentationFormat>
  <Paragraphs>125</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 MT</vt:lpstr>
      <vt:lpstr>Calibri</vt:lpstr>
      <vt:lpstr>Roboto</vt:lpstr>
      <vt:lpstr>Segoe UI Emoji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North Star Metric: Payment success rate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Mayank Kumar</dc:creator>
  <cp:lastModifiedBy>Mayank Kumar</cp:lastModifiedBy>
  <cp:revision>1</cp:revision>
  <dcterms:created xsi:type="dcterms:W3CDTF">2026-05-21T11:30:46Z</dcterms:created>
  <dcterms:modified xsi:type="dcterms:W3CDTF">2026-05-21T11:34:40Z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2022-12-23T00:00:00Z</vt:filetime>
  </property>
  <property fmtid="{D5CDD505-2E9C-101B-9397-08002B2CF9AE}" pid="4" name="Creator">
    <vt:lpwstr>Microsoft® PowerPoint® for Microsoft 365</vt:lpwstr>
  </property>
  <property fmtid="{D5CDD505-2E9C-101B-9397-08002B2CF9AE}" pid="5" name="LastSaved">
    <vt:filetime>2026-05-21T00:00:00Z</vt:filetime>
  </property>
  <property fmtid="{D5CDD505-2E9C-101B-9397-08002B2CF9AE}" pid="6" name="Producer">
    <vt:lpwstr>Microsoft® PowerPoint® for Microsoft 365</vt:lpwstr>
  </property>
</Properties>
</file>