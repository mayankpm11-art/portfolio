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Default Extension="jpg" ContentType="image/jp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image" Target="../media/image5.jpg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jpg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699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332775" y="6134848"/>
            <a:ext cx="533399" cy="361949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732976" y="6134848"/>
            <a:ext cx="361949" cy="361949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08741" y="2727875"/>
            <a:ext cx="7200899" cy="482917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046133" y="3333383"/>
            <a:ext cx="6096634" cy="11893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7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9" cy="847724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8530" y="1244774"/>
            <a:ext cx="5191124" cy="5343524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6729514" y="847374"/>
            <a:ext cx="628650" cy="9439910"/>
          </a:xfrm>
          <a:custGeom>
            <a:avLst/>
            <a:gdLst/>
            <a:ahLst/>
            <a:cxnLst/>
            <a:rect l="l" t="t" r="r" b="b"/>
            <a:pathLst>
              <a:path w="628650" h="9439910">
                <a:moveTo>
                  <a:pt x="628065" y="315326"/>
                </a:moveTo>
                <a:lnTo>
                  <a:pt x="384353" y="385937"/>
                </a:lnTo>
                <a:lnTo>
                  <a:pt x="343272" y="528773"/>
                </a:lnTo>
                <a:lnTo>
                  <a:pt x="343272" y="9439832"/>
                </a:lnTo>
                <a:lnTo>
                  <a:pt x="284793" y="9439832"/>
                </a:lnTo>
                <a:lnTo>
                  <a:pt x="284793" y="528774"/>
                </a:lnTo>
                <a:lnTo>
                  <a:pt x="243711" y="385937"/>
                </a:lnTo>
                <a:lnTo>
                  <a:pt x="0" y="315327"/>
                </a:lnTo>
                <a:lnTo>
                  <a:pt x="243711" y="244716"/>
                </a:lnTo>
                <a:lnTo>
                  <a:pt x="314033" y="0"/>
                </a:lnTo>
                <a:lnTo>
                  <a:pt x="384354" y="244715"/>
                </a:lnTo>
                <a:lnTo>
                  <a:pt x="628065" y="31532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8287999" cy="84772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652024" y="184026"/>
            <a:ext cx="3467100" cy="482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78147" y="1875117"/>
            <a:ext cx="15311755" cy="4883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hyperlink" Target="https://www.linkedin.com/in/amisha-kumari28/" TargetMode="External"/><Relationship Id="rId6" Type="http://schemas.openxmlformats.org/officeDocument/2006/relationships/image" Target="../media/image10.png"/><Relationship Id="rId7" Type="http://schemas.openxmlformats.org/officeDocument/2006/relationships/hyperlink" Target="mailto:amisha.kumari.1128@gmail.com" TargetMode="External"/><Relationship Id="rId8" Type="http://schemas.openxmlformats.org/officeDocument/2006/relationships/image" Target="../media/image11.jpg"/><Relationship Id="rId9" Type="http://schemas.openxmlformats.org/officeDocument/2006/relationships/image" Target="../media/image12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jpg"/><Relationship Id="rId3" Type="http://schemas.openxmlformats.org/officeDocument/2006/relationships/image" Target="../media/image14.jpg"/><Relationship Id="rId4" Type="http://schemas.openxmlformats.org/officeDocument/2006/relationships/image" Target="../media/image15.jpg"/><Relationship Id="rId5" Type="http://schemas.openxmlformats.org/officeDocument/2006/relationships/image" Target="../media/image16.png"/><Relationship Id="rId6" Type="http://schemas.openxmlformats.org/officeDocument/2006/relationships/image" Target="../media/image17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jp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1.jpg"/><Relationship Id="rId3" Type="http://schemas.openxmlformats.org/officeDocument/2006/relationships/image" Target="../media/image22.jpg"/><Relationship Id="rId4" Type="http://schemas.openxmlformats.org/officeDocument/2006/relationships/image" Target="../media/image23.jpg"/><Relationship Id="rId5" Type="http://schemas.openxmlformats.org/officeDocument/2006/relationships/image" Target="../media/image24.jpg"/><Relationship Id="rId6" Type="http://schemas.openxmlformats.org/officeDocument/2006/relationships/image" Target="../media/image25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6.jpg"/><Relationship Id="rId3" Type="http://schemas.openxmlformats.org/officeDocument/2006/relationships/image" Target="../media/image27.jpg"/><Relationship Id="rId4" Type="http://schemas.openxmlformats.org/officeDocument/2006/relationships/image" Target="../media/image28.jpg"/><Relationship Id="rId5" Type="http://schemas.openxmlformats.org/officeDocument/2006/relationships/image" Target="../media/image29.jpg"/><Relationship Id="rId6" Type="http://schemas.openxmlformats.org/officeDocument/2006/relationships/image" Target="../media/image30.png"/><Relationship Id="rId7" Type="http://schemas.openxmlformats.org/officeDocument/2006/relationships/image" Target="../media/image31.jpg"/><Relationship Id="rId8" Type="http://schemas.openxmlformats.org/officeDocument/2006/relationships/image" Target="../media/image32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.png"/><Relationship Id="rId3" Type="http://schemas.openxmlformats.org/officeDocument/2006/relationships/image" Target="../media/image34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5.jpg"/><Relationship Id="rId3" Type="http://schemas.openxmlformats.org/officeDocument/2006/relationships/image" Target="../media/image33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6.jp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6.jp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80851" y="2699317"/>
            <a:ext cx="6943633" cy="4863344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879902" y="8815696"/>
            <a:ext cx="5405600" cy="1459612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471431" y="0"/>
            <a:ext cx="3814071" cy="1459612"/>
          </a:xfrm>
          <a:prstGeom prst="rect">
            <a:avLst/>
          </a:prstGeom>
        </p:spPr>
      </p:pic>
      <p:pic>
        <p:nvPicPr>
          <p:cNvPr id="5" name="object 5" descr="">
            <a:hlinkClick r:id="rId5"/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4471431" y="9579214"/>
            <a:ext cx="476249" cy="466724"/>
          </a:xfrm>
          <a:prstGeom prst="rect">
            <a:avLst/>
          </a:prstGeom>
        </p:spPr>
      </p:pic>
      <p:pic>
        <p:nvPicPr>
          <p:cNvPr id="6" name="object 6" descr="">
            <a:hlinkClick r:id="rId7"/>
          </p:cNvPr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5324830" y="9624190"/>
            <a:ext cx="514349" cy="371474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0" y="74326"/>
            <a:ext cx="5001822" cy="10163174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5213619" y="48387"/>
            <a:ext cx="8612505" cy="985519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300" spc="805" b="0">
                <a:latin typeface="Verdana"/>
                <a:cs typeface="Verdana"/>
              </a:rPr>
              <a:t>Product</a:t>
            </a:r>
            <a:r>
              <a:rPr dirty="0" sz="6300" spc="-990" b="0">
                <a:latin typeface="Verdana"/>
                <a:cs typeface="Verdana"/>
              </a:rPr>
              <a:t> </a:t>
            </a:r>
            <a:r>
              <a:rPr dirty="0" sz="6300" spc="665" b="0">
                <a:latin typeface="Verdana"/>
                <a:cs typeface="Verdana"/>
              </a:rPr>
              <a:t>Teardown</a:t>
            </a:r>
            <a:endParaRPr sz="6300">
              <a:latin typeface="Verdana"/>
              <a:cs typeface="Verdana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6669258" y="1320347"/>
            <a:ext cx="5702300" cy="635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000" spc="-300">
                <a:latin typeface="Arial Black"/>
                <a:cs typeface="Arial Black"/>
              </a:rPr>
              <a:t>New</a:t>
            </a:r>
            <a:r>
              <a:rPr dirty="0" sz="4000" spc="-484">
                <a:latin typeface="Arial Black"/>
                <a:cs typeface="Arial Black"/>
              </a:rPr>
              <a:t> </a:t>
            </a:r>
            <a:r>
              <a:rPr dirty="0" sz="4000" spc="-265">
                <a:latin typeface="Arial Black"/>
                <a:cs typeface="Arial Black"/>
              </a:rPr>
              <a:t>User</a:t>
            </a:r>
            <a:r>
              <a:rPr dirty="0" sz="4000" spc="-484">
                <a:latin typeface="Arial Black"/>
                <a:cs typeface="Arial Black"/>
              </a:rPr>
              <a:t> </a:t>
            </a:r>
            <a:r>
              <a:rPr dirty="0" sz="4000" spc="-10">
                <a:latin typeface="Arial Black"/>
                <a:cs typeface="Arial Black"/>
              </a:rPr>
              <a:t>Onboarding</a:t>
            </a:r>
            <a:endParaRPr sz="4000">
              <a:latin typeface="Arial Black"/>
              <a:cs typeface="Arial Black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3549999" y="8755078"/>
            <a:ext cx="4068445" cy="635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000" b="1">
                <a:solidFill>
                  <a:srgbClr val="FFFFFF"/>
                </a:solidFill>
                <a:latin typeface="Times New Roman"/>
                <a:cs typeface="Times New Roman"/>
              </a:rPr>
              <a:t>By</a:t>
            </a:r>
            <a:r>
              <a:rPr dirty="0" sz="4000" spc="-80" b="1">
                <a:solidFill>
                  <a:srgbClr val="FFFFFF"/>
                </a:solidFill>
                <a:latin typeface="Times New Roman"/>
                <a:cs typeface="Times New Roman"/>
              </a:rPr>
              <a:t> Amisha </a:t>
            </a:r>
            <a:r>
              <a:rPr dirty="0" sz="4000" spc="-145" b="1">
                <a:solidFill>
                  <a:srgbClr val="FFFFFF"/>
                </a:solidFill>
                <a:latin typeface="Times New Roman"/>
                <a:cs typeface="Times New Roman"/>
              </a:rPr>
              <a:t>Kumari</a:t>
            </a:r>
            <a:endParaRPr sz="4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977704" y="1094052"/>
            <a:ext cx="2824233" cy="3619499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71440" y="8725887"/>
            <a:ext cx="6649258" cy="1561112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980461" y="8780649"/>
            <a:ext cx="2007733" cy="1414462"/>
          </a:xfrm>
          <a:prstGeom prst="rect">
            <a:avLst/>
          </a:prstGeom>
        </p:spPr>
      </p:pic>
      <p:grpSp>
        <p:nvGrpSpPr>
          <p:cNvPr id="5" name="object 5" descr=""/>
          <p:cNvGrpSpPr/>
          <p:nvPr/>
        </p:nvGrpSpPr>
        <p:grpSpPr>
          <a:xfrm>
            <a:off x="9181597" y="7457306"/>
            <a:ext cx="4772025" cy="952500"/>
            <a:chOff x="9181597" y="7457306"/>
            <a:chExt cx="4772025" cy="952500"/>
          </a:xfrm>
        </p:grpSpPr>
        <p:pic>
          <p:nvPicPr>
            <p:cNvPr id="6" name="object 6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181597" y="7457306"/>
              <a:ext cx="4772024" cy="952499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454940" y="7572558"/>
              <a:ext cx="533399" cy="695324"/>
            </a:xfrm>
            <a:prstGeom prst="rect">
              <a:avLst/>
            </a:prstGeom>
          </p:spPr>
        </p:pic>
      </p:grpSp>
      <p:sp>
        <p:nvSpPr>
          <p:cNvPr id="8" name="object 8" descr=""/>
          <p:cNvSpPr/>
          <p:nvPr/>
        </p:nvSpPr>
        <p:spPr>
          <a:xfrm>
            <a:off x="9143987" y="4419561"/>
            <a:ext cx="4314825" cy="2893695"/>
          </a:xfrm>
          <a:custGeom>
            <a:avLst/>
            <a:gdLst/>
            <a:ahLst/>
            <a:cxnLst/>
            <a:rect l="l" t="t" r="r" b="b"/>
            <a:pathLst>
              <a:path w="4314825" h="2893695">
                <a:moveTo>
                  <a:pt x="4292498" y="22872"/>
                </a:moveTo>
                <a:lnTo>
                  <a:pt x="22275" y="22872"/>
                </a:lnTo>
                <a:lnTo>
                  <a:pt x="22275" y="39395"/>
                </a:lnTo>
                <a:lnTo>
                  <a:pt x="22275" y="2852788"/>
                </a:lnTo>
                <a:lnTo>
                  <a:pt x="22275" y="2870581"/>
                </a:lnTo>
                <a:lnTo>
                  <a:pt x="4292498" y="2870581"/>
                </a:lnTo>
                <a:lnTo>
                  <a:pt x="4292498" y="2853194"/>
                </a:lnTo>
                <a:lnTo>
                  <a:pt x="4292498" y="2852788"/>
                </a:lnTo>
                <a:lnTo>
                  <a:pt x="4292498" y="39941"/>
                </a:lnTo>
                <a:lnTo>
                  <a:pt x="4274871" y="39941"/>
                </a:lnTo>
                <a:lnTo>
                  <a:pt x="4274871" y="2852788"/>
                </a:lnTo>
                <a:lnTo>
                  <a:pt x="39903" y="2852788"/>
                </a:lnTo>
                <a:lnTo>
                  <a:pt x="39903" y="39395"/>
                </a:lnTo>
                <a:lnTo>
                  <a:pt x="4292498" y="39395"/>
                </a:lnTo>
                <a:lnTo>
                  <a:pt x="4292498" y="22872"/>
                </a:lnTo>
                <a:close/>
              </a:path>
              <a:path w="4314825" h="2893695">
                <a:moveTo>
                  <a:pt x="4314774" y="0"/>
                </a:moveTo>
                <a:lnTo>
                  <a:pt x="0" y="0"/>
                </a:lnTo>
                <a:lnTo>
                  <a:pt x="0" y="17792"/>
                </a:lnTo>
                <a:lnTo>
                  <a:pt x="0" y="2875661"/>
                </a:lnTo>
                <a:lnTo>
                  <a:pt x="0" y="2893453"/>
                </a:lnTo>
                <a:lnTo>
                  <a:pt x="4314774" y="2893453"/>
                </a:lnTo>
                <a:lnTo>
                  <a:pt x="4314774" y="2875661"/>
                </a:lnTo>
                <a:lnTo>
                  <a:pt x="17640" y="2875661"/>
                </a:lnTo>
                <a:lnTo>
                  <a:pt x="17640" y="17792"/>
                </a:lnTo>
                <a:lnTo>
                  <a:pt x="4297146" y="17792"/>
                </a:lnTo>
                <a:lnTo>
                  <a:pt x="4297146" y="2875496"/>
                </a:lnTo>
                <a:lnTo>
                  <a:pt x="4314774" y="2875496"/>
                </a:lnTo>
                <a:lnTo>
                  <a:pt x="4314774" y="17792"/>
                </a:lnTo>
                <a:lnTo>
                  <a:pt x="4314774" y="17653"/>
                </a:lnTo>
                <a:lnTo>
                  <a:pt x="4314774" y="0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01277" y="1066307"/>
            <a:ext cx="2946400" cy="9245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900" spc="-155"/>
              <a:t>Overview</a:t>
            </a:r>
            <a:endParaRPr sz="5900"/>
          </a:p>
        </p:txBody>
      </p:sp>
      <p:sp>
        <p:nvSpPr>
          <p:cNvPr id="10" name="object 10" descr=""/>
          <p:cNvSpPr txBox="1"/>
          <p:nvPr/>
        </p:nvSpPr>
        <p:spPr>
          <a:xfrm>
            <a:off x="273430" y="107826"/>
            <a:ext cx="1369314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302635" algn="l"/>
                <a:tab pos="6988809" algn="l"/>
                <a:tab pos="10238740" algn="l"/>
              </a:tabLst>
            </a:pPr>
            <a:r>
              <a:rPr dirty="0" u="heavy" sz="30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Overview</a:t>
            </a:r>
            <a:r>
              <a:rPr dirty="0" sz="3000" b="1">
                <a:latin typeface="Times New Roman"/>
                <a:cs typeface="Times New Roman"/>
              </a:rPr>
              <a:t>	User</a:t>
            </a:r>
            <a:r>
              <a:rPr dirty="0" sz="3000" spc="-100" b="1">
                <a:latin typeface="Times New Roman"/>
                <a:cs typeface="Times New Roman"/>
              </a:rPr>
              <a:t> </a:t>
            </a:r>
            <a:r>
              <a:rPr dirty="0" sz="3000" spc="-10" b="1">
                <a:latin typeface="Times New Roman"/>
                <a:cs typeface="Times New Roman"/>
              </a:rPr>
              <a:t>Persona</a:t>
            </a:r>
            <a:r>
              <a:rPr dirty="0" sz="3000" b="1">
                <a:latin typeface="Times New Roman"/>
                <a:cs typeface="Times New Roman"/>
              </a:rPr>
              <a:t>	User</a:t>
            </a:r>
            <a:r>
              <a:rPr dirty="0" sz="3000" spc="-100" b="1">
                <a:latin typeface="Times New Roman"/>
                <a:cs typeface="Times New Roman"/>
              </a:rPr>
              <a:t> </a:t>
            </a:r>
            <a:r>
              <a:rPr dirty="0" sz="3000" spc="-10" b="1">
                <a:latin typeface="Times New Roman"/>
                <a:cs typeface="Times New Roman"/>
              </a:rPr>
              <a:t>Journey</a:t>
            </a:r>
            <a:r>
              <a:rPr dirty="0" sz="3000" b="1">
                <a:latin typeface="Times New Roman"/>
                <a:cs typeface="Times New Roman"/>
              </a:rPr>
              <a:t>	</a:t>
            </a:r>
            <a:r>
              <a:rPr dirty="0" sz="3000" spc="-40" b="1">
                <a:latin typeface="Times New Roman"/>
                <a:cs typeface="Times New Roman"/>
              </a:rPr>
              <a:t>Product</a:t>
            </a:r>
            <a:r>
              <a:rPr dirty="0" sz="3000" spc="-130" b="1">
                <a:latin typeface="Times New Roman"/>
                <a:cs typeface="Times New Roman"/>
              </a:rPr>
              <a:t> </a:t>
            </a:r>
            <a:r>
              <a:rPr dirty="0" sz="3000" spc="-100" b="1">
                <a:latin typeface="Times New Roman"/>
                <a:cs typeface="Times New Roman"/>
              </a:rPr>
              <a:t>Improvement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6012151" y="107826"/>
            <a:ext cx="125984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20" b="1">
                <a:latin typeface="Times New Roman"/>
                <a:cs typeface="Times New Roman"/>
              </a:rPr>
              <a:t>Metrics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273430" y="1976192"/>
            <a:ext cx="11988165" cy="2501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6100"/>
              </a:lnSpc>
              <a:spcBef>
                <a:spcPts val="100"/>
              </a:spcBef>
            </a:pPr>
            <a:r>
              <a:rPr dirty="0" sz="2800" spc="-25" b="1">
                <a:latin typeface="Times New Roman"/>
                <a:cs typeface="Times New Roman"/>
              </a:rPr>
              <a:t>Dunzo</a:t>
            </a:r>
            <a:r>
              <a:rPr dirty="0" sz="2800" spc="30" b="1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is</a:t>
            </a:r>
            <a:r>
              <a:rPr dirty="0" sz="2800" spc="20">
                <a:latin typeface="Times New Roman"/>
                <a:cs typeface="Times New Roman"/>
              </a:rPr>
              <a:t> </a:t>
            </a:r>
            <a:r>
              <a:rPr dirty="0" sz="2800" spc="145">
                <a:latin typeface="Times New Roman"/>
                <a:cs typeface="Times New Roman"/>
              </a:rPr>
              <a:t>an</a:t>
            </a:r>
            <a:r>
              <a:rPr dirty="0" sz="2800" spc="25">
                <a:latin typeface="Times New Roman"/>
                <a:cs typeface="Times New Roman"/>
              </a:rPr>
              <a:t> </a:t>
            </a:r>
            <a:r>
              <a:rPr dirty="0" sz="2800" spc="110">
                <a:latin typeface="Times New Roman"/>
                <a:cs typeface="Times New Roman"/>
              </a:rPr>
              <a:t>Indian</a:t>
            </a:r>
            <a:r>
              <a:rPr dirty="0" sz="2800" spc="25">
                <a:latin typeface="Times New Roman"/>
                <a:cs typeface="Times New Roman"/>
              </a:rPr>
              <a:t> </a:t>
            </a:r>
            <a:r>
              <a:rPr dirty="0" sz="2800" spc="60">
                <a:latin typeface="Times New Roman"/>
                <a:cs typeface="Times New Roman"/>
              </a:rPr>
              <a:t>hyperlocal</a:t>
            </a:r>
            <a:r>
              <a:rPr dirty="0" sz="2800" spc="2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delivery</a:t>
            </a:r>
            <a:r>
              <a:rPr dirty="0" sz="2800" spc="25">
                <a:latin typeface="Times New Roman"/>
                <a:cs typeface="Times New Roman"/>
              </a:rPr>
              <a:t> </a:t>
            </a:r>
            <a:r>
              <a:rPr dirty="0" sz="2800" spc="95">
                <a:latin typeface="Times New Roman"/>
                <a:cs typeface="Times New Roman"/>
              </a:rPr>
              <a:t>platform</a:t>
            </a:r>
            <a:r>
              <a:rPr dirty="0" sz="2800" spc="25">
                <a:latin typeface="Times New Roman"/>
                <a:cs typeface="Times New Roman"/>
              </a:rPr>
              <a:t> </a:t>
            </a:r>
            <a:r>
              <a:rPr dirty="0" sz="2800" spc="150">
                <a:latin typeface="Times New Roman"/>
                <a:cs typeface="Times New Roman"/>
              </a:rPr>
              <a:t>that</a:t>
            </a:r>
            <a:r>
              <a:rPr dirty="0" sz="2800" spc="2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offers</a:t>
            </a:r>
            <a:r>
              <a:rPr dirty="0" sz="2800" spc="25">
                <a:latin typeface="Times New Roman"/>
                <a:cs typeface="Times New Roman"/>
              </a:rPr>
              <a:t> </a:t>
            </a:r>
            <a:r>
              <a:rPr dirty="0" sz="2800" spc="85">
                <a:latin typeface="Times New Roman"/>
                <a:cs typeface="Times New Roman"/>
              </a:rPr>
              <a:t>on-</a:t>
            </a:r>
            <a:r>
              <a:rPr dirty="0" sz="2800" spc="105">
                <a:latin typeface="Times New Roman"/>
                <a:cs typeface="Times New Roman"/>
              </a:rPr>
              <a:t>demand</a:t>
            </a:r>
            <a:r>
              <a:rPr dirty="0" sz="2800" spc="25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delivery </a:t>
            </a:r>
            <a:r>
              <a:rPr dirty="0" sz="2800">
                <a:latin typeface="Times New Roman"/>
                <a:cs typeface="Times New Roman"/>
              </a:rPr>
              <a:t>services</a:t>
            </a:r>
            <a:r>
              <a:rPr dirty="0" sz="2800" spc="75">
                <a:latin typeface="Times New Roman"/>
                <a:cs typeface="Times New Roman"/>
              </a:rPr>
              <a:t> </a:t>
            </a:r>
            <a:r>
              <a:rPr dirty="0" sz="2800" spc="85">
                <a:latin typeface="Times New Roman"/>
                <a:cs typeface="Times New Roman"/>
              </a:rPr>
              <a:t>for</a:t>
            </a:r>
            <a:r>
              <a:rPr dirty="0" sz="2800" spc="75">
                <a:latin typeface="Times New Roman"/>
                <a:cs typeface="Times New Roman"/>
              </a:rPr>
              <a:t> </a:t>
            </a:r>
            <a:r>
              <a:rPr dirty="0" sz="2800" spc="160">
                <a:latin typeface="Times New Roman"/>
                <a:cs typeface="Times New Roman"/>
              </a:rPr>
              <a:t>a</a:t>
            </a:r>
            <a:r>
              <a:rPr dirty="0" sz="2800" spc="7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wide</a:t>
            </a:r>
            <a:r>
              <a:rPr dirty="0" sz="2800" spc="80">
                <a:latin typeface="Times New Roman"/>
                <a:cs typeface="Times New Roman"/>
              </a:rPr>
              <a:t> range</a:t>
            </a:r>
            <a:r>
              <a:rPr dirty="0" sz="2800" spc="75">
                <a:latin typeface="Times New Roman"/>
                <a:cs typeface="Times New Roman"/>
              </a:rPr>
              <a:t> </a:t>
            </a:r>
            <a:r>
              <a:rPr dirty="0" sz="2800" spc="60">
                <a:latin typeface="Times New Roman"/>
                <a:cs typeface="Times New Roman"/>
              </a:rPr>
              <a:t>of</a:t>
            </a:r>
            <a:r>
              <a:rPr dirty="0" sz="2800" spc="7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essentials,</a:t>
            </a:r>
            <a:r>
              <a:rPr dirty="0" sz="2800" spc="75">
                <a:latin typeface="Times New Roman"/>
                <a:cs typeface="Times New Roman"/>
              </a:rPr>
              <a:t> </a:t>
            </a:r>
            <a:r>
              <a:rPr dirty="0" sz="2800" spc="50">
                <a:latin typeface="Times New Roman"/>
                <a:cs typeface="Times New Roman"/>
              </a:rPr>
              <a:t>including</a:t>
            </a:r>
            <a:r>
              <a:rPr dirty="0" sz="2800" spc="80">
                <a:latin typeface="Times New Roman"/>
                <a:cs typeface="Times New Roman"/>
              </a:rPr>
              <a:t> </a:t>
            </a:r>
            <a:r>
              <a:rPr dirty="0" sz="2800" spc="60">
                <a:latin typeface="Times New Roman"/>
                <a:cs typeface="Times New Roman"/>
              </a:rPr>
              <a:t>fruits,</a:t>
            </a:r>
            <a:r>
              <a:rPr dirty="0" sz="2800" spc="7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vegetables,</a:t>
            </a:r>
            <a:r>
              <a:rPr dirty="0" sz="2800" spc="75">
                <a:latin typeface="Times New Roman"/>
                <a:cs typeface="Times New Roman"/>
              </a:rPr>
              <a:t> </a:t>
            </a:r>
            <a:r>
              <a:rPr dirty="0" sz="2800" spc="90">
                <a:latin typeface="Times New Roman"/>
                <a:cs typeface="Times New Roman"/>
              </a:rPr>
              <a:t>meat,</a:t>
            </a:r>
            <a:r>
              <a:rPr dirty="0" sz="2800" spc="75">
                <a:latin typeface="Times New Roman"/>
                <a:cs typeface="Times New Roman"/>
              </a:rPr>
              <a:t> </a:t>
            </a:r>
            <a:r>
              <a:rPr dirty="0" sz="2800" spc="65">
                <a:latin typeface="Times New Roman"/>
                <a:cs typeface="Times New Roman"/>
              </a:rPr>
              <a:t>pet </a:t>
            </a:r>
            <a:r>
              <a:rPr dirty="0" sz="2800">
                <a:latin typeface="Times New Roman"/>
                <a:cs typeface="Times New Roman"/>
              </a:rPr>
              <a:t>supplies,</a:t>
            </a:r>
            <a:r>
              <a:rPr dirty="0" sz="2800" spc="75">
                <a:latin typeface="Times New Roman"/>
                <a:cs typeface="Times New Roman"/>
              </a:rPr>
              <a:t> </a:t>
            </a:r>
            <a:r>
              <a:rPr dirty="0" sz="2800" spc="90">
                <a:latin typeface="Times New Roman"/>
                <a:cs typeface="Times New Roman"/>
              </a:rPr>
              <a:t>food,</a:t>
            </a:r>
            <a:r>
              <a:rPr dirty="0" sz="2800" spc="75">
                <a:latin typeface="Times New Roman"/>
                <a:cs typeface="Times New Roman"/>
              </a:rPr>
              <a:t> </a:t>
            </a:r>
            <a:r>
              <a:rPr dirty="0" sz="2800" spc="140">
                <a:latin typeface="Times New Roman"/>
                <a:cs typeface="Times New Roman"/>
              </a:rPr>
              <a:t>and</a:t>
            </a:r>
            <a:r>
              <a:rPr dirty="0" sz="2800" spc="8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medicines,</a:t>
            </a:r>
            <a:r>
              <a:rPr dirty="0" sz="2800" spc="75">
                <a:latin typeface="Times New Roman"/>
                <a:cs typeface="Times New Roman"/>
              </a:rPr>
              <a:t> </a:t>
            </a:r>
            <a:r>
              <a:rPr dirty="0" sz="2800" spc="55">
                <a:latin typeface="Times New Roman"/>
                <a:cs typeface="Times New Roman"/>
              </a:rPr>
              <a:t>in</a:t>
            </a:r>
            <a:r>
              <a:rPr dirty="0" sz="2800" spc="75">
                <a:latin typeface="Times New Roman"/>
                <a:cs typeface="Times New Roman"/>
              </a:rPr>
              <a:t> </a:t>
            </a:r>
            <a:r>
              <a:rPr dirty="0" sz="2800" spc="100">
                <a:latin typeface="Times New Roman"/>
                <a:cs typeface="Times New Roman"/>
              </a:rPr>
              <a:t>major</a:t>
            </a:r>
            <a:r>
              <a:rPr dirty="0" sz="2800" spc="8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cities</a:t>
            </a:r>
            <a:r>
              <a:rPr dirty="0" sz="2800" spc="7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like</a:t>
            </a:r>
            <a:r>
              <a:rPr dirty="0" sz="2800" spc="75">
                <a:latin typeface="Times New Roman"/>
                <a:cs typeface="Times New Roman"/>
              </a:rPr>
              <a:t> </a:t>
            </a:r>
            <a:r>
              <a:rPr dirty="0" sz="2800" spc="65">
                <a:latin typeface="Times New Roman"/>
                <a:cs typeface="Times New Roman"/>
              </a:rPr>
              <a:t>Bengaluru,</a:t>
            </a:r>
            <a:r>
              <a:rPr dirty="0" sz="2800" spc="80">
                <a:latin typeface="Times New Roman"/>
                <a:cs typeface="Times New Roman"/>
              </a:rPr>
              <a:t> </a:t>
            </a:r>
            <a:r>
              <a:rPr dirty="0" sz="2800" spc="85">
                <a:latin typeface="Times New Roman"/>
                <a:cs typeface="Times New Roman"/>
              </a:rPr>
              <a:t>Pune,</a:t>
            </a:r>
            <a:r>
              <a:rPr dirty="0" sz="2800" spc="75">
                <a:latin typeface="Times New Roman"/>
                <a:cs typeface="Times New Roman"/>
              </a:rPr>
              <a:t> </a:t>
            </a:r>
            <a:r>
              <a:rPr dirty="0" sz="2800" spc="140">
                <a:latin typeface="Times New Roman"/>
                <a:cs typeface="Times New Roman"/>
              </a:rPr>
              <a:t>and</a:t>
            </a:r>
            <a:r>
              <a:rPr dirty="0" sz="2800" spc="75">
                <a:latin typeface="Times New Roman"/>
                <a:cs typeface="Times New Roman"/>
              </a:rPr>
              <a:t> </a:t>
            </a:r>
            <a:r>
              <a:rPr dirty="0" sz="2800" spc="50">
                <a:latin typeface="Times New Roman"/>
                <a:cs typeface="Times New Roman"/>
              </a:rPr>
              <a:t>Delhi.</a:t>
            </a:r>
            <a:endParaRPr sz="2800">
              <a:latin typeface="Times New Roman"/>
              <a:cs typeface="Times New Roman"/>
            </a:endParaRPr>
          </a:p>
          <a:p>
            <a:pPr marL="12700" marR="177800">
              <a:lnSpc>
                <a:spcPct val="116100"/>
              </a:lnSpc>
            </a:pPr>
            <a:r>
              <a:rPr dirty="0" sz="2800" spc="70">
                <a:latin typeface="Times New Roman"/>
                <a:cs typeface="Times New Roman"/>
              </a:rPr>
              <a:t>Additionally,</a:t>
            </a:r>
            <a:r>
              <a:rPr dirty="0" sz="2800" spc="15">
                <a:latin typeface="Times New Roman"/>
                <a:cs typeface="Times New Roman"/>
              </a:rPr>
              <a:t> </a:t>
            </a:r>
            <a:r>
              <a:rPr dirty="0" sz="2800" spc="-25" b="1">
                <a:latin typeface="Times New Roman"/>
                <a:cs typeface="Times New Roman"/>
              </a:rPr>
              <a:t>Dunzo</a:t>
            </a:r>
            <a:r>
              <a:rPr dirty="0" sz="2800" spc="20" b="1">
                <a:latin typeface="Times New Roman"/>
                <a:cs typeface="Times New Roman"/>
              </a:rPr>
              <a:t> </a:t>
            </a:r>
            <a:r>
              <a:rPr dirty="0" sz="2800" spc="55">
                <a:latin typeface="Times New Roman"/>
                <a:cs typeface="Times New Roman"/>
              </a:rPr>
              <a:t>provides</a:t>
            </a:r>
            <a:r>
              <a:rPr dirty="0" sz="2800" spc="10">
                <a:latin typeface="Times New Roman"/>
                <a:cs typeface="Times New Roman"/>
              </a:rPr>
              <a:t> </a:t>
            </a:r>
            <a:r>
              <a:rPr dirty="0" sz="2800" spc="160">
                <a:latin typeface="Times New Roman"/>
                <a:cs typeface="Times New Roman"/>
              </a:rPr>
              <a:t>a</a:t>
            </a:r>
            <a:r>
              <a:rPr dirty="0" sz="2800" spc="15">
                <a:latin typeface="Times New Roman"/>
                <a:cs typeface="Times New Roman"/>
              </a:rPr>
              <a:t> </a:t>
            </a:r>
            <a:r>
              <a:rPr dirty="0" sz="2800" spc="80">
                <a:latin typeface="Times New Roman"/>
                <a:cs typeface="Times New Roman"/>
              </a:rPr>
              <a:t>unique</a:t>
            </a:r>
            <a:r>
              <a:rPr dirty="0" sz="2800" spc="1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service</a:t>
            </a:r>
            <a:r>
              <a:rPr dirty="0" sz="2800" spc="15">
                <a:latin typeface="Times New Roman"/>
                <a:cs typeface="Times New Roman"/>
              </a:rPr>
              <a:t> </a:t>
            </a:r>
            <a:r>
              <a:rPr dirty="0" sz="2800" spc="145">
                <a:latin typeface="Times New Roman"/>
                <a:cs typeface="Times New Roman"/>
              </a:rPr>
              <a:t>to</a:t>
            </a:r>
            <a:r>
              <a:rPr dirty="0" sz="2800" spc="10">
                <a:latin typeface="Times New Roman"/>
                <a:cs typeface="Times New Roman"/>
              </a:rPr>
              <a:t> </a:t>
            </a:r>
            <a:r>
              <a:rPr dirty="0" sz="2800" spc="55">
                <a:latin typeface="Times New Roman"/>
                <a:cs typeface="Times New Roman"/>
              </a:rPr>
              <a:t>pick</a:t>
            </a:r>
            <a:r>
              <a:rPr dirty="0" sz="2800" spc="15">
                <a:latin typeface="Times New Roman"/>
                <a:cs typeface="Times New Roman"/>
              </a:rPr>
              <a:t> </a:t>
            </a:r>
            <a:r>
              <a:rPr dirty="0" sz="2800" spc="135">
                <a:latin typeface="Times New Roman"/>
                <a:cs typeface="Times New Roman"/>
              </a:rPr>
              <a:t>up</a:t>
            </a:r>
            <a:r>
              <a:rPr dirty="0" sz="2800" spc="15">
                <a:latin typeface="Times New Roman"/>
                <a:cs typeface="Times New Roman"/>
              </a:rPr>
              <a:t> </a:t>
            </a:r>
            <a:r>
              <a:rPr dirty="0" sz="2800" spc="140">
                <a:latin typeface="Times New Roman"/>
                <a:cs typeface="Times New Roman"/>
              </a:rPr>
              <a:t>and</a:t>
            </a:r>
            <a:r>
              <a:rPr dirty="0" sz="2800" spc="1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deliver</a:t>
            </a:r>
            <a:r>
              <a:rPr dirty="0" sz="2800" spc="15">
                <a:latin typeface="Times New Roman"/>
                <a:cs typeface="Times New Roman"/>
              </a:rPr>
              <a:t> </a:t>
            </a:r>
            <a:r>
              <a:rPr dirty="0" sz="2800" spc="55">
                <a:latin typeface="Times New Roman"/>
                <a:cs typeface="Times New Roman"/>
              </a:rPr>
              <a:t>packages within</a:t>
            </a:r>
            <a:r>
              <a:rPr dirty="0" sz="2800" spc="10">
                <a:latin typeface="Times New Roman"/>
                <a:cs typeface="Times New Roman"/>
              </a:rPr>
              <a:t> </a:t>
            </a:r>
            <a:r>
              <a:rPr dirty="0" sz="2800" spc="90">
                <a:latin typeface="Times New Roman"/>
                <a:cs typeface="Times New Roman"/>
              </a:rPr>
              <a:t>the</a:t>
            </a:r>
            <a:r>
              <a:rPr dirty="0" sz="2800" spc="10">
                <a:latin typeface="Times New Roman"/>
                <a:cs typeface="Times New Roman"/>
              </a:rPr>
              <a:t> </a:t>
            </a:r>
            <a:r>
              <a:rPr dirty="0" sz="2800" spc="55">
                <a:latin typeface="Times New Roman"/>
                <a:cs typeface="Times New Roman"/>
              </a:rPr>
              <a:t>same</a:t>
            </a:r>
            <a:r>
              <a:rPr dirty="0" sz="2800" spc="10">
                <a:latin typeface="Times New Roman"/>
                <a:cs typeface="Times New Roman"/>
              </a:rPr>
              <a:t> </a:t>
            </a:r>
            <a:r>
              <a:rPr dirty="0" sz="2800" spc="-20">
                <a:latin typeface="Times New Roman"/>
                <a:cs typeface="Times New Roman"/>
              </a:rPr>
              <a:t>city.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16432683" y="1437633"/>
            <a:ext cx="1170305" cy="6540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211454">
              <a:lnSpc>
                <a:spcPct val="114599"/>
              </a:lnSpc>
              <a:spcBef>
                <a:spcPts val="100"/>
              </a:spcBef>
            </a:pPr>
            <a:r>
              <a:rPr dirty="0" sz="1800" spc="-45" b="1">
                <a:solidFill>
                  <a:srgbClr val="040404"/>
                </a:solidFill>
                <a:latin typeface="Times New Roman"/>
                <a:cs typeface="Times New Roman"/>
              </a:rPr>
              <a:t>what</a:t>
            </a:r>
            <a:r>
              <a:rPr dirty="0" sz="1800" spc="-60" b="1">
                <a:solidFill>
                  <a:srgbClr val="040404"/>
                </a:solidFill>
                <a:latin typeface="Times New Roman"/>
                <a:cs typeface="Times New Roman"/>
              </a:rPr>
              <a:t> </a:t>
            </a:r>
            <a:r>
              <a:rPr dirty="0" sz="1800" spc="-25" b="1">
                <a:solidFill>
                  <a:srgbClr val="040404"/>
                </a:solidFill>
                <a:latin typeface="Times New Roman"/>
                <a:cs typeface="Times New Roman"/>
              </a:rPr>
              <a:t>is </a:t>
            </a:r>
            <a:r>
              <a:rPr dirty="0" sz="1800" spc="-35" b="1">
                <a:solidFill>
                  <a:srgbClr val="040404"/>
                </a:solidFill>
                <a:latin typeface="Times New Roman"/>
                <a:cs typeface="Times New Roman"/>
              </a:rPr>
              <a:t>DUNZO???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10167939" y="7553593"/>
            <a:ext cx="2894965" cy="695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400" spc="-80" b="1">
                <a:solidFill>
                  <a:srgbClr val="0EE8B5"/>
                </a:solidFill>
                <a:latin typeface="Times New Roman"/>
                <a:cs typeface="Times New Roman"/>
              </a:rPr>
              <a:t>Competitors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9172763" y="4638475"/>
            <a:ext cx="4257675" cy="2099945"/>
          </a:xfrm>
          <a:prstGeom prst="rect">
            <a:avLst/>
          </a:prstGeom>
        </p:spPr>
        <p:txBody>
          <a:bodyPr wrap="square" lIns="0" tIns="110489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869"/>
              </a:spcBef>
            </a:pPr>
            <a:r>
              <a:rPr dirty="0" sz="2800" spc="-105" b="1">
                <a:latin typeface="Times New Roman"/>
                <a:cs typeface="Times New Roman"/>
              </a:rPr>
              <a:t>Founded</a:t>
            </a:r>
            <a:r>
              <a:rPr dirty="0" sz="2800" spc="-35" b="1">
                <a:latin typeface="Times New Roman"/>
                <a:cs typeface="Times New Roman"/>
              </a:rPr>
              <a:t> </a:t>
            </a:r>
            <a:r>
              <a:rPr dirty="0" sz="2800" spc="-190" b="1">
                <a:latin typeface="Times New Roman"/>
                <a:cs typeface="Times New Roman"/>
              </a:rPr>
              <a:t>:</a:t>
            </a:r>
            <a:r>
              <a:rPr dirty="0" sz="2800" b="1">
                <a:latin typeface="Times New Roman"/>
                <a:cs typeface="Times New Roman"/>
              </a:rPr>
              <a:t> </a:t>
            </a:r>
            <a:r>
              <a:rPr dirty="0" sz="2800" spc="-20">
                <a:latin typeface="Times New Roman"/>
                <a:cs typeface="Times New Roman"/>
              </a:rPr>
              <a:t>2014</a:t>
            </a:r>
            <a:endParaRPr sz="2800">
              <a:latin typeface="Times New Roman"/>
              <a:cs typeface="Times New Roman"/>
            </a:endParaRPr>
          </a:p>
          <a:p>
            <a:pPr marL="46355" marR="68580">
              <a:lnSpc>
                <a:spcPct val="116100"/>
              </a:lnSpc>
              <a:spcBef>
                <a:spcPts val="235"/>
              </a:spcBef>
            </a:pPr>
            <a:r>
              <a:rPr dirty="0" sz="2800" spc="-35" b="1">
                <a:latin typeface="Times New Roman"/>
                <a:cs typeface="Times New Roman"/>
              </a:rPr>
              <a:t>Category:</a:t>
            </a:r>
            <a:r>
              <a:rPr dirty="0" sz="2800" spc="-45" b="1">
                <a:latin typeface="Times New Roman"/>
                <a:cs typeface="Times New Roman"/>
              </a:rPr>
              <a:t> </a:t>
            </a:r>
            <a:r>
              <a:rPr dirty="0" sz="2800" spc="50">
                <a:latin typeface="Times New Roman"/>
                <a:cs typeface="Times New Roman"/>
              </a:rPr>
              <a:t>Online</a:t>
            </a:r>
            <a:r>
              <a:rPr dirty="0" sz="2800" spc="-45">
                <a:latin typeface="Times New Roman"/>
                <a:cs typeface="Times New Roman"/>
              </a:rPr>
              <a:t> </a:t>
            </a:r>
            <a:r>
              <a:rPr dirty="0" sz="2800" spc="60">
                <a:latin typeface="Times New Roman"/>
                <a:cs typeface="Times New Roman"/>
              </a:rPr>
              <a:t>consumer </a:t>
            </a:r>
            <a:r>
              <a:rPr dirty="0" sz="2800" spc="-10">
                <a:latin typeface="Times New Roman"/>
                <a:cs typeface="Times New Roman"/>
              </a:rPr>
              <a:t>Services</a:t>
            </a:r>
            <a:endParaRPr sz="2800">
              <a:latin typeface="Times New Roman"/>
              <a:cs typeface="Times New Roman"/>
            </a:endParaRPr>
          </a:p>
          <a:p>
            <a:pPr marL="54610">
              <a:lnSpc>
                <a:spcPct val="100000"/>
              </a:lnSpc>
              <a:spcBef>
                <a:spcPts val="805"/>
              </a:spcBef>
            </a:pPr>
            <a:r>
              <a:rPr dirty="0" sz="2800" spc="-105" b="1">
                <a:latin typeface="Times New Roman"/>
                <a:cs typeface="Times New Roman"/>
              </a:rPr>
              <a:t>App</a:t>
            </a:r>
            <a:r>
              <a:rPr dirty="0" sz="2800" spc="-70" b="1">
                <a:latin typeface="Times New Roman"/>
                <a:cs typeface="Times New Roman"/>
              </a:rPr>
              <a:t> </a:t>
            </a:r>
            <a:r>
              <a:rPr dirty="0" sz="2800" spc="-60" b="1">
                <a:latin typeface="Times New Roman"/>
                <a:cs typeface="Times New Roman"/>
              </a:rPr>
              <a:t>Download:</a:t>
            </a:r>
            <a:r>
              <a:rPr dirty="0" sz="2800" spc="-90" b="1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5,000,000+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339427" y="4683840"/>
            <a:ext cx="6219825" cy="4160520"/>
          </a:xfrm>
          <a:prstGeom prst="rect">
            <a:avLst/>
          </a:prstGeom>
        </p:spPr>
        <p:txBody>
          <a:bodyPr wrap="square" lIns="0" tIns="2730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150"/>
              </a:spcBef>
            </a:pPr>
            <a:r>
              <a:rPr dirty="0" sz="5500" spc="-155" b="1">
                <a:latin typeface="Times New Roman"/>
                <a:cs typeface="Times New Roman"/>
              </a:rPr>
              <a:t>Revenue</a:t>
            </a:r>
            <a:r>
              <a:rPr dirty="0" sz="5500" spc="-170" b="1">
                <a:latin typeface="Times New Roman"/>
                <a:cs typeface="Times New Roman"/>
              </a:rPr>
              <a:t> </a:t>
            </a:r>
            <a:r>
              <a:rPr dirty="0" sz="5500" spc="-10" b="1">
                <a:latin typeface="Times New Roman"/>
                <a:cs typeface="Times New Roman"/>
              </a:rPr>
              <a:t>Model</a:t>
            </a:r>
            <a:endParaRPr sz="5500">
              <a:latin typeface="Times New Roman"/>
              <a:cs typeface="Times New Roman"/>
            </a:endParaRPr>
          </a:p>
          <a:p>
            <a:pPr marL="83185" marR="5080">
              <a:lnSpc>
                <a:spcPct val="116100"/>
              </a:lnSpc>
              <a:spcBef>
                <a:spcPts val="505"/>
              </a:spcBef>
            </a:pPr>
            <a:r>
              <a:rPr dirty="0" sz="2800" spc="-20" b="1">
                <a:latin typeface="Times New Roman"/>
                <a:cs typeface="Times New Roman"/>
              </a:rPr>
              <a:t>The</a:t>
            </a:r>
            <a:r>
              <a:rPr dirty="0" sz="2800" spc="-110" b="1">
                <a:latin typeface="Times New Roman"/>
                <a:cs typeface="Times New Roman"/>
              </a:rPr>
              <a:t> </a:t>
            </a:r>
            <a:r>
              <a:rPr dirty="0" sz="2800" spc="-75" b="1">
                <a:latin typeface="Times New Roman"/>
                <a:cs typeface="Times New Roman"/>
              </a:rPr>
              <a:t>company</a:t>
            </a:r>
            <a:r>
              <a:rPr dirty="0" sz="2800" spc="-90" b="1">
                <a:latin typeface="Times New Roman"/>
                <a:cs typeface="Times New Roman"/>
              </a:rPr>
              <a:t> </a:t>
            </a:r>
            <a:r>
              <a:rPr dirty="0" sz="2800" spc="-35" b="1">
                <a:latin typeface="Times New Roman"/>
                <a:cs typeface="Times New Roman"/>
              </a:rPr>
              <a:t>generates</a:t>
            </a:r>
            <a:r>
              <a:rPr dirty="0" sz="2800" spc="-95" b="1">
                <a:latin typeface="Times New Roman"/>
                <a:cs typeface="Times New Roman"/>
              </a:rPr>
              <a:t> </a:t>
            </a:r>
            <a:r>
              <a:rPr dirty="0" sz="2800" spc="-100" b="1">
                <a:latin typeface="Times New Roman"/>
                <a:cs typeface="Times New Roman"/>
              </a:rPr>
              <a:t>revenue</a:t>
            </a:r>
            <a:r>
              <a:rPr dirty="0" sz="2800" spc="-75" b="1">
                <a:latin typeface="Times New Roman"/>
                <a:cs typeface="Times New Roman"/>
              </a:rPr>
              <a:t> </a:t>
            </a:r>
            <a:r>
              <a:rPr dirty="0" sz="2800" spc="-65" b="1">
                <a:latin typeface="Times New Roman"/>
                <a:cs typeface="Times New Roman"/>
              </a:rPr>
              <a:t>primarily </a:t>
            </a:r>
            <a:r>
              <a:rPr dirty="0" sz="2800" spc="-10" b="1">
                <a:latin typeface="Times New Roman"/>
                <a:cs typeface="Times New Roman"/>
              </a:rPr>
              <a:t>through:</a:t>
            </a:r>
            <a:endParaRPr sz="2800">
              <a:latin typeface="Times New Roman"/>
              <a:cs typeface="Times New Roman"/>
            </a:endParaRPr>
          </a:p>
          <a:p>
            <a:pPr marL="83185" marR="3442335">
              <a:lnSpc>
                <a:spcPct val="116100"/>
              </a:lnSpc>
            </a:pPr>
            <a:r>
              <a:rPr dirty="0" sz="2800">
                <a:latin typeface="Times New Roman"/>
                <a:cs typeface="Times New Roman"/>
              </a:rPr>
              <a:t>Delivery</a:t>
            </a:r>
            <a:r>
              <a:rPr dirty="0" sz="2800" spc="290">
                <a:latin typeface="Times New Roman"/>
                <a:cs typeface="Times New Roman"/>
              </a:rPr>
              <a:t> </a:t>
            </a:r>
            <a:r>
              <a:rPr dirty="0" sz="2800" spc="40">
                <a:latin typeface="Times New Roman"/>
                <a:cs typeface="Times New Roman"/>
              </a:rPr>
              <a:t>Fees </a:t>
            </a:r>
            <a:r>
              <a:rPr dirty="0" sz="2800" spc="50">
                <a:latin typeface="Times New Roman"/>
                <a:cs typeface="Times New Roman"/>
              </a:rPr>
              <a:t>Commissions </a:t>
            </a:r>
            <a:r>
              <a:rPr dirty="0" sz="2800">
                <a:latin typeface="Times New Roman"/>
                <a:cs typeface="Times New Roman"/>
              </a:rPr>
              <a:t>Surge</a:t>
            </a:r>
            <a:r>
              <a:rPr dirty="0" sz="2800" spc="200">
                <a:latin typeface="Times New Roman"/>
                <a:cs typeface="Times New Roman"/>
              </a:rPr>
              <a:t> </a:t>
            </a:r>
            <a:r>
              <a:rPr dirty="0" sz="2800" spc="35">
                <a:latin typeface="Times New Roman"/>
                <a:cs typeface="Times New Roman"/>
              </a:rPr>
              <a:t>Pricing </a:t>
            </a:r>
            <a:r>
              <a:rPr dirty="0" sz="2800" spc="75">
                <a:latin typeface="Times New Roman"/>
                <a:cs typeface="Times New Roman"/>
              </a:rPr>
              <a:t>Premium</a:t>
            </a:r>
            <a:r>
              <a:rPr dirty="0" sz="2800" spc="20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Services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25830" y="203076"/>
            <a:ext cx="1510665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85" b="1">
                <a:latin typeface="Times New Roman"/>
                <a:cs typeface="Times New Roman"/>
              </a:rPr>
              <a:t>Overview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3716064" y="174501"/>
            <a:ext cx="2160905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heavy" sz="30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User</a:t>
            </a:r>
            <a:r>
              <a:rPr dirty="0" u="heavy" sz="3000" spc="-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3000" spc="-2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Persona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7402429" y="184026"/>
            <a:ext cx="2160905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b="1">
                <a:latin typeface="Times New Roman"/>
                <a:cs typeface="Times New Roman"/>
              </a:rPr>
              <a:t>User</a:t>
            </a:r>
            <a:r>
              <a:rPr dirty="0" sz="3000" spc="-100" b="1">
                <a:latin typeface="Times New Roman"/>
                <a:cs typeface="Times New Roman"/>
              </a:rPr>
              <a:t> </a:t>
            </a:r>
            <a:r>
              <a:rPr dirty="0" sz="3000" spc="-50" b="1">
                <a:latin typeface="Times New Roman"/>
                <a:cs typeface="Times New Roman"/>
              </a:rPr>
              <a:t>Journey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40"/>
              <a:t>Product</a:t>
            </a:r>
            <a:r>
              <a:rPr dirty="0" spc="-130"/>
              <a:t> </a:t>
            </a:r>
            <a:r>
              <a:rPr dirty="0" spc="-100"/>
              <a:t>Improvement</a:t>
            </a:r>
          </a:p>
        </p:txBody>
      </p:sp>
      <p:sp>
        <p:nvSpPr>
          <p:cNvPr id="6" name="object 6" descr=""/>
          <p:cNvSpPr txBox="1"/>
          <p:nvPr/>
        </p:nvSpPr>
        <p:spPr>
          <a:xfrm>
            <a:off x="16164551" y="174501"/>
            <a:ext cx="125984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20" b="1">
                <a:latin typeface="Times New Roman"/>
                <a:cs typeface="Times New Roman"/>
              </a:rPr>
              <a:t>Metrics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401687" y="6604610"/>
            <a:ext cx="6340475" cy="31578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6830">
              <a:lnSpc>
                <a:spcPts val="3180"/>
              </a:lnSpc>
              <a:spcBef>
                <a:spcPts val="100"/>
              </a:spcBef>
            </a:pPr>
            <a:r>
              <a:rPr dirty="0" sz="2700" spc="-25" b="1">
                <a:latin typeface="Times New Roman"/>
                <a:cs typeface="Times New Roman"/>
              </a:rPr>
              <a:t>Name:</a:t>
            </a:r>
            <a:r>
              <a:rPr dirty="0" sz="2700" spc="-135" b="1">
                <a:latin typeface="Times New Roman"/>
                <a:cs typeface="Times New Roman"/>
              </a:rPr>
              <a:t> </a:t>
            </a:r>
            <a:r>
              <a:rPr dirty="0" sz="2700" spc="95">
                <a:latin typeface="Times New Roman"/>
                <a:cs typeface="Times New Roman"/>
              </a:rPr>
              <a:t>Ankita</a:t>
            </a:r>
            <a:endParaRPr sz="2700">
              <a:latin typeface="Times New Roman"/>
              <a:cs typeface="Times New Roman"/>
            </a:endParaRPr>
          </a:p>
          <a:p>
            <a:pPr marL="24765">
              <a:lnSpc>
                <a:spcPts val="3180"/>
              </a:lnSpc>
            </a:pPr>
            <a:r>
              <a:rPr dirty="0" sz="2700" spc="-20" b="1">
                <a:latin typeface="Times New Roman"/>
                <a:cs typeface="Times New Roman"/>
              </a:rPr>
              <a:t>Age:</a:t>
            </a:r>
            <a:r>
              <a:rPr dirty="0" sz="2700" spc="-140" b="1">
                <a:latin typeface="Times New Roman"/>
                <a:cs typeface="Times New Roman"/>
              </a:rPr>
              <a:t> </a:t>
            </a:r>
            <a:r>
              <a:rPr dirty="0" sz="2700" spc="-25">
                <a:latin typeface="Times New Roman"/>
                <a:cs typeface="Times New Roman"/>
              </a:rPr>
              <a:t>30</a:t>
            </a:r>
            <a:endParaRPr sz="2700">
              <a:latin typeface="Times New Roman"/>
              <a:cs typeface="Times New Roman"/>
            </a:endParaRPr>
          </a:p>
          <a:p>
            <a:pPr marL="12700">
              <a:lnSpc>
                <a:spcPts val="3225"/>
              </a:lnSpc>
              <a:spcBef>
                <a:spcPts val="600"/>
              </a:spcBef>
            </a:pPr>
            <a:r>
              <a:rPr dirty="0" sz="2700" spc="-50" b="1">
                <a:latin typeface="Times New Roman"/>
                <a:cs typeface="Times New Roman"/>
              </a:rPr>
              <a:t>Occupation:</a:t>
            </a:r>
            <a:r>
              <a:rPr dirty="0" sz="2700" spc="-70" b="1">
                <a:latin typeface="Times New Roman"/>
                <a:cs typeface="Times New Roman"/>
              </a:rPr>
              <a:t> </a:t>
            </a:r>
            <a:r>
              <a:rPr dirty="0" sz="2700" spc="60">
                <a:latin typeface="Times New Roman"/>
                <a:cs typeface="Times New Roman"/>
              </a:rPr>
              <a:t>Analyst</a:t>
            </a:r>
            <a:endParaRPr sz="2700">
              <a:latin typeface="Times New Roman"/>
              <a:cs typeface="Times New Roman"/>
            </a:endParaRPr>
          </a:p>
          <a:p>
            <a:pPr marL="19685">
              <a:lnSpc>
                <a:spcPts val="3225"/>
              </a:lnSpc>
            </a:pPr>
            <a:r>
              <a:rPr dirty="0" sz="2700" spc="-35" b="1">
                <a:latin typeface="Times New Roman"/>
                <a:cs typeface="Times New Roman"/>
              </a:rPr>
              <a:t>Location:</a:t>
            </a:r>
            <a:r>
              <a:rPr dirty="0" sz="2700" spc="-95" b="1">
                <a:latin typeface="Times New Roman"/>
                <a:cs typeface="Times New Roman"/>
              </a:rPr>
              <a:t> </a:t>
            </a:r>
            <a:r>
              <a:rPr dirty="0" sz="2700" spc="55">
                <a:latin typeface="Times New Roman"/>
                <a:cs typeface="Times New Roman"/>
              </a:rPr>
              <a:t>Bangalore</a:t>
            </a:r>
            <a:endParaRPr sz="2700">
              <a:latin typeface="Times New Roman"/>
              <a:cs typeface="Times New Roman"/>
            </a:endParaRPr>
          </a:p>
          <a:p>
            <a:pPr algn="just" marL="36830" marR="5080">
              <a:lnSpc>
                <a:spcPct val="115700"/>
              </a:lnSpc>
              <a:spcBef>
                <a:spcPts val="5"/>
              </a:spcBef>
            </a:pPr>
            <a:r>
              <a:rPr dirty="0" sz="2700" b="1">
                <a:latin typeface="Times New Roman"/>
                <a:cs typeface="Times New Roman"/>
              </a:rPr>
              <a:t>Lifestyle:</a:t>
            </a:r>
            <a:r>
              <a:rPr dirty="0" sz="2700" spc="140" b="1">
                <a:latin typeface="Times New Roman"/>
                <a:cs typeface="Times New Roman"/>
              </a:rPr>
              <a:t>  </a:t>
            </a:r>
            <a:r>
              <a:rPr dirty="0" sz="2700" spc="105">
                <a:latin typeface="Times New Roman"/>
                <a:cs typeface="Times New Roman"/>
              </a:rPr>
              <a:t>Ankita</a:t>
            </a:r>
            <a:r>
              <a:rPr dirty="0" sz="2700" spc="140">
                <a:latin typeface="Times New Roman"/>
                <a:cs typeface="Times New Roman"/>
              </a:rPr>
              <a:t>  </a:t>
            </a:r>
            <a:r>
              <a:rPr dirty="0" sz="2700">
                <a:latin typeface="Times New Roman"/>
                <a:cs typeface="Times New Roman"/>
              </a:rPr>
              <a:t>is</a:t>
            </a:r>
            <a:r>
              <a:rPr dirty="0" sz="2700" spc="145">
                <a:latin typeface="Times New Roman"/>
                <a:cs typeface="Times New Roman"/>
              </a:rPr>
              <a:t>  </a:t>
            </a:r>
            <a:r>
              <a:rPr dirty="0" sz="2700" spc="140">
                <a:latin typeface="Times New Roman"/>
                <a:cs typeface="Times New Roman"/>
              </a:rPr>
              <a:t>a</a:t>
            </a:r>
            <a:r>
              <a:rPr dirty="0" sz="2700" spc="140">
                <a:latin typeface="Times New Roman"/>
                <a:cs typeface="Times New Roman"/>
              </a:rPr>
              <a:t>  </a:t>
            </a:r>
            <a:r>
              <a:rPr dirty="0" sz="2700" spc="60">
                <a:latin typeface="Times New Roman"/>
                <a:cs typeface="Times New Roman"/>
              </a:rPr>
              <a:t>busy</a:t>
            </a:r>
            <a:r>
              <a:rPr dirty="0" sz="2700" spc="145">
                <a:latin typeface="Times New Roman"/>
                <a:cs typeface="Times New Roman"/>
              </a:rPr>
              <a:t>  </a:t>
            </a:r>
            <a:r>
              <a:rPr dirty="0" sz="2700" spc="45">
                <a:latin typeface="Times New Roman"/>
                <a:cs typeface="Times New Roman"/>
              </a:rPr>
              <a:t>professional </a:t>
            </a:r>
            <a:r>
              <a:rPr dirty="0" sz="2700" spc="55">
                <a:latin typeface="Times New Roman"/>
                <a:cs typeface="Times New Roman"/>
              </a:rPr>
              <a:t>with</a:t>
            </a:r>
            <a:r>
              <a:rPr dirty="0" sz="2700" spc="380">
                <a:latin typeface="Times New Roman"/>
                <a:cs typeface="Times New Roman"/>
              </a:rPr>
              <a:t> </a:t>
            </a:r>
            <a:r>
              <a:rPr dirty="0" sz="2700" spc="140">
                <a:latin typeface="Times New Roman"/>
                <a:cs typeface="Times New Roman"/>
              </a:rPr>
              <a:t>a</a:t>
            </a:r>
            <a:r>
              <a:rPr dirty="0" sz="2700" spc="380">
                <a:latin typeface="Times New Roman"/>
                <a:cs typeface="Times New Roman"/>
              </a:rPr>
              <a:t> </a:t>
            </a:r>
            <a:r>
              <a:rPr dirty="0" sz="2700">
                <a:latin typeface="Times New Roman"/>
                <a:cs typeface="Times New Roman"/>
              </a:rPr>
              <a:t>full-</a:t>
            </a:r>
            <a:r>
              <a:rPr dirty="0" sz="2700" spc="50">
                <a:latin typeface="Times New Roman"/>
                <a:cs typeface="Times New Roman"/>
              </a:rPr>
              <a:t>time</a:t>
            </a:r>
            <a:r>
              <a:rPr dirty="0" sz="2700" spc="380">
                <a:latin typeface="Times New Roman"/>
                <a:cs typeface="Times New Roman"/>
              </a:rPr>
              <a:t> </a:t>
            </a:r>
            <a:r>
              <a:rPr dirty="0" sz="2700" spc="75">
                <a:latin typeface="Times New Roman"/>
                <a:cs typeface="Times New Roman"/>
              </a:rPr>
              <a:t>job,</a:t>
            </a:r>
            <a:r>
              <a:rPr dirty="0" sz="2700" spc="380">
                <a:latin typeface="Times New Roman"/>
                <a:cs typeface="Times New Roman"/>
              </a:rPr>
              <a:t> </a:t>
            </a:r>
            <a:r>
              <a:rPr dirty="0" sz="2700" spc="75">
                <a:latin typeface="Times New Roman"/>
                <a:cs typeface="Times New Roman"/>
              </a:rPr>
              <a:t>managing</a:t>
            </a:r>
            <a:r>
              <a:rPr dirty="0" sz="2700" spc="380">
                <a:latin typeface="Times New Roman"/>
                <a:cs typeface="Times New Roman"/>
              </a:rPr>
              <a:t> </a:t>
            </a:r>
            <a:r>
              <a:rPr dirty="0" sz="2700" spc="135">
                <a:latin typeface="Times New Roman"/>
                <a:cs typeface="Times New Roman"/>
              </a:rPr>
              <a:t>both</a:t>
            </a:r>
            <a:r>
              <a:rPr dirty="0" sz="2700" spc="380">
                <a:latin typeface="Times New Roman"/>
                <a:cs typeface="Times New Roman"/>
              </a:rPr>
              <a:t> </a:t>
            </a:r>
            <a:r>
              <a:rPr dirty="0" sz="2700" spc="75">
                <a:latin typeface="Times New Roman"/>
                <a:cs typeface="Times New Roman"/>
              </a:rPr>
              <a:t>work </a:t>
            </a:r>
            <a:r>
              <a:rPr dirty="0" sz="2700" spc="135">
                <a:latin typeface="Times New Roman"/>
                <a:cs typeface="Times New Roman"/>
              </a:rPr>
              <a:t>and</a:t>
            </a:r>
            <a:r>
              <a:rPr dirty="0" sz="2700" spc="10">
                <a:latin typeface="Times New Roman"/>
                <a:cs typeface="Times New Roman"/>
              </a:rPr>
              <a:t> </a:t>
            </a:r>
            <a:r>
              <a:rPr dirty="0" sz="2700" spc="85">
                <a:latin typeface="Times New Roman"/>
                <a:cs typeface="Times New Roman"/>
              </a:rPr>
              <a:t>home</a:t>
            </a:r>
            <a:r>
              <a:rPr dirty="0" sz="2700" spc="10">
                <a:latin typeface="Times New Roman"/>
                <a:cs typeface="Times New Roman"/>
              </a:rPr>
              <a:t> </a:t>
            </a:r>
            <a:r>
              <a:rPr dirty="0" sz="2700">
                <a:latin typeface="Times New Roman"/>
                <a:cs typeface="Times New Roman"/>
              </a:rPr>
              <a:t>life</a:t>
            </a:r>
            <a:r>
              <a:rPr dirty="0" sz="2700" spc="10">
                <a:latin typeface="Times New Roman"/>
                <a:cs typeface="Times New Roman"/>
              </a:rPr>
              <a:t> </a:t>
            </a:r>
            <a:r>
              <a:rPr dirty="0" sz="2700">
                <a:latin typeface="Times New Roman"/>
                <a:cs typeface="Times New Roman"/>
              </a:rPr>
              <a:t>while</a:t>
            </a:r>
            <a:r>
              <a:rPr dirty="0" sz="2700" spc="15">
                <a:latin typeface="Times New Roman"/>
                <a:cs typeface="Times New Roman"/>
              </a:rPr>
              <a:t> </a:t>
            </a:r>
            <a:r>
              <a:rPr dirty="0" sz="2700">
                <a:latin typeface="Times New Roman"/>
                <a:cs typeface="Times New Roman"/>
              </a:rPr>
              <a:t>living</a:t>
            </a:r>
            <a:r>
              <a:rPr dirty="0" sz="2700" spc="10">
                <a:latin typeface="Times New Roman"/>
                <a:cs typeface="Times New Roman"/>
              </a:rPr>
              <a:t> </a:t>
            </a:r>
            <a:r>
              <a:rPr dirty="0" sz="2700" spc="55">
                <a:latin typeface="Times New Roman"/>
                <a:cs typeface="Times New Roman"/>
              </a:rPr>
              <a:t>with</a:t>
            </a:r>
            <a:r>
              <a:rPr dirty="0" sz="2700" spc="10">
                <a:latin typeface="Times New Roman"/>
                <a:cs typeface="Times New Roman"/>
              </a:rPr>
              <a:t> </a:t>
            </a:r>
            <a:r>
              <a:rPr dirty="0" sz="2700" spc="80">
                <a:latin typeface="Times New Roman"/>
                <a:cs typeface="Times New Roman"/>
              </a:rPr>
              <a:t>her</a:t>
            </a:r>
            <a:r>
              <a:rPr dirty="0" sz="2700" spc="15">
                <a:latin typeface="Times New Roman"/>
                <a:cs typeface="Times New Roman"/>
              </a:rPr>
              <a:t> </a:t>
            </a:r>
            <a:r>
              <a:rPr dirty="0" sz="2700" spc="-10">
                <a:latin typeface="Times New Roman"/>
                <a:cs typeface="Times New Roman"/>
              </a:rPr>
              <a:t>family.</a:t>
            </a:r>
            <a:endParaRPr sz="2700">
              <a:latin typeface="Times New Roman"/>
              <a:cs typeface="Times New Roman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7777888" y="1313193"/>
            <a:ext cx="1122045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spc="-40" b="1">
                <a:latin typeface="Times New Roman"/>
                <a:cs typeface="Times New Roman"/>
              </a:rPr>
              <a:t>Goals:</a:t>
            </a:r>
            <a:endParaRPr sz="3200">
              <a:latin typeface="Times New Roman"/>
              <a:cs typeface="Times New Roman"/>
            </a:endParaRPr>
          </a:p>
        </p:txBody>
      </p:sp>
      <p:pic>
        <p:nvPicPr>
          <p:cNvPr id="9" name="object 9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82492" y="2328051"/>
            <a:ext cx="85725" cy="85724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7812234" y="2024514"/>
            <a:ext cx="9744075" cy="71685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312420">
              <a:lnSpc>
                <a:spcPct val="116100"/>
              </a:lnSpc>
              <a:spcBef>
                <a:spcPts val="100"/>
              </a:spcBef>
            </a:pPr>
            <a:r>
              <a:rPr dirty="0" sz="2800" spc="130">
                <a:solidFill>
                  <a:srgbClr val="040404"/>
                </a:solidFill>
                <a:latin typeface="Times New Roman"/>
                <a:cs typeface="Times New Roman"/>
              </a:rPr>
              <a:t>Get</a:t>
            </a:r>
            <a:r>
              <a:rPr dirty="0" sz="2800" spc="15">
                <a:solidFill>
                  <a:srgbClr val="040404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040404"/>
                </a:solidFill>
                <a:latin typeface="Times New Roman"/>
                <a:cs typeface="Times New Roman"/>
              </a:rPr>
              <a:t>access</a:t>
            </a:r>
            <a:r>
              <a:rPr dirty="0" sz="2800" spc="15">
                <a:solidFill>
                  <a:srgbClr val="040404"/>
                </a:solidFill>
                <a:latin typeface="Times New Roman"/>
                <a:cs typeface="Times New Roman"/>
              </a:rPr>
              <a:t> </a:t>
            </a:r>
            <a:r>
              <a:rPr dirty="0" sz="2800" spc="145">
                <a:solidFill>
                  <a:srgbClr val="040404"/>
                </a:solidFill>
                <a:latin typeface="Times New Roman"/>
                <a:cs typeface="Times New Roman"/>
              </a:rPr>
              <a:t>to</a:t>
            </a:r>
            <a:r>
              <a:rPr dirty="0" sz="2800" spc="20">
                <a:solidFill>
                  <a:srgbClr val="040404"/>
                </a:solidFill>
                <a:latin typeface="Times New Roman"/>
                <a:cs typeface="Times New Roman"/>
              </a:rPr>
              <a:t> </a:t>
            </a:r>
            <a:r>
              <a:rPr dirty="0" sz="2800" spc="160">
                <a:solidFill>
                  <a:srgbClr val="040404"/>
                </a:solidFill>
                <a:latin typeface="Times New Roman"/>
                <a:cs typeface="Times New Roman"/>
              </a:rPr>
              <a:t>a</a:t>
            </a:r>
            <a:r>
              <a:rPr dirty="0" sz="2800" spc="15">
                <a:solidFill>
                  <a:srgbClr val="040404"/>
                </a:solidFill>
                <a:latin typeface="Times New Roman"/>
                <a:cs typeface="Times New Roman"/>
              </a:rPr>
              <a:t> </a:t>
            </a:r>
            <a:r>
              <a:rPr dirty="0" sz="2800" spc="55">
                <a:solidFill>
                  <a:srgbClr val="040404"/>
                </a:solidFill>
                <a:latin typeface="Times New Roman"/>
                <a:cs typeface="Times New Roman"/>
              </a:rPr>
              <a:t>variety</a:t>
            </a:r>
            <a:r>
              <a:rPr dirty="0" sz="2800" spc="20">
                <a:solidFill>
                  <a:srgbClr val="040404"/>
                </a:solidFill>
                <a:latin typeface="Times New Roman"/>
                <a:cs typeface="Times New Roman"/>
              </a:rPr>
              <a:t> </a:t>
            </a:r>
            <a:r>
              <a:rPr dirty="0" sz="2800" spc="60">
                <a:solidFill>
                  <a:srgbClr val="040404"/>
                </a:solidFill>
                <a:latin typeface="Times New Roman"/>
                <a:cs typeface="Times New Roman"/>
              </a:rPr>
              <a:t>of</a:t>
            </a:r>
            <a:r>
              <a:rPr dirty="0" sz="2800" spc="15">
                <a:solidFill>
                  <a:srgbClr val="040404"/>
                </a:solidFill>
                <a:latin typeface="Times New Roman"/>
                <a:cs typeface="Times New Roman"/>
              </a:rPr>
              <a:t> </a:t>
            </a:r>
            <a:r>
              <a:rPr dirty="0" sz="2800" spc="95">
                <a:solidFill>
                  <a:srgbClr val="040404"/>
                </a:solidFill>
                <a:latin typeface="Times New Roman"/>
                <a:cs typeface="Times New Roman"/>
              </a:rPr>
              <a:t>products</a:t>
            </a:r>
            <a:r>
              <a:rPr dirty="0" sz="2800" spc="20">
                <a:solidFill>
                  <a:srgbClr val="040404"/>
                </a:solidFill>
                <a:latin typeface="Times New Roman"/>
                <a:cs typeface="Times New Roman"/>
              </a:rPr>
              <a:t> </a:t>
            </a:r>
            <a:r>
              <a:rPr dirty="0" sz="2800" spc="95">
                <a:solidFill>
                  <a:srgbClr val="040404"/>
                </a:solidFill>
                <a:latin typeface="Times New Roman"/>
                <a:cs typeface="Times New Roman"/>
              </a:rPr>
              <a:t>without</a:t>
            </a:r>
            <a:r>
              <a:rPr dirty="0" sz="2800" spc="15">
                <a:solidFill>
                  <a:srgbClr val="040404"/>
                </a:solidFill>
                <a:latin typeface="Times New Roman"/>
                <a:cs typeface="Times New Roman"/>
              </a:rPr>
              <a:t> </a:t>
            </a:r>
            <a:r>
              <a:rPr dirty="0" sz="2800" spc="65">
                <a:solidFill>
                  <a:srgbClr val="040404"/>
                </a:solidFill>
                <a:latin typeface="Times New Roman"/>
                <a:cs typeface="Times New Roman"/>
              </a:rPr>
              <a:t>having</a:t>
            </a:r>
            <a:r>
              <a:rPr dirty="0" sz="2800" spc="20">
                <a:solidFill>
                  <a:srgbClr val="040404"/>
                </a:solidFill>
                <a:latin typeface="Times New Roman"/>
                <a:cs typeface="Times New Roman"/>
              </a:rPr>
              <a:t> </a:t>
            </a:r>
            <a:r>
              <a:rPr dirty="0" sz="2800" spc="145">
                <a:solidFill>
                  <a:srgbClr val="040404"/>
                </a:solidFill>
                <a:latin typeface="Times New Roman"/>
                <a:cs typeface="Times New Roman"/>
              </a:rPr>
              <a:t>to</a:t>
            </a:r>
            <a:r>
              <a:rPr dirty="0" sz="2800" spc="15">
                <a:solidFill>
                  <a:srgbClr val="040404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040404"/>
                </a:solidFill>
                <a:latin typeface="Times New Roman"/>
                <a:cs typeface="Times New Roman"/>
              </a:rPr>
              <a:t>leave</a:t>
            </a:r>
            <a:r>
              <a:rPr dirty="0" sz="2800" spc="20">
                <a:solidFill>
                  <a:srgbClr val="040404"/>
                </a:solidFill>
                <a:latin typeface="Times New Roman"/>
                <a:cs typeface="Times New Roman"/>
              </a:rPr>
              <a:t> </a:t>
            </a:r>
            <a:r>
              <a:rPr dirty="0" sz="2800" spc="55">
                <a:solidFill>
                  <a:srgbClr val="040404"/>
                </a:solidFill>
                <a:latin typeface="Times New Roman"/>
                <a:cs typeface="Times New Roman"/>
              </a:rPr>
              <a:t>her </a:t>
            </a:r>
            <a:r>
              <a:rPr dirty="0" sz="2800" spc="70">
                <a:solidFill>
                  <a:srgbClr val="040404"/>
                </a:solidFill>
                <a:latin typeface="Times New Roman"/>
                <a:cs typeface="Times New Roman"/>
              </a:rPr>
              <a:t>home.</a:t>
            </a:r>
            <a:endParaRPr sz="2800">
              <a:latin typeface="Times New Roman"/>
              <a:cs typeface="Times New Roman"/>
            </a:endParaRPr>
          </a:p>
          <a:p>
            <a:pPr marL="12700" marR="5080">
              <a:lnSpc>
                <a:spcPct val="116100"/>
              </a:lnSpc>
            </a:pPr>
            <a:r>
              <a:rPr dirty="0" sz="2800">
                <a:solidFill>
                  <a:srgbClr val="040404"/>
                </a:solidFill>
                <a:latin typeface="Times New Roman"/>
                <a:cs typeface="Times New Roman"/>
              </a:rPr>
              <a:t>Receive</a:t>
            </a:r>
            <a:r>
              <a:rPr dirty="0" sz="2800" spc="125">
                <a:solidFill>
                  <a:srgbClr val="040404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040404"/>
                </a:solidFill>
                <a:latin typeface="Times New Roman"/>
                <a:cs typeface="Times New Roman"/>
              </a:rPr>
              <a:t>fresh,</a:t>
            </a:r>
            <a:r>
              <a:rPr dirty="0" sz="2800" spc="130">
                <a:solidFill>
                  <a:srgbClr val="040404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040404"/>
                </a:solidFill>
                <a:latin typeface="Times New Roman"/>
                <a:cs typeface="Times New Roman"/>
              </a:rPr>
              <a:t>high-</a:t>
            </a:r>
            <a:r>
              <a:rPr dirty="0" sz="2800" spc="75">
                <a:solidFill>
                  <a:srgbClr val="040404"/>
                </a:solidFill>
                <a:latin typeface="Times New Roman"/>
                <a:cs typeface="Times New Roman"/>
              </a:rPr>
              <a:t>quality</a:t>
            </a:r>
            <a:r>
              <a:rPr dirty="0" sz="2800" spc="125">
                <a:solidFill>
                  <a:srgbClr val="040404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040404"/>
                </a:solidFill>
                <a:latin typeface="Times New Roman"/>
                <a:cs typeface="Times New Roman"/>
              </a:rPr>
              <a:t>groceries</a:t>
            </a:r>
            <a:r>
              <a:rPr dirty="0" sz="2800" spc="130">
                <a:solidFill>
                  <a:srgbClr val="040404"/>
                </a:solidFill>
                <a:latin typeface="Times New Roman"/>
                <a:cs typeface="Times New Roman"/>
              </a:rPr>
              <a:t> </a:t>
            </a:r>
            <a:r>
              <a:rPr dirty="0" sz="2800" spc="155">
                <a:solidFill>
                  <a:srgbClr val="040404"/>
                </a:solidFill>
                <a:latin typeface="Times New Roman"/>
                <a:cs typeface="Times New Roman"/>
              </a:rPr>
              <a:t>at</a:t>
            </a:r>
            <a:r>
              <a:rPr dirty="0" sz="2800" spc="125">
                <a:solidFill>
                  <a:srgbClr val="040404"/>
                </a:solidFill>
                <a:latin typeface="Times New Roman"/>
                <a:cs typeface="Times New Roman"/>
              </a:rPr>
              <a:t> </a:t>
            </a:r>
            <a:r>
              <a:rPr dirty="0" sz="2800" spc="80">
                <a:solidFill>
                  <a:srgbClr val="040404"/>
                </a:solidFill>
                <a:latin typeface="Times New Roman"/>
                <a:cs typeface="Times New Roman"/>
              </a:rPr>
              <a:t>her</a:t>
            </a:r>
            <a:r>
              <a:rPr dirty="0" sz="2800" spc="130">
                <a:solidFill>
                  <a:srgbClr val="040404"/>
                </a:solidFill>
                <a:latin typeface="Times New Roman"/>
                <a:cs typeface="Times New Roman"/>
              </a:rPr>
              <a:t> </a:t>
            </a:r>
            <a:r>
              <a:rPr dirty="0" sz="2800" spc="95">
                <a:solidFill>
                  <a:srgbClr val="040404"/>
                </a:solidFill>
                <a:latin typeface="Times New Roman"/>
                <a:cs typeface="Times New Roman"/>
              </a:rPr>
              <a:t>doorstep</a:t>
            </a:r>
            <a:r>
              <a:rPr dirty="0" sz="2800" spc="130">
                <a:solidFill>
                  <a:srgbClr val="040404"/>
                </a:solidFill>
                <a:latin typeface="Times New Roman"/>
                <a:cs typeface="Times New Roman"/>
              </a:rPr>
              <a:t> </a:t>
            </a:r>
            <a:r>
              <a:rPr dirty="0" sz="2800" spc="45">
                <a:solidFill>
                  <a:srgbClr val="040404"/>
                </a:solidFill>
                <a:latin typeface="Times New Roman"/>
                <a:cs typeface="Times New Roman"/>
              </a:rPr>
              <a:t>quickly</a:t>
            </a:r>
            <a:r>
              <a:rPr dirty="0" sz="2800" spc="125">
                <a:solidFill>
                  <a:srgbClr val="040404"/>
                </a:solidFill>
                <a:latin typeface="Times New Roman"/>
                <a:cs typeface="Times New Roman"/>
              </a:rPr>
              <a:t> </a:t>
            </a:r>
            <a:r>
              <a:rPr dirty="0" sz="2800" spc="114">
                <a:solidFill>
                  <a:srgbClr val="040404"/>
                </a:solidFill>
                <a:latin typeface="Times New Roman"/>
                <a:cs typeface="Times New Roman"/>
              </a:rPr>
              <a:t>and </a:t>
            </a:r>
            <a:r>
              <a:rPr dirty="0" sz="2800" spc="-10">
                <a:solidFill>
                  <a:srgbClr val="040404"/>
                </a:solidFill>
                <a:latin typeface="Times New Roman"/>
                <a:cs typeface="Times New Roman"/>
              </a:rPr>
              <a:t>effortlessly.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35"/>
              </a:spcBef>
            </a:pPr>
            <a:r>
              <a:rPr dirty="0" sz="2800">
                <a:solidFill>
                  <a:srgbClr val="040404"/>
                </a:solidFill>
                <a:latin typeface="Times New Roman"/>
                <a:cs typeface="Times New Roman"/>
              </a:rPr>
              <a:t>Save</a:t>
            </a:r>
            <a:r>
              <a:rPr dirty="0" sz="2800" spc="45">
                <a:solidFill>
                  <a:srgbClr val="040404"/>
                </a:solidFill>
                <a:latin typeface="Times New Roman"/>
                <a:cs typeface="Times New Roman"/>
              </a:rPr>
              <a:t> </a:t>
            </a:r>
            <a:r>
              <a:rPr dirty="0" sz="2800" spc="55">
                <a:solidFill>
                  <a:srgbClr val="040404"/>
                </a:solidFill>
                <a:latin typeface="Times New Roman"/>
                <a:cs typeface="Times New Roman"/>
              </a:rPr>
              <a:t>time</a:t>
            </a:r>
            <a:r>
              <a:rPr dirty="0" sz="2800" spc="45">
                <a:solidFill>
                  <a:srgbClr val="040404"/>
                </a:solidFill>
                <a:latin typeface="Times New Roman"/>
                <a:cs typeface="Times New Roman"/>
              </a:rPr>
              <a:t> </a:t>
            </a:r>
            <a:r>
              <a:rPr dirty="0" sz="2800" spc="65">
                <a:solidFill>
                  <a:srgbClr val="040404"/>
                </a:solidFill>
                <a:latin typeface="Times New Roman"/>
                <a:cs typeface="Times New Roman"/>
              </a:rPr>
              <a:t>by</a:t>
            </a:r>
            <a:r>
              <a:rPr dirty="0" sz="2800" spc="45">
                <a:solidFill>
                  <a:srgbClr val="040404"/>
                </a:solidFill>
                <a:latin typeface="Times New Roman"/>
                <a:cs typeface="Times New Roman"/>
              </a:rPr>
              <a:t> </a:t>
            </a:r>
            <a:r>
              <a:rPr dirty="0" sz="2800" spc="60">
                <a:solidFill>
                  <a:srgbClr val="040404"/>
                </a:solidFill>
                <a:latin typeface="Times New Roman"/>
                <a:cs typeface="Times New Roman"/>
              </a:rPr>
              <a:t>avoiding</a:t>
            </a:r>
            <a:r>
              <a:rPr dirty="0" sz="2800" spc="45">
                <a:solidFill>
                  <a:srgbClr val="040404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040404"/>
                </a:solidFill>
                <a:latin typeface="Times New Roman"/>
                <a:cs typeface="Times New Roman"/>
              </a:rPr>
              <a:t>daily</a:t>
            </a:r>
            <a:r>
              <a:rPr dirty="0" sz="2800" spc="45">
                <a:solidFill>
                  <a:srgbClr val="040404"/>
                </a:solidFill>
                <a:latin typeface="Times New Roman"/>
                <a:cs typeface="Times New Roman"/>
              </a:rPr>
              <a:t> </a:t>
            </a:r>
            <a:r>
              <a:rPr dirty="0" sz="2800" spc="75">
                <a:solidFill>
                  <a:srgbClr val="040404"/>
                </a:solidFill>
                <a:latin typeface="Times New Roman"/>
                <a:cs typeface="Times New Roman"/>
              </a:rPr>
              <a:t>trips</a:t>
            </a:r>
            <a:r>
              <a:rPr dirty="0" sz="2800" spc="45">
                <a:solidFill>
                  <a:srgbClr val="040404"/>
                </a:solidFill>
                <a:latin typeface="Times New Roman"/>
                <a:cs typeface="Times New Roman"/>
              </a:rPr>
              <a:t> </a:t>
            </a:r>
            <a:r>
              <a:rPr dirty="0" sz="2800" spc="145">
                <a:solidFill>
                  <a:srgbClr val="040404"/>
                </a:solidFill>
                <a:latin typeface="Times New Roman"/>
                <a:cs typeface="Times New Roman"/>
              </a:rPr>
              <a:t>to</a:t>
            </a:r>
            <a:r>
              <a:rPr dirty="0" sz="2800" spc="45">
                <a:solidFill>
                  <a:srgbClr val="040404"/>
                </a:solidFill>
                <a:latin typeface="Times New Roman"/>
                <a:cs typeface="Times New Roman"/>
              </a:rPr>
              <a:t> </a:t>
            </a:r>
            <a:r>
              <a:rPr dirty="0" sz="2800" spc="90">
                <a:solidFill>
                  <a:srgbClr val="040404"/>
                </a:solidFill>
                <a:latin typeface="Times New Roman"/>
                <a:cs typeface="Times New Roman"/>
              </a:rPr>
              <a:t>the</a:t>
            </a:r>
            <a:r>
              <a:rPr dirty="0" sz="2800" spc="45">
                <a:solidFill>
                  <a:srgbClr val="040404"/>
                </a:solidFill>
                <a:latin typeface="Times New Roman"/>
                <a:cs typeface="Times New Roman"/>
              </a:rPr>
              <a:t> </a:t>
            </a:r>
            <a:r>
              <a:rPr dirty="0" sz="2800" spc="60">
                <a:solidFill>
                  <a:srgbClr val="040404"/>
                </a:solidFill>
                <a:latin typeface="Times New Roman"/>
                <a:cs typeface="Times New Roman"/>
              </a:rPr>
              <a:t>store.</a:t>
            </a:r>
            <a:endParaRPr sz="2800">
              <a:latin typeface="Times New Roman"/>
              <a:cs typeface="Times New Roman"/>
            </a:endParaRPr>
          </a:p>
          <a:p>
            <a:pPr marL="12700" marR="246379">
              <a:lnSpc>
                <a:spcPct val="116100"/>
              </a:lnSpc>
            </a:pPr>
            <a:r>
              <a:rPr dirty="0" sz="2800" spc="85">
                <a:solidFill>
                  <a:srgbClr val="040404"/>
                </a:solidFill>
                <a:latin typeface="Times New Roman"/>
                <a:cs typeface="Times New Roman"/>
              </a:rPr>
              <a:t>Ensure</a:t>
            </a:r>
            <a:r>
              <a:rPr dirty="0" sz="2800" spc="75">
                <a:solidFill>
                  <a:srgbClr val="040404"/>
                </a:solidFill>
                <a:latin typeface="Times New Roman"/>
                <a:cs typeface="Times New Roman"/>
              </a:rPr>
              <a:t> </a:t>
            </a:r>
            <a:r>
              <a:rPr dirty="0" sz="2800" spc="150">
                <a:solidFill>
                  <a:srgbClr val="040404"/>
                </a:solidFill>
                <a:latin typeface="Times New Roman"/>
                <a:cs typeface="Times New Roman"/>
              </a:rPr>
              <a:t>that</a:t>
            </a:r>
            <a:r>
              <a:rPr dirty="0" sz="2800" spc="75">
                <a:solidFill>
                  <a:srgbClr val="040404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040404"/>
                </a:solidFill>
                <a:latin typeface="Times New Roman"/>
                <a:cs typeface="Times New Roman"/>
              </a:rPr>
              <a:t>essential</a:t>
            </a:r>
            <a:r>
              <a:rPr dirty="0" sz="2800" spc="75">
                <a:solidFill>
                  <a:srgbClr val="040404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040404"/>
                </a:solidFill>
                <a:latin typeface="Times New Roman"/>
                <a:cs typeface="Times New Roman"/>
              </a:rPr>
              <a:t>items</a:t>
            </a:r>
            <a:r>
              <a:rPr dirty="0" sz="2800" spc="75">
                <a:solidFill>
                  <a:srgbClr val="040404"/>
                </a:solidFill>
                <a:latin typeface="Times New Roman"/>
                <a:cs typeface="Times New Roman"/>
              </a:rPr>
              <a:t> </a:t>
            </a:r>
            <a:r>
              <a:rPr dirty="0" sz="2800" spc="85">
                <a:solidFill>
                  <a:srgbClr val="040404"/>
                </a:solidFill>
                <a:latin typeface="Times New Roman"/>
                <a:cs typeface="Times New Roman"/>
              </a:rPr>
              <a:t>are</a:t>
            </a:r>
            <a:r>
              <a:rPr dirty="0" sz="2800" spc="75">
                <a:solidFill>
                  <a:srgbClr val="040404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040404"/>
                </a:solidFill>
                <a:latin typeface="Times New Roman"/>
                <a:cs typeface="Times New Roman"/>
              </a:rPr>
              <a:t>never</a:t>
            </a:r>
            <a:r>
              <a:rPr dirty="0" sz="2800" spc="75">
                <a:solidFill>
                  <a:srgbClr val="040404"/>
                </a:solidFill>
                <a:latin typeface="Times New Roman"/>
                <a:cs typeface="Times New Roman"/>
              </a:rPr>
              <a:t> </a:t>
            </a:r>
            <a:r>
              <a:rPr dirty="0" sz="2800" spc="90">
                <a:solidFill>
                  <a:srgbClr val="040404"/>
                </a:solidFill>
                <a:latin typeface="Times New Roman"/>
                <a:cs typeface="Times New Roman"/>
              </a:rPr>
              <a:t>forgotten</a:t>
            </a:r>
            <a:r>
              <a:rPr dirty="0" sz="2800" spc="80">
                <a:solidFill>
                  <a:srgbClr val="040404"/>
                </a:solidFill>
                <a:latin typeface="Times New Roman"/>
                <a:cs typeface="Times New Roman"/>
              </a:rPr>
              <a:t> </a:t>
            </a:r>
            <a:r>
              <a:rPr dirty="0" sz="2800" spc="65">
                <a:solidFill>
                  <a:srgbClr val="040404"/>
                </a:solidFill>
                <a:latin typeface="Times New Roman"/>
                <a:cs typeface="Times New Roman"/>
              </a:rPr>
              <a:t>by</a:t>
            </a:r>
            <a:r>
              <a:rPr dirty="0" sz="2800" spc="75">
                <a:solidFill>
                  <a:srgbClr val="040404"/>
                </a:solidFill>
                <a:latin typeface="Times New Roman"/>
                <a:cs typeface="Times New Roman"/>
              </a:rPr>
              <a:t> </a:t>
            </a:r>
            <a:r>
              <a:rPr dirty="0" sz="2800" spc="55">
                <a:solidFill>
                  <a:srgbClr val="040404"/>
                </a:solidFill>
                <a:latin typeface="Times New Roman"/>
                <a:cs typeface="Times New Roman"/>
              </a:rPr>
              <a:t>setting</a:t>
            </a:r>
            <a:r>
              <a:rPr dirty="0" sz="2800" spc="75">
                <a:solidFill>
                  <a:srgbClr val="040404"/>
                </a:solidFill>
                <a:latin typeface="Times New Roman"/>
                <a:cs typeface="Times New Roman"/>
              </a:rPr>
              <a:t> </a:t>
            </a:r>
            <a:r>
              <a:rPr dirty="0" sz="2800" spc="135">
                <a:solidFill>
                  <a:srgbClr val="040404"/>
                </a:solidFill>
                <a:latin typeface="Times New Roman"/>
                <a:cs typeface="Times New Roman"/>
              </a:rPr>
              <a:t>up</a:t>
            </a:r>
            <a:r>
              <a:rPr dirty="0" sz="2800" spc="75">
                <a:solidFill>
                  <a:srgbClr val="040404"/>
                </a:solidFill>
                <a:latin typeface="Times New Roman"/>
                <a:cs typeface="Times New Roman"/>
              </a:rPr>
              <a:t> </a:t>
            </a:r>
            <a:r>
              <a:rPr dirty="0" sz="2800" spc="120">
                <a:solidFill>
                  <a:srgbClr val="040404"/>
                </a:solidFill>
                <a:latin typeface="Times New Roman"/>
                <a:cs typeface="Times New Roman"/>
              </a:rPr>
              <a:t>an </a:t>
            </a:r>
            <a:r>
              <a:rPr dirty="0" sz="2800">
                <a:solidFill>
                  <a:srgbClr val="040404"/>
                </a:solidFill>
                <a:latin typeface="Times New Roman"/>
                <a:cs typeface="Times New Roman"/>
              </a:rPr>
              <a:t>easy</a:t>
            </a:r>
            <a:r>
              <a:rPr dirty="0" sz="2800" spc="60">
                <a:solidFill>
                  <a:srgbClr val="040404"/>
                </a:solidFill>
                <a:latin typeface="Times New Roman"/>
                <a:cs typeface="Times New Roman"/>
              </a:rPr>
              <a:t> </a:t>
            </a:r>
            <a:r>
              <a:rPr dirty="0" sz="2800" spc="75">
                <a:solidFill>
                  <a:srgbClr val="040404"/>
                </a:solidFill>
                <a:latin typeface="Times New Roman"/>
                <a:cs typeface="Times New Roman"/>
              </a:rPr>
              <a:t>ordering</a:t>
            </a:r>
            <a:r>
              <a:rPr dirty="0" sz="2800" spc="65">
                <a:solidFill>
                  <a:srgbClr val="040404"/>
                </a:solidFill>
                <a:latin typeface="Times New Roman"/>
                <a:cs typeface="Times New Roman"/>
              </a:rPr>
              <a:t> </a:t>
            </a:r>
            <a:r>
              <a:rPr dirty="0" sz="2800" spc="-10">
                <a:solidFill>
                  <a:srgbClr val="040404"/>
                </a:solidFill>
                <a:latin typeface="Times New Roman"/>
                <a:cs typeface="Times New Roman"/>
              </a:rPr>
              <a:t>system.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80"/>
              </a:spcBef>
            </a:pPr>
            <a:endParaRPr sz="2800">
              <a:latin typeface="Times New Roman"/>
              <a:cs typeface="Times New Roman"/>
            </a:endParaRPr>
          </a:p>
          <a:p>
            <a:pPr marL="34925">
              <a:lnSpc>
                <a:spcPct val="100000"/>
              </a:lnSpc>
            </a:pPr>
            <a:r>
              <a:rPr dirty="0" sz="3200" b="1">
                <a:latin typeface="Times New Roman"/>
                <a:cs typeface="Times New Roman"/>
              </a:rPr>
              <a:t>Pain</a:t>
            </a:r>
            <a:r>
              <a:rPr dirty="0" sz="3200" spc="-50" b="1">
                <a:latin typeface="Times New Roman"/>
                <a:cs typeface="Times New Roman"/>
              </a:rPr>
              <a:t> </a:t>
            </a:r>
            <a:r>
              <a:rPr dirty="0" sz="3200" spc="-10" b="1">
                <a:latin typeface="Times New Roman"/>
                <a:cs typeface="Times New Roman"/>
              </a:rPr>
              <a:t>Points:</a:t>
            </a:r>
            <a:endParaRPr sz="3200">
              <a:latin typeface="Times New Roman"/>
              <a:cs typeface="Times New Roman"/>
            </a:endParaRPr>
          </a:p>
          <a:p>
            <a:pPr marL="139700">
              <a:lnSpc>
                <a:spcPct val="100000"/>
              </a:lnSpc>
              <a:spcBef>
                <a:spcPts val="2045"/>
              </a:spcBef>
            </a:pPr>
            <a:r>
              <a:rPr dirty="0" sz="2800" spc="75">
                <a:latin typeface="Times New Roman"/>
                <a:cs typeface="Times New Roman"/>
              </a:rPr>
              <a:t>Often</a:t>
            </a:r>
            <a:r>
              <a:rPr dirty="0" sz="2800" spc="55">
                <a:latin typeface="Times New Roman"/>
                <a:cs typeface="Times New Roman"/>
              </a:rPr>
              <a:t> </a:t>
            </a:r>
            <a:r>
              <a:rPr dirty="0" sz="2800" spc="50">
                <a:latin typeface="Times New Roman"/>
                <a:cs typeface="Times New Roman"/>
              </a:rPr>
              <a:t>forgets</a:t>
            </a:r>
            <a:r>
              <a:rPr dirty="0" sz="2800" spc="55">
                <a:latin typeface="Times New Roman"/>
                <a:cs typeface="Times New Roman"/>
              </a:rPr>
              <a:t> </a:t>
            </a:r>
            <a:r>
              <a:rPr dirty="0" sz="2800" spc="145">
                <a:latin typeface="Times New Roman"/>
                <a:cs typeface="Times New Roman"/>
              </a:rPr>
              <a:t>to</a:t>
            </a:r>
            <a:r>
              <a:rPr dirty="0" sz="2800" spc="55">
                <a:latin typeface="Times New Roman"/>
                <a:cs typeface="Times New Roman"/>
              </a:rPr>
              <a:t> </a:t>
            </a:r>
            <a:r>
              <a:rPr dirty="0" sz="2800" spc="90">
                <a:latin typeface="Times New Roman"/>
                <a:cs typeface="Times New Roman"/>
              </a:rPr>
              <a:t>buy</a:t>
            </a:r>
            <a:r>
              <a:rPr dirty="0" sz="2800" spc="5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essential</a:t>
            </a:r>
            <a:r>
              <a:rPr dirty="0" sz="2800" spc="5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items</a:t>
            </a:r>
            <a:r>
              <a:rPr dirty="0" sz="2800" spc="60">
                <a:latin typeface="Times New Roman"/>
                <a:cs typeface="Times New Roman"/>
              </a:rPr>
              <a:t> </a:t>
            </a:r>
            <a:r>
              <a:rPr dirty="0" sz="2800" spc="85">
                <a:latin typeface="Times New Roman"/>
                <a:cs typeface="Times New Roman"/>
              </a:rPr>
              <a:t>due</a:t>
            </a:r>
            <a:r>
              <a:rPr dirty="0" sz="2800" spc="55">
                <a:latin typeface="Times New Roman"/>
                <a:cs typeface="Times New Roman"/>
              </a:rPr>
              <a:t> </a:t>
            </a:r>
            <a:r>
              <a:rPr dirty="0" sz="2800" spc="145">
                <a:latin typeface="Times New Roman"/>
                <a:cs typeface="Times New Roman"/>
              </a:rPr>
              <a:t>to</a:t>
            </a:r>
            <a:r>
              <a:rPr dirty="0" sz="2800" spc="55">
                <a:latin typeface="Times New Roman"/>
                <a:cs typeface="Times New Roman"/>
              </a:rPr>
              <a:t> </a:t>
            </a:r>
            <a:r>
              <a:rPr dirty="0" sz="2800" spc="80">
                <a:latin typeface="Times New Roman"/>
                <a:cs typeface="Times New Roman"/>
              </a:rPr>
              <a:t>her</a:t>
            </a:r>
            <a:r>
              <a:rPr dirty="0" sz="2800" spc="55">
                <a:latin typeface="Times New Roman"/>
                <a:cs typeface="Times New Roman"/>
              </a:rPr>
              <a:t> </a:t>
            </a:r>
            <a:r>
              <a:rPr dirty="0" sz="2800" spc="60">
                <a:latin typeface="Times New Roman"/>
                <a:cs typeface="Times New Roman"/>
              </a:rPr>
              <a:t>busy</a:t>
            </a:r>
            <a:r>
              <a:rPr dirty="0" sz="2800" spc="55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schedule.</a:t>
            </a:r>
            <a:endParaRPr sz="2800">
              <a:latin typeface="Times New Roman"/>
              <a:cs typeface="Times New Roman"/>
            </a:endParaRPr>
          </a:p>
          <a:p>
            <a:pPr marL="114300" marR="1659255" indent="-18415">
              <a:lnSpc>
                <a:spcPct val="116100"/>
              </a:lnSpc>
            </a:pPr>
            <a:r>
              <a:rPr dirty="0" sz="2800" spc="105">
                <a:latin typeface="Times New Roman"/>
                <a:cs typeface="Times New Roman"/>
              </a:rPr>
              <a:t>Finds</a:t>
            </a:r>
            <a:r>
              <a:rPr dirty="0" sz="2800" spc="60">
                <a:latin typeface="Times New Roman"/>
                <a:cs typeface="Times New Roman"/>
              </a:rPr>
              <a:t> </a:t>
            </a:r>
            <a:r>
              <a:rPr dirty="0" sz="2800" spc="65">
                <a:latin typeface="Times New Roman"/>
                <a:cs typeface="Times New Roman"/>
              </a:rPr>
              <a:t>it </a:t>
            </a:r>
            <a:r>
              <a:rPr dirty="0" sz="2800" spc="60">
                <a:latin typeface="Times New Roman"/>
                <a:cs typeface="Times New Roman"/>
              </a:rPr>
              <a:t>tiring</a:t>
            </a:r>
            <a:r>
              <a:rPr dirty="0" sz="2800" spc="65">
                <a:latin typeface="Times New Roman"/>
                <a:cs typeface="Times New Roman"/>
              </a:rPr>
              <a:t> </a:t>
            </a:r>
            <a:r>
              <a:rPr dirty="0" sz="2800" spc="145">
                <a:latin typeface="Times New Roman"/>
                <a:cs typeface="Times New Roman"/>
              </a:rPr>
              <a:t>to</a:t>
            </a:r>
            <a:r>
              <a:rPr dirty="0" sz="2800" spc="6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visit</a:t>
            </a:r>
            <a:r>
              <a:rPr dirty="0" sz="2800" spc="65">
                <a:latin typeface="Times New Roman"/>
                <a:cs typeface="Times New Roman"/>
              </a:rPr>
              <a:t> </a:t>
            </a:r>
            <a:r>
              <a:rPr dirty="0" sz="2800" spc="60">
                <a:latin typeface="Times New Roman"/>
                <a:cs typeface="Times New Roman"/>
              </a:rPr>
              <a:t>stores </a:t>
            </a:r>
            <a:r>
              <a:rPr dirty="0" sz="2800">
                <a:latin typeface="Times New Roman"/>
                <a:cs typeface="Times New Roman"/>
              </a:rPr>
              <a:t>daily</a:t>
            </a:r>
            <a:r>
              <a:rPr dirty="0" sz="2800" spc="65">
                <a:latin typeface="Times New Roman"/>
                <a:cs typeface="Times New Roman"/>
              </a:rPr>
              <a:t> </a:t>
            </a:r>
            <a:r>
              <a:rPr dirty="0" sz="2800" spc="130">
                <a:latin typeface="Times New Roman"/>
                <a:cs typeface="Times New Roman"/>
              </a:rPr>
              <a:t>or</a:t>
            </a:r>
            <a:r>
              <a:rPr dirty="0" sz="2800" spc="65">
                <a:latin typeface="Times New Roman"/>
                <a:cs typeface="Times New Roman"/>
              </a:rPr>
              <a:t> </a:t>
            </a:r>
            <a:r>
              <a:rPr dirty="0" sz="2800" spc="135">
                <a:latin typeface="Times New Roman"/>
                <a:cs typeface="Times New Roman"/>
              </a:rPr>
              <a:t>on</a:t>
            </a:r>
            <a:r>
              <a:rPr dirty="0" sz="2800" spc="6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weekends</a:t>
            </a:r>
            <a:r>
              <a:rPr dirty="0" sz="2800" spc="65">
                <a:latin typeface="Times New Roman"/>
                <a:cs typeface="Times New Roman"/>
              </a:rPr>
              <a:t> </a:t>
            </a:r>
            <a:r>
              <a:rPr dirty="0" sz="2800" spc="60">
                <a:latin typeface="Times New Roman"/>
                <a:cs typeface="Times New Roman"/>
              </a:rPr>
              <a:t>for </a:t>
            </a:r>
            <a:r>
              <a:rPr dirty="0" sz="2800" spc="45">
                <a:latin typeface="Times New Roman"/>
                <a:cs typeface="Times New Roman"/>
              </a:rPr>
              <a:t>grocery</a:t>
            </a:r>
            <a:r>
              <a:rPr dirty="0" sz="2800" spc="25">
                <a:latin typeface="Times New Roman"/>
                <a:cs typeface="Times New Roman"/>
              </a:rPr>
              <a:t> </a:t>
            </a:r>
            <a:r>
              <a:rPr dirty="0" sz="2800" spc="65">
                <a:latin typeface="Times New Roman"/>
                <a:cs typeface="Times New Roman"/>
              </a:rPr>
              <a:t>shopping.</a:t>
            </a:r>
            <a:endParaRPr sz="2800">
              <a:latin typeface="Times New Roman"/>
              <a:cs typeface="Times New Roman"/>
            </a:endParaRPr>
          </a:p>
          <a:p>
            <a:pPr marL="114300" marR="598805" indent="-18415">
              <a:lnSpc>
                <a:spcPct val="116100"/>
              </a:lnSpc>
            </a:pPr>
            <a:r>
              <a:rPr dirty="0" sz="2800">
                <a:latin typeface="Times New Roman"/>
                <a:cs typeface="Times New Roman"/>
              </a:rPr>
              <a:t>Sometimes,</a:t>
            </a:r>
            <a:r>
              <a:rPr dirty="0" sz="2800" spc="125">
                <a:latin typeface="Times New Roman"/>
                <a:cs typeface="Times New Roman"/>
              </a:rPr>
              <a:t> </a:t>
            </a:r>
            <a:r>
              <a:rPr dirty="0" sz="2800" spc="60">
                <a:latin typeface="Times New Roman"/>
                <a:cs typeface="Times New Roman"/>
              </a:rPr>
              <a:t>stores</a:t>
            </a:r>
            <a:r>
              <a:rPr dirty="0" sz="2800" spc="125">
                <a:latin typeface="Times New Roman"/>
                <a:cs typeface="Times New Roman"/>
              </a:rPr>
              <a:t> </a:t>
            </a:r>
            <a:r>
              <a:rPr dirty="0" sz="2800" spc="110">
                <a:latin typeface="Times New Roman"/>
                <a:cs typeface="Times New Roman"/>
              </a:rPr>
              <a:t>don't</a:t>
            </a:r>
            <a:r>
              <a:rPr dirty="0" sz="2800" spc="125">
                <a:latin typeface="Times New Roman"/>
                <a:cs typeface="Times New Roman"/>
              </a:rPr>
              <a:t> </a:t>
            </a:r>
            <a:r>
              <a:rPr dirty="0" sz="2800" spc="65">
                <a:latin typeface="Times New Roman"/>
                <a:cs typeface="Times New Roman"/>
              </a:rPr>
              <a:t>have</a:t>
            </a:r>
            <a:r>
              <a:rPr dirty="0" sz="2800" spc="12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all</a:t>
            </a:r>
            <a:r>
              <a:rPr dirty="0" sz="2800" spc="130">
                <a:latin typeface="Times New Roman"/>
                <a:cs typeface="Times New Roman"/>
              </a:rPr>
              <a:t> </a:t>
            </a:r>
            <a:r>
              <a:rPr dirty="0" sz="2800" spc="90">
                <a:latin typeface="Times New Roman"/>
                <a:cs typeface="Times New Roman"/>
              </a:rPr>
              <a:t>the</a:t>
            </a:r>
            <a:r>
              <a:rPr dirty="0" sz="2800" spc="12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items</a:t>
            </a:r>
            <a:r>
              <a:rPr dirty="0" sz="2800" spc="12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she</a:t>
            </a:r>
            <a:r>
              <a:rPr dirty="0" sz="2800" spc="12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needs,</a:t>
            </a:r>
            <a:r>
              <a:rPr dirty="0" sz="2800" spc="130">
                <a:latin typeface="Times New Roman"/>
                <a:cs typeface="Times New Roman"/>
              </a:rPr>
              <a:t> </a:t>
            </a:r>
            <a:r>
              <a:rPr dirty="0" sz="2800" spc="35">
                <a:latin typeface="Times New Roman"/>
                <a:cs typeface="Times New Roman"/>
              </a:rPr>
              <a:t>forcing </a:t>
            </a:r>
            <a:r>
              <a:rPr dirty="0" sz="2800" spc="80">
                <a:latin typeface="Times New Roman"/>
                <a:cs typeface="Times New Roman"/>
              </a:rPr>
              <a:t>her</a:t>
            </a:r>
            <a:r>
              <a:rPr dirty="0" sz="2800" spc="20">
                <a:latin typeface="Times New Roman"/>
                <a:cs typeface="Times New Roman"/>
              </a:rPr>
              <a:t> </a:t>
            </a:r>
            <a:r>
              <a:rPr dirty="0" sz="2800" spc="145">
                <a:latin typeface="Times New Roman"/>
                <a:cs typeface="Times New Roman"/>
              </a:rPr>
              <a:t>to</a:t>
            </a:r>
            <a:r>
              <a:rPr dirty="0" sz="2800" spc="2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visit</a:t>
            </a:r>
            <a:r>
              <a:rPr dirty="0" sz="2800" spc="25">
                <a:latin typeface="Times New Roman"/>
                <a:cs typeface="Times New Roman"/>
              </a:rPr>
              <a:t> </a:t>
            </a:r>
            <a:r>
              <a:rPr dirty="0" sz="2800" spc="55">
                <a:latin typeface="Times New Roman"/>
                <a:cs typeface="Times New Roman"/>
              </a:rPr>
              <a:t>multiple</a:t>
            </a:r>
            <a:r>
              <a:rPr dirty="0" sz="2800" spc="20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places.</a:t>
            </a:r>
            <a:endParaRPr sz="2800">
              <a:latin typeface="Times New Roman"/>
              <a:cs typeface="Times New Roman"/>
            </a:endParaRPr>
          </a:p>
        </p:txBody>
      </p:sp>
      <p:pic>
        <p:nvPicPr>
          <p:cNvPr id="11" name="object 11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82492" y="3318650"/>
            <a:ext cx="85725" cy="85724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82492" y="4309250"/>
            <a:ext cx="85725" cy="85724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82492" y="4804550"/>
            <a:ext cx="85725" cy="85724"/>
          </a:xfrm>
          <a:prstGeom prst="rect">
            <a:avLst/>
          </a:prstGeom>
        </p:spPr>
      </p:pic>
      <p:pic>
        <p:nvPicPr>
          <p:cNvPr id="14" name="object 1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66530" y="6994598"/>
            <a:ext cx="85725" cy="85724"/>
          </a:xfrm>
          <a:prstGeom prst="rect">
            <a:avLst/>
          </a:prstGeom>
        </p:spPr>
      </p:pic>
      <p:pic>
        <p:nvPicPr>
          <p:cNvPr id="15" name="object 1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66530" y="7489898"/>
            <a:ext cx="85725" cy="85724"/>
          </a:xfrm>
          <a:prstGeom prst="rect">
            <a:avLst/>
          </a:prstGeom>
        </p:spPr>
      </p:pic>
      <p:pic>
        <p:nvPicPr>
          <p:cNvPr id="16" name="object 1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66530" y="8480498"/>
            <a:ext cx="85725" cy="8572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7245" y="2751655"/>
            <a:ext cx="17992724" cy="5613548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425830" y="203076"/>
            <a:ext cx="1510665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85" b="1">
                <a:latin typeface="Times New Roman"/>
                <a:cs typeface="Times New Roman"/>
              </a:rPr>
              <a:t>Overview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3716064" y="222126"/>
            <a:ext cx="2160905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b="1">
                <a:latin typeface="Times New Roman"/>
                <a:cs typeface="Times New Roman"/>
              </a:rPr>
              <a:t>User</a:t>
            </a:r>
            <a:r>
              <a:rPr dirty="0" sz="3000" spc="-100" b="1">
                <a:latin typeface="Times New Roman"/>
                <a:cs typeface="Times New Roman"/>
              </a:rPr>
              <a:t> </a:t>
            </a:r>
            <a:r>
              <a:rPr dirty="0" sz="3000" spc="-25" b="1">
                <a:latin typeface="Times New Roman"/>
                <a:cs typeface="Times New Roman"/>
              </a:rPr>
              <a:t>Persona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9497500" y="634876"/>
            <a:ext cx="53340" cy="38100"/>
          </a:xfrm>
          <a:custGeom>
            <a:avLst/>
            <a:gdLst/>
            <a:ahLst/>
            <a:cxnLst/>
            <a:rect l="l" t="t" r="r" b="b"/>
            <a:pathLst>
              <a:path w="53340" h="38100">
                <a:moveTo>
                  <a:pt x="52865" y="38099"/>
                </a:moveTo>
                <a:lnTo>
                  <a:pt x="0" y="38099"/>
                </a:lnTo>
                <a:lnTo>
                  <a:pt x="0" y="0"/>
                </a:lnTo>
                <a:lnTo>
                  <a:pt x="52865" y="0"/>
                </a:lnTo>
                <a:lnTo>
                  <a:pt x="52865" y="380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7402429" y="222126"/>
            <a:ext cx="2160905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heavy" sz="30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User</a:t>
            </a:r>
            <a:r>
              <a:rPr dirty="0" u="heavy" sz="3000" spc="-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3000" spc="-5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Journey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40"/>
              <a:t>Product</a:t>
            </a:r>
            <a:r>
              <a:rPr dirty="0" spc="-130"/>
              <a:t> </a:t>
            </a:r>
            <a:r>
              <a:rPr dirty="0" spc="-100"/>
              <a:t>Improvement</a:t>
            </a:r>
          </a:p>
        </p:txBody>
      </p:sp>
      <p:sp>
        <p:nvSpPr>
          <p:cNvPr id="8" name="object 8" descr=""/>
          <p:cNvSpPr txBox="1"/>
          <p:nvPr/>
        </p:nvSpPr>
        <p:spPr>
          <a:xfrm>
            <a:off x="16164551" y="193551"/>
            <a:ext cx="125984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20" b="1">
                <a:latin typeface="Times New Roman"/>
                <a:cs typeface="Times New Roman"/>
              </a:rPr>
              <a:t>Metrics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274273" y="1066665"/>
            <a:ext cx="3299460" cy="726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600" b="1">
                <a:latin typeface="Times New Roman"/>
                <a:cs typeface="Times New Roman"/>
              </a:rPr>
              <a:t>User</a:t>
            </a:r>
            <a:r>
              <a:rPr dirty="0" sz="4600" spc="-165" b="1">
                <a:latin typeface="Times New Roman"/>
                <a:cs typeface="Times New Roman"/>
              </a:rPr>
              <a:t> </a:t>
            </a:r>
            <a:r>
              <a:rPr dirty="0" sz="4600" spc="-70" b="1">
                <a:latin typeface="Times New Roman"/>
                <a:cs typeface="Times New Roman"/>
              </a:rPr>
              <a:t>Journey</a:t>
            </a:r>
            <a:endParaRPr sz="4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0025" y="3089153"/>
            <a:ext cx="3343274" cy="5962649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70139" y="3052435"/>
            <a:ext cx="2905124" cy="5991224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685934" y="3052435"/>
            <a:ext cx="2981324" cy="6115049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321949" y="3089153"/>
            <a:ext cx="2781299" cy="6165362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5096560" y="3052829"/>
            <a:ext cx="2805332" cy="6191249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425830" y="203076"/>
            <a:ext cx="1510665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85" b="1">
                <a:latin typeface="Times New Roman"/>
                <a:cs typeface="Times New Roman"/>
              </a:rPr>
              <a:t>Overview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3716064" y="222126"/>
            <a:ext cx="2160905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b="1">
                <a:latin typeface="Times New Roman"/>
                <a:cs typeface="Times New Roman"/>
              </a:rPr>
              <a:t>User</a:t>
            </a:r>
            <a:r>
              <a:rPr dirty="0" sz="3000" spc="-100" b="1">
                <a:latin typeface="Times New Roman"/>
                <a:cs typeface="Times New Roman"/>
              </a:rPr>
              <a:t> </a:t>
            </a:r>
            <a:r>
              <a:rPr dirty="0" sz="3000" spc="-25" b="1">
                <a:latin typeface="Times New Roman"/>
                <a:cs typeface="Times New Roman"/>
              </a:rPr>
              <a:t>Persona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9" name="object 9" descr=""/>
          <p:cNvSpPr/>
          <p:nvPr/>
        </p:nvSpPr>
        <p:spPr>
          <a:xfrm>
            <a:off x="9497500" y="634876"/>
            <a:ext cx="53340" cy="38100"/>
          </a:xfrm>
          <a:custGeom>
            <a:avLst/>
            <a:gdLst/>
            <a:ahLst/>
            <a:cxnLst/>
            <a:rect l="l" t="t" r="r" b="b"/>
            <a:pathLst>
              <a:path w="53340" h="38100">
                <a:moveTo>
                  <a:pt x="52865" y="38099"/>
                </a:moveTo>
                <a:lnTo>
                  <a:pt x="0" y="38099"/>
                </a:lnTo>
                <a:lnTo>
                  <a:pt x="0" y="0"/>
                </a:lnTo>
                <a:lnTo>
                  <a:pt x="52865" y="0"/>
                </a:lnTo>
                <a:lnTo>
                  <a:pt x="52865" y="380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7402429" y="222126"/>
            <a:ext cx="2160905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heavy" sz="30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User</a:t>
            </a:r>
            <a:r>
              <a:rPr dirty="0" u="heavy" sz="3000" spc="-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3000" spc="-5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Journey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0652024" y="184026"/>
            <a:ext cx="346710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40" b="1">
                <a:latin typeface="Times New Roman"/>
                <a:cs typeface="Times New Roman"/>
              </a:rPr>
              <a:t>Product</a:t>
            </a:r>
            <a:r>
              <a:rPr dirty="0" sz="3000" spc="-130" b="1">
                <a:latin typeface="Times New Roman"/>
                <a:cs typeface="Times New Roman"/>
              </a:rPr>
              <a:t> </a:t>
            </a:r>
            <a:r>
              <a:rPr dirty="0" sz="3000" spc="-100" b="1">
                <a:latin typeface="Times New Roman"/>
                <a:cs typeface="Times New Roman"/>
              </a:rPr>
              <a:t>Improvement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6164551" y="193551"/>
            <a:ext cx="125984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20" b="1">
                <a:latin typeface="Times New Roman"/>
                <a:cs typeface="Times New Roman"/>
              </a:rPr>
              <a:t>Metrics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187324" y="856922"/>
            <a:ext cx="5221605" cy="1657985"/>
          </a:xfrm>
          <a:prstGeom prst="rect">
            <a:avLst/>
          </a:prstGeom>
        </p:spPr>
        <p:txBody>
          <a:bodyPr wrap="square" lIns="0" tIns="2444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25"/>
              </a:spcBef>
            </a:pPr>
            <a:r>
              <a:rPr dirty="0" sz="4500" b="1">
                <a:latin typeface="Times New Roman"/>
                <a:cs typeface="Times New Roman"/>
              </a:rPr>
              <a:t>User</a:t>
            </a:r>
            <a:r>
              <a:rPr dirty="0" sz="4500" spc="-145" b="1">
                <a:latin typeface="Times New Roman"/>
                <a:cs typeface="Times New Roman"/>
              </a:rPr>
              <a:t> </a:t>
            </a:r>
            <a:r>
              <a:rPr dirty="0" sz="4500" spc="-65" b="1">
                <a:latin typeface="Times New Roman"/>
                <a:cs typeface="Times New Roman"/>
              </a:rPr>
              <a:t>Journey</a:t>
            </a:r>
            <a:r>
              <a:rPr dirty="0" sz="4500" spc="-140" b="1">
                <a:latin typeface="Times New Roman"/>
                <a:cs typeface="Times New Roman"/>
              </a:rPr>
              <a:t> </a:t>
            </a:r>
            <a:r>
              <a:rPr dirty="0" sz="4500" b="1">
                <a:latin typeface="Times New Roman"/>
                <a:cs typeface="Times New Roman"/>
              </a:rPr>
              <a:t>Phase</a:t>
            </a:r>
            <a:r>
              <a:rPr dirty="0" sz="4500" spc="-140" b="1">
                <a:latin typeface="Times New Roman"/>
                <a:cs typeface="Times New Roman"/>
              </a:rPr>
              <a:t> </a:t>
            </a:r>
            <a:r>
              <a:rPr dirty="0" sz="4500" spc="-50" b="1">
                <a:latin typeface="Times New Roman"/>
                <a:cs typeface="Times New Roman"/>
              </a:rPr>
              <a:t>1</a:t>
            </a:r>
            <a:endParaRPr sz="4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25"/>
              </a:spcBef>
            </a:pPr>
            <a:r>
              <a:rPr dirty="0" sz="3500" spc="-10" b="1">
                <a:latin typeface="Times New Roman"/>
                <a:cs typeface="Times New Roman"/>
              </a:rPr>
              <a:t>Onboarding</a:t>
            </a:r>
            <a:endParaRPr sz="3500">
              <a:latin typeface="Times New Roman"/>
              <a:cs typeface="Times New Roman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11642463" y="6925887"/>
            <a:ext cx="2182495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3599"/>
              </a:lnSpc>
              <a:spcBef>
                <a:spcPts val="100"/>
              </a:spcBef>
            </a:pPr>
            <a:r>
              <a:rPr dirty="0" sz="1100">
                <a:latin typeface="Times New Roman"/>
                <a:cs typeface="Times New Roman"/>
              </a:rPr>
              <a:t>64/2,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2nd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Temple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Street,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Vyalikaval, </a:t>
            </a:r>
            <a:r>
              <a:rPr dirty="0" sz="1100" spc="50">
                <a:latin typeface="Times New Roman"/>
                <a:cs typeface="Times New Roman"/>
              </a:rPr>
              <a:t>Kodandarampura,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Malleshwaram,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286773" y="9123679"/>
            <a:ext cx="3328035" cy="863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599"/>
              </a:lnSpc>
              <a:spcBef>
                <a:spcPts val="100"/>
              </a:spcBef>
            </a:pPr>
            <a:r>
              <a:rPr dirty="0" sz="2400">
                <a:latin typeface="Times New Roman"/>
                <a:cs typeface="Times New Roman"/>
              </a:rPr>
              <a:t>Step1</a:t>
            </a:r>
            <a:r>
              <a:rPr dirty="0" sz="2400" spc="6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:</a:t>
            </a:r>
            <a:r>
              <a:rPr dirty="0" sz="2400" spc="70">
                <a:latin typeface="Times New Roman"/>
                <a:cs typeface="Times New Roman"/>
              </a:rPr>
              <a:t> </a:t>
            </a:r>
            <a:r>
              <a:rPr dirty="0" sz="2400" spc="100">
                <a:latin typeface="Times New Roman"/>
                <a:cs typeface="Times New Roman"/>
              </a:rPr>
              <a:t>Download</a:t>
            </a:r>
            <a:r>
              <a:rPr dirty="0" sz="2400" spc="70">
                <a:latin typeface="Times New Roman"/>
                <a:cs typeface="Times New Roman"/>
              </a:rPr>
              <a:t> </a:t>
            </a:r>
            <a:r>
              <a:rPr dirty="0" sz="2400" spc="100">
                <a:latin typeface="Times New Roman"/>
                <a:cs typeface="Times New Roman"/>
              </a:rPr>
              <a:t>Dunzo </a:t>
            </a:r>
            <a:r>
              <a:rPr dirty="0" sz="2400" spc="85">
                <a:latin typeface="Times New Roman"/>
                <a:cs typeface="Times New Roman"/>
              </a:rPr>
              <a:t>from</a:t>
            </a:r>
            <a:r>
              <a:rPr dirty="0" sz="2400">
                <a:latin typeface="Times New Roman"/>
                <a:cs typeface="Times New Roman"/>
              </a:rPr>
              <a:t> </a:t>
            </a:r>
            <a:r>
              <a:rPr dirty="0" sz="2400" spc="50">
                <a:latin typeface="Times New Roman"/>
                <a:cs typeface="Times New Roman"/>
              </a:rPr>
              <a:t>PlayStore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4183121" y="9123679"/>
            <a:ext cx="2607310" cy="863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599"/>
              </a:lnSpc>
              <a:spcBef>
                <a:spcPts val="100"/>
              </a:spcBef>
            </a:pPr>
            <a:r>
              <a:rPr dirty="0" sz="2400">
                <a:latin typeface="Times New Roman"/>
                <a:cs typeface="Times New Roman"/>
              </a:rPr>
              <a:t>Step2</a:t>
            </a:r>
            <a:r>
              <a:rPr dirty="0" sz="2400" spc="7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:</a:t>
            </a:r>
            <a:r>
              <a:rPr dirty="0" sz="2400" spc="70">
                <a:latin typeface="Times New Roman"/>
                <a:cs typeface="Times New Roman"/>
              </a:rPr>
              <a:t> </a:t>
            </a:r>
            <a:r>
              <a:rPr dirty="0" sz="2400" spc="95">
                <a:latin typeface="Times New Roman"/>
                <a:cs typeface="Times New Roman"/>
              </a:rPr>
              <a:t>Enter</a:t>
            </a:r>
            <a:r>
              <a:rPr dirty="0" sz="2400" spc="70">
                <a:latin typeface="Times New Roman"/>
                <a:cs typeface="Times New Roman"/>
              </a:rPr>
              <a:t> </a:t>
            </a:r>
            <a:r>
              <a:rPr dirty="0" sz="2400" spc="65">
                <a:latin typeface="Times New Roman"/>
                <a:cs typeface="Times New Roman"/>
              </a:rPr>
              <a:t>Phone </a:t>
            </a:r>
            <a:r>
              <a:rPr dirty="0" sz="2400" spc="100">
                <a:latin typeface="Times New Roman"/>
                <a:cs typeface="Times New Roman"/>
              </a:rPr>
              <a:t>Number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7673233" y="9386536"/>
            <a:ext cx="240728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imes New Roman"/>
                <a:cs typeface="Times New Roman"/>
              </a:rPr>
              <a:t>Step3</a:t>
            </a:r>
            <a:r>
              <a:rPr dirty="0" sz="2400" spc="7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:</a:t>
            </a:r>
            <a:r>
              <a:rPr dirty="0" sz="2400" spc="70">
                <a:latin typeface="Times New Roman"/>
                <a:cs typeface="Times New Roman"/>
              </a:rPr>
              <a:t> </a:t>
            </a:r>
            <a:r>
              <a:rPr dirty="0" sz="2400" spc="95">
                <a:latin typeface="Times New Roman"/>
                <a:cs typeface="Times New Roman"/>
              </a:rPr>
              <a:t>Enter</a:t>
            </a:r>
            <a:r>
              <a:rPr dirty="0" sz="2400" spc="70">
                <a:latin typeface="Times New Roman"/>
                <a:cs typeface="Times New Roman"/>
              </a:rPr>
              <a:t> </a:t>
            </a:r>
            <a:r>
              <a:rPr dirty="0" sz="2400" spc="85">
                <a:latin typeface="Times New Roman"/>
                <a:cs typeface="Times New Roman"/>
              </a:rPr>
              <a:t>OTP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11176480" y="9333196"/>
            <a:ext cx="2950210" cy="863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599"/>
              </a:lnSpc>
              <a:spcBef>
                <a:spcPts val="100"/>
              </a:spcBef>
            </a:pPr>
            <a:r>
              <a:rPr dirty="0" sz="2400">
                <a:latin typeface="Times New Roman"/>
                <a:cs typeface="Times New Roman"/>
              </a:rPr>
              <a:t>Step4</a:t>
            </a:r>
            <a:r>
              <a:rPr dirty="0" sz="2400" spc="9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:</a:t>
            </a:r>
            <a:r>
              <a:rPr dirty="0" sz="2400" spc="9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Click</a:t>
            </a:r>
            <a:r>
              <a:rPr dirty="0" sz="2400" spc="100">
                <a:latin typeface="Times New Roman"/>
                <a:cs typeface="Times New Roman"/>
              </a:rPr>
              <a:t> </a:t>
            </a:r>
            <a:r>
              <a:rPr dirty="0" sz="2400" spc="120">
                <a:latin typeface="Times New Roman"/>
                <a:cs typeface="Times New Roman"/>
              </a:rPr>
              <a:t>on</a:t>
            </a:r>
            <a:r>
              <a:rPr dirty="0" sz="2400" spc="95">
                <a:latin typeface="Times New Roman"/>
                <a:cs typeface="Times New Roman"/>
              </a:rPr>
              <a:t> </a:t>
            </a:r>
            <a:r>
              <a:rPr dirty="0" sz="2400" spc="125">
                <a:latin typeface="Times New Roman"/>
                <a:cs typeface="Times New Roman"/>
              </a:rPr>
              <a:t>Grant </a:t>
            </a:r>
            <a:r>
              <a:rPr dirty="0" sz="2400" spc="85">
                <a:latin typeface="Times New Roman"/>
                <a:cs typeface="Times New Roman"/>
              </a:rPr>
              <a:t>Location</a:t>
            </a:r>
            <a:r>
              <a:rPr dirty="0" sz="2400" spc="3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Access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14917394" y="9356056"/>
            <a:ext cx="248666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imes New Roman"/>
                <a:cs typeface="Times New Roman"/>
              </a:rPr>
              <a:t>Step5</a:t>
            </a:r>
            <a:r>
              <a:rPr dirty="0" sz="2400" spc="7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:</a:t>
            </a:r>
            <a:r>
              <a:rPr dirty="0" sz="2400" spc="75">
                <a:latin typeface="Times New Roman"/>
                <a:cs typeface="Times New Roman"/>
              </a:rPr>
              <a:t> </a:t>
            </a:r>
            <a:r>
              <a:rPr dirty="0" sz="2400" spc="105">
                <a:latin typeface="Times New Roman"/>
                <a:cs typeface="Times New Roman"/>
              </a:rPr>
              <a:t>Home</a:t>
            </a:r>
            <a:r>
              <a:rPr dirty="0" sz="2400" spc="75">
                <a:latin typeface="Times New Roman"/>
                <a:cs typeface="Times New Roman"/>
              </a:rPr>
              <a:t> </a:t>
            </a:r>
            <a:r>
              <a:rPr dirty="0" sz="2400" spc="30">
                <a:latin typeface="Times New Roman"/>
                <a:cs typeface="Times New Roman"/>
              </a:rPr>
              <a:t>Page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6770" y="2920866"/>
            <a:ext cx="2343149" cy="5810249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178240" y="2920866"/>
            <a:ext cx="2371724" cy="5810249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377561" y="2881816"/>
            <a:ext cx="2486024" cy="5534024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5473376" y="2749416"/>
            <a:ext cx="2276474" cy="5667374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824453" y="7614909"/>
            <a:ext cx="2138794" cy="220980"/>
          </a:xfrm>
          <a:prstGeom prst="rect">
            <a:avLst/>
          </a:prstGeom>
        </p:spPr>
      </p:pic>
      <p:grpSp>
        <p:nvGrpSpPr>
          <p:cNvPr id="7" name="object 7" descr=""/>
          <p:cNvGrpSpPr/>
          <p:nvPr/>
        </p:nvGrpSpPr>
        <p:grpSpPr>
          <a:xfrm>
            <a:off x="9144000" y="2920866"/>
            <a:ext cx="3076575" cy="5495925"/>
            <a:chOff x="9144000" y="2920866"/>
            <a:chExt cx="3076575" cy="5495925"/>
          </a:xfrm>
        </p:grpSpPr>
        <p:sp>
          <p:nvSpPr>
            <p:cNvPr id="8" name="object 8" descr=""/>
            <p:cNvSpPr/>
            <p:nvPr/>
          </p:nvSpPr>
          <p:spPr>
            <a:xfrm>
              <a:off x="10349864" y="7812136"/>
              <a:ext cx="1870710" cy="210820"/>
            </a:xfrm>
            <a:custGeom>
              <a:avLst/>
              <a:gdLst/>
              <a:ahLst/>
              <a:cxnLst/>
              <a:rect l="l" t="t" r="r" b="b"/>
              <a:pathLst>
                <a:path w="1870709" h="210820">
                  <a:moveTo>
                    <a:pt x="1276583" y="8625"/>
                  </a:moveTo>
                  <a:lnTo>
                    <a:pt x="1281112" y="7619"/>
                  </a:lnTo>
                  <a:lnTo>
                    <a:pt x="1314866" y="2539"/>
                  </a:lnTo>
                  <a:lnTo>
                    <a:pt x="1361140" y="0"/>
                  </a:lnTo>
                  <a:lnTo>
                    <a:pt x="1416508" y="0"/>
                  </a:lnTo>
                  <a:lnTo>
                    <a:pt x="1477544" y="1269"/>
                  </a:lnTo>
                  <a:lnTo>
                    <a:pt x="1540822" y="3809"/>
                  </a:lnTo>
                  <a:lnTo>
                    <a:pt x="1599641" y="7619"/>
                  </a:lnTo>
                  <a:lnTo>
                    <a:pt x="1288732" y="7619"/>
                  </a:lnTo>
                  <a:lnTo>
                    <a:pt x="1276583" y="8625"/>
                  </a:lnTo>
                  <a:close/>
                </a:path>
                <a:path w="1870709" h="210820">
                  <a:moveTo>
                    <a:pt x="1281960" y="139699"/>
                  </a:moveTo>
                  <a:lnTo>
                    <a:pt x="1269832" y="138429"/>
                  </a:lnTo>
                  <a:lnTo>
                    <a:pt x="1264026" y="137159"/>
                  </a:lnTo>
                  <a:lnTo>
                    <a:pt x="1252888" y="133349"/>
                  </a:lnTo>
                  <a:lnTo>
                    <a:pt x="1252345" y="133349"/>
                  </a:lnTo>
                  <a:lnTo>
                    <a:pt x="1222511" y="104139"/>
                  </a:lnTo>
                  <a:lnTo>
                    <a:pt x="1218007" y="92095"/>
                  </a:lnTo>
                  <a:lnTo>
                    <a:pt x="1217945" y="91912"/>
                  </a:lnTo>
                  <a:lnTo>
                    <a:pt x="1217864" y="91611"/>
                  </a:lnTo>
                  <a:lnTo>
                    <a:pt x="1217783" y="91431"/>
                  </a:lnTo>
                  <a:lnTo>
                    <a:pt x="1216468" y="85659"/>
                  </a:lnTo>
                  <a:lnTo>
                    <a:pt x="1216169" y="84234"/>
                  </a:lnTo>
                  <a:lnTo>
                    <a:pt x="1216212" y="80009"/>
                  </a:lnTo>
                  <a:lnTo>
                    <a:pt x="1216337" y="71119"/>
                  </a:lnTo>
                  <a:lnTo>
                    <a:pt x="1216461" y="66039"/>
                  </a:lnTo>
                  <a:lnTo>
                    <a:pt x="1219869" y="49529"/>
                  </a:lnTo>
                  <a:lnTo>
                    <a:pt x="1225519" y="37566"/>
                  </a:lnTo>
                  <a:lnTo>
                    <a:pt x="1225679" y="37038"/>
                  </a:lnTo>
                  <a:lnTo>
                    <a:pt x="1261055" y="13052"/>
                  </a:lnTo>
                  <a:lnTo>
                    <a:pt x="1288732" y="7619"/>
                  </a:lnTo>
                  <a:lnTo>
                    <a:pt x="1299458" y="8820"/>
                  </a:lnTo>
                  <a:lnTo>
                    <a:pt x="1334244" y="33019"/>
                  </a:lnTo>
                  <a:lnTo>
                    <a:pt x="1346413" y="60872"/>
                  </a:lnTo>
                  <a:lnTo>
                    <a:pt x="1216559" y="60872"/>
                  </a:lnTo>
                  <a:lnTo>
                    <a:pt x="1346641" y="68579"/>
                  </a:lnTo>
                  <a:lnTo>
                    <a:pt x="1346541" y="72389"/>
                  </a:lnTo>
                  <a:lnTo>
                    <a:pt x="1346423" y="76199"/>
                  </a:lnTo>
                  <a:lnTo>
                    <a:pt x="1346364" y="77469"/>
                  </a:lnTo>
                  <a:lnTo>
                    <a:pt x="1342656" y="93515"/>
                  </a:lnTo>
                  <a:lnTo>
                    <a:pt x="1342548" y="93979"/>
                  </a:lnTo>
                  <a:lnTo>
                    <a:pt x="1335851" y="110489"/>
                  </a:lnTo>
                  <a:lnTo>
                    <a:pt x="1326832" y="121919"/>
                  </a:lnTo>
                  <a:lnTo>
                    <a:pt x="1314375" y="130809"/>
                  </a:lnTo>
                  <a:lnTo>
                    <a:pt x="1298295" y="137159"/>
                  </a:lnTo>
                  <a:lnTo>
                    <a:pt x="1297917" y="137159"/>
                  </a:lnTo>
                  <a:lnTo>
                    <a:pt x="1281960" y="139699"/>
                  </a:lnTo>
                  <a:close/>
                </a:path>
                <a:path w="1870709" h="210820">
                  <a:moveTo>
                    <a:pt x="1491972" y="77469"/>
                  </a:moveTo>
                  <a:lnTo>
                    <a:pt x="1461685" y="77469"/>
                  </a:lnTo>
                  <a:lnTo>
                    <a:pt x="1426844" y="76199"/>
                  </a:lnTo>
                  <a:lnTo>
                    <a:pt x="1418373" y="74902"/>
                  </a:lnTo>
                  <a:lnTo>
                    <a:pt x="1346641" y="68579"/>
                  </a:lnTo>
                  <a:lnTo>
                    <a:pt x="1346595" y="61731"/>
                  </a:lnTo>
                  <a:lnTo>
                    <a:pt x="1346469" y="60872"/>
                  </a:lnTo>
                  <a:lnTo>
                    <a:pt x="1345252" y="54609"/>
                  </a:lnTo>
                  <a:lnTo>
                    <a:pt x="1344781" y="52069"/>
                  </a:lnTo>
                  <a:lnTo>
                    <a:pt x="1318870" y="19049"/>
                  </a:lnTo>
                  <a:lnTo>
                    <a:pt x="1299631" y="8820"/>
                  </a:lnTo>
                  <a:lnTo>
                    <a:pt x="1299458" y="8820"/>
                  </a:lnTo>
                  <a:lnTo>
                    <a:pt x="1288732" y="7619"/>
                  </a:lnTo>
                  <a:lnTo>
                    <a:pt x="1602916" y="7619"/>
                  </a:lnTo>
                  <a:lnTo>
                    <a:pt x="1659967" y="12591"/>
                  </a:lnTo>
                  <a:lnTo>
                    <a:pt x="1709849" y="17779"/>
                  </a:lnTo>
                  <a:lnTo>
                    <a:pt x="1747837" y="24129"/>
                  </a:lnTo>
                  <a:lnTo>
                    <a:pt x="1799867" y="39369"/>
                  </a:lnTo>
                  <a:lnTo>
                    <a:pt x="1820961" y="49529"/>
                  </a:lnTo>
                  <a:lnTo>
                    <a:pt x="1766300" y="49529"/>
                  </a:lnTo>
                  <a:lnTo>
                    <a:pt x="1715902" y="54609"/>
                  </a:lnTo>
                  <a:lnTo>
                    <a:pt x="1603774" y="69849"/>
                  </a:lnTo>
                  <a:lnTo>
                    <a:pt x="1603606" y="69849"/>
                  </a:lnTo>
                  <a:lnTo>
                    <a:pt x="1556637" y="74902"/>
                  </a:lnTo>
                  <a:lnTo>
                    <a:pt x="1557117" y="74902"/>
                  </a:lnTo>
                  <a:lnTo>
                    <a:pt x="1491972" y="77469"/>
                  </a:lnTo>
                  <a:close/>
                </a:path>
                <a:path w="1870709" h="210820">
                  <a:moveTo>
                    <a:pt x="1261165" y="13052"/>
                  </a:moveTo>
                  <a:lnTo>
                    <a:pt x="1262220" y="12591"/>
                  </a:lnTo>
                  <a:lnTo>
                    <a:pt x="1270099" y="10081"/>
                  </a:lnTo>
                  <a:lnTo>
                    <a:pt x="1261165" y="13052"/>
                  </a:lnTo>
                  <a:close/>
                </a:path>
                <a:path w="1870709" h="210820">
                  <a:moveTo>
                    <a:pt x="1258642" y="13753"/>
                  </a:moveTo>
                  <a:lnTo>
                    <a:pt x="1262220" y="12591"/>
                  </a:lnTo>
                  <a:lnTo>
                    <a:pt x="1261055" y="13052"/>
                  </a:lnTo>
                  <a:lnTo>
                    <a:pt x="1258642" y="13753"/>
                  </a:lnTo>
                  <a:close/>
                </a:path>
                <a:path w="1870709" h="210820">
                  <a:moveTo>
                    <a:pt x="1258642" y="13753"/>
                  </a:moveTo>
                  <a:lnTo>
                    <a:pt x="1261055" y="13052"/>
                  </a:lnTo>
                  <a:lnTo>
                    <a:pt x="1260573" y="13253"/>
                  </a:lnTo>
                  <a:lnTo>
                    <a:pt x="1258642" y="13753"/>
                  </a:lnTo>
                  <a:close/>
                </a:path>
                <a:path w="1870709" h="210820">
                  <a:moveTo>
                    <a:pt x="1243008" y="21589"/>
                  </a:moveTo>
                  <a:lnTo>
                    <a:pt x="1245800" y="19049"/>
                  </a:lnTo>
                  <a:lnTo>
                    <a:pt x="1246703" y="19049"/>
                  </a:lnTo>
                  <a:lnTo>
                    <a:pt x="1253642" y="16150"/>
                  </a:lnTo>
                  <a:lnTo>
                    <a:pt x="1243008" y="21589"/>
                  </a:lnTo>
                  <a:close/>
                </a:path>
                <a:path w="1870709" h="210820">
                  <a:moveTo>
                    <a:pt x="1233876" y="27939"/>
                  </a:moveTo>
                  <a:lnTo>
                    <a:pt x="1234901" y="26669"/>
                  </a:lnTo>
                  <a:lnTo>
                    <a:pt x="1242462" y="21589"/>
                  </a:lnTo>
                  <a:lnTo>
                    <a:pt x="1243008" y="21589"/>
                  </a:lnTo>
                  <a:lnTo>
                    <a:pt x="1233876" y="27939"/>
                  </a:lnTo>
                  <a:close/>
                </a:path>
                <a:path w="1870709" h="210820">
                  <a:moveTo>
                    <a:pt x="1226083" y="36468"/>
                  </a:moveTo>
                  <a:lnTo>
                    <a:pt x="1226734" y="35559"/>
                  </a:lnTo>
                  <a:lnTo>
                    <a:pt x="1230629" y="30479"/>
                  </a:lnTo>
                  <a:lnTo>
                    <a:pt x="1233876" y="27939"/>
                  </a:lnTo>
                  <a:lnTo>
                    <a:pt x="1226083" y="36468"/>
                  </a:lnTo>
                  <a:close/>
                </a:path>
                <a:path w="1870709" h="210820">
                  <a:moveTo>
                    <a:pt x="613995" y="166369"/>
                  </a:moveTo>
                  <a:lnTo>
                    <a:pt x="567776" y="166369"/>
                  </a:lnTo>
                  <a:lnTo>
                    <a:pt x="514102" y="164932"/>
                  </a:lnTo>
                  <a:lnTo>
                    <a:pt x="286532" y="163829"/>
                  </a:lnTo>
                  <a:lnTo>
                    <a:pt x="216527" y="162400"/>
                  </a:lnTo>
                  <a:lnTo>
                    <a:pt x="217702" y="162400"/>
                  </a:lnTo>
                  <a:lnTo>
                    <a:pt x="171485" y="161289"/>
                  </a:lnTo>
                  <a:lnTo>
                    <a:pt x="124952" y="158749"/>
                  </a:lnTo>
                  <a:lnTo>
                    <a:pt x="86381" y="154917"/>
                  </a:lnTo>
                  <a:lnTo>
                    <a:pt x="44499" y="148589"/>
                  </a:lnTo>
                  <a:lnTo>
                    <a:pt x="11519" y="125729"/>
                  </a:lnTo>
                  <a:lnTo>
                    <a:pt x="46" y="85659"/>
                  </a:lnTo>
                  <a:lnTo>
                    <a:pt x="0" y="85089"/>
                  </a:lnTo>
                  <a:lnTo>
                    <a:pt x="19049" y="49529"/>
                  </a:lnTo>
                  <a:lnTo>
                    <a:pt x="53339" y="35559"/>
                  </a:lnTo>
                  <a:lnTo>
                    <a:pt x="58102" y="34289"/>
                  </a:lnTo>
                  <a:lnTo>
                    <a:pt x="928158" y="49529"/>
                  </a:lnTo>
                  <a:lnTo>
                    <a:pt x="1215726" y="60872"/>
                  </a:lnTo>
                  <a:lnTo>
                    <a:pt x="1214621" y="68579"/>
                  </a:lnTo>
                  <a:lnTo>
                    <a:pt x="1214691" y="73659"/>
                  </a:lnTo>
                  <a:lnTo>
                    <a:pt x="1215285" y="80009"/>
                  </a:lnTo>
                  <a:lnTo>
                    <a:pt x="1215986" y="83358"/>
                  </a:lnTo>
                  <a:lnTo>
                    <a:pt x="1216007" y="83819"/>
                  </a:lnTo>
                  <a:lnTo>
                    <a:pt x="1216132" y="84059"/>
                  </a:lnTo>
                  <a:lnTo>
                    <a:pt x="1216160" y="85089"/>
                  </a:lnTo>
                  <a:lnTo>
                    <a:pt x="1217509" y="90359"/>
                  </a:lnTo>
                  <a:lnTo>
                    <a:pt x="1217521" y="90721"/>
                  </a:lnTo>
                  <a:lnTo>
                    <a:pt x="1217675" y="91431"/>
                  </a:lnTo>
                  <a:lnTo>
                    <a:pt x="1217732" y="91611"/>
                  </a:lnTo>
                  <a:lnTo>
                    <a:pt x="1218170" y="93515"/>
                  </a:lnTo>
                  <a:lnTo>
                    <a:pt x="1219199" y="99059"/>
                  </a:lnTo>
                  <a:lnTo>
                    <a:pt x="1222511" y="104139"/>
                  </a:lnTo>
                  <a:lnTo>
                    <a:pt x="1225867" y="110489"/>
                  </a:lnTo>
                  <a:lnTo>
                    <a:pt x="1231759" y="119377"/>
                  </a:lnTo>
                  <a:lnTo>
                    <a:pt x="1238726" y="125729"/>
                  </a:lnTo>
                  <a:lnTo>
                    <a:pt x="1247834" y="132079"/>
                  </a:lnTo>
                  <a:lnTo>
                    <a:pt x="1260157" y="137159"/>
                  </a:lnTo>
                  <a:lnTo>
                    <a:pt x="1264026" y="137159"/>
                  </a:lnTo>
                  <a:lnTo>
                    <a:pt x="1266824" y="138429"/>
                  </a:lnTo>
                  <a:lnTo>
                    <a:pt x="1269832" y="138429"/>
                  </a:lnTo>
                  <a:lnTo>
                    <a:pt x="1288720" y="143509"/>
                  </a:lnTo>
                  <a:lnTo>
                    <a:pt x="1330689" y="147319"/>
                  </a:lnTo>
                  <a:lnTo>
                    <a:pt x="1500340" y="151129"/>
                  </a:lnTo>
                  <a:lnTo>
                    <a:pt x="1658561" y="151129"/>
                  </a:lnTo>
                  <a:lnTo>
                    <a:pt x="1709677" y="152399"/>
                  </a:lnTo>
                  <a:lnTo>
                    <a:pt x="1723786" y="153669"/>
                  </a:lnTo>
                  <a:lnTo>
                    <a:pt x="1748789" y="156209"/>
                  </a:lnTo>
                  <a:lnTo>
                    <a:pt x="1759507" y="161289"/>
                  </a:lnTo>
                  <a:lnTo>
                    <a:pt x="935098" y="161289"/>
                  </a:lnTo>
                  <a:lnTo>
                    <a:pt x="613995" y="166369"/>
                  </a:lnTo>
                  <a:close/>
                </a:path>
                <a:path w="1870709" h="210820">
                  <a:moveTo>
                    <a:pt x="1216017" y="83358"/>
                  </a:moveTo>
                  <a:lnTo>
                    <a:pt x="1215285" y="80009"/>
                  </a:lnTo>
                  <a:lnTo>
                    <a:pt x="1215074" y="77469"/>
                  </a:lnTo>
                  <a:lnTo>
                    <a:pt x="1214968" y="76199"/>
                  </a:lnTo>
                  <a:lnTo>
                    <a:pt x="1214861" y="74902"/>
                  </a:lnTo>
                  <a:lnTo>
                    <a:pt x="1214757" y="73659"/>
                  </a:lnTo>
                  <a:lnTo>
                    <a:pt x="1214573" y="72389"/>
                  </a:lnTo>
                  <a:lnTo>
                    <a:pt x="1214627" y="68579"/>
                  </a:lnTo>
                  <a:lnTo>
                    <a:pt x="1215439" y="63047"/>
                  </a:lnTo>
                  <a:lnTo>
                    <a:pt x="1215559" y="62229"/>
                  </a:lnTo>
                  <a:lnTo>
                    <a:pt x="1215632" y="61731"/>
                  </a:lnTo>
                  <a:lnTo>
                    <a:pt x="1215726" y="60872"/>
                  </a:lnTo>
                  <a:lnTo>
                    <a:pt x="1225679" y="37038"/>
                  </a:lnTo>
                  <a:lnTo>
                    <a:pt x="1219869" y="49529"/>
                  </a:lnTo>
                  <a:lnTo>
                    <a:pt x="1216461" y="66039"/>
                  </a:lnTo>
                  <a:lnTo>
                    <a:pt x="1216335" y="71119"/>
                  </a:lnTo>
                  <a:lnTo>
                    <a:pt x="1216217" y="76199"/>
                  </a:lnTo>
                  <a:lnTo>
                    <a:pt x="1216092" y="80009"/>
                  </a:lnTo>
                  <a:lnTo>
                    <a:pt x="1216017" y="83358"/>
                  </a:lnTo>
                  <a:close/>
                </a:path>
                <a:path w="1870709" h="210820">
                  <a:moveTo>
                    <a:pt x="1858026" y="77469"/>
                  </a:moveTo>
                  <a:lnTo>
                    <a:pt x="1491972" y="77469"/>
                  </a:lnTo>
                  <a:lnTo>
                    <a:pt x="1557117" y="74902"/>
                  </a:lnTo>
                  <a:lnTo>
                    <a:pt x="1556637" y="74902"/>
                  </a:lnTo>
                  <a:lnTo>
                    <a:pt x="1603606" y="69849"/>
                  </a:lnTo>
                  <a:lnTo>
                    <a:pt x="1603774" y="69849"/>
                  </a:lnTo>
                  <a:lnTo>
                    <a:pt x="1715902" y="54609"/>
                  </a:lnTo>
                  <a:lnTo>
                    <a:pt x="1766300" y="49529"/>
                  </a:lnTo>
                  <a:lnTo>
                    <a:pt x="1804034" y="49529"/>
                  </a:lnTo>
                  <a:lnTo>
                    <a:pt x="1841395" y="60872"/>
                  </a:lnTo>
                  <a:lnTo>
                    <a:pt x="1842599" y="61731"/>
                  </a:lnTo>
                  <a:lnTo>
                    <a:pt x="1843206" y="62229"/>
                  </a:lnTo>
                  <a:lnTo>
                    <a:pt x="1844494" y="63047"/>
                  </a:lnTo>
                  <a:lnTo>
                    <a:pt x="1848802" y="66039"/>
                  </a:lnTo>
                  <a:lnTo>
                    <a:pt x="1856354" y="74902"/>
                  </a:lnTo>
                  <a:lnTo>
                    <a:pt x="1857256" y="76199"/>
                  </a:lnTo>
                  <a:lnTo>
                    <a:pt x="1858026" y="77469"/>
                  </a:lnTo>
                  <a:close/>
                </a:path>
                <a:path w="1870709" h="210820">
                  <a:moveTo>
                    <a:pt x="1833937" y="56346"/>
                  </a:moveTo>
                  <a:lnTo>
                    <a:pt x="1829990" y="54609"/>
                  </a:lnTo>
                  <a:lnTo>
                    <a:pt x="1818262" y="52069"/>
                  </a:lnTo>
                  <a:lnTo>
                    <a:pt x="1804034" y="49529"/>
                  </a:lnTo>
                  <a:lnTo>
                    <a:pt x="1820961" y="49529"/>
                  </a:lnTo>
                  <a:lnTo>
                    <a:pt x="1833937" y="56346"/>
                  </a:lnTo>
                  <a:close/>
                </a:path>
                <a:path w="1870709" h="210820">
                  <a:moveTo>
                    <a:pt x="1840114" y="59649"/>
                  </a:moveTo>
                  <a:lnTo>
                    <a:pt x="1829990" y="54609"/>
                  </a:lnTo>
                  <a:lnTo>
                    <a:pt x="1833937" y="56346"/>
                  </a:lnTo>
                  <a:lnTo>
                    <a:pt x="1835467" y="57149"/>
                  </a:lnTo>
                  <a:lnTo>
                    <a:pt x="1838426" y="58218"/>
                  </a:lnTo>
                  <a:lnTo>
                    <a:pt x="1840114" y="59649"/>
                  </a:lnTo>
                  <a:close/>
                </a:path>
                <a:path w="1870709" h="210820">
                  <a:moveTo>
                    <a:pt x="1837126" y="57749"/>
                  </a:moveTo>
                  <a:lnTo>
                    <a:pt x="1835467" y="57149"/>
                  </a:lnTo>
                  <a:lnTo>
                    <a:pt x="1833937" y="56346"/>
                  </a:lnTo>
                  <a:lnTo>
                    <a:pt x="1837126" y="57749"/>
                  </a:lnTo>
                  <a:close/>
                </a:path>
                <a:path w="1870709" h="210820">
                  <a:moveTo>
                    <a:pt x="1840114" y="59649"/>
                  </a:moveTo>
                  <a:lnTo>
                    <a:pt x="1838426" y="58218"/>
                  </a:lnTo>
                  <a:lnTo>
                    <a:pt x="1838798" y="58218"/>
                  </a:lnTo>
                  <a:lnTo>
                    <a:pt x="1840114" y="59649"/>
                  </a:lnTo>
                  <a:close/>
                </a:path>
                <a:path w="1870709" h="210820">
                  <a:moveTo>
                    <a:pt x="1842599" y="61731"/>
                  </a:moveTo>
                  <a:lnTo>
                    <a:pt x="1841395" y="60872"/>
                  </a:lnTo>
                  <a:lnTo>
                    <a:pt x="1840282" y="59844"/>
                  </a:lnTo>
                  <a:lnTo>
                    <a:pt x="1842599" y="61731"/>
                  </a:lnTo>
                  <a:close/>
                </a:path>
                <a:path w="1870709" h="210820">
                  <a:moveTo>
                    <a:pt x="1846011" y="64010"/>
                  </a:moveTo>
                  <a:lnTo>
                    <a:pt x="1844494" y="63047"/>
                  </a:lnTo>
                  <a:lnTo>
                    <a:pt x="1842599" y="61731"/>
                  </a:lnTo>
                  <a:lnTo>
                    <a:pt x="1840303" y="59844"/>
                  </a:lnTo>
                  <a:lnTo>
                    <a:pt x="1846011" y="64010"/>
                  </a:lnTo>
                  <a:close/>
                </a:path>
                <a:path w="1870709" h="210820">
                  <a:moveTo>
                    <a:pt x="1346641" y="68579"/>
                  </a:moveTo>
                  <a:lnTo>
                    <a:pt x="1216559" y="60872"/>
                  </a:lnTo>
                  <a:lnTo>
                    <a:pt x="1346413" y="60872"/>
                  </a:lnTo>
                  <a:lnTo>
                    <a:pt x="1346572" y="61731"/>
                  </a:lnTo>
                  <a:lnTo>
                    <a:pt x="1346641" y="68579"/>
                  </a:lnTo>
                  <a:close/>
                </a:path>
                <a:path w="1870709" h="210820">
                  <a:moveTo>
                    <a:pt x="1847056" y="64769"/>
                  </a:moveTo>
                  <a:lnTo>
                    <a:pt x="1845880" y="64010"/>
                  </a:lnTo>
                  <a:lnTo>
                    <a:pt x="1844494" y="63047"/>
                  </a:lnTo>
                  <a:lnTo>
                    <a:pt x="1846011" y="64010"/>
                  </a:lnTo>
                  <a:lnTo>
                    <a:pt x="1847056" y="64769"/>
                  </a:lnTo>
                  <a:close/>
                </a:path>
                <a:path w="1870709" h="210820">
                  <a:moveTo>
                    <a:pt x="1870709" y="107949"/>
                  </a:moveTo>
                  <a:lnTo>
                    <a:pt x="1867956" y="96519"/>
                  </a:lnTo>
                  <a:lnTo>
                    <a:pt x="1862970" y="85089"/>
                  </a:lnTo>
                  <a:lnTo>
                    <a:pt x="1858134" y="77469"/>
                  </a:lnTo>
                  <a:lnTo>
                    <a:pt x="1857201" y="76199"/>
                  </a:lnTo>
                  <a:lnTo>
                    <a:pt x="1856354" y="74902"/>
                  </a:lnTo>
                  <a:lnTo>
                    <a:pt x="1848802" y="66039"/>
                  </a:lnTo>
                  <a:lnTo>
                    <a:pt x="1846011" y="64010"/>
                  </a:lnTo>
                  <a:lnTo>
                    <a:pt x="1849208" y="66039"/>
                  </a:lnTo>
                  <a:lnTo>
                    <a:pt x="1849635" y="66039"/>
                  </a:lnTo>
                  <a:lnTo>
                    <a:pt x="1854755" y="72389"/>
                  </a:lnTo>
                  <a:lnTo>
                    <a:pt x="1859279" y="77469"/>
                  </a:lnTo>
                  <a:lnTo>
                    <a:pt x="1863342" y="85089"/>
                  </a:lnTo>
                  <a:lnTo>
                    <a:pt x="1866779" y="91431"/>
                  </a:lnTo>
                  <a:lnTo>
                    <a:pt x="1869325" y="100329"/>
                  </a:lnTo>
                  <a:lnTo>
                    <a:pt x="1870709" y="107949"/>
                  </a:lnTo>
                  <a:close/>
                </a:path>
                <a:path w="1870709" h="210820">
                  <a:moveTo>
                    <a:pt x="1865731" y="139699"/>
                  </a:moveTo>
                  <a:lnTo>
                    <a:pt x="1281960" y="139699"/>
                  </a:lnTo>
                  <a:lnTo>
                    <a:pt x="1297917" y="137159"/>
                  </a:lnTo>
                  <a:lnTo>
                    <a:pt x="1298295" y="137159"/>
                  </a:lnTo>
                  <a:lnTo>
                    <a:pt x="1314375" y="130809"/>
                  </a:lnTo>
                  <a:lnTo>
                    <a:pt x="1342548" y="93979"/>
                  </a:lnTo>
                  <a:lnTo>
                    <a:pt x="1346641" y="68579"/>
                  </a:lnTo>
                  <a:lnTo>
                    <a:pt x="1418243" y="74902"/>
                  </a:lnTo>
                  <a:lnTo>
                    <a:pt x="1418373" y="74902"/>
                  </a:lnTo>
                  <a:lnTo>
                    <a:pt x="1426844" y="76199"/>
                  </a:lnTo>
                  <a:lnTo>
                    <a:pt x="1461685" y="77469"/>
                  </a:lnTo>
                  <a:lnTo>
                    <a:pt x="1858026" y="77469"/>
                  </a:lnTo>
                  <a:lnTo>
                    <a:pt x="1862970" y="85089"/>
                  </a:lnTo>
                  <a:lnTo>
                    <a:pt x="1867956" y="96519"/>
                  </a:lnTo>
                  <a:lnTo>
                    <a:pt x="1870709" y="107949"/>
                  </a:lnTo>
                  <a:lnTo>
                    <a:pt x="1870619" y="113029"/>
                  </a:lnTo>
                  <a:lnTo>
                    <a:pt x="1870461" y="118787"/>
                  </a:lnTo>
                  <a:lnTo>
                    <a:pt x="1870431" y="119880"/>
                  </a:lnTo>
                  <a:lnTo>
                    <a:pt x="1870006" y="121919"/>
                  </a:lnTo>
                  <a:lnTo>
                    <a:pt x="1869888" y="123189"/>
                  </a:lnTo>
                  <a:lnTo>
                    <a:pt x="1868551" y="130525"/>
                  </a:lnTo>
                  <a:lnTo>
                    <a:pt x="1868199" y="132079"/>
                  </a:lnTo>
                  <a:lnTo>
                    <a:pt x="1868124" y="132870"/>
                  </a:lnTo>
                  <a:lnTo>
                    <a:pt x="1868037" y="133349"/>
                  </a:lnTo>
                  <a:lnTo>
                    <a:pt x="1867869" y="133690"/>
                  </a:lnTo>
                  <a:lnTo>
                    <a:pt x="1867110" y="136133"/>
                  </a:lnTo>
                  <a:lnTo>
                    <a:pt x="1866653" y="137159"/>
                  </a:lnTo>
                  <a:lnTo>
                    <a:pt x="1865731" y="139699"/>
                  </a:lnTo>
                  <a:close/>
                </a:path>
                <a:path w="1870709" h="210820">
                  <a:moveTo>
                    <a:pt x="1217453" y="90359"/>
                  </a:moveTo>
                  <a:lnTo>
                    <a:pt x="1216160" y="85089"/>
                  </a:lnTo>
                  <a:lnTo>
                    <a:pt x="1216169" y="84234"/>
                  </a:lnTo>
                  <a:lnTo>
                    <a:pt x="1217453" y="90359"/>
                  </a:lnTo>
                  <a:close/>
                </a:path>
                <a:path w="1870709" h="210820">
                  <a:moveTo>
                    <a:pt x="1222511" y="104139"/>
                  </a:moveTo>
                  <a:lnTo>
                    <a:pt x="1219199" y="99059"/>
                  </a:lnTo>
                  <a:lnTo>
                    <a:pt x="1218280" y="93979"/>
                  </a:lnTo>
                  <a:lnTo>
                    <a:pt x="1218170" y="93515"/>
                  </a:lnTo>
                  <a:lnTo>
                    <a:pt x="1218064" y="92449"/>
                  </a:lnTo>
                  <a:lnTo>
                    <a:pt x="1218289" y="92916"/>
                  </a:lnTo>
                  <a:lnTo>
                    <a:pt x="1218409" y="93515"/>
                  </a:lnTo>
                  <a:lnTo>
                    <a:pt x="1221268" y="101599"/>
                  </a:lnTo>
                  <a:lnTo>
                    <a:pt x="1222511" y="104139"/>
                  </a:lnTo>
                  <a:close/>
                </a:path>
                <a:path w="1870709" h="210820">
                  <a:moveTo>
                    <a:pt x="1264026" y="137159"/>
                  </a:moveTo>
                  <a:lnTo>
                    <a:pt x="1260157" y="137159"/>
                  </a:lnTo>
                  <a:lnTo>
                    <a:pt x="1247834" y="132079"/>
                  </a:lnTo>
                  <a:lnTo>
                    <a:pt x="1238726" y="125729"/>
                  </a:lnTo>
                  <a:lnTo>
                    <a:pt x="1231759" y="119377"/>
                  </a:lnTo>
                  <a:lnTo>
                    <a:pt x="1225867" y="110489"/>
                  </a:lnTo>
                  <a:lnTo>
                    <a:pt x="1222511" y="104139"/>
                  </a:lnTo>
                  <a:lnTo>
                    <a:pt x="1226909" y="111759"/>
                  </a:lnTo>
                  <a:lnTo>
                    <a:pt x="1238726" y="123189"/>
                  </a:lnTo>
                  <a:lnTo>
                    <a:pt x="1252345" y="133349"/>
                  </a:lnTo>
                  <a:lnTo>
                    <a:pt x="1252888" y="133349"/>
                  </a:lnTo>
                  <a:lnTo>
                    <a:pt x="1264026" y="137159"/>
                  </a:lnTo>
                  <a:close/>
                </a:path>
                <a:path w="1870709" h="210820">
                  <a:moveTo>
                    <a:pt x="1870535" y="119880"/>
                  </a:moveTo>
                  <a:lnTo>
                    <a:pt x="1870468" y="118787"/>
                  </a:lnTo>
                  <a:lnTo>
                    <a:pt x="1870692" y="113029"/>
                  </a:lnTo>
                  <a:lnTo>
                    <a:pt x="1870667" y="118787"/>
                  </a:lnTo>
                  <a:lnTo>
                    <a:pt x="1870535" y="119377"/>
                  </a:lnTo>
                  <a:lnTo>
                    <a:pt x="1870665" y="119377"/>
                  </a:lnTo>
                  <a:lnTo>
                    <a:pt x="1870535" y="119880"/>
                  </a:lnTo>
                  <a:close/>
                </a:path>
                <a:path w="1870709" h="210820">
                  <a:moveTo>
                    <a:pt x="1868499" y="132079"/>
                  </a:moveTo>
                  <a:lnTo>
                    <a:pt x="1868268" y="132079"/>
                  </a:lnTo>
                  <a:lnTo>
                    <a:pt x="1868478" y="130809"/>
                  </a:lnTo>
                  <a:lnTo>
                    <a:pt x="1869132" y="128269"/>
                  </a:lnTo>
                  <a:lnTo>
                    <a:pt x="1868789" y="130525"/>
                  </a:lnTo>
                  <a:lnTo>
                    <a:pt x="1868499" y="132079"/>
                  </a:lnTo>
                  <a:close/>
                </a:path>
                <a:path w="1870709" h="210820">
                  <a:moveTo>
                    <a:pt x="1269832" y="138429"/>
                  </a:moveTo>
                  <a:lnTo>
                    <a:pt x="1266824" y="138429"/>
                  </a:lnTo>
                  <a:lnTo>
                    <a:pt x="1264026" y="137159"/>
                  </a:lnTo>
                  <a:lnTo>
                    <a:pt x="1269832" y="138429"/>
                  </a:lnTo>
                  <a:close/>
                </a:path>
                <a:path w="1870709" h="210820">
                  <a:moveTo>
                    <a:pt x="1861073" y="151129"/>
                  </a:moveTo>
                  <a:lnTo>
                    <a:pt x="1860849" y="151129"/>
                  </a:lnTo>
                  <a:lnTo>
                    <a:pt x="1864146" y="143509"/>
                  </a:lnTo>
                  <a:lnTo>
                    <a:pt x="1865734" y="139699"/>
                  </a:lnTo>
                  <a:lnTo>
                    <a:pt x="1866714" y="137159"/>
                  </a:lnTo>
                  <a:lnTo>
                    <a:pt x="1866395" y="138429"/>
                  </a:lnTo>
                  <a:lnTo>
                    <a:pt x="1864816" y="143509"/>
                  </a:lnTo>
                  <a:lnTo>
                    <a:pt x="1861141" y="150991"/>
                  </a:lnTo>
                  <a:lnTo>
                    <a:pt x="1861073" y="151129"/>
                  </a:lnTo>
                  <a:close/>
                </a:path>
                <a:path w="1870709" h="210820">
                  <a:moveTo>
                    <a:pt x="1804791" y="182761"/>
                  </a:moveTo>
                  <a:lnTo>
                    <a:pt x="1804115" y="182761"/>
                  </a:lnTo>
                  <a:lnTo>
                    <a:pt x="1801088" y="181609"/>
                  </a:lnTo>
                  <a:lnTo>
                    <a:pt x="1791250" y="179069"/>
                  </a:lnTo>
                  <a:lnTo>
                    <a:pt x="1777484" y="171449"/>
                  </a:lnTo>
                  <a:lnTo>
                    <a:pt x="1763717" y="162893"/>
                  </a:lnTo>
                  <a:lnTo>
                    <a:pt x="1762821" y="162400"/>
                  </a:lnTo>
                  <a:lnTo>
                    <a:pt x="1723786" y="153669"/>
                  </a:lnTo>
                  <a:lnTo>
                    <a:pt x="1658561" y="151129"/>
                  </a:lnTo>
                  <a:lnTo>
                    <a:pt x="1635481" y="150991"/>
                  </a:lnTo>
                  <a:lnTo>
                    <a:pt x="1622455" y="149859"/>
                  </a:lnTo>
                  <a:lnTo>
                    <a:pt x="1447072" y="149859"/>
                  </a:lnTo>
                  <a:lnTo>
                    <a:pt x="1330689" y="147319"/>
                  </a:lnTo>
                  <a:lnTo>
                    <a:pt x="1288720" y="143509"/>
                  </a:lnTo>
                  <a:lnTo>
                    <a:pt x="1269832" y="138429"/>
                  </a:lnTo>
                  <a:lnTo>
                    <a:pt x="1281960" y="139699"/>
                  </a:lnTo>
                  <a:lnTo>
                    <a:pt x="1865731" y="139699"/>
                  </a:lnTo>
                  <a:lnTo>
                    <a:pt x="1864146" y="143509"/>
                  </a:lnTo>
                  <a:lnTo>
                    <a:pt x="1861104" y="149859"/>
                  </a:lnTo>
                  <a:lnTo>
                    <a:pt x="1470254" y="149859"/>
                  </a:lnTo>
                  <a:lnTo>
                    <a:pt x="1474098" y="150022"/>
                  </a:lnTo>
                  <a:lnTo>
                    <a:pt x="1861027" y="150022"/>
                  </a:lnTo>
                  <a:lnTo>
                    <a:pt x="1859279" y="153669"/>
                  </a:lnTo>
                  <a:lnTo>
                    <a:pt x="1858132" y="155074"/>
                  </a:lnTo>
                  <a:lnTo>
                    <a:pt x="1856892" y="156209"/>
                  </a:lnTo>
                  <a:lnTo>
                    <a:pt x="1851828" y="162400"/>
                  </a:lnTo>
                  <a:lnTo>
                    <a:pt x="1851358" y="162893"/>
                  </a:lnTo>
                  <a:lnTo>
                    <a:pt x="1843212" y="170284"/>
                  </a:lnTo>
                  <a:lnTo>
                    <a:pt x="1842801" y="170431"/>
                  </a:lnTo>
                  <a:lnTo>
                    <a:pt x="1832758" y="175259"/>
                  </a:lnTo>
                  <a:lnTo>
                    <a:pt x="1820227" y="180339"/>
                  </a:lnTo>
                  <a:lnTo>
                    <a:pt x="1804791" y="182761"/>
                  </a:lnTo>
                  <a:close/>
                </a:path>
                <a:path w="1870709" h="210820">
                  <a:moveTo>
                    <a:pt x="1534807" y="150386"/>
                  </a:moveTo>
                  <a:lnTo>
                    <a:pt x="1474098" y="150022"/>
                  </a:lnTo>
                  <a:lnTo>
                    <a:pt x="1470254" y="149859"/>
                  </a:lnTo>
                  <a:lnTo>
                    <a:pt x="1559242" y="149859"/>
                  </a:lnTo>
                  <a:lnTo>
                    <a:pt x="1534807" y="150386"/>
                  </a:lnTo>
                  <a:close/>
                </a:path>
                <a:path w="1870709" h="210820">
                  <a:moveTo>
                    <a:pt x="1635481" y="150991"/>
                  </a:moveTo>
                  <a:lnTo>
                    <a:pt x="1534807" y="150386"/>
                  </a:lnTo>
                  <a:lnTo>
                    <a:pt x="1559242" y="149859"/>
                  </a:lnTo>
                  <a:lnTo>
                    <a:pt x="1622455" y="149859"/>
                  </a:lnTo>
                  <a:lnTo>
                    <a:pt x="1635481" y="150991"/>
                  </a:lnTo>
                  <a:close/>
                </a:path>
                <a:path w="1870709" h="210820">
                  <a:moveTo>
                    <a:pt x="1500340" y="151129"/>
                  </a:moveTo>
                  <a:lnTo>
                    <a:pt x="1474098" y="150022"/>
                  </a:lnTo>
                  <a:lnTo>
                    <a:pt x="1534807" y="150386"/>
                  </a:lnTo>
                  <a:lnTo>
                    <a:pt x="1500340" y="151129"/>
                  </a:lnTo>
                  <a:close/>
                </a:path>
                <a:path w="1870709" h="210820">
                  <a:moveTo>
                    <a:pt x="1637076" y="151129"/>
                  </a:moveTo>
                  <a:lnTo>
                    <a:pt x="1500340" y="151129"/>
                  </a:lnTo>
                  <a:lnTo>
                    <a:pt x="1534807" y="150386"/>
                  </a:lnTo>
                  <a:lnTo>
                    <a:pt x="1635481" y="150991"/>
                  </a:lnTo>
                  <a:lnTo>
                    <a:pt x="1637076" y="151129"/>
                  </a:lnTo>
                  <a:close/>
                </a:path>
                <a:path w="1870709" h="210820">
                  <a:moveTo>
                    <a:pt x="1852149" y="162400"/>
                  </a:moveTo>
                  <a:lnTo>
                    <a:pt x="1851785" y="162400"/>
                  </a:lnTo>
                  <a:lnTo>
                    <a:pt x="1852049" y="162148"/>
                  </a:lnTo>
                  <a:lnTo>
                    <a:pt x="1856892" y="156209"/>
                  </a:lnTo>
                  <a:lnTo>
                    <a:pt x="1858140" y="155074"/>
                  </a:lnTo>
                  <a:lnTo>
                    <a:pt x="1852149" y="162400"/>
                  </a:lnTo>
                  <a:close/>
                </a:path>
                <a:path w="1870709" h="210820">
                  <a:moveTo>
                    <a:pt x="1852320" y="162400"/>
                  </a:moveTo>
                  <a:lnTo>
                    <a:pt x="1852149" y="162400"/>
                  </a:lnTo>
                  <a:lnTo>
                    <a:pt x="1857205" y="156209"/>
                  </a:lnTo>
                  <a:lnTo>
                    <a:pt x="1855326" y="158749"/>
                  </a:lnTo>
                  <a:lnTo>
                    <a:pt x="1854353" y="160019"/>
                  </a:lnTo>
                  <a:lnTo>
                    <a:pt x="1852320" y="162400"/>
                  </a:lnTo>
                  <a:close/>
                </a:path>
                <a:path w="1870709" h="210820">
                  <a:moveTo>
                    <a:pt x="1762721" y="162400"/>
                  </a:moveTo>
                  <a:lnTo>
                    <a:pt x="1039777" y="162400"/>
                  </a:lnTo>
                  <a:lnTo>
                    <a:pt x="993680" y="161289"/>
                  </a:lnTo>
                  <a:lnTo>
                    <a:pt x="1759507" y="161289"/>
                  </a:lnTo>
                  <a:lnTo>
                    <a:pt x="1762721" y="162400"/>
                  </a:lnTo>
                  <a:close/>
                </a:path>
                <a:path w="1870709" h="210820">
                  <a:moveTo>
                    <a:pt x="1566298" y="210819"/>
                  </a:moveTo>
                  <a:lnTo>
                    <a:pt x="1515259" y="210819"/>
                  </a:lnTo>
                  <a:lnTo>
                    <a:pt x="1458597" y="209549"/>
                  </a:lnTo>
                  <a:lnTo>
                    <a:pt x="1401157" y="207009"/>
                  </a:lnTo>
                  <a:lnTo>
                    <a:pt x="1347787" y="201929"/>
                  </a:lnTo>
                  <a:lnTo>
                    <a:pt x="1293688" y="194309"/>
                  </a:lnTo>
                  <a:lnTo>
                    <a:pt x="1243480" y="184149"/>
                  </a:lnTo>
                  <a:lnTo>
                    <a:pt x="1189062" y="173989"/>
                  </a:lnTo>
                  <a:lnTo>
                    <a:pt x="1125854" y="166369"/>
                  </a:lnTo>
                  <a:lnTo>
                    <a:pt x="1085703" y="163829"/>
                  </a:lnTo>
                  <a:lnTo>
                    <a:pt x="1029934" y="162148"/>
                  </a:lnTo>
                  <a:lnTo>
                    <a:pt x="1029307" y="162148"/>
                  </a:lnTo>
                  <a:lnTo>
                    <a:pt x="1039777" y="162400"/>
                  </a:lnTo>
                  <a:lnTo>
                    <a:pt x="1762925" y="162400"/>
                  </a:lnTo>
                  <a:lnTo>
                    <a:pt x="1777484" y="171449"/>
                  </a:lnTo>
                  <a:lnTo>
                    <a:pt x="1791250" y="179069"/>
                  </a:lnTo>
                  <a:lnTo>
                    <a:pt x="1800034" y="181609"/>
                  </a:lnTo>
                  <a:lnTo>
                    <a:pt x="1705972" y="181609"/>
                  </a:lnTo>
                  <a:lnTo>
                    <a:pt x="1673970" y="182761"/>
                  </a:lnTo>
                  <a:lnTo>
                    <a:pt x="1671072" y="182761"/>
                  </a:lnTo>
                  <a:lnTo>
                    <a:pt x="1654016" y="187959"/>
                  </a:lnTo>
                  <a:lnTo>
                    <a:pt x="1640204" y="194309"/>
                  </a:lnTo>
                  <a:lnTo>
                    <a:pt x="1625679" y="201929"/>
                  </a:lnTo>
                  <a:lnTo>
                    <a:pt x="1606633" y="207009"/>
                  </a:lnTo>
                  <a:lnTo>
                    <a:pt x="1606233" y="207009"/>
                  </a:lnTo>
                  <a:lnTo>
                    <a:pt x="1566298" y="210819"/>
                  </a:lnTo>
                  <a:close/>
                </a:path>
                <a:path w="1870709" h="210820">
                  <a:moveTo>
                    <a:pt x="1851441" y="162893"/>
                  </a:moveTo>
                  <a:lnTo>
                    <a:pt x="1851700" y="162400"/>
                  </a:lnTo>
                  <a:lnTo>
                    <a:pt x="1851828" y="162400"/>
                  </a:lnTo>
                  <a:lnTo>
                    <a:pt x="1851441" y="162893"/>
                  </a:lnTo>
                  <a:close/>
                </a:path>
                <a:path w="1870709" h="210820">
                  <a:moveTo>
                    <a:pt x="1849880" y="164932"/>
                  </a:moveTo>
                  <a:lnTo>
                    <a:pt x="1850704" y="163829"/>
                  </a:lnTo>
                  <a:lnTo>
                    <a:pt x="1851441" y="162893"/>
                  </a:lnTo>
                  <a:lnTo>
                    <a:pt x="1851206" y="163829"/>
                  </a:lnTo>
                  <a:lnTo>
                    <a:pt x="1849880" y="164932"/>
                  </a:lnTo>
                  <a:close/>
                </a:path>
                <a:path w="1870709" h="210820">
                  <a:moveTo>
                    <a:pt x="1848707" y="166369"/>
                  </a:moveTo>
                  <a:lnTo>
                    <a:pt x="1848150" y="166369"/>
                  </a:lnTo>
                  <a:lnTo>
                    <a:pt x="1849880" y="164932"/>
                  </a:lnTo>
                  <a:lnTo>
                    <a:pt x="1848707" y="166369"/>
                  </a:lnTo>
                  <a:close/>
                </a:path>
                <a:path w="1870709" h="210820">
                  <a:moveTo>
                    <a:pt x="1843096" y="170431"/>
                  </a:moveTo>
                  <a:lnTo>
                    <a:pt x="1843108" y="170284"/>
                  </a:lnTo>
                  <a:lnTo>
                    <a:pt x="1843932" y="169888"/>
                  </a:lnTo>
                  <a:lnTo>
                    <a:pt x="1843421" y="170284"/>
                  </a:lnTo>
                  <a:lnTo>
                    <a:pt x="1843096" y="170431"/>
                  </a:lnTo>
                  <a:close/>
                </a:path>
                <a:path w="1870709" h="210820">
                  <a:moveTo>
                    <a:pt x="1835477" y="173989"/>
                  </a:moveTo>
                  <a:lnTo>
                    <a:pt x="1843108" y="170284"/>
                  </a:lnTo>
                  <a:lnTo>
                    <a:pt x="1843049" y="170431"/>
                  </a:lnTo>
                  <a:lnTo>
                    <a:pt x="1840916" y="171449"/>
                  </a:lnTo>
                  <a:lnTo>
                    <a:pt x="1835477" y="173989"/>
                  </a:lnTo>
                  <a:close/>
                </a:path>
                <a:path w="1870709" h="210820">
                  <a:moveTo>
                    <a:pt x="1813177" y="182761"/>
                  </a:moveTo>
                  <a:lnTo>
                    <a:pt x="1804794" y="182761"/>
                  </a:lnTo>
                  <a:lnTo>
                    <a:pt x="1820227" y="180339"/>
                  </a:lnTo>
                  <a:lnTo>
                    <a:pt x="1832758" y="175259"/>
                  </a:lnTo>
                  <a:lnTo>
                    <a:pt x="1843096" y="170431"/>
                  </a:lnTo>
                  <a:lnTo>
                    <a:pt x="1841927" y="171449"/>
                  </a:lnTo>
                  <a:lnTo>
                    <a:pt x="1841261" y="171880"/>
                  </a:lnTo>
                  <a:lnTo>
                    <a:pt x="1835467" y="175259"/>
                  </a:lnTo>
                  <a:lnTo>
                    <a:pt x="1828145" y="177799"/>
                  </a:lnTo>
                  <a:lnTo>
                    <a:pt x="1820465" y="181609"/>
                  </a:lnTo>
                  <a:lnTo>
                    <a:pt x="1813177" y="182761"/>
                  </a:lnTo>
                  <a:close/>
                </a:path>
                <a:path w="1870709" h="210820">
                  <a:moveTo>
                    <a:pt x="1804115" y="182761"/>
                  </a:moveTo>
                  <a:lnTo>
                    <a:pt x="1803436" y="182593"/>
                  </a:lnTo>
                  <a:lnTo>
                    <a:pt x="1791250" y="179069"/>
                  </a:lnTo>
                  <a:lnTo>
                    <a:pt x="1801088" y="181609"/>
                  </a:lnTo>
                  <a:lnTo>
                    <a:pt x="1804115" y="182761"/>
                  </a:lnTo>
                  <a:close/>
                </a:path>
                <a:path w="1870709" h="210820">
                  <a:moveTo>
                    <a:pt x="1788690" y="184149"/>
                  </a:moveTo>
                  <a:lnTo>
                    <a:pt x="1705972" y="181609"/>
                  </a:lnTo>
                  <a:lnTo>
                    <a:pt x="1800034" y="181609"/>
                  </a:lnTo>
                  <a:lnTo>
                    <a:pt x="1804017" y="182761"/>
                  </a:lnTo>
                  <a:lnTo>
                    <a:pt x="1788690" y="184149"/>
                  </a:lnTo>
                  <a:close/>
                </a:path>
              </a:pathLst>
            </a:custGeom>
            <a:solidFill>
              <a:srgbClr val="F9F9F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144000" y="2920866"/>
              <a:ext cx="2590799" cy="5495924"/>
            </a:xfrm>
            <a:prstGeom prst="rect">
              <a:avLst/>
            </a:prstGeom>
          </p:spPr>
        </p:pic>
      </p:grpSp>
      <p:pic>
        <p:nvPicPr>
          <p:cNvPr id="10" name="object 10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196541" y="2881816"/>
            <a:ext cx="2295525" cy="5791199"/>
          </a:xfrm>
          <a:prstGeom prst="rect">
            <a:avLst/>
          </a:prstGeom>
        </p:spPr>
      </p:pic>
      <p:sp>
        <p:nvSpPr>
          <p:cNvPr id="11" name="object 11" descr=""/>
          <p:cNvSpPr txBox="1"/>
          <p:nvPr/>
        </p:nvSpPr>
        <p:spPr>
          <a:xfrm>
            <a:off x="425830" y="203076"/>
            <a:ext cx="1510665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85" b="1">
                <a:latin typeface="Times New Roman"/>
                <a:cs typeface="Times New Roman"/>
              </a:rPr>
              <a:t>Overview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3716064" y="222126"/>
            <a:ext cx="2160905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b="1">
                <a:latin typeface="Times New Roman"/>
                <a:cs typeface="Times New Roman"/>
              </a:rPr>
              <a:t>User</a:t>
            </a:r>
            <a:r>
              <a:rPr dirty="0" sz="3000" spc="-100" b="1">
                <a:latin typeface="Times New Roman"/>
                <a:cs typeface="Times New Roman"/>
              </a:rPr>
              <a:t> </a:t>
            </a:r>
            <a:r>
              <a:rPr dirty="0" sz="3000" spc="-25" b="1">
                <a:latin typeface="Times New Roman"/>
                <a:cs typeface="Times New Roman"/>
              </a:rPr>
              <a:t>Persona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13" name="object 13" descr=""/>
          <p:cNvSpPr/>
          <p:nvPr/>
        </p:nvSpPr>
        <p:spPr>
          <a:xfrm>
            <a:off x="9497500" y="634876"/>
            <a:ext cx="53340" cy="38100"/>
          </a:xfrm>
          <a:custGeom>
            <a:avLst/>
            <a:gdLst/>
            <a:ahLst/>
            <a:cxnLst/>
            <a:rect l="l" t="t" r="r" b="b"/>
            <a:pathLst>
              <a:path w="53340" h="38100">
                <a:moveTo>
                  <a:pt x="52865" y="38099"/>
                </a:moveTo>
                <a:lnTo>
                  <a:pt x="0" y="38099"/>
                </a:lnTo>
                <a:lnTo>
                  <a:pt x="0" y="0"/>
                </a:lnTo>
                <a:lnTo>
                  <a:pt x="52865" y="0"/>
                </a:lnTo>
                <a:lnTo>
                  <a:pt x="52865" y="380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 txBox="1"/>
          <p:nvPr/>
        </p:nvSpPr>
        <p:spPr>
          <a:xfrm>
            <a:off x="7402429" y="222126"/>
            <a:ext cx="2160905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heavy" sz="30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User</a:t>
            </a:r>
            <a:r>
              <a:rPr dirty="0" u="heavy" sz="3000" spc="-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3000" spc="-5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Journey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10652024" y="184026"/>
            <a:ext cx="346710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40" b="1">
                <a:latin typeface="Times New Roman"/>
                <a:cs typeface="Times New Roman"/>
              </a:rPr>
              <a:t>Product</a:t>
            </a:r>
            <a:r>
              <a:rPr dirty="0" sz="3000" spc="-130" b="1">
                <a:latin typeface="Times New Roman"/>
                <a:cs typeface="Times New Roman"/>
              </a:rPr>
              <a:t> </a:t>
            </a:r>
            <a:r>
              <a:rPr dirty="0" sz="3000" spc="-100" b="1">
                <a:latin typeface="Times New Roman"/>
                <a:cs typeface="Times New Roman"/>
              </a:rPr>
              <a:t>Improvement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16164551" y="193551"/>
            <a:ext cx="125984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20" b="1">
                <a:latin typeface="Times New Roman"/>
                <a:cs typeface="Times New Roman"/>
              </a:rPr>
              <a:t>Metrics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339873" y="1009322"/>
            <a:ext cx="5221605" cy="1657985"/>
          </a:xfrm>
          <a:prstGeom prst="rect">
            <a:avLst/>
          </a:prstGeom>
        </p:spPr>
        <p:txBody>
          <a:bodyPr wrap="square" lIns="0" tIns="2444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25"/>
              </a:spcBef>
            </a:pPr>
            <a:r>
              <a:rPr dirty="0" sz="4500" b="1">
                <a:latin typeface="Times New Roman"/>
                <a:cs typeface="Times New Roman"/>
              </a:rPr>
              <a:t>User</a:t>
            </a:r>
            <a:r>
              <a:rPr dirty="0" sz="4500" spc="-145" b="1">
                <a:latin typeface="Times New Roman"/>
                <a:cs typeface="Times New Roman"/>
              </a:rPr>
              <a:t> </a:t>
            </a:r>
            <a:r>
              <a:rPr dirty="0" sz="4500" spc="-65" b="1">
                <a:latin typeface="Times New Roman"/>
                <a:cs typeface="Times New Roman"/>
              </a:rPr>
              <a:t>Journey</a:t>
            </a:r>
            <a:r>
              <a:rPr dirty="0" sz="4500" spc="-140" b="1">
                <a:latin typeface="Times New Roman"/>
                <a:cs typeface="Times New Roman"/>
              </a:rPr>
              <a:t> </a:t>
            </a:r>
            <a:r>
              <a:rPr dirty="0" sz="4500" b="1">
                <a:latin typeface="Times New Roman"/>
                <a:cs typeface="Times New Roman"/>
              </a:rPr>
              <a:t>Phase</a:t>
            </a:r>
            <a:r>
              <a:rPr dirty="0" sz="4500" spc="-140" b="1">
                <a:latin typeface="Times New Roman"/>
                <a:cs typeface="Times New Roman"/>
              </a:rPr>
              <a:t> </a:t>
            </a:r>
            <a:r>
              <a:rPr dirty="0" sz="4500" spc="-50" b="1">
                <a:latin typeface="Times New Roman"/>
                <a:cs typeface="Times New Roman"/>
              </a:rPr>
              <a:t>1</a:t>
            </a:r>
            <a:endParaRPr sz="4500">
              <a:latin typeface="Times New Roman"/>
              <a:cs typeface="Times New Roman"/>
            </a:endParaRPr>
          </a:p>
          <a:p>
            <a:pPr marL="123825">
              <a:lnSpc>
                <a:spcPct val="100000"/>
              </a:lnSpc>
              <a:spcBef>
                <a:spcPts val="1425"/>
              </a:spcBef>
            </a:pPr>
            <a:r>
              <a:rPr dirty="0" sz="3500" b="1">
                <a:latin typeface="Times New Roman"/>
                <a:cs typeface="Times New Roman"/>
              </a:rPr>
              <a:t>Placing</a:t>
            </a:r>
            <a:r>
              <a:rPr dirty="0" sz="3500" spc="-160" b="1">
                <a:latin typeface="Times New Roman"/>
                <a:cs typeface="Times New Roman"/>
              </a:rPr>
              <a:t> </a:t>
            </a:r>
            <a:r>
              <a:rPr dirty="0" sz="3500" spc="-30" b="1">
                <a:latin typeface="Times New Roman"/>
                <a:cs typeface="Times New Roman"/>
              </a:rPr>
              <a:t>the</a:t>
            </a:r>
            <a:r>
              <a:rPr dirty="0" sz="3500" spc="-160" b="1">
                <a:latin typeface="Times New Roman"/>
                <a:cs typeface="Times New Roman"/>
              </a:rPr>
              <a:t> </a:t>
            </a:r>
            <a:r>
              <a:rPr dirty="0" sz="3500" spc="-10" b="1">
                <a:latin typeface="Times New Roman"/>
                <a:cs typeface="Times New Roman"/>
              </a:rPr>
              <a:t>order</a:t>
            </a:r>
            <a:endParaRPr sz="3500">
              <a:latin typeface="Times New Roman"/>
              <a:cs typeface="Times New Roman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174070" y="8969154"/>
            <a:ext cx="2216785" cy="863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599"/>
              </a:lnSpc>
              <a:spcBef>
                <a:spcPts val="100"/>
              </a:spcBef>
            </a:pPr>
            <a:r>
              <a:rPr dirty="0" sz="2400">
                <a:latin typeface="Times New Roman"/>
                <a:cs typeface="Times New Roman"/>
              </a:rPr>
              <a:t>Step6</a:t>
            </a:r>
            <a:r>
              <a:rPr dirty="0" sz="2400" spc="8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:</a:t>
            </a:r>
            <a:r>
              <a:rPr dirty="0" sz="2400" spc="8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Select</a:t>
            </a:r>
            <a:r>
              <a:rPr dirty="0" sz="2400" spc="85">
                <a:latin typeface="Times New Roman"/>
                <a:cs typeface="Times New Roman"/>
              </a:rPr>
              <a:t> </a:t>
            </a:r>
            <a:r>
              <a:rPr dirty="0" sz="2400" spc="50">
                <a:latin typeface="Times New Roman"/>
                <a:cs typeface="Times New Roman"/>
              </a:rPr>
              <a:t>the </a:t>
            </a:r>
            <a:r>
              <a:rPr dirty="0" sz="2400" spc="60">
                <a:latin typeface="Times New Roman"/>
                <a:cs typeface="Times New Roman"/>
              </a:rPr>
              <a:t>Category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3045097" y="8969154"/>
            <a:ext cx="2216785" cy="863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599"/>
              </a:lnSpc>
              <a:spcBef>
                <a:spcPts val="100"/>
              </a:spcBef>
            </a:pPr>
            <a:r>
              <a:rPr dirty="0" sz="2400">
                <a:latin typeface="Times New Roman"/>
                <a:cs typeface="Times New Roman"/>
              </a:rPr>
              <a:t>Step7</a:t>
            </a:r>
            <a:r>
              <a:rPr dirty="0" sz="2400" spc="8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:</a:t>
            </a:r>
            <a:r>
              <a:rPr dirty="0" sz="2400" spc="8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Select</a:t>
            </a:r>
            <a:r>
              <a:rPr dirty="0" sz="2400" spc="85">
                <a:latin typeface="Times New Roman"/>
                <a:cs typeface="Times New Roman"/>
              </a:rPr>
              <a:t> </a:t>
            </a:r>
            <a:r>
              <a:rPr dirty="0" sz="2400" spc="50">
                <a:latin typeface="Times New Roman"/>
                <a:cs typeface="Times New Roman"/>
              </a:rPr>
              <a:t>the </a:t>
            </a:r>
            <a:r>
              <a:rPr dirty="0" sz="2400" spc="55">
                <a:latin typeface="Times New Roman"/>
                <a:cs typeface="Times New Roman"/>
              </a:rPr>
              <a:t>Store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6039144" y="8969154"/>
            <a:ext cx="2216785" cy="863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599"/>
              </a:lnSpc>
              <a:spcBef>
                <a:spcPts val="100"/>
              </a:spcBef>
            </a:pPr>
            <a:r>
              <a:rPr dirty="0" sz="2400">
                <a:latin typeface="Times New Roman"/>
                <a:cs typeface="Times New Roman"/>
              </a:rPr>
              <a:t>Step8</a:t>
            </a:r>
            <a:r>
              <a:rPr dirty="0" sz="2400" spc="8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:</a:t>
            </a:r>
            <a:r>
              <a:rPr dirty="0" sz="2400" spc="8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Select</a:t>
            </a:r>
            <a:r>
              <a:rPr dirty="0" sz="2400" spc="85">
                <a:latin typeface="Times New Roman"/>
                <a:cs typeface="Times New Roman"/>
              </a:rPr>
              <a:t> </a:t>
            </a:r>
            <a:r>
              <a:rPr dirty="0" sz="2400" spc="50">
                <a:latin typeface="Times New Roman"/>
                <a:cs typeface="Times New Roman"/>
              </a:rPr>
              <a:t>the </a:t>
            </a:r>
            <a:r>
              <a:rPr dirty="0" sz="2400" spc="65">
                <a:latin typeface="Times New Roman"/>
                <a:cs typeface="Times New Roman"/>
              </a:rPr>
              <a:t>Item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8988425" y="9022494"/>
            <a:ext cx="260667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imes New Roman"/>
                <a:cs typeface="Times New Roman"/>
              </a:rPr>
              <a:t>Step9</a:t>
            </a:r>
            <a:r>
              <a:rPr dirty="0" sz="2400" spc="7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:</a:t>
            </a:r>
            <a:r>
              <a:rPr dirty="0" sz="2400" spc="75">
                <a:latin typeface="Times New Roman"/>
                <a:cs typeface="Times New Roman"/>
              </a:rPr>
              <a:t> </a:t>
            </a:r>
            <a:r>
              <a:rPr dirty="0" sz="2400" spc="110">
                <a:latin typeface="Times New Roman"/>
                <a:cs typeface="Times New Roman"/>
              </a:rPr>
              <a:t>Add</a:t>
            </a:r>
            <a:r>
              <a:rPr dirty="0" sz="2400" spc="70">
                <a:latin typeface="Times New Roman"/>
                <a:cs typeface="Times New Roman"/>
              </a:rPr>
              <a:t> </a:t>
            </a:r>
            <a:r>
              <a:rPr dirty="0" sz="2400" spc="50">
                <a:latin typeface="Times New Roman"/>
                <a:cs typeface="Times New Roman"/>
              </a:rPr>
              <a:t>address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12228877" y="8997983"/>
            <a:ext cx="297878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imes New Roman"/>
                <a:cs typeface="Times New Roman"/>
              </a:rPr>
              <a:t>Step10</a:t>
            </a:r>
            <a:r>
              <a:rPr dirty="0" sz="2400" spc="7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:</a:t>
            </a:r>
            <a:r>
              <a:rPr dirty="0" sz="2400" spc="75">
                <a:latin typeface="Times New Roman"/>
                <a:cs typeface="Times New Roman"/>
              </a:rPr>
              <a:t> </a:t>
            </a:r>
            <a:r>
              <a:rPr dirty="0" sz="2400" spc="80">
                <a:latin typeface="Times New Roman"/>
                <a:cs typeface="Times New Roman"/>
              </a:rPr>
              <a:t>Payment</a:t>
            </a:r>
            <a:r>
              <a:rPr dirty="0" sz="2400" spc="75">
                <a:latin typeface="Times New Roman"/>
                <a:cs typeface="Times New Roman"/>
              </a:rPr>
              <a:t> </a:t>
            </a:r>
            <a:r>
              <a:rPr dirty="0" sz="2400" spc="30">
                <a:latin typeface="Times New Roman"/>
                <a:cs typeface="Times New Roman"/>
              </a:rPr>
              <a:t>Page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15355391" y="8952700"/>
            <a:ext cx="2860040" cy="808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100"/>
              </a:lnSpc>
              <a:spcBef>
                <a:spcPts val="100"/>
              </a:spcBef>
            </a:pPr>
            <a:r>
              <a:rPr dirty="0" sz="2250">
                <a:latin typeface="Times New Roman"/>
                <a:cs typeface="Times New Roman"/>
              </a:rPr>
              <a:t>Step11</a:t>
            </a:r>
            <a:r>
              <a:rPr dirty="0" sz="2250" spc="40">
                <a:latin typeface="Times New Roman"/>
                <a:cs typeface="Times New Roman"/>
              </a:rPr>
              <a:t> </a:t>
            </a:r>
            <a:r>
              <a:rPr dirty="0" sz="2250">
                <a:latin typeface="Times New Roman"/>
                <a:cs typeface="Times New Roman"/>
              </a:rPr>
              <a:t>:</a:t>
            </a:r>
            <a:r>
              <a:rPr dirty="0" sz="2250" spc="40">
                <a:latin typeface="Times New Roman"/>
                <a:cs typeface="Times New Roman"/>
              </a:rPr>
              <a:t> </a:t>
            </a:r>
            <a:r>
              <a:rPr dirty="0" sz="2250" spc="80">
                <a:latin typeface="Times New Roman"/>
                <a:cs typeface="Times New Roman"/>
              </a:rPr>
              <a:t>Order</a:t>
            </a:r>
            <a:r>
              <a:rPr dirty="0" sz="2250" spc="40">
                <a:latin typeface="Times New Roman"/>
                <a:cs typeface="Times New Roman"/>
              </a:rPr>
              <a:t> </a:t>
            </a:r>
            <a:r>
              <a:rPr dirty="0" sz="2250" spc="50">
                <a:latin typeface="Times New Roman"/>
                <a:cs typeface="Times New Roman"/>
              </a:rPr>
              <a:t>tracking </a:t>
            </a:r>
            <a:r>
              <a:rPr dirty="0" sz="2250" spc="-20">
                <a:latin typeface="Times New Roman"/>
                <a:cs typeface="Times New Roman"/>
              </a:rPr>
              <a:t>Page</a:t>
            </a:r>
            <a:endParaRPr sz="22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9598" y="4176829"/>
            <a:ext cx="76200" cy="76199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9598" y="5129329"/>
            <a:ext cx="76200" cy="76199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9598" y="7034328"/>
            <a:ext cx="76200" cy="76199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9598" y="7986828"/>
            <a:ext cx="76200" cy="76199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093635" y="4582563"/>
            <a:ext cx="2657474" cy="5372100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413130" y="222126"/>
            <a:ext cx="1702435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  <a:tabLst>
                <a:tab pos="3315335" algn="l"/>
                <a:tab pos="7001509" algn="l"/>
                <a:tab pos="10251440" algn="l"/>
                <a:tab pos="15763875" algn="l"/>
              </a:tabLst>
            </a:pPr>
            <a:r>
              <a:rPr dirty="0" baseline="2777" sz="4500" spc="-15"/>
              <a:t>Overview</a:t>
            </a:r>
            <a:r>
              <a:rPr dirty="0" baseline="2777" sz="4500"/>
              <a:t>	</a:t>
            </a:r>
            <a:r>
              <a:rPr dirty="0" sz="3000"/>
              <a:t>User</a:t>
            </a:r>
            <a:r>
              <a:rPr dirty="0" sz="3000" spc="-100"/>
              <a:t> </a:t>
            </a:r>
            <a:r>
              <a:rPr dirty="0" sz="3000" spc="-10"/>
              <a:t>Persona</a:t>
            </a:r>
            <a:r>
              <a:rPr dirty="0" sz="3000"/>
              <a:t>	User</a:t>
            </a:r>
            <a:r>
              <a:rPr dirty="0" sz="3000" spc="-100"/>
              <a:t> </a:t>
            </a:r>
            <a:r>
              <a:rPr dirty="0" sz="3000" spc="-10"/>
              <a:t>Journey</a:t>
            </a:r>
            <a:r>
              <a:rPr dirty="0" sz="3000"/>
              <a:t>	</a:t>
            </a:r>
            <a:r>
              <a:rPr dirty="0" u="heavy" baseline="5555" sz="4500" spc="-60">
                <a:uFill>
                  <a:solidFill>
                    <a:srgbClr val="000000"/>
                  </a:solidFill>
                </a:uFill>
              </a:rPr>
              <a:t>Product</a:t>
            </a:r>
            <a:r>
              <a:rPr dirty="0" u="heavy" baseline="5555" sz="4500" spc="-195">
                <a:uFill>
                  <a:solidFill>
                    <a:srgbClr val="000000"/>
                  </a:solidFill>
                </a:uFill>
              </a:rPr>
              <a:t> </a:t>
            </a:r>
            <a:r>
              <a:rPr dirty="0" u="heavy" baseline="5555" sz="4500" spc="-15">
                <a:uFill>
                  <a:solidFill>
                    <a:srgbClr val="000000"/>
                  </a:solidFill>
                </a:uFill>
              </a:rPr>
              <a:t>Improvement</a:t>
            </a:r>
            <a:r>
              <a:rPr dirty="0" baseline="5555" sz="4500"/>
              <a:t>	</a:t>
            </a:r>
            <a:r>
              <a:rPr dirty="0" baseline="3703" sz="4500" spc="-15"/>
              <a:t>Metrics</a:t>
            </a:r>
            <a:endParaRPr baseline="3703" sz="4500"/>
          </a:p>
        </p:txBody>
      </p:sp>
      <p:pic>
        <p:nvPicPr>
          <p:cNvPr id="8" name="object 8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9598" y="1661413"/>
            <a:ext cx="76200" cy="76199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9598" y="2613913"/>
            <a:ext cx="76200" cy="76199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124948" y="878579"/>
            <a:ext cx="17870170" cy="7780020"/>
          </a:xfrm>
          <a:prstGeom prst="rect">
            <a:avLst/>
          </a:prstGeom>
        </p:spPr>
        <p:txBody>
          <a:bodyPr wrap="square" lIns="0" tIns="84455" rIns="0" bIns="0" rtlCol="0" vert="horz">
            <a:spAutoFit/>
          </a:bodyPr>
          <a:lstStyle/>
          <a:p>
            <a:pPr marL="358775" indent="-346075">
              <a:lnSpc>
                <a:spcPct val="100000"/>
              </a:lnSpc>
              <a:spcBef>
                <a:spcPts val="665"/>
              </a:spcBef>
              <a:buAutoNum type="arabicPeriod"/>
              <a:tabLst>
                <a:tab pos="358775" algn="l"/>
              </a:tabLst>
            </a:pPr>
            <a:r>
              <a:rPr dirty="0" sz="2650" spc="-20" b="1">
                <a:latin typeface="Times New Roman"/>
                <a:cs typeface="Times New Roman"/>
              </a:rPr>
              <a:t>Out-</a:t>
            </a:r>
            <a:r>
              <a:rPr dirty="0" sz="2650" spc="-10" b="1">
                <a:latin typeface="Times New Roman"/>
                <a:cs typeface="Times New Roman"/>
              </a:rPr>
              <a:t>of-</a:t>
            </a:r>
            <a:r>
              <a:rPr dirty="0" sz="2650" b="1">
                <a:latin typeface="Times New Roman"/>
                <a:cs typeface="Times New Roman"/>
              </a:rPr>
              <a:t>Stock</a:t>
            </a:r>
            <a:r>
              <a:rPr dirty="0" sz="2650" spc="50" b="1">
                <a:latin typeface="Times New Roman"/>
                <a:cs typeface="Times New Roman"/>
              </a:rPr>
              <a:t> </a:t>
            </a:r>
            <a:r>
              <a:rPr dirty="0" sz="2650" b="1">
                <a:latin typeface="Times New Roman"/>
                <a:cs typeface="Times New Roman"/>
              </a:rPr>
              <a:t>Notification</a:t>
            </a:r>
            <a:r>
              <a:rPr dirty="0" sz="2650" spc="65" b="1">
                <a:latin typeface="Times New Roman"/>
                <a:cs typeface="Times New Roman"/>
              </a:rPr>
              <a:t> </a:t>
            </a:r>
            <a:r>
              <a:rPr dirty="0" sz="2650" spc="-10" b="1">
                <a:latin typeface="Times New Roman"/>
                <a:cs typeface="Times New Roman"/>
              </a:rPr>
              <a:t>Feature:</a:t>
            </a:r>
            <a:endParaRPr sz="2650">
              <a:latin typeface="Times New Roman"/>
              <a:cs typeface="Times New Roman"/>
            </a:endParaRPr>
          </a:p>
          <a:p>
            <a:pPr marL="591185" marR="5080">
              <a:lnSpc>
                <a:spcPct val="117900"/>
              </a:lnSpc>
            </a:pPr>
            <a:r>
              <a:rPr dirty="0" sz="2650" spc="-85" b="1">
                <a:latin typeface="Times New Roman"/>
                <a:cs typeface="Times New Roman"/>
              </a:rPr>
              <a:t>Current</a:t>
            </a:r>
            <a:r>
              <a:rPr dirty="0" sz="2650" spc="10" b="1">
                <a:latin typeface="Times New Roman"/>
                <a:cs typeface="Times New Roman"/>
              </a:rPr>
              <a:t> </a:t>
            </a:r>
            <a:r>
              <a:rPr dirty="0" sz="2650" spc="-30" b="1">
                <a:latin typeface="Times New Roman"/>
                <a:cs typeface="Times New Roman"/>
              </a:rPr>
              <a:t>Situation:</a:t>
            </a:r>
            <a:r>
              <a:rPr dirty="0" sz="2650" spc="5" b="1">
                <a:latin typeface="Times New Roman"/>
                <a:cs typeface="Times New Roman"/>
              </a:rPr>
              <a:t> </a:t>
            </a:r>
            <a:r>
              <a:rPr dirty="0" sz="2650" spc="100">
                <a:latin typeface="Times New Roman"/>
                <a:cs typeface="Times New Roman"/>
              </a:rPr>
              <a:t>When</a:t>
            </a:r>
            <a:r>
              <a:rPr dirty="0" sz="2650" spc="10">
                <a:latin typeface="Times New Roman"/>
                <a:cs typeface="Times New Roman"/>
              </a:rPr>
              <a:t> </a:t>
            </a:r>
            <a:r>
              <a:rPr dirty="0" sz="2650" spc="150">
                <a:latin typeface="Times New Roman"/>
                <a:cs typeface="Times New Roman"/>
              </a:rPr>
              <a:t>an</a:t>
            </a:r>
            <a:r>
              <a:rPr dirty="0" sz="2650" spc="10">
                <a:latin typeface="Times New Roman"/>
                <a:cs typeface="Times New Roman"/>
              </a:rPr>
              <a:t> </a:t>
            </a:r>
            <a:r>
              <a:rPr dirty="0" sz="2650" spc="55">
                <a:latin typeface="Times New Roman"/>
                <a:cs typeface="Times New Roman"/>
              </a:rPr>
              <a:t>item</a:t>
            </a:r>
            <a:r>
              <a:rPr dirty="0" sz="2650" spc="10">
                <a:latin typeface="Times New Roman"/>
                <a:cs typeface="Times New Roman"/>
              </a:rPr>
              <a:t> </a:t>
            </a:r>
            <a:r>
              <a:rPr dirty="0" sz="2650">
                <a:latin typeface="Times New Roman"/>
                <a:cs typeface="Times New Roman"/>
              </a:rPr>
              <a:t>is</a:t>
            </a:r>
            <a:r>
              <a:rPr dirty="0" sz="2650" spc="10">
                <a:latin typeface="Times New Roman"/>
                <a:cs typeface="Times New Roman"/>
              </a:rPr>
              <a:t> </a:t>
            </a:r>
            <a:r>
              <a:rPr dirty="0" sz="2650" spc="140">
                <a:latin typeface="Times New Roman"/>
                <a:cs typeface="Times New Roman"/>
              </a:rPr>
              <a:t>out</a:t>
            </a:r>
            <a:r>
              <a:rPr dirty="0" sz="2650" spc="10">
                <a:latin typeface="Times New Roman"/>
                <a:cs typeface="Times New Roman"/>
              </a:rPr>
              <a:t> </a:t>
            </a:r>
            <a:r>
              <a:rPr dirty="0" sz="2650" spc="70">
                <a:latin typeface="Times New Roman"/>
                <a:cs typeface="Times New Roman"/>
              </a:rPr>
              <a:t>of</a:t>
            </a:r>
            <a:r>
              <a:rPr dirty="0" sz="2650" spc="10">
                <a:latin typeface="Times New Roman"/>
                <a:cs typeface="Times New Roman"/>
              </a:rPr>
              <a:t> </a:t>
            </a:r>
            <a:r>
              <a:rPr dirty="0" sz="2650" spc="75">
                <a:latin typeface="Times New Roman"/>
                <a:cs typeface="Times New Roman"/>
              </a:rPr>
              <a:t>stock</a:t>
            </a:r>
            <a:r>
              <a:rPr dirty="0" sz="2650" spc="10">
                <a:latin typeface="Times New Roman"/>
                <a:cs typeface="Times New Roman"/>
              </a:rPr>
              <a:t> </a:t>
            </a:r>
            <a:r>
              <a:rPr dirty="0" sz="2650" spc="140">
                <a:latin typeface="Times New Roman"/>
                <a:cs typeface="Times New Roman"/>
              </a:rPr>
              <a:t>on</a:t>
            </a:r>
            <a:r>
              <a:rPr dirty="0" sz="2650" spc="10">
                <a:latin typeface="Times New Roman"/>
                <a:cs typeface="Times New Roman"/>
              </a:rPr>
              <a:t> </a:t>
            </a:r>
            <a:r>
              <a:rPr dirty="0" sz="2650" spc="90">
                <a:latin typeface="Times New Roman"/>
                <a:cs typeface="Times New Roman"/>
              </a:rPr>
              <a:t>the</a:t>
            </a:r>
            <a:r>
              <a:rPr dirty="0" sz="2650" spc="10">
                <a:latin typeface="Times New Roman"/>
                <a:cs typeface="Times New Roman"/>
              </a:rPr>
              <a:t> </a:t>
            </a:r>
            <a:r>
              <a:rPr dirty="0" sz="2650" spc="135">
                <a:latin typeface="Times New Roman"/>
                <a:cs typeface="Times New Roman"/>
              </a:rPr>
              <a:t>Dunzo</a:t>
            </a:r>
            <a:r>
              <a:rPr dirty="0" sz="2650" spc="5">
                <a:latin typeface="Times New Roman"/>
                <a:cs typeface="Times New Roman"/>
              </a:rPr>
              <a:t> </a:t>
            </a:r>
            <a:r>
              <a:rPr dirty="0" sz="2650" spc="125">
                <a:latin typeface="Times New Roman"/>
                <a:cs typeface="Times New Roman"/>
              </a:rPr>
              <a:t>app,</a:t>
            </a:r>
            <a:r>
              <a:rPr dirty="0" sz="2650" spc="10">
                <a:latin typeface="Times New Roman"/>
                <a:cs typeface="Times New Roman"/>
              </a:rPr>
              <a:t> </a:t>
            </a:r>
            <a:r>
              <a:rPr dirty="0" sz="2650" spc="75">
                <a:latin typeface="Times New Roman"/>
                <a:cs typeface="Times New Roman"/>
              </a:rPr>
              <a:t>there</a:t>
            </a:r>
            <a:r>
              <a:rPr dirty="0" sz="2650" spc="10">
                <a:latin typeface="Times New Roman"/>
                <a:cs typeface="Times New Roman"/>
              </a:rPr>
              <a:t> </a:t>
            </a:r>
            <a:r>
              <a:rPr dirty="0" sz="2650">
                <a:latin typeface="Times New Roman"/>
                <a:cs typeface="Times New Roman"/>
              </a:rPr>
              <a:t>is</a:t>
            </a:r>
            <a:r>
              <a:rPr dirty="0" sz="2650" spc="10">
                <a:latin typeface="Times New Roman"/>
                <a:cs typeface="Times New Roman"/>
              </a:rPr>
              <a:t> </a:t>
            </a:r>
            <a:r>
              <a:rPr dirty="0" sz="2650" spc="140">
                <a:latin typeface="Times New Roman"/>
                <a:cs typeface="Times New Roman"/>
              </a:rPr>
              <a:t>no</a:t>
            </a:r>
            <a:r>
              <a:rPr dirty="0" sz="2650" spc="10">
                <a:latin typeface="Times New Roman"/>
                <a:cs typeface="Times New Roman"/>
              </a:rPr>
              <a:t> </a:t>
            </a:r>
            <a:r>
              <a:rPr dirty="0" sz="2650" spc="55">
                <a:latin typeface="Times New Roman"/>
                <a:cs typeface="Times New Roman"/>
              </a:rPr>
              <a:t>way</a:t>
            </a:r>
            <a:r>
              <a:rPr dirty="0" sz="2650" spc="10">
                <a:latin typeface="Times New Roman"/>
                <a:cs typeface="Times New Roman"/>
              </a:rPr>
              <a:t> </a:t>
            </a:r>
            <a:r>
              <a:rPr dirty="0" sz="2650" spc="140">
                <a:latin typeface="Times New Roman"/>
                <a:cs typeface="Times New Roman"/>
              </a:rPr>
              <a:t>to</a:t>
            </a:r>
            <a:r>
              <a:rPr dirty="0" sz="2650" spc="10">
                <a:latin typeface="Times New Roman"/>
                <a:cs typeface="Times New Roman"/>
              </a:rPr>
              <a:t> </a:t>
            </a:r>
            <a:r>
              <a:rPr dirty="0" sz="2650" spc="60">
                <a:latin typeface="Times New Roman"/>
                <a:cs typeface="Times New Roman"/>
              </a:rPr>
              <a:t>keep</a:t>
            </a:r>
            <a:r>
              <a:rPr dirty="0" sz="2650" spc="10">
                <a:latin typeface="Times New Roman"/>
                <a:cs typeface="Times New Roman"/>
              </a:rPr>
              <a:t> </a:t>
            </a:r>
            <a:r>
              <a:rPr dirty="0" sz="2650" spc="110">
                <a:latin typeface="Times New Roman"/>
                <a:cs typeface="Times New Roman"/>
              </a:rPr>
              <a:t>track</a:t>
            </a:r>
            <a:r>
              <a:rPr dirty="0" sz="2650" spc="10">
                <a:latin typeface="Times New Roman"/>
                <a:cs typeface="Times New Roman"/>
              </a:rPr>
              <a:t> </a:t>
            </a:r>
            <a:r>
              <a:rPr dirty="0" sz="2650" spc="70">
                <a:latin typeface="Times New Roman"/>
                <a:cs typeface="Times New Roman"/>
              </a:rPr>
              <a:t>of</a:t>
            </a:r>
            <a:r>
              <a:rPr dirty="0" sz="2650" spc="10">
                <a:latin typeface="Times New Roman"/>
                <a:cs typeface="Times New Roman"/>
              </a:rPr>
              <a:t> </a:t>
            </a:r>
            <a:r>
              <a:rPr dirty="0" sz="2650">
                <a:latin typeface="Times New Roman"/>
                <a:cs typeface="Times New Roman"/>
              </a:rPr>
              <a:t>its</a:t>
            </a:r>
            <a:r>
              <a:rPr dirty="0" sz="2650" spc="10">
                <a:latin typeface="Times New Roman"/>
                <a:cs typeface="Times New Roman"/>
              </a:rPr>
              <a:t> </a:t>
            </a:r>
            <a:r>
              <a:rPr dirty="0" sz="2650" spc="70">
                <a:latin typeface="Times New Roman"/>
                <a:cs typeface="Times New Roman"/>
              </a:rPr>
              <a:t>restock</a:t>
            </a:r>
            <a:r>
              <a:rPr dirty="0" sz="2650" spc="5">
                <a:latin typeface="Times New Roman"/>
                <a:cs typeface="Times New Roman"/>
              </a:rPr>
              <a:t> </a:t>
            </a:r>
            <a:r>
              <a:rPr dirty="0" sz="2650" spc="140">
                <a:latin typeface="Times New Roman"/>
                <a:cs typeface="Times New Roman"/>
              </a:rPr>
              <a:t>or</a:t>
            </a:r>
            <a:r>
              <a:rPr dirty="0" sz="2650" spc="10">
                <a:latin typeface="Times New Roman"/>
                <a:cs typeface="Times New Roman"/>
              </a:rPr>
              <a:t> </a:t>
            </a:r>
            <a:r>
              <a:rPr dirty="0" sz="2650" spc="-10">
                <a:latin typeface="Times New Roman"/>
                <a:cs typeface="Times New Roman"/>
              </a:rPr>
              <a:t>receive </a:t>
            </a:r>
            <a:r>
              <a:rPr dirty="0" sz="2650" spc="70">
                <a:latin typeface="Times New Roman"/>
                <a:cs typeface="Times New Roman"/>
              </a:rPr>
              <a:t>notifications</a:t>
            </a:r>
            <a:r>
              <a:rPr dirty="0" sz="2650" spc="45">
                <a:latin typeface="Times New Roman"/>
                <a:cs typeface="Times New Roman"/>
              </a:rPr>
              <a:t> </a:t>
            </a:r>
            <a:r>
              <a:rPr dirty="0" sz="2650" spc="90">
                <a:latin typeface="Times New Roman"/>
                <a:cs typeface="Times New Roman"/>
              </a:rPr>
              <a:t>for</a:t>
            </a:r>
            <a:r>
              <a:rPr dirty="0" sz="2650" spc="45">
                <a:latin typeface="Times New Roman"/>
                <a:cs typeface="Times New Roman"/>
              </a:rPr>
              <a:t> </a:t>
            </a:r>
            <a:r>
              <a:rPr dirty="0" sz="2650">
                <a:latin typeface="Times New Roman"/>
                <a:cs typeface="Times New Roman"/>
              </a:rPr>
              <a:t>its</a:t>
            </a:r>
            <a:r>
              <a:rPr dirty="0" sz="2650" spc="50">
                <a:latin typeface="Times New Roman"/>
                <a:cs typeface="Times New Roman"/>
              </a:rPr>
              <a:t> </a:t>
            </a:r>
            <a:r>
              <a:rPr dirty="0" sz="2650" spc="45">
                <a:latin typeface="Times New Roman"/>
                <a:cs typeface="Times New Roman"/>
              </a:rPr>
              <a:t>availability.</a:t>
            </a:r>
            <a:endParaRPr sz="2650">
              <a:latin typeface="Times New Roman"/>
              <a:cs typeface="Times New Roman"/>
            </a:endParaRPr>
          </a:p>
          <a:p>
            <a:pPr marL="591185" marR="735330">
              <a:lnSpc>
                <a:spcPct val="117900"/>
              </a:lnSpc>
            </a:pPr>
            <a:r>
              <a:rPr dirty="0" sz="2650" spc="-65" b="1">
                <a:latin typeface="Times New Roman"/>
                <a:cs typeface="Times New Roman"/>
              </a:rPr>
              <a:t>Recommendation:</a:t>
            </a:r>
            <a:r>
              <a:rPr dirty="0" sz="2650" spc="55" b="1">
                <a:latin typeface="Times New Roman"/>
                <a:cs typeface="Times New Roman"/>
              </a:rPr>
              <a:t> </a:t>
            </a:r>
            <a:r>
              <a:rPr dirty="0" sz="2650" spc="135">
                <a:latin typeface="Times New Roman"/>
                <a:cs typeface="Times New Roman"/>
              </a:rPr>
              <a:t>Dunzo</a:t>
            </a:r>
            <a:r>
              <a:rPr dirty="0" sz="2650" spc="60">
                <a:latin typeface="Times New Roman"/>
                <a:cs typeface="Times New Roman"/>
              </a:rPr>
              <a:t> </a:t>
            </a:r>
            <a:r>
              <a:rPr dirty="0" sz="2650" spc="85">
                <a:latin typeface="Times New Roman"/>
                <a:cs typeface="Times New Roman"/>
              </a:rPr>
              <a:t>should</a:t>
            </a:r>
            <a:r>
              <a:rPr dirty="0" sz="2650" spc="55">
                <a:latin typeface="Times New Roman"/>
                <a:cs typeface="Times New Roman"/>
              </a:rPr>
              <a:t> </a:t>
            </a:r>
            <a:r>
              <a:rPr dirty="0" sz="2650" spc="85">
                <a:latin typeface="Times New Roman"/>
                <a:cs typeface="Times New Roman"/>
              </a:rPr>
              <a:t>introduce</a:t>
            </a:r>
            <a:r>
              <a:rPr dirty="0" sz="2650" spc="60">
                <a:latin typeface="Times New Roman"/>
                <a:cs typeface="Times New Roman"/>
              </a:rPr>
              <a:t> </a:t>
            </a:r>
            <a:r>
              <a:rPr dirty="0" sz="2650" spc="160">
                <a:latin typeface="Times New Roman"/>
                <a:cs typeface="Times New Roman"/>
              </a:rPr>
              <a:t>a</a:t>
            </a:r>
            <a:r>
              <a:rPr dirty="0" sz="2650" spc="55">
                <a:latin typeface="Times New Roman"/>
                <a:cs typeface="Times New Roman"/>
              </a:rPr>
              <a:t> </a:t>
            </a:r>
            <a:r>
              <a:rPr dirty="0" sz="2650" spc="75">
                <a:latin typeface="Times New Roman"/>
                <a:cs typeface="Times New Roman"/>
              </a:rPr>
              <a:t>feature</a:t>
            </a:r>
            <a:r>
              <a:rPr dirty="0" sz="2650" spc="60">
                <a:latin typeface="Times New Roman"/>
                <a:cs typeface="Times New Roman"/>
              </a:rPr>
              <a:t> </a:t>
            </a:r>
            <a:r>
              <a:rPr dirty="0" sz="2650" spc="145">
                <a:latin typeface="Times New Roman"/>
                <a:cs typeface="Times New Roman"/>
              </a:rPr>
              <a:t>that</a:t>
            </a:r>
            <a:r>
              <a:rPr dirty="0" sz="2650" spc="55">
                <a:latin typeface="Times New Roman"/>
                <a:cs typeface="Times New Roman"/>
              </a:rPr>
              <a:t> </a:t>
            </a:r>
            <a:r>
              <a:rPr dirty="0" sz="2650">
                <a:latin typeface="Times New Roman"/>
                <a:cs typeface="Times New Roman"/>
              </a:rPr>
              <a:t>allows</a:t>
            </a:r>
            <a:r>
              <a:rPr dirty="0" sz="2650" spc="65">
                <a:latin typeface="Times New Roman"/>
                <a:cs typeface="Times New Roman"/>
              </a:rPr>
              <a:t> </a:t>
            </a:r>
            <a:r>
              <a:rPr dirty="0" sz="2650">
                <a:latin typeface="Times New Roman"/>
                <a:cs typeface="Times New Roman"/>
              </a:rPr>
              <a:t>users</a:t>
            </a:r>
            <a:r>
              <a:rPr dirty="0" sz="2650" spc="55">
                <a:latin typeface="Times New Roman"/>
                <a:cs typeface="Times New Roman"/>
              </a:rPr>
              <a:t> </a:t>
            </a:r>
            <a:r>
              <a:rPr dirty="0" sz="2650" spc="140">
                <a:latin typeface="Times New Roman"/>
                <a:cs typeface="Times New Roman"/>
              </a:rPr>
              <a:t>to</a:t>
            </a:r>
            <a:r>
              <a:rPr dirty="0" sz="2650" spc="55">
                <a:latin typeface="Times New Roman"/>
                <a:cs typeface="Times New Roman"/>
              </a:rPr>
              <a:t> </a:t>
            </a:r>
            <a:r>
              <a:rPr dirty="0" sz="2650" spc="65">
                <a:latin typeface="Times New Roman"/>
                <a:cs typeface="Times New Roman"/>
              </a:rPr>
              <a:t>enable</a:t>
            </a:r>
            <a:r>
              <a:rPr dirty="0" sz="2650" spc="60">
                <a:latin typeface="Times New Roman"/>
                <a:cs typeface="Times New Roman"/>
              </a:rPr>
              <a:t> </a:t>
            </a:r>
            <a:r>
              <a:rPr dirty="0" sz="2650" spc="70">
                <a:latin typeface="Times New Roman"/>
                <a:cs typeface="Times New Roman"/>
              </a:rPr>
              <a:t>notifications</a:t>
            </a:r>
            <a:r>
              <a:rPr dirty="0" sz="2650" spc="55">
                <a:latin typeface="Times New Roman"/>
                <a:cs typeface="Times New Roman"/>
              </a:rPr>
              <a:t> </a:t>
            </a:r>
            <a:r>
              <a:rPr dirty="0" sz="2650" spc="90">
                <a:latin typeface="Times New Roman"/>
                <a:cs typeface="Times New Roman"/>
              </a:rPr>
              <a:t>for</a:t>
            </a:r>
            <a:r>
              <a:rPr dirty="0" sz="2650" spc="60">
                <a:latin typeface="Times New Roman"/>
                <a:cs typeface="Times New Roman"/>
              </a:rPr>
              <a:t> </a:t>
            </a:r>
            <a:r>
              <a:rPr dirty="0" sz="2650" spc="65">
                <a:latin typeface="Times New Roman"/>
                <a:cs typeface="Times New Roman"/>
              </a:rPr>
              <a:t>when</a:t>
            </a:r>
            <a:r>
              <a:rPr dirty="0" sz="2650" spc="55">
                <a:latin typeface="Times New Roman"/>
                <a:cs typeface="Times New Roman"/>
              </a:rPr>
              <a:t> </a:t>
            </a:r>
            <a:r>
              <a:rPr dirty="0" sz="2650" spc="100">
                <a:latin typeface="Times New Roman"/>
                <a:cs typeface="Times New Roman"/>
              </a:rPr>
              <a:t>out-</a:t>
            </a:r>
            <a:r>
              <a:rPr dirty="0" sz="2650">
                <a:latin typeface="Times New Roman"/>
                <a:cs typeface="Times New Roman"/>
              </a:rPr>
              <a:t>of-</a:t>
            </a:r>
            <a:r>
              <a:rPr dirty="0" sz="2650" spc="55">
                <a:latin typeface="Times New Roman"/>
                <a:cs typeface="Times New Roman"/>
              </a:rPr>
              <a:t>stock </a:t>
            </a:r>
            <a:r>
              <a:rPr dirty="0" sz="2650">
                <a:latin typeface="Times New Roman"/>
                <a:cs typeface="Times New Roman"/>
              </a:rPr>
              <a:t>items</a:t>
            </a:r>
            <a:r>
              <a:rPr dirty="0" sz="2650" spc="110">
                <a:latin typeface="Times New Roman"/>
                <a:cs typeface="Times New Roman"/>
              </a:rPr>
              <a:t> </a:t>
            </a:r>
            <a:r>
              <a:rPr dirty="0" sz="2650" spc="90">
                <a:latin typeface="Times New Roman"/>
                <a:cs typeface="Times New Roman"/>
              </a:rPr>
              <a:t>are</a:t>
            </a:r>
            <a:r>
              <a:rPr dirty="0" sz="2650" spc="120">
                <a:latin typeface="Times New Roman"/>
                <a:cs typeface="Times New Roman"/>
              </a:rPr>
              <a:t> </a:t>
            </a:r>
            <a:r>
              <a:rPr dirty="0" sz="2650" spc="55">
                <a:latin typeface="Times New Roman"/>
                <a:cs typeface="Times New Roman"/>
              </a:rPr>
              <a:t>restocked.</a:t>
            </a:r>
            <a:endParaRPr sz="2650">
              <a:latin typeface="Times New Roman"/>
              <a:cs typeface="Times New Roman"/>
            </a:endParaRPr>
          </a:p>
          <a:p>
            <a:pPr marL="358775" indent="-346075">
              <a:lnSpc>
                <a:spcPct val="100000"/>
              </a:lnSpc>
              <a:spcBef>
                <a:spcPts val="1625"/>
              </a:spcBef>
              <a:buAutoNum type="arabicPeriod" startAt="2"/>
              <a:tabLst>
                <a:tab pos="358775" algn="l"/>
              </a:tabLst>
            </a:pPr>
            <a:r>
              <a:rPr dirty="0" sz="2650" spc="-95" b="1">
                <a:latin typeface="Times New Roman"/>
                <a:cs typeface="Times New Roman"/>
              </a:rPr>
              <a:t>Improved</a:t>
            </a:r>
            <a:r>
              <a:rPr dirty="0" sz="2650" spc="-75" b="1">
                <a:latin typeface="Times New Roman"/>
                <a:cs typeface="Times New Roman"/>
              </a:rPr>
              <a:t> </a:t>
            </a:r>
            <a:r>
              <a:rPr dirty="0" sz="2650" spc="-30" b="1">
                <a:latin typeface="Times New Roman"/>
                <a:cs typeface="Times New Roman"/>
              </a:rPr>
              <a:t>Partner</a:t>
            </a:r>
            <a:r>
              <a:rPr dirty="0" sz="2650" spc="-75" b="1">
                <a:latin typeface="Times New Roman"/>
                <a:cs typeface="Times New Roman"/>
              </a:rPr>
              <a:t> </a:t>
            </a:r>
            <a:r>
              <a:rPr dirty="0" sz="2650" spc="-45" b="1">
                <a:latin typeface="Times New Roman"/>
                <a:cs typeface="Times New Roman"/>
              </a:rPr>
              <a:t>Assignment</a:t>
            </a:r>
            <a:r>
              <a:rPr dirty="0" sz="2650" spc="-70" b="1">
                <a:latin typeface="Times New Roman"/>
                <a:cs typeface="Times New Roman"/>
              </a:rPr>
              <a:t> </a:t>
            </a:r>
            <a:r>
              <a:rPr dirty="0" sz="2650" spc="-10" b="1">
                <a:latin typeface="Times New Roman"/>
                <a:cs typeface="Times New Roman"/>
              </a:rPr>
              <a:t>Speed:</a:t>
            </a:r>
            <a:endParaRPr sz="2650">
              <a:latin typeface="Times New Roman"/>
              <a:cs typeface="Times New Roman"/>
            </a:endParaRPr>
          </a:p>
          <a:p>
            <a:pPr marL="590550" marR="752475">
              <a:lnSpc>
                <a:spcPct val="117900"/>
              </a:lnSpc>
            </a:pPr>
            <a:r>
              <a:rPr dirty="0" sz="2650" spc="-85" b="1">
                <a:latin typeface="Times New Roman"/>
                <a:cs typeface="Times New Roman"/>
              </a:rPr>
              <a:t>Current</a:t>
            </a:r>
            <a:r>
              <a:rPr dirty="0" sz="2650" spc="25" b="1">
                <a:latin typeface="Times New Roman"/>
                <a:cs typeface="Times New Roman"/>
              </a:rPr>
              <a:t> </a:t>
            </a:r>
            <a:r>
              <a:rPr dirty="0" sz="2650" spc="-30" b="1">
                <a:latin typeface="Times New Roman"/>
                <a:cs typeface="Times New Roman"/>
              </a:rPr>
              <a:t>Situation:</a:t>
            </a:r>
            <a:r>
              <a:rPr dirty="0" sz="2650" spc="25" b="1">
                <a:latin typeface="Times New Roman"/>
                <a:cs typeface="Times New Roman"/>
              </a:rPr>
              <a:t> </a:t>
            </a:r>
            <a:r>
              <a:rPr dirty="0" sz="2650" spc="45">
                <a:latin typeface="Times New Roman"/>
                <a:cs typeface="Times New Roman"/>
              </a:rPr>
              <a:t>Delivery</a:t>
            </a:r>
            <a:r>
              <a:rPr dirty="0" sz="2650" spc="25">
                <a:latin typeface="Times New Roman"/>
                <a:cs typeface="Times New Roman"/>
              </a:rPr>
              <a:t> </a:t>
            </a:r>
            <a:r>
              <a:rPr dirty="0" sz="2650" spc="114">
                <a:latin typeface="Times New Roman"/>
                <a:cs typeface="Times New Roman"/>
              </a:rPr>
              <a:t>partner</a:t>
            </a:r>
            <a:r>
              <a:rPr dirty="0" sz="2650" spc="30">
                <a:latin typeface="Times New Roman"/>
                <a:cs typeface="Times New Roman"/>
              </a:rPr>
              <a:t> </a:t>
            </a:r>
            <a:r>
              <a:rPr dirty="0" sz="2650" spc="55">
                <a:latin typeface="Times New Roman"/>
                <a:cs typeface="Times New Roman"/>
              </a:rPr>
              <a:t>assignments</a:t>
            </a:r>
            <a:r>
              <a:rPr dirty="0" sz="2650" spc="25">
                <a:latin typeface="Times New Roman"/>
                <a:cs typeface="Times New Roman"/>
              </a:rPr>
              <a:t> </a:t>
            </a:r>
            <a:r>
              <a:rPr dirty="0" sz="2650" spc="45">
                <a:latin typeface="Times New Roman"/>
                <a:cs typeface="Times New Roman"/>
              </a:rPr>
              <a:t>sometimes</a:t>
            </a:r>
            <a:r>
              <a:rPr dirty="0" sz="2650" spc="25">
                <a:latin typeface="Times New Roman"/>
                <a:cs typeface="Times New Roman"/>
              </a:rPr>
              <a:t> </a:t>
            </a:r>
            <a:r>
              <a:rPr dirty="0" sz="2650" spc="100">
                <a:latin typeface="Times New Roman"/>
                <a:cs typeface="Times New Roman"/>
              </a:rPr>
              <a:t>take</a:t>
            </a:r>
            <a:r>
              <a:rPr dirty="0" sz="2650" spc="25">
                <a:latin typeface="Times New Roman"/>
                <a:cs typeface="Times New Roman"/>
              </a:rPr>
              <a:t> </a:t>
            </a:r>
            <a:r>
              <a:rPr dirty="0" sz="2650" spc="65">
                <a:latin typeface="Times New Roman"/>
                <a:cs typeface="Times New Roman"/>
              </a:rPr>
              <a:t>longer</a:t>
            </a:r>
            <a:r>
              <a:rPr dirty="0" sz="2650" spc="30">
                <a:latin typeface="Times New Roman"/>
                <a:cs typeface="Times New Roman"/>
              </a:rPr>
              <a:t> </a:t>
            </a:r>
            <a:r>
              <a:rPr dirty="0" sz="2650" spc="140">
                <a:latin typeface="Times New Roman"/>
                <a:cs typeface="Times New Roman"/>
              </a:rPr>
              <a:t>than</a:t>
            </a:r>
            <a:r>
              <a:rPr dirty="0" sz="2650" spc="25">
                <a:latin typeface="Times New Roman"/>
                <a:cs typeface="Times New Roman"/>
              </a:rPr>
              <a:t> </a:t>
            </a:r>
            <a:r>
              <a:rPr dirty="0" sz="2650" spc="45">
                <a:latin typeface="Times New Roman"/>
                <a:cs typeface="Times New Roman"/>
              </a:rPr>
              <a:t>expected,</a:t>
            </a:r>
            <a:r>
              <a:rPr dirty="0" sz="2650" spc="25">
                <a:latin typeface="Times New Roman"/>
                <a:cs typeface="Times New Roman"/>
              </a:rPr>
              <a:t> </a:t>
            </a:r>
            <a:r>
              <a:rPr dirty="0" sz="2650" spc="55">
                <a:latin typeface="Times New Roman"/>
                <a:cs typeface="Times New Roman"/>
              </a:rPr>
              <a:t>leading</a:t>
            </a:r>
            <a:r>
              <a:rPr dirty="0" sz="2650" spc="25">
                <a:latin typeface="Times New Roman"/>
                <a:cs typeface="Times New Roman"/>
              </a:rPr>
              <a:t> </a:t>
            </a:r>
            <a:r>
              <a:rPr dirty="0" sz="2650" spc="140">
                <a:latin typeface="Times New Roman"/>
                <a:cs typeface="Times New Roman"/>
              </a:rPr>
              <a:t>to</a:t>
            </a:r>
            <a:r>
              <a:rPr dirty="0" sz="2650" spc="30">
                <a:latin typeface="Times New Roman"/>
                <a:cs typeface="Times New Roman"/>
              </a:rPr>
              <a:t> </a:t>
            </a:r>
            <a:r>
              <a:rPr dirty="0" sz="2650">
                <a:latin typeface="Times New Roman"/>
                <a:cs typeface="Times New Roman"/>
              </a:rPr>
              <a:t>delays</a:t>
            </a:r>
            <a:r>
              <a:rPr dirty="0" sz="2650" spc="25">
                <a:latin typeface="Times New Roman"/>
                <a:cs typeface="Times New Roman"/>
              </a:rPr>
              <a:t> </a:t>
            </a:r>
            <a:r>
              <a:rPr dirty="0" sz="2650" spc="140">
                <a:latin typeface="Times New Roman"/>
                <a:cs typeface="Times New Roman"/>
              </a:rPr>
              <a:t>and</a:t>
            </a:r>
            <a:r>
              <a:rPr dirty="0" sz="2650" spc="25">
                <a:latin typeface="Times New Roman"/>
                <a:cs typeface="Times New Roman"/>
              </a:rPr>
              <a:t> </a:t>
            </a:r>
            <a:r>
              <a:rPr dirty="0" sz="2650" spc="-10">
                <a:latin typeface="Times New Roman"/>
                <a:cs typeface="Times New Roman"/>
              </a:rPr>
              <a:t>slower service.</a:t>
            </a:r>
            <a:endParaRPr sz="2650">
              <a:latin typeface="Times New Roman"/>
              <a:cs typeface="Times New Roman"/>
            </a:endParaRPr>
          </a:p>
          <a:p>
            <a:pPr marL="692785" marR="3926204" indent="-102235">
              <a:lnSpc>
                <a:spcPct val="117900"/>
              </a:lnSpc>
            </a:pPr>
            <a:r>
              <a:rPr dirty="0" sz="2650" spc="-65" b="1">
                <a:latin typeface="Times New Roman"/>
                <a:cs typeface="Times New Roman"/>
              </a:rPr>
              <a:t>Recommendation:</a:t>
            </a:r>
            <a:r>
              <a:rPr dirty="0" sz="2650" spc="40" b="1">
                <a:latin typeface="Times New Roman"/>
                <a:cs typeface="Times New Roman"/>
              </a:rPr>
              <a:t> </a:t>
            </a:r>
            <a:r>
              <a:rPr dirty="0" sz="2650" spc="135">
                <a:latin typeface="Times New Roman"/>
                <a:cs typeface="Times New Roman"/>
              </a:rPr>
              <a:t>Dunzo</a:t>
            </a:r>
            <a:r>
              <a:rPr dirty="0" sz="2650" spc="45">
                <a:latin typeface="Times New Roman"/>
                <a:cs typeface="Times New Roman"/>
              </a:rPr>
              <a:t> </a:t>
            </a:r>
            <a:r>
              <a:rPr dirty="0" sz="2650" spc="85">
                <a:latin typeface="Times New Roman"/>
                <a:cs typeface="Times New Roman"/>
              </a:rPr>
              <a:t>should</a:t>
            </a:r>
            <a:r>
              <a:rPr dirty="0" sz="2650" spc="40">
                <a:latin typeface="Times New Roman"/>
                <a:cs typeface="Times New Roman"/>
              </a:rPr>
              <a:t> </a:t>
            </a:r>
            <a:r>
              <a:rPr dirty="0" sz="2650" spc="55">
                <a:latin typeface="Times New Roman"/>
                <a:cs typeface="Times New Roman"/>
              </a:rPr>
              <a:t>optimize</a:t>
            </a:r>
            <a:r>
              <a:rPr dirty="0" sz="2650" spc="45">
                <a:latin typeface="Times New Roman"/>
                <a:cs typeface="Times New Roman"/>
              </a:rPr>
              <a:t> </a:t>
            </a:r>
            <a:r>
              <a:rPr dirty="0" sz="2650" spc="90">
                <a:latin typeface="Times New Roman"/>
                <a:cs typeface="Times New Roman"/>
              </a:rPr>
              <a:t>the</a:t>
            </a:r>
            <a:r>
              <a:rPr dirty="0" sz="2650" spc="40">
                <a:latin typeface="Times New Roman"/>
                <a:cs typeface="Times New Roman"/>
              </a:rPr>
              <a:t> </a:t>
            </a:r>
            <a:r>
              <a:rPr dirty="0" sz="2650" spc="114">
                <a:latin typeface="Times New Roman"/>
                <a:cs typeface="Times New Roman"/>
              </a:rPr>
              <a:t>partner</a:t>
            </a:r>
            <a:r>
              <a:rPr dirty="0" sz="2650" spc="45">
                <a:latin typeface="Times New Roman"/>
                <a:cs typeface="Times New Roman"/>
              </a:rPr>
              <a:t> </a:t>
            </a:r>
            <a:r>
              <a:rPr dirty="0" sz="2650" spc="60">
                <a:latin typeface="Times New Roman"/>
                <a:cs typeface="Times New Roman"/>
              </a:rPr>
              <a:t>assignment</a:t>
            </a:r>
            <a:r>
              <a:rPr dirty="0" sz="2650" spc="40">
                <a:latin typeface="Times New Roman"/>
                <a:cs typeface="Times New Roman"/>
              </a:rPr>
              <a:t> </a:t>
            </a:r>
            <a:r>
              <a:rPr dirty="0" sz="2650">
                <a:latin typeface="Times New Roman"/>
                <a:cs typeface="Times New Roman"/>
              </a:rPr>
              <a:t>system</a:t>
            </a:r>
            <a:r>
              <a:rPr dirty="0" sz="2650" spc="45">
                <a:latin typeface="Times New Roman"/>
                <a:cs typeface="Times New Roman"/>
              </a:rPr>
              <a:t> </a:t>
            </a:r>
            <a:r>
              <a:rPr dirty="0" sz="2650" spc="140">
                <a:latin typeface="Times New Roman"/>
                <a:cs typeface="Times New Roman"/>
              </a:rPr>
              <a:t>to</a:t>
            </a:r>
            <a:r>
              <a:rPr dirty="0" sz="2650" spc="40">
                <a:latin typeface="Times New Roman"/>
                <a:cs typeface="Times New Roman"/>
              </a:rPr>
              <a:t> </a:t>
            </a:r>
            <a:r>
              <a:rPr dirty="0" sz="2650" spc="70">
                <a:latin typeface="Times New Roman"/>
                <a:cs typeface="Times New Roman"/>
              </a:rPr>
              <a:t>improve</a:t>
            </a:r>
            <a:r>
              <a:rPr dirty="0" sz="2650" spc="45">
                <a:latin typeface="Times New Roman"/>
                <a:cs typeface="Times New Roman"/>
              </a:rPr>
              <a:t> </a:t>
            </a:r>
            <a:r>
              <a:rPr dirty="0" sz="2650" spc="-10">
                <a:latin typeface="Times New Roman"/>
                <a:cs typeface="Times New Roman"/>
              </a:rPr>
              <a:t>delivery </a:t>
            </a:r>
            <a:r>
              <a:rPr dirty="0" sz="2650" spc="114">
                <a:latin typeface="Times New Roman"/>
                <a:cs typeface="Times New Roman"/>
              </a:rPr>
              <a:t>partner</a:t>
            </a:r>
            <a:r>
              <a:rPr dirty="0" sz="2650" spc="35">
                <a:latin typeface="Times New Roman"/>
                <a:cs typeface="Times New Roman"/>
              </a:rPr>
              <a:t> </a:t>
            </a:r>
            <a:r>
              <a:rPr dirty="0" sz="2650" spc="75">
                <a:latin typeface="Times New Roman"/>
                <a:cs typeface="Times New Roman"/>
              </a:rPr>
              <a:t>allocation</a:t>
            </a:r>
            <a:r>
              <a:rPr dirty="0" sz="2650" spc="40">
                <a:latin typeface="Times New Roman"/>
                <a:cs typeface="Times New Roman"/>
              </a:rPr>
              <a:t> </a:t>
            </a:r>
            <a:r>
              <a:rPr dirty="0" sz="2650" spc="-10">
                <a:latin typeface="Times New Roman"/>
                <a:cs typeface="Times New Roman"/>
              </a:rPr>
              <a:t>speed.</a:t>
            </a:r>
            <a:endParaRPr sz="26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75"/>
              </a:spcBef>
            </a:pPr>
            <a:endParaRPr sz="2650">
              <a:latin typeface="Times New Roman"/>
              <a:cs typeface="Times New Roman"/>
            </a:endParaRPr>
          </a:p>
          <a:p>
            <a:pPr marL="358775" indent="-346075">
              <a:lnSpc>
                <a:spcPct val="100000"/>
              </a:lnSpc>
              <a:buAutoNum type="arabicPeriod" startAt="3"/>
              <a:tabLst>
                <a:tab pos="358775" algn="l"/>
              </a:tabLst>
            </a:pPr>
            <a:r>
              <a:rPr dirty="0" sz="2650" spc="-20" b="1">
                <a:latin typeface="Times New Roman"/>
                <a:cs typeface="Times New Roman"/>
              </a:rPr>
              <a:t>Delivery</a:t>
            </a:r>
            <a:r>
              <a:rPr dirty="0" sz="2650" spc="-90" b="1">
                <a:latin typeface="Times New Roman"/>
                <a:cs typeface="Times New Roman"/>
              </a:rPr>
              <a:t> </a:t>
            </a:r>
            <a:r>
              <a:rPr dirty="0" sz="2650" spc="-50" b="1">
                <a:latin typeface="Times New Roman"/>
                <a:cs typeface="Times New Roman"/>
              </a:rPr>
              <a:t>Instructions</a:t>
            </a:r>
            <a:r>
              <a:rPr dirty="0" sz="2650" spc="-90" b="1">
                <a:latin typeface="Times New Roman"/>
                <a:cs typeface="Times New Roman"/>
              </a:rPr>
              <a:t> </a:t>
            </a:r>
            <a:r>
              <a:rPr dirty="0" sz="2650" spc="-10" b="1">
                <a:latin typeface="Times New Roman"/>
                <a:cs typeface="Times New Roman"/>
              </a:rPr>
              <a:t>Feature:</a:t>
            </a:r>
            <a:endParaRPr sz="2650">
              <a:latin typeface="Times New Roman"/>
              <a:cs typeface="Times New Roman"/>
            </a:endParaRPr>
          </a:p>
          <a:p>
            <a:pPr marL="692785" marR="4177665" indent="-102235">
              <a:lnSpc>
                <a:spcPct val="117900"/>
              </a:lnSpc>
            </a:pPr>
            <a:r>
              <a:rPr dirty="0" sz="2650" spc="-85" b="1">
                <a:latin typeface="Times New Roman"/>
                <a:cs typeface="Times New Roman"/>
              </a:rPr>
              <a:t>Current</a:t>
            </a:r>
            <a:r>
              <a:rPr dirty="0" sz="2650" spc="20" b="1">
                <a:latin typeface="Times New Roman"/>
                <a:cs typeface="Times New Roman"/>
              </a:rPr>
              <a:t> </a:t>
            </a:r>
            <a:r>
              <a:rPr dirty="0" sz="2650" spc="-30" b="1">
                <a:latin typeface="Times New Roman"/>
                <a:cs typeface="Times New Roman"/>
              </a:rPr>
              <a:t>Situation:</a:t>
            </a:r>
            <a:r>
              <a:rPr dirty="0" sz="2650" spc="20" b="1">
                <a:latin typeface="Times New Roman"/>
                <a:cs typeface="Times New Roman"/>
              </a:rPr>
              <a:t> </a:t>
            </a:r>
            <a:r>
              <a:rPr dirty="0" sz="2650" spc="80">
                <a:latin typeface="Times New Roman"/>
                <a:cs typeface="Times New Roman"/>
              </a:rPr>
              <a:t>There</a:t>
            </a:r>
            <a:r>
              <a:rPr dirty="0" sz="2650" spc="20">
                <a:latin typeface="Times New Roman"/>
                <a:cs typeface="Times New Roman"/>
              </a:rPr>
              <a:t> </a:t>
            </a:r>
            <a:r>
              <a:rPr dirty="0" sz="2650">
                <a:latin typeface="Times New Roman"/>
                <a:cs typeface="Times New Roman"/>
              </a:rPr>
              <a:t>is</a:t>
            </a:r>
            <a:r>
              <a:rPr dirty="0" sz="2650" spc="20">
                <a:latin typeface="Times New Roman"/>
                <a:cs typeface="Times New Roman"/>
              </a:rPr>
              <a:t> </a:t>
            </a:r>
            <a:r>
              <a:rPr dirty="0" sz="2650" spc="140">
                <a:latin typeface="Times New Roman"/>
                <a:cs typeface="Times New Roman"/>
              </a:rPr>
              <a:t>no</a:t>
            </a:r>
            <a:r>
              <a:rPr dirty="0" sz="2650" spc="20">
                <a:latin typeface="Times New Roman"/>
                <a:cs typeface="Times New Roman"/>
              </a:rPr>
              <a:t> </a:t>
            </a:r>
            <a:r>
              <a:rPr dirty="0" sz="2650" spc="90">
                <a:latin typeface="Times New Roman"/>
                <a:cs typeface="Times New Roman"/>
              </a:rPr>
              <a:t>structured</a:t>
            </a:r>
            <a:r>
              <a:rPr dirty="0" sz="2650" spc="25">
                <a:latin typeface="Times New Roman"/>
                <a:cs typeface="Times New Roman"/>
              </a:rPr>
              <a:t> </a:t>
            </a:r>
            <a:r>
              <a:rPr dirty="0" sz="2650" spc="50">
                <a:latin typeface="Times New Roman"/>
                <a:cs typeface="Times New Roman"/>
              </a:rPr>
              <a:t>way</a:t>
            </a:r>
            <a:r>
              <a:rPr dirty="0" sz="2650" spc="20">
                <a:latin typeface="Times New Roman"/>
                <a:cs typeface="Times New Roman"/>
              </a:rPr>
              <a:t> </a:t>
            </a:r>
            <a:r>
              <a:rPr dirty="0" sz="2650" spc="140">
                <a:latin typeface="Times New Roman"/>
                <a:cs typeface="Times New Roman"/>
              </a:rPr>
              <a:t>to</a:t>
            </a:r>
            <a:r>
              <a:rPr dirty="0" sz="2650" spc="20">
                <a:latin typeface="Times New Roman"/>
                <a:cs typeface="Times New Roman"/>
              </a:rPr>
              <a:t> </a:t>
            </a:r>
            <a:r>
              <a:rPr dirty="0" sz="2650" spc="80">
                <a:latin typeface="Times New Roman"/>
                <a:cs typeface="Times New Roman"/>
              </a:rPr>
              <a:t>communicate</a:t>
            </a:r>
            <a:r>
              <a:rPr dirty="0" sz="2650" spc="20">
                <a:latin typeface="Times New Roman"/>
                <a:cs typeface="Times New Roman"/>
              </a:rPr>
              <a:t> </a:t>
            </a:r>
            <a:r>
              <a:rPr dirty="0" sz="2650">
                <a:latin typeface="Times New Roman"/>
                <a:cs typeface="Times New Roman"/>
              </a:rPr>
              <a:t>specific</a:t>
            </a:r>
            <a:r>
              <a:rPr dirty="0" sz="2650" spc="25">
                <a:latin typeface="Times New Roman"/>
                <a:cs typeface="Times New Roman"/>
              </a:rPr>
              <a:t> </a:t>
            </a:r>
            <a:r>
              <a:rPr dirty="0" sz="2650">
                <a:latin typeface="Times New Roman"/>
                <a:cs typeface="Times New Roman"/>
              </a:rPr>
              <a:t>delivery</a:t>
            </a:r>
            <a:r>
              <a:rPr dirty="0" sz="2650" spc="15">
                <a:latin typeface="Times New Roman"/>
                <a:cs typeface="Times New Roman"/>
              </a:rPr>
              <a:t> </a:t>
            </a:r>
            <a:r>
              <a:rPr dirty="0" sz="2650" spc="65">
                <a:latin typeface="Times New Roman"/>
                <a:cs typeface="Times New Roman"/>
              </a:rPr>
              <a:t>instructions </a:t>
            </a:r>
            <a:r>
              <a:rPr dirty="0" sz="2650">
                <a:latin typeface="Times New Roman"/>
                <a:cs typeface="Times New Roman"/>
              </a:rPr>
              <a:t>(e.g.,</a:t>
            </a:r>
            <a:r>
              <a:rPr dirty="0" sz="2650" spc="30">
                <a:latin typeface="Times New Roman"/>
                <a:cs typeface="Times New Roman"/>
              </a:rPr>
              <a:t> </a:t>
            </a:r>
            <a:r>
              <a:rPr dirty="0" sz="2650" spc="75">
                <a:latin typeface="Times New Roman"/>
                <a:cs typeface="Times New Roman"/>
              </a:rPr>
              <a:t>don’t</a:t>
            </a:r>
            <a:r>
              <a:rPr dirty="0" sz="2650" spc="35">
                <a:latin typeface="Times New Roman"/>
                <a:cs typeface="Times New Roman"/>
              </a:rPr>
              <a:t> </a:t>
            </a:r>
            <a:r>
              <a:rPr dirty="0" sz="2650" spc="65">
                <a:latin typeface="Times New Roman"/>
                <a:cs typeface="Times New Roman"/>
              </a:rPr>
              <a:t>ring</a:t>
            </a:r>
            <a:r>
              <a:rPr dirty="0" sz="2650" spc="30">
                <a:latin typeface="Times New Roman"/>
                <a:cs typeface="Times New Roman"/>
              </a:rPr>
              <a:t> </a:t>
            </a:r>
            <a:r>
              <a:rPr dirty="0" sz="2650" spc="90">
                <a:latin typeface="Times New Roman"/>
                <a:cs typeface="Times New Roman"/>
              </a:rPr>
              <a:t>the</a:t>
            </a:r>
            <a:r>
              <a:rPr dirty="0" sz="2650" spc="35">
                <a:latin typeface="Times New Roman"/>
                <a:cs typeface="Times New Roman"/>
              </a:rPr>
              <a:t> </a:t>
            </a:r>
            <a:r>
              <a:rPr dirty="0" sz="2650">
                <a:latin typeface="Times New Roman"/>
                <a:cs typeface="Times New Roman"/>
              </a:rPr>
              <a:t>bell</a:t>
            </a:r>
            <a:r>
              <a:rPr dirty="0" sz="2650" spc="35">
                <a:latin typeface="Times New Roman"/>
                <a:cs typeface="Times New Roman"/>
              </a:rPr>
              <a:t> </a:t>
            </a:r>
            <a:r>
              <a:rPr dirty="0" sz="2650" spc="55">
                <a:latin typeface="Times New Roman"/>
                <a:cs typeface="Times New Roman"/>
              </a:rPr>
              <a:t>,</a:t>
            </a:r>
            <a:r>
              <a:rPr dirty="0" sz="2650" spc="30">
                <a:latin typeface="Times New Roman"/>
                <a:cs typeface="Times New Roman"/>
              </a:rPr>
              <a:t> </a:t>
            </a:r>
            <a:r>
              <a:rPr dirty="0" sz="2650">
                <a:latin typeface="Times New Roman"/>
                <a:cs typeface="Times New Roman"/>
              </a:rPr>
              <a:t>give</a:t>
            </a:r>
            <a:r>
              <a:rPr dirty="0" sz="2650" spc="35">
                <a:latin typeface="Times New Roman"/>
                <a:cs typeface="Times New Roman"/>
              </a:rPr>
              <a:t> </a:t>
            </a:r>
            <a:r>
              <a:rPr dirty="0" sz="2650" spc="140">
                <a:latin typeface="Times New Roman"/>
                <a:cs typeface="Times New Roman"/>
              </a:rPr>
              <a:t>to</a:t>
            </a:r>
            <a:r>
              <a:rPr dirty="0" sz="2650" spc="35">
                <a:latin typeface="Times New Roman"/>
                <a:cs typeface="Times New Roman"/>
              </a:rPr>
              <a:t> </a:t>
            </a:r>
            <a:r>
              <a:rPr dirty="0" sz="2650" spc="90">
                <a:latin typeface="Times New Roman"/>
                <a:cs typeface="Times New Roman"/>
              </a:rPr>
              <a:t>the</a:t>
            </a:r>
            <a:r>
              <a:rPr dirty="0" sz="2650" spc="30">
                <a:latin typeface="Times New Roman"/>
                <a:cs typeface="Times New Roman"/>
              </a:rPr>
              <a:t> </a:t>
            </a:r>
            <a:r>
              <a:rPr dirty="0" sz="2650" spc="105">
                <a:latin typeface="Times New Roman"/>
                <a:cs typeface="Times New Roman"/>
              </a:rPr>
              <a:t>guard,</a:t>
            </a:r>
            <a:r>
              <a:rPr dirty="0" sz="2650" spc="35">
                <a:latin typeface="Times New Roman"/>
                <a:cs typeface="Times New Roman"/>
              </a:rPr>
              <a:t> </a:t>
            </a:r>
            <a:r>
              <a:rPr dirty="0" sz="2650" spc="-10">
                <a:latin typeface="Times New Roman"/>
                <a:cs typeface="Times New Roman"/>
              </a:rPr>
              <a:t>etc.).</a:t>
            </a:r>
            <a:endParaRPr sz="2650">
              <a:latin typeface="Times New Roman"/>
              <a:cs typeface="Times New Roman"/>
            </a:endParaRPr>
          </a:p>
          <a:p>
            <a:pPr marL="692785" marR="3057525" indent="-102235">
              <a:lnSpc>
                <a:spcPct val="117900"/>
              </a:lnSpc>
            </a:pPr>
            <a:r>
              <a:rPr dirty="0" sz="2650" spc="-65" b="1">
                <a:latin typeface="Times New Roman"/>
                <a:cs typeface="Times New Roman"/>
              </a:rPr>
              <a:t>Recommendation:</a:t>
            </a:r>
            <a:r>
              <a:rPr dirty="0" sz="2650" spc="110" b="1">
                <a:latin typeface="Times New Roman"/>
                <a:cs typeface="Times New Roman"/>
              </a:rPr>
              <a:t> </a:t>
            </a:r>
            <a:r>
              <a:rPr dirty="0" sz="2650" spc="80">
                <a:latin typeface="Times New Roman"/>
                <a:cs typeface="Times New Roman"/>
              </a:rPr>
              <a:t>Implement</a:t>
            </a:r>
            <a:r>
              <a:rPr dirty="0" sz="2650" spc="120">
                <a:latin typeface="Times New Roman"/>
                <a:cs typeface="Times New Roman"/>
              </a:rPr>
              <a:t> </a:t>
            </a:r>
            <a:r>
              <a:rPr dirty="0" sz="2650" spc="150">
                <a:latin typeface="Times New Roman"/>
                <a:cs typeface="Times New Roman"/>
              </a:rPr>
              <a:t>a</a:t>
            </a:r>
            <a:r>
              <a:rPr dirty="0" sz="2650" spc="120">
                <a:latin typeface="Times New Roman"/>
                <a:cs typeface="Times New Roman"/>
              </a:rPr>
              <a:t> </a:t>
            </a:r>
            <a:r>
              <a:rPr dirty="0" sz="2650">
                <a:latin typeface="Times New Roman"/>
                <a:cs typeface="Times New Roman"/>
              </a:rPr>
              <a:t>delivery</a:t>
            </a:r>
            <a:r>
              <a:rPr dirty="0" sz="2650" spc="120">
                <a:latin typeface="Times New Roman"/>
                <a:cs typeface="Times New Roman"/>
              </a:rPr>
              <a:t> </a:t>
            </a:r>
            <a:r>
              <a:rPr dirty="0" sz="2650" spc="75">
                <a:latin typeface="Times New Roman"/>
                <a:cs typeface="Times New Roman"/>
              </a:rPr>
              <a:t>instructions</a:t>
            </a:r>
            <a:r>
              <a:rPr dirty="0" sz="2650" spc="120">
                <a:latin typeface="Times New Roman"/>
                <a:cs typeface="Times New Roman"/>
              </a:rPr>
              <a:t> </a:t>
            </a:r>
            <a:r>
              <a:rPr dirty="0" sz="2650" spc="75">
                <a:latin typeface="Times New Roman"/>
                <a:cs typeface="Times New Roman"/>
              </a:rPr>
              <a:t>feature</a:t>
            </a:r>
            <a:r>
              <a:rPr dirty="0" sz="2650" spc="120">
                <a:latin typeface="Times New Roman"/>
                <a:cs typeface="Times New Roman"/>
              </a:rPr>
              <a:t> </a:t>
            </a:r>
            <a:r>
              <a:rPr dirty="0" sz="2650">
                <a:latin typeface="Times New Roman"/>
                <a:cs typeface="Times New Roman"/>
              </a:rPr>
              <a:t>where</a:t>
            </a:r>
            <a:r>
              <a:rPr dirty="0" sz="2650" spc="120">
                <a:latin typeface="Times New Roman"/>
                <a:cs typeface="Times New Roman"/>
              </a:rPr>
              <a:t> </a:t>
            </a:r>
            <a:r>
              <a:rPr dirty="0" sz="2650">
                <a:latin typeface="Times New Roman"/>
                <a:cs typeface="Times New Roman"/>
              </a:rPr>
              <a:t>users</a:t>
            </a:r>
            <a:r>
              <a:rPr dirty="0" sz="2650" spc="125">
                <a:latin typeface="Times New Roman"/>
                <a:cs typeface="Times New Roman"/>
              </a:rPr>
              <a:t> </a:t>
            </a:r>
            <a:r>
              <a:rPr dirty="0" sz="2650" spc="90">
                <a:latin typeface="Times New Roman"/>
                <a:cs typeface="Times New Roman"/>
              </a:rPr>
              <a:t>can</a:t>
            </a:r>
            <a:r>
              <a:rPr dirty="0" sz="2650" spc="120">
                <a:latin typeface="Times New Roman"/>
                <a:cs typeface="Times New Roman"/>
              </a:rPr>
              <a:t> </a:t>
            </a:r>
            <a:r>
              <a:rPr dirty="0" sz="2650">
                <a:latin typeface="Times New Roman"/>
                <a:cs typeface="Times New Roman"/>
              </a:rPr>
              <a:t>specify</a:t>
            </a:r>
            <a:r>
              <a:rPr dirty="0" sz="2650" spc="120">
                <a:latin typeface="Times New Roman"/>
                <a:cs typeface="Times New Roman"/>
              </a:rPr>
              <a:t> </a:t>
            </a:r>
            <a:r>
              <a:rPr dirty="0" sz="2650">
                <a:latin typeface="Times New Roman"/>
                <a:cs typeface="Times New Roman"/>
              </a:rPr>
              <a:t>preferences</a:t>
            </a:r>
            <a:r>
              <a:rPr dirty="0" sz="2650" spc="120">
                <a:latin typeface="Times New Roman"/>
                <a:cs typeface="Times New Roman"/>
              </a:rPr>
              <a:t> </a:t>
            </a:r>
            <a:r>
              <a:rPr dirty="0" sz="2650" spc="65">
                <a:latin typeface="Times New Roman"/>
                <a:cs typeface="Times New Roman"/>
              </a:rPr>
              <a:t>for </a:t>
            </a:r>
            <a:r>
              <a:rPr dirty="0" sz="2650" spc="90">
                <a:latin typeface="Times New Roman"/>
                <a:cs typeface="Times New Roman"/>
              </a:rPr>
              <a:t>how</a:t>
            </a:r>
            <a:r>
              <a:rPr dirty="0" sz="2650" spc="15">
                <a:latin typeface="Times New Roman"/>
                <a:cs typeface="Times New Roman"/>
              </a:rPr>
              <a:t> </a:t>
            </a:r>
            <a:r>
              <a:rPr dirty="0" sz="2650" spc="90">
                <a:latin typeface="Times New Roman"/>
                <a:cs typeface="Times New Roman"/>
              </a:rPr>
              <a:t>the</a:t>
            </a:r>
            <a:r>
              <a:rPr dirty="0" sz="2650" spc="20">
                <a:latin typeface="Times New Roman"/>
                <a:cs typeface="Times New Roman"/>
              </a:rPr>
              <a:t> </a:t>
            </a:r>
            <a:r>
              <a:rPr dirty="0" sz="2650" spc="105">
                <a:latin typeface="Times New Roman"/>
                <a:cs typeface="Times New Roman"/>
              </a:rPr>
              <a:t>order</a:t>
            </a:r>
            <a:r>
              <a:rPr dirty="0" sz="2650" spc="15">
                <a:latin typeface="Times New Roman"/>
                <a:cs typeface="Times New Roman"/>
              </a:rPr>
              <a:t> </a:t>
            </a:r>
            <a:r>
              <a:rPr dirty="0" sz="2650" spc="85">
                <a:latin typeface="Times New Roman"/>
                <a:cs typeface="Times New Roman"/>
              </a:rPr>
              <a:t>should</a:t>
            </a:r>
            <a:r>
              <a:rPr dirty="0" sz="2650" spc="20">
                <a:latin typeface="Times New Roman"/>
                <a:cs typeface="Times New Roman"/>
              </a:rPr>
              <a:t> </a:t>
            </a:r>
            <a:r>
              <a:rPr dirty="0" sz="2650" spc="60">
                <a:latin typeface="Times New Roman"/>
                <a:cs typeface="Times New Roman"/>
              </a:rPr>
              <a:t>be</a:t>
            </a:r>
            <a:r>
              <a:rPr dirty="0" sz="2650" spc="15">
                <a:latin typeface="Times New Roman"/>
                <a:cs typeface="Times New Roman"/>
              </a:rPr>
              <a:t> </a:t>
            </a:r>
            <a:r>
              <a:rPr dirty="0" sz="2650" spc="-10">
                <a:latin typeface="Times New Roman"/>
                <a:cs typeface="Times New Roman"/>
              </a:rPr>
              <a:t>delivered.</a:t>
            </a:r>
            <a:endParaRPr sz="26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532559" y="3211749"/>
            <a:ext cx="3286124" cy="6734174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425830" y="203076"/>
            <a:ext cx="1510665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85" b="1">
                <a:latin typeface="Times New Roman"/>
                <a:cs typeface="Times New Roman"/>
              </a:rPr>
              <a:t>Overview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3716064" y="222126"/>
            <a:ext cx="584708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698875" algn="l"/>
              </a:tabLst>
            </a:pPr>
            <a:r>
              <a:rPr dirty="0" sz="3000" b="1">
                <a:latin typeface="Times New Roman"/>
                <a:cs typeface="Times New Roman"/>
              </a:rPr>
              <a:t>User</a:t>
            </a:r>
            <a:r>
              <a:rPr dirty="0" sz="3000" spc="-100" b="1">
                <a:latin typeface="Times New Roman"/>
                <a:cs typeface="Times New Roman"/>
              </a:rPr>
              <a:t> </a:t>
            </a:r>
            <a:r>
              <a:rPr dirty="0" sz="3000" spc="-10" b="1">
                <a:latin typeface="Times New Roman"/>
                <a:cs typeface="Times New Roman"/>
              </a:rPr>
              <a:t>Persona</a:t>
            </a:r>
            <a:r>
              <a:rPr dirty="0" sz="3000" b="1">
                <a:latin typeface="Times New Roman"/>
                <a:cs typeface="Times New Roman"/>
              </a:rPr>
              <a:t>	User</a:t>
            </a:r>
            <a:r>
              <a:rPr dirty="0" sz="3000" spc="-100" b="1">
                <a:latin typeface="Times New Roman"/>
                <a:cs typeface="Times New Roman"/>
              </a:rPr>
              <a:t> </a:t>
            </a:r>
            <a:r>
              <a:rPr dirty="0" sz="3000" spc="-50" b="1">
                <a:latin typeface="Times New Roman"/>
                <a:cs typeface="Times New Roman"/>
              </a:rPr>
              <a:t>Journey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heavy" spc="-40">
                <a:uFill>
                  <a:solidFill>
                    <a:srgbClr val="000000"/>
                  </a:solidFill>
                </a:uFill>
              </a:rPr>
              <a:t>Product</a:t>
            </a:r>
            <a:r>
              <a:rPr dirty="0" u="heavy" spc="-130">
                <a:uFill>
                  <a:solidFill>
                    <a:srgbClr val="000000"/>
                  </a:solidFill>
                </a:uFill>
              </a:rPr>
              <a:t> </a:t>
            </a:r>
            <a:r>
              <a:rPr dirty="0" u="heavy" spc="-100">
                <a:uFill>
                  <a:solidFill>
                    <a:srgbClr val="000000"/>
                  </a:solidFill>
                </a:uFill>
              </a:rPr>
              <a:t>Improvement</a:t>
            </a:r>
          </a:p>
        </p:txBody>
      </p:sp>
      <p:sp>
        <p:nvSpPr>
          <p:cNvPr id="6" name="object 6" descr=""/>
          <p:cNvSpPr txBox="1"/>
          <p:nvPr/>
        </p:nvSpPr>
        <p:spPr>
          <a:xfrm>
            <a:off x="16164551" y="193551"/>
            <a:ext cx="125984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20" b="1">
                <a:latin typeface="Times New Roman"/>
                <a:cs typeface="Times New Roman"/>
              </a:rPr>
              <a:t>Metrics</a:t>
            </a:r>
            <a:endParaRPr sz="3000">
              <a:latin typeface="Times New Roman"/>
              <a:cs typeface="Times New Roman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07569" y="1661413"/>
            <a:ext cx="76200" cy="76199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07569" y="2613913"/>
            <a:ext cx="76200" cy="76199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07569" y="4976980"/>
            <a:ext cx="76200" cy="76199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07569" y="5929480"/>
            <a:ext cx="76200" cy="76199"/>
          </a:xfrm>
          <a:prstGeom prst="rect">
            <a:avLst/>
          </a:prstGeom>
        </p:spPr>
      </p:pic>
      <p:sp>
        <p:nvSpPr>
          <p:cNvPr id="11" name="object 11" descr=""/>
          <p:cNvSpPr txBox="1"/>
          <p:nvPr/>
        </p:nvSpPr>
        <p:spPr>
          <a:xfrm>
            <a:off x="332919" y="878579"/>
            <a:ext cx="15387319" cy="5722620"/>
          </a:xfrm>
          <a:prstGeom prst="rect">
            <a:avLst/>
          </a:prstGeom>
        </p:spPr>
        <p:txBody>
          <a:bodyPr wrap="square" lIns="0" tIns="84455" rIns="0" bIns="0" rtlCol="0" vert="horz">
            <a:spAutoFit/>
          </a:bodyPr>
          <a:lstStyle/>
          <a:p>
            <a:pPr marL="358775" indent="-346075">
              <a:lnSpc>
                <a:spcPct val="100000"/>
              </a:lnSpc>
              <a:spcBef>
                <a:spcPts val="665"/>
              </a:spcBef>
              <a:buAutoNum type="arabicPeriod" startAt="4"/>
              <a:tabLst>
                <a:tab pos="358775" algn="l"/>
              </a:tabLst>
            </a:pPr>
            <a:r>
              <a:rPr dirty="0" sz="2650" spc="-10" b="1">
                <a:latin typeface="Times New Roman"/>
                <a:cs typeface="Times New Roman"/>
              </a:rPr>
              <a:t>Faster</a:t>
            </a:r>
            <a:r>
              <a:rPr dirty="0" sz="2650" spc="-90" b="1">
                <a:latin typeface="Times New Roman"/>
                <a:cs typeface="Times New Roman"/>
              </a:rPr>
              <a:t> </a:t>
            </a:r>
            <a:r>
              <a:rPr dirty="0" sz="2650" spc="-10" b="1">
                <a:latin typeface="Times New Roman"/>
                <a:cs typeface="Times New Roman"/>
              </a:rPr>
              <a:t>Delivery</a:t>
            </a:r>
            <a:r>
              <a:rPr dirty="0" sz="2650" spc="-85" b="1">
                <a:latin typeface="Times New Roman"/>
                <a:cs typeface="Times New Roman"/>
              </a:rPr>
              <a:t> </a:t>
            </a:r>
            <a:r>
              <a:rPr dirty="0" sz="2650" spc="-35" b="1">
                <a:latin typeface="Times New Roman"/>
                <a:cs typeface="Times New Roman"/>
              </a:rPr>
              <a:t>(Within</a:t>
            </a:r>
            <a:r>
              <a:rPr dirty="0" sz="2650" spc="-90" b="1">
                <a:latin typeface="Times New Roman"/>
                <a:cs typeface="Times New Roman"/>
              </a:rPr>
              <a:t> </a:t>
            </a:r>
            <a:r>
              <a:rPr dirty="0" sz="2650" b="1">
                <a:latin typeface="Times New Roman"/>
                <a:cs typeface="Times New Roman"/>
              </a:rPr>
              <a:t>10</a:t>
            </a:r>
            <a:r>
              <a:rPr dirty="0" sz="2650" spc="-85" b="1">
                <a:latin typeface="Times New Roman"/>
                <a:cs typeface="Times New Roman"/>
              </a:rPr>
              <a:t> </a:t>
            </a:r>
            <a:r>
              <a:rPr dirty="0" sz="2650" spc="-10" b="1">
                <a:latin typeface="Times New Roman"/>
                <a:cs typeface="Times New Roman"/>
              </a:rPr>
              <a:t>Minutes):</a:t>
            </a:r>
            <a:endParaRPr sz="2650">
              <a:latin typeface="Times New Roman"/>
              <a:cs typeface="Times New Roman"/>
            </a:endParaRPr>
          </a:p>
          <a:p>
            <a:pPr marL="591185" marR="265430">
              <a:lnSpc>
                <a:spcPct val="117900"/>
              </a:lnSpc>
            </a:pPr>
            <a:r>
              <a:rPr dirty="0" sz="2650" spc="-85" b="1">
                <a:latin typeface="Times New Roman"/>
                <a:cs typeface="Times New Roman"/>
              </a:rPr>
              <a:t>Current</a:t>
            </a:r>
            <a:r>
              <a:rPr dirty="0" sz="2650" spc="40" b="1">
                <a:latin typeface="Times New Roman"/>
                <a:cs typeface="Times New Roman"/>
              </a:rPr>
              <a:t> </a:t>
            </a:r>
            <a:r>
              <a:rPr dirty="0" sz="2650" spc="-30" b="1">
                <a:latin typeface="Times New Roman"/>
                <a:cs typeface="Times New Roman"/>
              </a:rPr>
              <a:t>Situation:</a:t>
            </a:r>
            <a:r>
              <a:rPr dirty="0" sz="2650" spc="35" b="1">
                <a:latin typeface="Times New Roman"/>
                <a:cs typeface="Times New Roman"/>
              </a:rPr>
              <a:t> </a:t>
            </a:r>
            <a:r>
              <a:rPr dirty="0" sz="2650" spc="105">
                <a:latin typeface="Times New Roman"/>
                <a:cs typeface="Times New Roman"/>
              </a:rPr>
              <a:t>Although</a:t>
            </a:r>
            <a:r>
              <a:rPr dirty="0" sz="2650" spc="35">
                <a:latin typeface="Times New Roman"/>
                <a:cs typeface="Times New Roman"/>
              </a:rPr>
              <a:t> </a:t>
            </a:r>
            <a:r>
              <a:rPr dirty="0" sz="2650" spc="135">
                <a:latin typeface="Times New Roman"/>
                <a:cs typeface="Times New Roman"/>
              </a:rPr>
              <a:t>Dunzo</a:t>
            </a:r>
            <a:r>
              <a:rPr dirty="0" sz="2650" spc="40">
                <a:latin typeface="Times New Roman"/>
                <a:cs typeface="Times New Roman"/>
              </a:rPr>
              <a:t> </a:t>
            </a:r>
            <a:r>
              <a:rPr dirty="0" sz="2650">
                <a:latin typeface="Times New Roman"/>
                <a:cs typeface="Times New Roman"/>
              </a:rPr>
              <a:t>is</a:t>
            </a:r>
            <a:r>
              <a:rPr dirty="0" sz="2650" spc="35">
                <a:latin typeface="Times New Roman"/>
                <a:cs typeface="Times New Roman"/>
              </a:rPr>
              <a:t> </a:t>
            </a:r>
            <a:r>
              <a:rPr dirty="0" sz="2650" spc="110">
                <a:latin typeface="Times New Roman"/>
                <a:cs typeface="Times New Roman"/>
              </a:rPr>
              <a:t>known</a:t>
            </a:r>
            <a:r>
              <a:rPr dirty="0" sz="2650" spc="40">
                <a:latin typeface="Times New Roman"/>
                <a:cs typeface="Times New Roman"/>
              </a:rPr>
              <a:t> </a:t>
            </a:r>
            <a:r>
              <a:rPr dirty="0" sz="2650" spc="90">
                <a:latin typeface="Times New Roman"/>
                <a:cs typeface="Times New Roman"/>
              </a:rPr>
              <a:t>for</a:t>
            </a:r>
            <a:r>
              <a:rPr dirty="0" sz="2650" spc="35">
                <a:latin typeface="Times New Roman"/>
                <a:cs typeface="Times New Roman"/>
              </a:rPr>
              <a:t> </a:t>
            </a:r>
            <a:r>
              <a:rPr dirty="0" sz="2650" spc="70">
                <a:latin typeface="Times New Roman"/>
                <a:cs typeface="Times New Roman"/>
              </a:rPr>
              <a:t>fast</a:t>
            </a:r>
            <a:r>
              <a:rPr dirty="0" sz="2650" spc="40">
                <a:latin typeface="Times New Roman"/>
                <a:cs typeface="Times New Roman"/>
              </a:rPr>
              <a:t> </a:t>
            </a:r>
            <a:r>
              <a:rPr dirty="0" sz="2650">
                <a:latin typeface="Times New Roman"/>
                <a:cs typeface="Times New Roman"/>
              </a:rPr>
              <a:t>deliveries,</a:t>
            </a:r>
            <a:r>
              <a:rPr dirty="0" sz="2650" spc="35">
                <a:latin typeface="Times New Roman"/>
                <a:cs typeface="Times New Roman"/>
              </a:rPr>
              <a:t> </a:t>
            </a:r>
            <a:r>
              <a:rPr dirty="0" sz="2650" spc="60">
                <a:latin typeface="Times New Roman"/>
                <a:cs typeface="Times New Roman"/>
              </a:rPr>
              <a:t>it</a:t>
            </a:r>
            <a:r>
              <a:rPr dirty="0" sz="2650" spc="40">
                <a:latin typeface="Times New Roman"/>
                <a:cs typeface="Times New Roman"/>
              </a:rPr>
              <a:t> </a:t>
            </a:r>
            <a:r>
              <a:rPr dirty="0" sz="2650" spc="50">
                <a:latin typeface="Times New Roman"/>
                <a:cs typeface="Times New Roman"/>
              </a:rPr>
              <a:t>doesn’t</a:t>
            </a:r>
            <a:r>
              <a:rPr dirty="0" sz="2650" spc="35">
                <a:latin typeface="Times New Roman"/>
                <a:cs typeface="Times New Roman"/>
              </a:rPr>
              <a:t> </a:t>
            </a:r>
            <a:r>
              <a:rPr dirty="0" sz="2650">
                <a:latin typeface="Times New Roman"/>
                <a:cs typeface="Times New Roman"/>
              </a:rPr>
              <a:t>always</a:t>
            </a:r>
            <a:r>
              <a:rPr dirty="0" sz="2650" spc="40">
                <a:latin typeface="Times New Roman"/>
                <a:cs typeface="Times New Roman"/>
              </a:rPr>
              <a:t> </a:t>
            </a:r>
            <a:r>
              <a:rPr dirty="0" sz="2650" spc="55">
                <a:latin typeface="Times New Roman"/>
                <a:cs typeface="Times New Roman"/>
              </a:rPr>
              <a:t>meet</a:t>
            </a:r>
            <a:r>
              <a:rPr dirty="0" sz="2650" spc="35">
                <a:latin typeface="Times New Roman"/>
                <a:cs typeface="Times New Roman"/>
              </a:rPr>
              <a:t> </a:t>
            </a:r>
            <a:r>
              <a:rPr dirty="0" sz="2650" spc="90">
                <a:latin typeface="Times New Roman"/>
                <a:cs typeface="Times New Roman"/>
              </a:rPr>
              <a:t>the</a:t>
            </a:r>
            <a:r>
              <a:rPr dirty="0" sz="2650" spc="40">
                <a:latin typeface="Times New Roman"/>
                <a:cs typeface="Times New Roman"/>
              </a:rPr>
              <a:t> </a:t>
            </a:r>
            <a:r>
              <a:rPr dirty="0" sz="2650">
                <a:latin typeface="Times New Roman"/>
                <a:cs typeface="Times New Roman"/>
              </a:rPr>
              <a:t>10-</a:t>
            </a:r>
            <a:r>
              <a:rPr dirty="0" sz="2650" spc="75">
                <a:latin typeface="Times New Roman"/>
                <a:cs typeface="Times New Roman"/>
              </a:rPr>
              <a:t>minute </a:t>
            </a:r>
            <a:r>
              <a:rPr dirty="0" sz="2650">
                <a:latin typeface="Times New Roman"/>
                <a:cs typeface="Times New Roman"/>
              </a:rPr>
              <a:t>delivery</a:t>
            </a:r>
            <a:r>
              <a:rPr dirty="0" sz="2650" spc="90">
                <a:latin typeface="Times New Roman"/>
                <a:cs typeface="Times New Roman"/>
              </a:rPr>
              <a:t> </a:t>
            </a:r>
            <a:r>
              <a:rPr dirty="0" sz="2650" spc="70">
                <a:latin typeface="Times New Roman"/>
                <a:cs typeface="Times New Roman"/>
              </a:rPr>
              <a:t>goal</a:t>
            </a:r>
            <a:r>
              <a:rPr dirty="0" sz="2650" spc="90">
                <a:latin typeface="Times New Roman"/>
                <a:cs typeface="Times New Roman"/>
              </a:rPr>
              <a:t> </a:t>
            </a:r>
            <a:r>
              <a:rPr dirty="0" sz="2650">
                <a:latin typeface="Times New Roman"/>
                <a:cs typeface="Times New Roman"/>
              </a:rPr>
              <a:t>seen</a:t>
            </a:r>
            <a:r>
              <a:rPr dirty="0" sz="2650" spc="90">
                <a:latin typeface="Times New Roman"/>
                <a:cs typeface="Times New Roman"/>
              </a:rPr>
              <a:t> </a:t>
            </a:r>
            <a:r>
              <a:rPr dirty="0" sz="2650" spc="65">
                <a:latin typeface="Times New Roman"/>
                <a:cs typeface="Times New Roman"/>
              </a:rPr>
              <a:t>with</a:t>
            </a:r>
            <a:r>
              <a:rPr dirty="0" sz="2650" spc="90">
                <a:latin typeface="Times New Roman"/>
                <a:cs typeface="Times New Roman"/>
              </a:rPr>
              <a:t> </a:t>
            </a:r>
            <a:r>
              <a:rPr dirty="0" sz="2650" spc="65">
                <a:latin typeface="Times New Roman"/>
                <a:cs typeface="Times New Roman"/>
              </a:rPr>
              <a:t>competitors.</a:t>
            </a:r>
            <a:endParaRPr sz="2650">
              <a:latin typeface="Times New Roman"/>
              <a:cs typeface="Times New Roman"/>
            </a:endParaRPr>
          </a:p>
          <a:p>
            <a:pPr marL="591185" marR="5080">
              <a:lnSpc>
                <a:spcPct val="117900"/>
              </a:lnSpc>
            </a:pPr>
            <a:r>
              <a:rPr dirty="0" sz="2650" spc="-65" b="1">
                <a:latin typeface="Times New Roman"/>
                <a:cs typeface="Times New Roman"/>
              </a:rPr>
              <a:t>Recommendation:</a:t>
            </a:r>
            <a:r>
              <a:rPr dirty="0" sz="2650" spc="45" b="1">
                <a:latin typeface="Times New Roman"/>
                <a:cs typeface="Times New Roman"/>
              </a:rPr>
              <a:t> </a:t>
            </a:r>
            <a:r>
              <a:rPr dirty="0" sz="2650" spc="135">
                <a:latin typeface="Times New Roman"/>
                <a:cs typeface="Times New Roman"/>
              </a:rPr>
              <a:t>Dunzo</a:t>
            </a:r>
            <a:r>
              <a:rPr dirty="0" sz="2650" spc="50">
                <a:latin typeface="Times New Roman"/>
                <a:cs typeface="Times New Roman"/>
              </a:rPr>
              <a:t> </a:t>
            </a:r>
            <a:r>
              <a:rPr dirty="0" sz="2650" spc="85">
                <a:latin typeface="Times New Roman"/>
                <a:cs typeface="Times New Roman"/>
              </a:rPr>
              <a:t>should</a:t>
            </a:r>
            <a:r>
              <a:rPr dirty="0" sz="2650" spc="50">
                <a:latin typeface="Times New Roman"/>
                <a:cs typeface="Times New Roman"/>
              </a:rPr>
              <a:t> </a:t>
            </a:r>
            <a:r>
              <a:rPr dirty="0" sz="2650" spc="85">
                <a:latin typeface="Times New Roman"/>
                <a:cs typeface="Times New Roman"/>
              </a:rPr>
              <a:t>aim</a:t>
            </a:r>
            <a:r>
              <a:rPr dirty="0" sz="2650" spc="45">
                <a:latin typeface="Times New Roman"/>
                <a:cs typeface="Times New Roman"/>
              </a:rPr>
              <a:t> </a:t>
            </a:r>
            <a:r>
              <a:rPr dirty="0" sz="2650" spc="90">
                <a:latin typeface="Times New Roman"/>
                <a:cs typeface="Times New Roman"/>
              </a:rPr>
              <a:t>for</a:t>
            </a:r>
            <a:r>
              <a:rPr dirty="0" sz="2650" spc="50">
                <a:latin typeface="Times New Roman"/>
                <a:cs typeface="Times New Roman"/>
              </a:rPr>
              <a:t> </a:t>
            </a:r>
            <a:r>
              <a:rPr dirty="0" sz="2650">
                <a:latin typeface="Times New Roman"/>
                <a:cs typeface="Times New Roman"/>
              </a:rPr>
              <a:t>10-</a:t>
            </a:r>
            <a:r>
              <a:rPr dirty="0" sz="2650" spc="85">
                <a:latin typeface="Times New Roman"/>
                <a:cs typeface="Times New Roman"/>
              </a:rPr>
              <a:t>minute</a:t>
            </a:r>
            <a:r>
              <a:rPr dirty="0" sz="2650" spc="50">
                <a:latin typeface="Times New Roman"/>
                <a:cs typeface="Times New Roman"/>
              </a:rPr>
              <a:t> </a:t>
            </a:r>
            <a:r>
              <a:rPr dirty="0" sz="2650">
                <a:latin typeface="Times New Roman"/>
                <a:cs typeface="Times New Roman"/>
              </a:rPr>
              <a:t>delivery</a:t>
            </a:r>
            <a:r>
              <a:rPr dirty="0" sz="2650" spc="50">
                <a:latin typeface="Times New Roman"/>
                <a:cs typeface="Times New Roman"/>
              </a:rPr>
              <a:t> windows</a:t>
            </a:r>
            <a:r>
              <a:rPr dirty="0" sz="2650" spc="45">
                <a:latin typeface="Times New Roman"/>
                <a:cs typeface="Times New Roman"/>
              </a:rPr>
              <a:t> </a:t>
            </a:r>
            <a:r>
              <a:rPr dirty="0" sz="2650" spc="60">
                <a:latin typeface="Times New Roman"/>
                <a:cs typeface="Times New Roman"/>
              </a:rPr>
              <a:t>in</a:t>
            </a:r>
            <a:r>
              <a:rPr dirty="0" sz="2650" spc="50">
                <a:latin typeface="Times New Roman"/>
                <a:cs typeface="Times New Roman"/>
              </a:rPr>
              <a:t> </a:t>
            </a:r>
            <a:r>
              <a:rPr dirty="0" sz="2650">
                <a:latin typeface="Times New Roman"/>
                <a:cs typeface="Times New Roman"/>
              </a:rPr>
              <a:t>select</a:t>
            </a:r>
            <a:r>
              <a:rPr dirty="0" sz="2650" spc="50">
                <a:latin typeface="Times New Roman"/>
                <a:cs typeface="Times New Roman"/>
              </a:rPr>
              <a:t> </a:t>
            </a:r>
            <a:r>
              <a:rPr dirty="0" sz="2650" spc="80">
                <a:latin typeface="Times New Roman"/>
                <a:cs typeface="Times New Roman"/>
              </a:rPr>
              <a:t>areas,</a:t>
            </a:r>
            <a:r>
              <a:rPr dirty="0" sz="2650" spc="50">
                <a:latin typeface="Times New Roman"/>
                <a:cs typeface="Times New Roman"/>
              </a:rPr>
              <a:t> </a:t>
            </a:r>
            <a:r>
              <a:rPr dirty="0" sz="2650">
                <a:latin typeface="Times New Roman"/>
                <a:cs typeface="Times New Roman"/>
              </a:rPr>
              <a:t>especially</a:t>
            </a:r>
            <a:r>
              <a:rPr dirty="0" sz="2650" spc="45">
                <a:latin typeface="Times New Roman"/>
                <a:cs typeface="Times New Roman"/>
              </a:rPr>
              <a:t> </a:t>
            </a:r>
            <a:r>
              <a:rPr dirty="0" sz="2650" spc="60">
                <a:latin typeface="Times New Roman"/>
                <a:cs typeface="Times New Roman"/>
              </a:rPr>
              <a:t>in</a:t>
            </a:r>
            <a:r>
              <a:rPr dirty="0" sz="2650" spc="50">
                <a:latin typeface="Times New Roman"/>
                <a:cs typeface="Times New Roman"/>
              </a:rPr>
              <a:t> </a:t>
            </a:r>
            <a:r>
              <a:rPr dirty="0" sz="2650" spc="30">
                <a:latin typeface="Times New Roman"/>
                <a:cs typeface="Times New Roman"/>
              </a:rPr>
              <a:t>high- </a:t>
            </a:r>
            <a:r>
              <a:rPr dirty="0" sz="2650" spc="55">
                <a:latin typeface="Times New Roman"/>
                <a:cs typeface="Times New Roman"/>
              </a:rPr>
              <a:t>density,</a:t>
            </a:r>
            <a:r>
              <a:rPr dirty="0" sz="2650" spc="25">
                <a:latin typeface="Times New Roman"/>
                <a:cs typeface="Times New Roman"/>
              </a:rPr>
              <a:t> </a:t>
            </a:r>
            <a:r>
              <a:rPr dirty="0" sz="2650" spc="50">
                <a:latin typeface="Times New Roman"/>
                <a:cs typeface="Times New Roman"/>
              </a:rPr>
              <a:t>high-</a:t>
            </a:r>
            <a:r>
              <a:rPr dirty="0" sz="2650" spc="110">
                <a:latin typeface="Times New Roman"/>
                <a:cs typeface="Times New Roman"/>
              </a:rPr>
              <a:t>demand</a:t>
            </a:r>
            <a:r>
              <a:rPr dirty="0" sz="2650" spc="25">
                <a:latin typeface="Times New Roman"/>
                <a:cs typeface="Times New Roman"/>
              </a:rPr>
              <a:t> </a:t>
            </a:r>
            <a:r>
              <a:rPr dirty="0" sz="2650" spc="60">
                <a:latin typeface="Times New Roman"/>
                <a:cs typeface="Times New Roman"/>
              </a:rPr>
              <a:t>locations.</a:t>
            </a:r>
            <a:endParaRPr sz="26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6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830"/>
              </a:spcBef>
            </a:pPr>
            <a:endParaRPr sz="2650">
              <a:latin typeface="Times New Roman"/>
              <a:cs typeface="Times New Roman"/>
            </a:endParaRPr>
          </a:p>
          <a:p>
            <a:pPr marL="358775" indent="-346075">
              <a:lnSpc>
                <a:spcPct val="100000"/>
              </a:lnSpc>
              <a:buAutoNum type="arabicPeriod" startAt="5"/>
              <a:tabLst>
                <a:tab pos="358775" algn="l"/>
              </a:tabLst>
            </a:pPr>
            <a:r>
              <a:rPr dirty="0" sz="2650" b="1">
                <a:latin typeface="Times New Roman"/>
                <a:cs typeface="Times New Roman"/>
              </a:rPr>
              <a:t>Allow</a:t>
            </a:r>
            <a:r>
              <a:rPr dirty="0" sz="2650" spc="-60" b="1">
                <a:latin typeface="Times New Roman"/>
                <a:cs typeface="Times New Roman"/>
              </a:rPr>
              <a:t> </a:t>
            </a:r>
            <a:r>
              <a:rPr dirty="0" sz="2650" b="1">
                <a:latin typeface="Times New Roman"/>
                <a:cs typeface="Times New Roman"/>
              </a:rPr>
              <a:t>Users</a:t>
            </a:r>
            <a:r>
              <a:rPr dirty="0" sz="2650" spc="-55" b="1">
                <a:latin typeface="Times New Roman"/>
                <a:cs typeface="Times New Roman"/>
              </a:rPr>
              <a:t> </a:t>
            </a:r>
            <a:r>
              <a:rPr dirty="0" sz="2650" b="1">
                <a:latin typeface="Times New Roman"/>
                <a:cs typeface="Times New Roman"/>
              </a:rPr>
              <a:t>to</a:t>
            </a:r>
            <a:r>
              <a:rPr dirty="0" sz="2650" spc="-55" b="1">
                <a:latin typeface="Times New Roman"/>
                <a:cs typeface="Times New Roman"/>
              </a:rPr>
              <a:t> </a:t>
            </a:r>
            <a:r>
              <a:rPr dirty="0" sz="2650" spc="-75" b="1">
                <a:latin typeface="Times New Roman"/>
                <a:cs typeface="Times New Roman"/>
              </a:rPr>
              <a:t>Add</a:t>
            </a:r>
            <a:r>
              <a:rPr dirty="0" sz="2650" spc="-55" b="1">
                <a:latin typeface="Times New Roman"/>
                <a:cs typeface="Times New Roman"/>
              </a:rPr>
              <a:t> </a:t>
            </a:r>
            <a:r>
              <a:rPr dirty="0" sz="2650" spc="-35" b="1">
                <a:latin typeface="Times New Roman"/>
                <a:cs typeface="Times New Roman"/>
              </a:rPr>
              <a:t>Custom</a:t>
            </a:r>
            <a:r>
              <a:rPr dirty="0" sz="2650" spc="-60" b="1">
                <a:latin typeface="Times New Roman"/>
                <a:cs typeface="Times New Roman"/>
              </a:rPr>
              <a:t> </a:t>
            </a:r>
            <a:r>
              <a:rPr dirty="0" sz="2650" b="1">
                <a:latin typeface="Times New Roman"/>
                <a:cs typeface="Times New Roman"/>
              </a:rPr>
              <a:t>Notes</a:t>
            </a:r>
            <a:r>
              <a:rPr dirty="0" sz="2650" spc="-55" b="1">
                <a:latin typeface="Times New Roman"/>
                <a:cs typeface="Times New Roman"/>
              </a:rPr>
              <a:t> </a:t>
            </a:r>
            <a:r>
              <a:rPr dirty="0" sz="2650" b="1">
                <a:latin typeface="Times New Roman"/>
                <a:cs typeface="Times New Roman"/>
              </a:rPr>
              <a:t>for</a:t>
            </a:r>
            <a:r>
              <a:rPr dirty="0" sz="2650" spc="-55" b="1">
                <a:latin typeface="Times New Roman"/>
                <a:cs typeface="Times New Roman"/>
              </a:rPr>
              <a:t> </a:t>
            </a:r>
            <a:r>
              <a:rPr dirty="0" sz="2650" spc="-60" b="1">
                <a:latin typeface="Times New Roman"/>
                <a:cs typeface="Times New Roman"/>
              </a:rPr>
              <a:t>Support</a:t>
            </a:r>
            <a:r>
              <a:rPr dirty="0" sz="2650" spc="-55" b="1">
                <a:latin typeface="Times New Roman"/>
                <a:cs typeface="Times New Roman"/>
              </a:rPr>
              <a:t> </a:t>
            </a:r>
            <a:r>
              <a:rPr dirty="0" sz="2650" spc="-10" b="1">
                <a:latin typeface="Times New Roman"/>
                <a:cs typeface="Times New Roman"/>
              </a:rPr>
              <a:t>Queries:</a:t>
            </a:r>
            <a:endParaRPr sz="2650">
              <a:latin typeface="Times New Roman"/>
              <a:cs typeface="Times New Roman"/>
            </a:endParaRPr>
          </a:p>
          <a:p>
            <a:pPr marL="591185" marR="1864360">
              <a:lnSpc>
                <a:spcPct val="117900"/>
              </a:lnSpc>
            </a:pPr>
            <a:r>
              <a:rPr dirty="0" sz="2650" spc="-85" b="1">
                <a:latin typeface="Times New Roman"/>
                <a:cs typeface="Times New Roman"/>
              </a:rPr>
              <a:t>Current</a:t>
            </a:r>
            <a:r>
              <a:rPr dirty="0" sz="2650" spc="30" b="1">
                <a:latin typeface="Times New Roman"/>
                <a:cs typeface="Times New Roman"/>
              </a:rPr>
              <a:t> </a:t>
            </a:r>
            <a:r>
              <a:rPr dirty="0" sz="2650" spc="-30" b="1">
                <a:latin typeface="Times New Roman"/>
                <a:cs typeface="Times New Roman"/>
              </a:rPr>
              <a:t>Situation:</a:t>
            </a:r>
            <a:r>
              <a:rPr dirty="0" sz="2650" spc="25" b="1">
                <a:latin typeface="Times New Roman"/>
                <a:cs typeface="Times New Roman"/>
              </a:rPr>
              <a:t> </a:t>
            </a:r>
            <a:r>
              <a:rPr dirty="0" sz="2650" spc="135">
                <a:latin typeface="Times New Roman"/>
                <a:cs typeface="Times New Roman"/>
              </a:rPr>
              <a:t>Dunzo</a:t>
            </a:r>
            <a:r>
              <a:rPr dirty="0" sz="2650" spc="25">
                <a:latin typeface="Times New Roman"/>
                <a:cs typeface="Times New Roman"/>
              </a:rPr>
              <a:t> </a:t>
            </a:r>
            <a:r>
              <a:rPr dirty="0" sz="2650" spc="75">
                <a:latin typeface="Times New Roman"/>
                <a:cs typeface="Times New Roman"/>
              </a:rPr>
              <a:t>customer</a:t>
            </a:r>
            <a:r>
              <a:rPr dirty="0" sz="2650" spc="30">
                <a:latin typeface="Times New Roman"/>
                <a:cs typeface="Times New Roman"/>
              </a:rPr>
              <a:t> </a:t>
            </a:r>
            <a:r>
              <a:rPr dirty="0" sz="2650" spc="114">
                <a:latin typeface="Times New Roman"/>
                <a:cs typeface="Times New Roman"/>
              </a:rPr>
              <a:t>support</a:t>
            </a:r>
            <a:r>
              <a:rPr dirty="0" sz="2650" spc="30">
                <a:latin typeface="Times New Roman"/>
                <a:cs typeface="Times New Roman"/>
              </a:rPr>
              <a:t> </a:t>
            </a:r>
            <a:r>
              <a:rPr dirty="0" sz="2650" spc="70">
                <a:latin typeface="Times New Roman"/>
                <a:cs typeface="Times New Roman"/>
              </a:rPr>
              <a:t>currently</a:t>
            </a:r>
            <a:r>
              <a:rPr dirty="0" sz="2650" spc="25">
                <a:latin typeface="Times New Roman"/>
                <a:cs typeface="Times New Roman"/>
              </a:rPr>
              <a:t> </a:t>
            </a:r>
            <a:r>
              <a:rPr dirty="0" sz="2650" spc="60">
                <a:latin typeface="Times New Roman"/>
                <a:cs typeface="Times New Roman"/>
              </a:rPr>
              <a:t>does</a:t>
            </a:r>
            <a:r>
              <a:rPr dirty="0" sz="2650" spc="30">
                <a:latin typeface="Times New Roman"/>
                <a:cs typeface="Times New Roman"/>
              </a:rPr>
              <a:t> </a:t>
            </a:r>
            <a:r>
              <a:rPr dirty="0" sz="2650" spc="140">
                <a:latin typeface="Times New Roman"/>
                <a:cs typeface="Times New Roman"/>
              </a:rPr>
              <a:t>not</a:t>
            </a:r>
            <a:r>
              <a:rPr dirty="0" sz="2650" spc="30">
                <a:latin typeface="Times New Roman"/>
                <a:cs typeface="Times New Roman"/>
              </a:rPr>
              <a:t> </a:t>
            </a:r>
            <a:r>
              <a:rPr dirty="0" sz="2650" spc="50">
                <a:latin typeface="Times New Roman"/>
                <a:cs typeface="Times New Roman"/>
              </a:rPr>
              <a:t>allow</a:t>
            </a:r>
            <a:r>
              <a:rPr dirty="0" sz="2650" spc="25">
                <a:latin typeface="Times New Roman"/>
                <a:cs typeface="Times New Roman"/>
              </a:rPr>
              <a:t> </a:t>
            </a:r>
            <a:r>
              <a:rPr dirty="0" sz="2650">
                <a:latin typeface="Times New Roman"/>
                <a:cs typeface="Times New Roman"/>
              </a:rPr>
              <a:t>users</a:t>
            </a:r>
            <a:r>
              <a:rPr dirty="0" sz="2650" spc="30">
                <a:latin typeface="Times New Roman"/>
                <a:cs typeface="Times New Roman"/>
              </a:rPr>
              <a:t> </a:t>
            </a:r>
            <a:r>
              <a:rPr dirty="0" sz="2650" spc="140">
                <a:latin typeface="Times New Roman"/>
                <a:cs typeface="Times New Roman"/>
              </a:rPr>
              <a:t>to</a:t>
            </a:r>
            <a:r>
              <a:rPr dirty="0" sz="2650" spc="30">
                <a:latin typeface="Times New Roman"/>
                <a:cs typeface="Times New Roman"/>
              </a:rPr>
              <a:t> </a:t>
            </a:r>
            <a:r>
              <a:rPr dirty="0" sz="2650" spc="65">
                <a:latin typeface="Times New Roman"/>
                <a:cs typeface="Times New Roman"/>
              </a:rPr>
              <a:t>type</a:t>
            </a:r>
            <a:r>
              <a:rPr dirty="0" sz="2650" spc="25">
                <a:latin typeface="Times New Roman"/>
                <a:cs typeface="Times New Roman"/>
              </a:rPr>
              <a:t> </a:t>
            </a:r>
            <a:r>
              <a:rPr dirty="0" sz="2650" spc="-10">
                <a:latin typeface="Times New Roman"/>
                <a:cs typeface="Times New Roman"/>
              </a:rPr>
              <a:t>specific </a:t>
            </a:r>
            <a:r>
              <a:rPr dirty="0" sz="2650" spc="75">
                <a:latin typeface="Times New Roman"/>
                <a:cs typeface="Times New Roman"/>
              </a:rPr>
              <a:t>instructions</a:t>
            </a:r>
            <a:r>
              <a:rPr dirty="0" sz="2650" spc="10">
                <a:latin typeface="Times New Roman"/>
                <a:cs typeface="Times New Roman"/>
              </a:rPr>
              <a:t> </a:t>
            </a:r>
            <a:r>
              <a:rPr dirty="0" sz="2650" spc="140">
                <a:latin typeface="Times New Roman"/>
                <a:cs typeface="Times New Roman"/>
              </a:rPr>
              <a:t>or</a:t>
            </a:r>
            <a:r>
              <a:rPr dirty="0" sz="2650" spc="10">
                <a:latin typeface="Times New Roman"/>
                <a:cs typeface="Times New Roman"/>
              </a:rPr>
              <a:t> </a:t>
            </a:r>
            <a:r>
              <a:rPr dirty="0" sz="2650" spc="85">
                <a:latin typeface="Times New Roman"/>
                <a:cs typeface="Times New Roman"/>
              </a:rPr>
              <a:t>custom</a:t>
            </a:r>
            <a:r>
              <a:rPr dirty="0" sz="2650" spc="10">
                <a:latin typeface="Times New Roman"/>
                <a:cs typeface="Times New Roman"/>
              </a:rPr>
              <a:t> </a:t>
            </a:r>
            <a:r>
              <a:rPr dirty="0" sz="2650" spc="50">
                <a:latin typeface="Times New Roman"/>
                <a:cs typeface="Times New Roman"/>
              </a:rPr>
              <a:t>queries</a:t>
            </a:r>
            <a:r>
              <a:rPr dirty="0" sz="2650" spc="10">
                <a:latin typeface="Times New Roman"/>
                <a:cs typeface="Times New Roman"/>
              </a:rPr>
              <a:t> </a:t>
            </a:r>
            <a:r>
              <a:rPr dirty="0" sz="2650" spc="45">
                <a:latin typeface="Times New Roman"/>
                <a:cs typeface="Times New Roman"/>
              </a:rPr>
              <a:t>directly</a:t>
            </a:r>
            <a:r>
              <a:rPr dirty="0" sz="2650" spc="15">
                <a:latin typeface="Times New Roman"/>
                <a:cs typeface="Times New Roman"/>
              </a:rPr>
              <a:t> </a:t>
            </a:r>
            <a:r>
              <a:rPr dirty="0" sz="2650" spc="60">
                <a:latin typeface="Times New Roman"/>
                <a:cs typeface="Times New Roman"/>
              </a:rPr>
              <a:t>within</a:t>
            </a:r>
            <a:r>
              <a:rPr dirty="0" sz="2650" spc="10">
                <a:latin typeface="Times New Roman"/>
                <a:cs typeface="Times New Roman"/>
              </a:rPr>
              <a:t> </a:t>
            </a:r>
            <a:r>
              <a:rPr dirty="0" sz="2650" spc="90">
                <a:latin typeface="Times New Roman"/>
                <a:cs typeface="Times New Roman"/>
              </a:rPr>
              <a:t>the</a:t>
            </a:r>
            <a:r>
              <a:rPr dirty="0" sz="2650" spc="10">
                <a:latin typeface="Times New Roman"/>
                <a:cs typeface="Times New Roman"/>
              </a:rPr>
              <a:t> </a:t>
            </a:r>
            <a:r>
              <a:rPr dirty="0" sz="2650" spc="105">
                <a:latin typeface="Times New Roman"/>
                <a:cs typeface="Times New Roman"/>
              </a:rPr>
              <a:t>app.</a:t>
            </a:r>
            <a:endParaRPr sz="2650">
              <a:latin typeface="Times New Roman"/>
              <a:cs typeface="Times New Roman"/>
            </a:endParaRPr>
          </a:p>
          <a:p>
            <a:pPr marL="591185" marR="1409065">
              <a:lnSpc>
                <a:spcPct val="117900"/>
              </a:lnSpc>
              <a:spcBef>
                <a:spcPts val="5"/>
              </a:spcBef>
            </a:pPr>
            <a:r>
              <a:rPr dirty="0" sz="2650" spc="-65" b="1">
                <a:latin typeface="Times New Roman"/>
                <a:cs typeface="Times New Roman"/>
              </a:rPr>
              <a:t>Recommendation:</a:t>
            </a:r>
            <a:r>
              <a:rPr dirty="0" sz="2650" spc="85" b="1">
                <a:latin typeface="Times New Roman"/>
                <a:cs typeface="Times New Roman"/>
              </a:rPr>
              <a:t> </a:t>
            </a:r>
            <a:r>
              <a:rPr dirty="0" sz="2650" spc="105">
                <a:latin typeface="Times New Roman"/>
                <a:cs typeface="Times New Roman"/>
              </a:rPr>
              <a:t>Introduce</a:t>
            </a:r>
            <a:r>
              <a:rPr dirty="0" sz="2650" spc="90">
                <a:latin typeface="Times New Roman"/>
                <a:cs typeface="Times New Roman"/>
              </a:rPr>
              <a:t> </a:t>
            </a:r>
            <a:r>
              <a:rPr dirty="0" sz="2650" spc="160">
                <a:latin typeface="Times New Roman"/>
                <a:cs typeface="Times New Roman"/>
              </a:rPr>
              <a:t>a</a:t>
            </a:r>
            <a:r>
              <a:rPr dirty="0" sz="2650" spc="90">
                <a:latin typeface="Times New Roman"/>
                <a:cs typeface="Times New Roman"/>
              </a:rPr>
              <a:t> </a:t>
            </a:r>
            <a:r>
              <a:rPr dirty="0" sz="2650" spc="75">
                <a:latin typeface="Times New Roman"/>
                <a:cs typeface="Times New Roman"/>
              </a:rPr>
              <a:t>feature</a:t>
            </a:r>
            <a:r>
              <a:rPr dirty="0" sz="2650" spc="90">
                <a:latin typeface="Times New Roman"/>
                <a:cs typeface="Times New Roman"/>
              </a:rPr>
              <a:t> </a:t>
            </a:r>
            <a:r>
              <a:rPr dirty="0" sz="2650">
                <a:latin typeface="Times New Roman"/>
                <a:cs typeface="Times New Roman"/>
              </a:rPr>
              <a:t>where</a:t>
            </a:r>
            <a:r>
              <a:rPr dirty="0" sz="2650" spc="90">
                <a:latin typeface="Times New Roman"/>
                <a:cs typeface="Times New Roman"/>
              </a:rPr>
              <a:t> </a:t>
            </a:r>
            <a:r>
              <a:rPr dirty="0" sz="2650">
                <a:latin typeface="Times New Roman"/>
                <a:cs typeface="Times New Roman"/>
              </a:rPr>
              <a:t>users</a:t>
            </a:r>
            <a:r>
              <a:rPr dirty="0" sz="2650" spc="85">
                <a:latin typeface="Times New Roman"/>
                <a:cs typeface="Times New Roman"/>
              </a:rPr>
              <a:t> </a:t>
            </a:r>
            <a:r>
              <a:rPr dirty="0" sz="2650" spc="95">
                <a:latin typeface="Times New Roman"/>
                <a:cs typeface="Times New Roman"/>
              </a:rPr>
              <a:t>can</a:t>
            </a:r>
            <a:r>
              <a:rPr dirty="0" sz="2650" spc="90">
                <a:latin typeface="Times New Roman"/>
                <a:cs typeface="Times New Roman"/>
              </a:rPr>
              <a:t> </a:t>
            </a:r>
            <a:r>
              <a:rPr dirty="0" sz="2650">
                <a:latin typeface="Times New Roman"/>
                <a:cs typeface="Times New Roman"/>
              </a:rPr>
              <a:t>write</a:t>
            </a:r>
            <a:r>
              <a:rPr dirty="0" sz="2650" spc="90">
                <a:latin typeface="Times New Roman"/>
                <a:cs typeface="Times New Roman"/>
              </a:rPr>
              <a:t> </a:t>
            </a:r>
            <a:r>
              <a:rPr dirty="0" sz="2650" spc="60">
                <a:latin typeface="Times New Roman"/>
                <a:cs typeface="Times New Roman"/>
              </a:rPr>
              <a:t>detailed</a:t>
            </a:r>
            <a:r>
              <a:rPr dirty="0" sz="2650" spc="90">
                <a:latin typeface="Times New Roman"/>
                <a:cs typeface="Times New Roman"/>
              </a:rPr>
              <a:t> </a:t>
            </a:r>
            <a:r>
              <a:rPr dirty="0" sz="2650">
                <a:latin typeface="Times New Roman"/>
                <a:cs typeface="Times New Roman"/>
              </a:rPr>
              <a:t>messages</a:t>
            </a:r>
            <a:r>
              <a:rPr dirty="0" sz="2650" spc="85">
                <a:latin typeface="Times New Roman"/>
                <a:cs typeface="Times New Roman"/>
              </a:rPr>
              <a:t> </a:t>
            </a:r>
            <a:r>
              <a:rPr dirty="0" sz="2650" spc="140">
                <a:latin typeface="Times New Roman"/>
                <a:cs typeface="Times New Roman"/>
              </a:rPr>
              <a:t>or</a:t>
            </a:r>
            <a:r>
              <a:rPr dirty="0" sz="2650" spc="90">
                <a:latin typeface="Times New Roman"/>
                <a:cs typeface="Times New Roman"/>
              </a:rPr>
              <a:t> </a:t>
            </a:r>
            <a:r>
              <a:rPr dirty="0" sz="2650" spc="75">
                <a:latin typeface="Times New Roman"/>
                <a:cs typeface="Times New Roman"/>
              </a:rPr>
              <a:t>notes</a:t>
            </a:r>
            <a:r>
              <a:rPr dirty="0" sz="2650" spc="85">
                <a:latin typeface="Times New Roman"/>
                <a:cs typeface="Times New Roman"/>
              </a:rPr>
              <a:t> </a:t>
            </a:r>
            <a:r>
              <a:rPr dirty="0" sz="2650" spc="135">
                <a:latin typeface="Times New Roman"/>
                <a:cs typeface="Times New Roman"/>
              </a:rPr>
              <a:t>about </a:t>
            </a:r>
            <a:r>
              <a:rPr dirty="0" sz="2650" spc="75">
                <a:latin typeface="Times New Roman"/>
                <a:cs typeface="Times New Roman"/>
              </a:rPr>
              <a:t>their</a:t>
            </a:r>
            <a:r>
              <a:rPr dirty="0" sz="2650" spc="55">
                <a:latin typeface="Times New Roman"/>
                <a:cs typeface="Times New Roman"/>
              </a:rPr>
              <a:t> </a:t>
            </a:r>
            <a:r>
              <a:rPr dirty="0" sz="2650">
                <a:latin typeface="Times New Roman"/>
                <a:cs typeface="Times New Roman"/>
              </a:rPr>
              <a:t>issue</a:t>
            </a:r>
            <a:r>
              <a:rPr dirty="0" sz="2650" spc="60">
                <a:latin typeface="Times New Roman"/>
                <a:cs typeface="Times New Roman"/>
              </a:rPr>
              <a:t> </a:t>
            </a:r>
            <a:r>
              <a:rPr dirty="0" sz="2650" spc="140">
                <a:latin typeface="Times New Roman"/>
                <a:cs typeface="Times New Roman"/>
              </a:rPr>
              <a:t>or</a:t>
            </a:r>
            <a:r>
              <a:rPr dirty="0" sz="2650" spc="60">
                <a:latin typeface="Times New Roman"/>
                <a:cs typeface="Times New Roman"/>
              </a:rPr>
              <a:t> </a:t>
            </a:r>
            <a:r>
              <a:rPr dirty="0" sz="2650">
                <a:latin typeface="Times New Roman"/>
                <a:cs typeface="Times New Roman"/>
              </a:rPr>
              <a:t>delivery</a:t>
            </a:r>
            <a:r>
              <a:rPr dirty="0" sz="2650" spc="60">
                <a:latin typeface="Times New Roman"/>
                <a:cs typeface="Times New Roman"/>
              </a:rPr>
              <a:t> </a:t>
            </a:r>
            <a:r>
              <a:rPr dirty="0" sz="2650" spc="70">
                <a:latin typeface="Times New Roman"/>
                <a:cs typeface="Times New Roman"/>
              </a:rPr>
              <a:t>concern</a:t>
            </a:r>
            <a:r>
              <a:rPr dirty="0" sz="2650" spc="55">
                <a:latin typeface="Times New Roman"/>
                <a:cs typeface="Times New Roman"/>
              </a:rPr>
              <a:t> </a:t>
            </a:r>
            <a:r>
              <a:rPr dirty="0" sz="2650" spc="65">
                <a:latin typeface="Times New Roman"/>
                <a:cs typeface="Times New Roman"/>
              </a:rPr>
              <a:t>when</a:t>
            </a:r>
            <a:r>
              <a:rPr dirty="0" sz="2650" spc="60">
                <a:latin typeface="Times New Roman"/>
                <a:cs typeface="Times New Roman"/>
              </a:rPr>
              <a:t> </a:t>
            </a:r>
            <a:r>
              <a:rPr dirty="0" sz="2650" spc="80">
                <a:latin typeface="Times New Roman"/>
                <a:cs typeface="Times New Roman"/>
              </a:rPr>
              <a:t>contacting</a:t>
            </a:r>
            <a:r>
              <a:rPr dirty="0" sz="2650" spc="60">
                <a:latin typeface="Times New Roman"/>
                <a:cs typeface="Times New Roman"/>
              </a:rPr>
              <a:t> </a:t>
            </a:r>
            <a:r>
              <a:rPr dirty="0" sz="2650" spc="100">
                <a:latin typeface="Times New Roman"/>
                <a:cs typeface="Times New Roman"/>
              </a:rPr>
              <a:t>support.</a:t>
            </a:r>
            <a:endParaRPr sz="26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21054" y="2524716"/>
            <a:ext cx="15746094" cy="6826250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dirty="0" sz="2700" b="1">
                <a:latin typeface="Times New Roman"/>
                <a:cs typeface="Times New Roman"/>
              </a:rPr>
              <a:t>L1</a:t>
            </a:r>
            <a:r>
              <a:rPr dirty="0" sz="2700" spc="-15" b="1">
                <a:latin typeface="Times New Roman"/>
                <a:cs typeface="Times New Roman"/>
              </a:rPr>
              <a:t> </a:t>
            </a:r>
            <a:r>
              <a:rPr dirty="0" sz="2700" b="1">
                <a:latin typeface="Times New Roman"/>
                <a:cs typeface="Times New Roman"/>
              </a:rPr>
              <a:t>Metrics</a:t>
            </a:r>
            <a:r>
              <a:rPr dirty="0" sz="2700" spc="-15" b="1">
                <a:latin typeface="Times New Roman"/>
                <a:cs typeface="Times New Roman"/>
              </a:rPr>
              <a:t> </a:t>
            </a:r>
            <a:r>
              <a:rPr dirty="0" sz="2700" spc="-50" b="1">
                <a:latin typeface="Times New Roman"/>
                <a:cs typeface="Times New Roman"/>
              </a:rPr>
              <a:t>:</a:t>
            </a:r>
            <a:endParaRPr sz="2700">
              <a:latin typeface="Times New Roman"/>
              <a:cs typeface="Times New Roman"/>
            </a:endParaRPr>
          </a:p>
          <a:p>
            <a:pPr marL="602615" marR="5080" indent="-302895">
              <a:lnSpc>
                <a:spcPts val="3829"/>
              </a:lnSpc>
              <a:spcBef>
                <a:spcPts val="225"/>
              </a:spcBef>
              <a:buFont typeface="Times New Roman"/>
              <a:buAutoNum type="arabicPeriod"/>
              <a:tabLst>
                <a:tab pos="602615" algn="l"/>
                <a:tab pos="687705" algn="l"/>
              </a:tabLst>
            </a:pPr>
            <a:r>
              <a:rPr dirty="0" sz="2700">
                <a:latin typeface="Times New Roman"/>
                <a:cs typeface="Times New Roman"/>
              </a:rPr>
              <a:t>	</a:t>
            </a:r>
            <a:r>
              <a:rPr dirty="0" sz="2700" spc="-10" b="1">
                <a:latin typeface="Times New Roman"/>
                <a:cs typeface="Times New Roman"/>
              </a:rPr>
              <a:t>Active</a:t>
            </a:r>
            <a:r>
              <a:rPr dirty="0" sz="2700" spc="-5" b="1">
                <a:latin typeface="Times New Roman"/>
                <a:cs typeface="Times New Roman"/>
              </a:rPr>
              <a:t> </a:t>
            </a:r>
            <a:r>
              <a:rPr dirty="0" sz="2700" b="1">
                <a:latin typeface="Times New Roman"/>
                <a:cs typeface="Times New Roman"/>
              </a:rPr>
              <a:t>Users : </a:t>
            </a:r>
            <a:r>
              <a:rPr dirty="0" sz="2700" spc="95">
                <a:latin typeface="Times New Roman"/>
                <a:cs typeface="Times New Roman"/>
              </a:rPr>
              <a:t>Tracks</a:t>
            </a:r>
            <a:r>
              <a:rPr dirty="0" sz="2700" spc="-5">
                <a:latin typeface="Times New Roman"/>
                <a:cs typeface="Times New Roman"/>
              </a:rPr>
              <a:t> </a:t>
            </a:r>
            <a:r>
              <a:rPr dirty="0" sz="2700" spc="90">
                <a:latin typeface="Times New Roman"/>
                <a:cs typeface="Times New Roman"/>
              </a:rPr>
              <a:t>the</a:t>
            </a:r>
            <a:r>
              <a:rPr dirty="0" sz="2700">
                <a:latin typeface="Times New Roman"/>
                <a:cs typeface="Times New Roman"/>
              </a:rPr>
              <a:t> </a:t>
            </a:r>
            <a:r>
              <a:rPr dirty="0" sz="2700" spc="114">
                <a:latin typeface="Times New Roman"/>
                <a:cs typeface="Times New Roman"/>
              </a:rPr>
              <a:t>number</a:t>
            </a:r>
            <a:r>
              <a:rPr dirty="0" sz="2700">
                <a:latin typeface="Times New Roman"/>
                <a:cs typeface="Times New Roman"/>
              </a:rPr>
              <a:t> </a:t>
            </a:r>
            <a:r>
              <a:rPr dirty="0" sz="2700" spc="75">
                <a:latin typeface="Times New Roman"/>
                <a:cs typeface="Times New Roman"/>
              </a:rPr>
              <a:t>of</a:t>
            </a:r>
            <a:r>
              <a:rPr dirty="0" sz="2700" spc="-5">
                <a:latin typeface="Times New Roman"/>
                <a:cs typeface="Times New Roman"/>
              </a:rPr>
              <a:t> </a:t>
            </a:r>
            <a:r>
              <a:rPr dirty="0" sz="2700" spc="90">
                <a:latin typeface="Times New Roman"/>
                <a:cs typeface="Times New Roman"/>
              </a:rPr>
              <a:t>unique</a:t>
            </a:r>
            <a:r>
              <a:rPr dirty="0" sz="2700">
                <a:latin typeface="Times New Roman"/>
                <a:cs typeface="Times New Roman"/>
              </a:rPr>
              <a:t> </a:t>
            </a:r>
            <a:r>
              <a:rPr dirty="0" sz="2700" spc="50">
                <a:latin typeface="Times New Roman"/>
                <a:cs typeface="Times New Roman"/>
              </a:rPr>
              <a:t>users</a:t>
            </a:r>
            <a:r>
              <a:rPr dirty="0" sz="2700">
                <a:latin typeface="Times New Roman"/>
                <a:cs typeface="Times New Roman"/>
              </a:rPr>
              <a:t> </a:t>
            </a:r>
            <a:r>
              <a:rPr dirty="0" sz="2700" spc="70">
                <a:latin typeface="Times New Roman"/>
                <a:cs typeface="Times New Roman"/>
              </a:rPr>
              <a:t>interacting</a:t>
            </a:r>
            <a:r>
              <a:rPr dirty="0" sz="2700" spc="-5">
                <a:latin typeface="Times New Roman"/>
                <a:cs typeface="Times New Roman"/>
              </a:rPr>
              <a:t> </a:t>
            </a:r>
            <a:r>
              <a:rPr dirty="0" sz="2700" spc="65">
                <a:latin typeface="Times New Roman"/>
                <a:cs typeface="Times New Roman"/>
              </a:rPr>
              <a:t>with</a:t>
            </a:r>
            <a:r>
              <a:rPr dirty="0" sz="2700">
                <a:latin typeface="Times New Roman"/>
                <a:cs typeface="Times New Roman"/>
              </a:rPr>
              <a:t> </a:t>
            </a:r>
            <a:r>
              <a:rPr dirty="0" sz="2700" spc="90">
                <a:latin typeface="Times New Roman"/>
                <a:cs typeface="Times New Roman"/>
              </a:rPr>
              <a:t>the</a:t>
            </a:r>
            <a:r>
              <a:rPr dirty="0" sz="2700">
                <a:latin typeface="Times New Roman"/>
                <a:cs typeface="Times New Roman"/>
              </a:rPr>
              <a:t> </a:t>
            </a:r>
            <a:r>
              <a:rPr dirty="0" sz="2700" spc="145">
                <a:latin typeface="Times New Roman"/>
                <a:cs typeface="Times New Roman"/>
              </a:rPr>
              <a:t>app</a:t>
            </a:r>
            <a:r>
              <a:rPr dirty="0" sz="2700" spc="-5">
                <a:latin typeface="Times New Roman"/>
                <a:cs typeface="Times New Roman"/>
              </a:rPr>
              <a:t> </a:t>
            </a:r>
            <a:r>
              <a:rPr dirty="0" sz="2700" spc="65">
                <a:latin typeface="Times New Roman"/>
                <a:cs typeface="Times New Roman"/>
              </a:rPr>
              <a:t>over</a:t>
            </a:r>
            <a:r>
              <a:rPr dirty="0" sz="2700">
                <a:latin typeface="Times New Roman"/>
                <a:cs typeface="Times New Roman"/>
              </a:rPr>
              <a:t> </a:t>
            </a:r>
            <a:r>
              <a:rPr dirty="0" sz="2700" spc="155">
                <a:latin typeface="Times New Roman"/>
                <a:cs typeface="Times New Roman"/>
              </a:rPr>
              <a:t>a</a:t>
            </a:r>
            <a:r>
              <a:rPr dirty="0" sz="2700">
                <a:latin typeface="Times New Roman"/>
                <a:cs typeface="Times New Roman"/>
              </a:rPr>
              <a:t> specific</a:t>
            </a:r>
            <a:r>
              <a:rPr dirty="0" sz="2700" spc="-5">
                <a:latin typeface="Times New Roman"/>
                <a:cs typeface="Times New Roman"/>
              </a:rPr>
              <a:t> </a:t>
            </a:r>
            <a:r>
              <a:rPr dirty="0" sz="2700" spc="85">
                <a:latin typeface="Times New Roman"/>
                <a:cs typeface="Times New Roman"/>
              </a:rPr>
              <a:t>period</a:t>
            </a:r>
            <a:r>
              <a:rPr dirty="0" sz="2700">
                <a:latin typeface="Times New Roman"/>
                <a:cs typeface="Times New Roman"/>
              </a:rPr>
              <a:t> </a:t>
            </a:r>
            <a:r>
              <a:rPr dirty="0" sz="2700" spc="35">
                <a:latin typeface="Times New Roman"/>
                <a:cs typeface="Times New Roman"/>
              </a:rPr>
              <a:t>(daily, </a:t>
            </a:r>
            <a:r>
              <a:rPr dirty="0" sz="2700">
                <a:latin typeface="Times New Roman"/>
                <a:cs typeface="Times New Roman"/>
              </a:rPr>
              <a:t>weekly,</a:t>
            </a:r>
            <a:r>
              <a:rPr dirty="0" sz="2700" spc="85">
                <a:latin typeface="Times New Roman"/>
                <a:cs typeface="Times New Roman"/>
              </a:rPr>
              <a:t> </a:t>
            </a:r>
            <a:r>
              <a:rPr dirty="0" sz="2700" spc="140">
                <a:latin typeface="Times New Roman"/>
                <a:cs typeface="Times New Roman"/>
              </a:rPr>
              <a:t>or</a:t>
            </a:r>
            <a:r>
              <a:rPr dirty="0" sz="2700" spc="85">
                <a:latin typeface="Times New Roman"/>
                <a:cs typeface="Times New Roman"/>
              </a:rPr>
              <a:t> </a:t>
            </a:r>
            <a:r>
              <a:rPr dirty="0" sz="2700" spc="75">
                <a:latin typeface="Times New Roman"/>
                <a:cs typeface="Times New Roman"/>
              </a:rPr>
              <a:t>monthly).</a:t>
            </a:r>
            <a:endParaRPr sz="2700">
              <a:latin typeface="Times New Roman"/>
              <a:cs typeface="Times New Roman"/>
            </a:endParaRPr>
          </a:p>
          <a:p>
            <a:pPr marL="688340" indent="-387985">
              <a:lnSpc>
                <a:spcPct val="100000"/>
              </a:lnSpc>
              <a:spcBef>
                <a:spcPts val="350"/>
              </a:spcBef>
              <a:buFont typeface="Times New Roman"/>
              <a:buAutoNum type="arabicPeriod"/>
              <a:tabLst>
                <a:tab pos="688340" algn="l"/>
                <a:tab pos="4705985" algn="l"/>
              </a:tabLst>
            </a:pPr>
            <a:r>
              <a:rPr dirty="0" sz="2700" spc="-45" b="1">
                <a:latin typeface="Times New Roman"/>
                <a:cs typeface="Times New Roman"/>
              </a:rPr>
              <a:t>Customer</a:t>
            </a:r>
            <a:r>
              <a:rPr dirty="0" sz="2700" spc="-65" b="1">
                <a:latin typeface="Times New Roman"/>
                <a:cs typeface="Times New Roman"/>
              </a:rPr>
              <a:t> </a:t>
            </a:r>
            <a:r>
              <a:rPr dirty="0" sz="2700" spc="-25" b="1">
                <a:latin typeface="Times New Roman"/>
                <a:cs typeface="Times New Roman"/>
              </a:rPr>
              <a:t>Retention</a:t>
            </a:r>
            <a:r>
              <a:rPr dirty="0" sz="2700" spc="-65" b="1">
                <a:latin typeface="Times New Roman"/>
                <a:cs typeface="Times New Roman"/>
              </a:rPr>
              <a:t> </a:t>
            </a:r>
            <a:r>
              <a:rPr dirty="0" sz="2700" b="1">
                <a:latin typeface="Times New Roman"/>
                <a:cs typeface="Times New Roman"/>
              </a:rPr>
              <a:t>Rate</a:t>
            </a:r>
            <a:r>
              <a:rPr dirty="0" sz="2700" spc="-65" b="1">
                <a:latin typeface="Times New Roman"/>
                <a:cs typeface="Times New Roman"/>
              </a:rPr>
              <a:t> </a:t>
            </a:r>
            <a:r>
              <a:rPr dirty="0" sz="2700" spc="-50" b="1">
                <a:latin typeface="Times New Roman"/>
                <a:cs typeface="Times New Roman"/>
              </a:rPr>
              <a:t>:</a:t>
            </a:r>
            <a:r>
              <a:rPr dirty="0" sz="2700" b="1">
                <a:latin typeface="Times New Roman"/>
                <a:cs typeface="Times New Roman"/>
              </a:rPr>
              <a:t>	</a:t>
            </a:r>
            <a:r>
              <a:rPr dirty="0" sz="2700" spc="65">
                <a:latin typeface="Times New Roman"/>
                <a:cs typeface="Times New Roman"/>
              </a:rPr>
              <a:t>Percentage</a:t>
            </a:r>
            <a:r>
              <a:rPr dirty="0" sz="2700" spc="25">
                <a:latin typeface="Times New Roman"/>
                <a:cs typeface="Times New Roman"/>
              </a:rPr>
              <a:t> </a:t>
            </a:r>
            <a:r>
              <a:rPr dirty="0" sz="2700" spc="75">
                <a:latin typeface="Times New Roman"/>
                <a:cs typeface="Times New Roman"/>
              </a:rPr>
              <a:t>of</a:t>
            </a:r>
            <a:r>
              <a:rPr dirty="0" sz="2700" spc="25">
                <a:latin typeface="Times New Roman"/>
                <a:cs typeface="Times New Roman"/>
              </a:rPr>
              <a:t> </a:t>
            </a:r>
            <a:r>
              <a:rPr dirty="0" sz="2700" spc="50">
                <a:latin typeface="Times New Roman"/>
                <a:cs typeface="Times New Roman"/>
              </a:rPr>
              <a:t>users</a:t>
            </a:r>
            <a:r>
              <a:rPr dirty="0" sz="2700" spc="25">
                <a:latin typeface="Times New Roman"/>
                <a:cs typeface="Times New Roman"/>
              </a:rPr>
              <a:t> </a:t>
            </a:r>
            <a:r>
              <a:rPr dirty="0" sz="2700" spc="95">
                <a:latin typeface="Times New Roman"/>
                <a:cs typeface="Times New Roman"/>
              </a:rPr>
              <a:t>who</a:t>
            </a:r>
            <a:r>
              <a:rPr dirty="0" sz="2700" spc="25">
                <a:latin typeface="Times New Roman"/>
                <a:cs typeface="Times New Roman"/>
              </a:rPr>
              <a:t> </a:t>
            </a:r>
            <a:r>
              <a:rPr dirty="0" sz="2700" spc="80">
                <a:latin typeface="Times New Roman"/>
                <a:cs typeface="Times New Roman"/>
              </a:rPr>
              <a:t>continue</a:t>
            </a:r>
            <a:r>
              <a:rPr dirty="0" sz="2700" spc="25">
                <a:latin typeface="Times New Roman"/>
                <a:cs typeface="Times New Roman"/>
              </a:rPr>
              <a:t> </a:t>
            </a:r>
            <a:r>
              <a:rPr dirty="0" sz="2700" spc="150">
                <a:latin typeface="Times New Roman"/>
                <a:cs typeface="Times New Roman"/>
              </a:rPr>
              <a:t>to</a:t>
            </a:r>
            <a:r>
              <a:rPr dirty="0" sz="2700" spc="25">
                <a:latin typeface="Times New Roman"/>
                <a:cs typeface="Times New Roman"/>
              </a:rPr>
              <a:t> </a:t>
            </a:r>
            <a:r>
              <a:rPr dirty="0" sz="2700">
                <a:latin typeface="Times New Roman"/>
                <a:cs typeface="Times New Roman"/>
              </a:rPr>
              <a:t>use</a:t>
            </a:r>
            <a:r>
              <a:rPr dirty="0" sz="2700" spc="25">
                <a:latin typeface="Times New Roman"/>
                <a:cs typeface="Times New Roman"/>
              </a:rPr>
              <a:t> </a:t>
            </a:r>
            <a:r>
              <a:rPr dirty="0" sz="2700" spc="90">
                <a:latin typeface="Times New Roman"/>
                <a:cs typeface="Times New Roman"/>
              </a:rPr>
              <a:t>the</a:t>
            </a:r>
            <a:r>
              <a:rPr dirty="0" sz="2700" spc="25">
                <a:latin typeface="Times New Roman"/>
                <a:cs typeface="Times New Roman"/>
              </a:rPr>
              <a:t> </a:t>
            </a:r>
            <a:r>
              <a:rPr dirty="0" sz="2700" spc="145">
                <a:latin typeface="Times New Roman"/>
                <a:cs typeface="Times New Roman"/>
              </a:rPr>
              <a:t>app</a:t>
            </a:r>
            <a:r>
              <a:rPr dirty="0" sz="2700" spc="25">
                <a:latin typeface="Times New Roman"/>
                <a:cs typeface="Times New Roman"/>
              </a:rPr>
              <a:t> </a:t>
            </a:r>
            <a:r>
              <a:rPr dirty="0" sz="2700" spc="85">
                <a:latin typeface="Times New Roman"/>
                <a:cs typeface="Times New Roman"/>
              </a:rPr>
              <a:t>after</a:t>
            </a:r>
            <a:r>
              <a:rPr dirty="0" sz="2700" spc="25">
                <a:latin typeface="Times New Roman"/>
                <a:cs typeface="Times New Roman"/>
              </a:rPr>
              <a:t> </a:t>
            </a:r>
            <a:r>
              <a:rPr dirty="0" sz="2700" spc="80">
                <a:latin typeface="Times New Roman"/>
                <a:cs typeface="Times New Roman"/>
              </a:rPr>
              <a:t>their</a:t>
            </a:r>
            <a:r>
              <a:rPr dirty="0" sz="2700" spc="25">
                <a:latin typeface="Times New Roman"/>
                <a:cs typeface="Times New Roman"/>
              </a:rPr>
              <a:t> </a:t>
            </a:r>
            <a:r>
              <a:rPr dirty="0" sz="2700" spc="55">
                <a:latin typeface="Times New Roman"/>
                <a:cs typeface="Times New Roman"/>
              </a:rPr>
              <a:t>first</a:t>
            </a:r>
            <a:r>
              <a:rPr dirty="0" sz="2700" spc="25">
                <a:latin typeface="Times New Roman"/>
                <a:cs typeface="Times New Roman"/>
              </a:rPr>
              <a:t> </a:t>
            </a:r>
            <a:r>
              <a:rPr dirty="0" sz="2700" spc="75">
                <a:latin typeface="Times New Roman"/>
                <a:cs typeface="Times New Roman"/>
              </a:rPr>
              <a:t>interaction</a:t>
            </a:r>
            <a:endParaRPr sz="2700">
              <a:latin typeface="Times New Roman"/>
              <a:cs typeface="Times New Roman"/>
            </a:endParaRPr>
          </a:p>
          <a:p>
            <a:pPr marL="602615">
              <a:lnSpc>
                <a:spcPct val="100000"/>
              </a:lnSpc>
              <a:spcBef>
                <a:spcPts val="585"/>
              </a:spcBef>
            </a:pPr>
            <a:r>
              <a:rPr dirty="0" sz="2700" spc="65">
                <a:latin typeface="Times New Roman"/>
                <a:cs typeface="Times New Roman"/>
              </a:rPr>
              <a:t>over</a:t>
            </a:r>
            <a:r>
              <a:rPr dirty="0" sz="2700" spc="10">
                <a:latin typeface="Times New Roman"/>
                <a:cs typeface="Times New Roman"/>
              </a:rPr>
              <a:t> </a:t>
            </a:r>
            <a:r>
              <a:rPr dirty="0" sz="2700" spc="155">
                <a:latin typeface="Times New Roman"/>
                <a:cs typeface="Times New Roman"/>
              </a:rPr>
              <a:t>a</a:t>
            </a:r>
            <a:r>
              <a:rPr dirty="0" sz="2700" spc="10">
                <a:latin typeface="Times New Roman"/>
                <a:cs typeface="Times New Roman"/>
              </a:rPr>
              <a:t> </a:t>
            </a:r>
            <a:r>
              <a:rPr dirty="0" sz="2700" spc="55">
                <a:latin typeface="Times New Roman"/>
                <a:cs typeface="Times New Roman"/>
              </a:rPr>
              <a:t>defined</a:t>
            </a:r>
            <a:r>
              <a:rPr dirty="0" sz="2700" spc="15">
                <a:latin typeface="Times New Roman"/>
                <a:cs typeface="Times New Roman"/>
              </a:rPr>
              <a:t> </a:t>
            </a:r>
            <a:r>
              <a:rPr dirty="0" sz="2700" spc="70">
                <a:latin typeface="Times New Roman"/>
                <a:cs typeface="Times New Roman"/>
              </a:rPr>
              <a:t>period.</a:t>
            </a:r>
            <a:endParaRPr sz="2700">
              <a:latin typeface="Times New Roman"/>
              <a:cs typeface="Times New Roman"/>
            </a:endParaRPr>
          </a:p>
          <a:p>
            <a:pPr marL="775970" indent="-475615">
              <a:lnSpc>
                <a:spcPct val="100000"/>
              </a:lnSpc>
              <a:spcBef>
                <a:spcPts val="585"/>
              </a:spcBef>
              <a:buFont typeface="Times New Roman"/>
              <a:buAutoNum type="arabicPeriod" startAt="3"/>
              <a:tabLst>
                <a:tab pos="775970" algn="l"/>
              </a:tabLst>
            </a:pPr>
            <a:r>
              <a:rPr dirty="0" sz="2700" spc="-40" b="1">
                <a:latin typeface="Times New Roman"/>
                <a:cs typeface="Times New Roman"/>
              </a:rPr>
              <a:t>Order</a:t>
            </a:r>
            <a:r>
              <a:rPr dirty="0" sz="2700" spc="-5" b="1">
                <a:latin typeface="Times New Roman"/>
                <a:cs typeface="Times New Roman"/>
              </a:rPr>
              <a:t> </a:t>
            </a:r>
            <a:r>
              <a:rPr dirty="0" sz="2700" spc="-60" b="1">
                <a:latin typeface="Times New Roman"/>
                <a:cs typeface="Times New Roman"/>
              </a:rPr>
              <a:t>Frequency</a:t>
            </a:r>
            <a:r>
              <a:rPr dirty="0" sz="2700" b="1">
                <a:latin typeface="Times New Roman"/>
                <a:cs typeface="Times New Roman"/>
              </a:rPr>
              <a:t> : </a:t>
            </a:r>
            <a:r>
              <a:rPr dirty="0" sz="2700" spc="80">
                <a:latin typeface="Times New Roman"/>
                <a:cs typeface="Times New Roman"/>
              </a:rPr>
              <a:t>Measures</a:t>
            </a:r>
            <a:r>
              <a:rPr dirty="0" sz="2700">
                <a:latin typeface="Times New Roman"/>
                <a:cs typeface="Times New Roman"/>
              </a:rPr>
              <a:t> </a:t>
            </a:r>
            <a:r>
              <a:rPr dirty="0" sz="2700" spc="90">
                <a:latin typeface="Times New Roman"/>
                <a:cs typeface="Times New Roman"/>
              </a:rPr>
              <a:t>the</a:t>
            </a:r>
            <a:r>
              <a:rPr dirty="0" sz="2700" spc="-5">
                <a:latin typeface="Times New Roman"/>
                <a:cs typeface="Times New Roman"/>
              </a:rPr>
              <a:t> </a:t>
            </a:r>
            <a:r>
              <a:rPr dirty="0" sz="2700" spc="60">
                <a:latin typeface="Times New Roman"/>
                <a:cs typeface="Times New Roman"/>
              </a:rPr>
              <a:t>average</a:t>
            </a:r>
            <a:r>
              <a:rPr dirty="0" sz="2700">
                <a:latin typeface="Times New Roman"/>
                <a:cs typeface="Times New Roman"/>
              </a:rPr>
              <a:t> </a:t>
            </a:r>
            <a:r>
              <a:rPr dirty="0" sz="2700" spc="114">
                <a:latin typeface="Times New Roman"/>
                <a:cs typeface="Times New Roman"/>
              </a:rPr>
              <a:t>number</a:t>
            </a:r>
            <a:r>
              <a:rPr dirty="0" sz="2700">
                <a:latin typeface="Times New Roman"/>
                <a:cs typeface="Times New Roman"/>
              </a:rPr>
              <a:t> </a:t>
            </a:r>
            <a:r>
              <a:rPr dirty="0" sz="2700" spc="75">
                <a:latin typeface="Times New Roman"/>
                <a:cs typeface="Times New Roman"/>
              </a:rPr>
              <a:t>of</a:t>
            </a:r>
            <a:r>
              <a:rPr dirty="0" sz="2700">
                <a:latin typeface="Times New Roman"/>
                <a:cs typeface="Times New Roman"/>
              </a:rPr>
              <a:t> </a:t>
            </a:r>
            <a:r>
              <a:rPr dirty="0" sz="2700" spc="90">
                <a:latin typeface="Times New Roman"/>
                <a:cs typeface="Times New Roman"/>
              </a:rPr>
              <a:t>orders</a:t>
            </a:r>
            <a:r>
              <a:rPr dirty="0" sz="2700">
                <a:latin typeface="Times New Roman"/>
                <a:cs typeface="Times New Roman"/>
              </a:rPr>
              <a:t> </a:t>
            </a:r>
            <a:r>
              <a:rPr dirty="0" sz="2700" spc="60">
                <a:latin typeface="Times New Roman"/>
                <a:cs typeface="Times New Roman"/>
              </a:rPr>
              <a:t>placed</a:t>
            </a:r>
            <a:r>
              <a:rPr dirty="0" sz="2700" spc="-5">
                <a:latin typeface="Times New Roman"/>
                <a:cs typeface="Times New Roman"/>
              </a:rPr>
              <a:t> </a:t>
            </a:r>
            <a:r>
              <a:rPr dirty="0" sz="2700" spc="75">
                <a:latin typeface="Times New Roman"/>
                <a:cs typeface="Times New Roman"/>
              </a:rPr>
              <a:t>by</a:t>
            </a:r>
            <a:r>
              <a:rPr dirty="0" sz="2700">
                <a:latin typeface="Times New Roman"/>
                <a:cs typeface="Times New Roman"/>
              </a:rPr>
              <a:t> </a:t>
            </a:r>
            <a:r>
              <a:rPr dirty="0" sz="2700" spc="155">
                <a:latin typeface="Times New Roman"/>
                <a:cs typeface="Times New Roman"/>
              </a:rPr>
              <a:t>a</a:t>
            </a:r>
            <a:r>
              <a:rPr dirty="0" sz="2700">
                <a:latin typeface="Times New Roman"/>
                <a:cs typeface="Times New Roman"/>
              </a:rPr>
              <a:t> </a:t>
            </a:r>
            <a:r>
              <a:rPr dirty="0" sz="2700" spc="65">
                <a:latin typeface="Times New Roman"/>
                <a:cs typeface="Times New Roman"/>
              </a:rPr>
              <a:t>user</a:t>
            </a:r>
            <a:r>
              <a:rPr dirty="0" sz="2700">
                <a:latin typeface="Times New Roman"/>
                <a:cs typeface="Times New Roman"/>
              </a:rPr>
              <a:t> </a:t>
            </a:r>
            <a:r>
              <a:rPr dirty="0" sz="2700" spc="65">
                <a:latin typeface="Times New Roman"/>
                <a:cs typeface="Times New Roman"/>
              </a:rPr>
              <a:t>over</a:t>
            </a:r>
            <a:r>
              <a:rPr dirty="0" sz="2700" spc="-5">
                <a:latin typeface="Times New Roman"/>
                <a:cs typeface="Times New Roman"/>
              </a:rPr>
              <a:t> </a:t>
            </a:r>
            <a:r>
              <a:rPr dirty="0" sz="2700" spc="155">
                <a:latin typeface="Times New Roman"/>
                <a:cs typeface="Times New Roman"/>
              </a:rPr>
              <a:t>a</a:t>
            </a:r>
            <a:r>
              <a:rPr dirty="0" sz="2700">
                <a:latin typeface="Times New Roman"/>
                <a:cs typeface="Times New Roman"/>
              </a:rPr>
              <a:t> given </a:t>
            </a:r>
            <a:r>
              <a:rPr dirty="0" sz="2700" spc="65">
                <a:latin typeface="Times New Roman"/>
                <a:cs typeface="Times New Roman"/>
              </a:rPr>
              <a:t>time</a:t>
            </a:r>
            <a:r>
              <a:rPr dirty="0" sz="2700">
                <a:latin typeface="Times New Roman"/>
                <a:cs typeface="Times New Roman"/>
              </a:rPr>
              <a:t> </a:t>
            </a:r>
            <a:r>
              <a:rPr dirty="0" sz="2700" spc="70">
                <a:latin typeface="Times New Roman"/>
                <a:cs typeface="Times New Roman"/>
              </a:rPr>
              <a:t>period.</a:t>
            </a:r>
            <a:endParaRPr sz="2700">
              <a:latin typeface="Times New Roman"/>
              <a:cs typeface="Times New Roman"/>
            </a:endParaRPr>
          </a:p>
          <a:p>
            <a:pPr marL="775970" indent="-475615">
              <a:lnSpc>
                <a:spcPct val="100000"/>
              </a:lnSpc>
              <a:spcBef>
                <a:spcPts val="585"/>
              </a:spcBef>
              <a:buFont typeface="Times New Roman"/>
              <a:buAutoNum type="arabicPeriod" startAt="3"/>
              <a:tabLst>
                <a:tab pos="775970" algn="l"/>
                <a:tab pos="4207510" algn="l"/>
              </a:tabLst>
            </a:pPr>
            <a:r>
              <a:rPr dirty="0" sz="2700" spc="-55" b="1">
                <a:latin typeface="Times New Roman"/>
                <a:cs typeface="Times New Roman"/>
              </a:rPr>
              <a:t>Revenue</a:t>
            </a:r>
            <a:r>
              <a:rPr dirty="0" sz="2700" spc="-90" b="1">
                <a:latin typeface="Times New Roman"/>
                <a:cs typeface="Times New Roman"/>
              </a:rPr>
              <a:t> </a:t>
            </a:r>
            <a:r>
              <a:rPr dirty="0" sz="2700" spc="-60" b="1">
                <a:latin typeface="Times New Roman"/>
                <a:cs typeface="Times New Roman"/>
              </a:rPr>
              <a:t>Growth</a:t>
            </a:r>
            <a:r>
              <a:rPr dirty="0" sz="2700" spc="-85" b="1">
                <a:latin typeface="Times New Roman"/>
                <a:cs typeface="Times New Roman"/>
              </a:rPr>
              <a:t> </a:t>
            </a:r>
            <a:r>
              <a:rPr dirty="0" sz="2700" spc="-20" b="1">
                <a:latin typeface="Times New Roman"/>
                <a:cs typeface="Times New Roman"/>
              </a:rPr>
              <a:t>Rate:</a:t>
            </a:r>
            <a:r>
              <a:rPr dirty="0" sz="2700" b="1">
                <a:latin typeface="Times New Roman"/>
                <a:cs typeface="Times New Roman"/>
              </a:rPr>
              <a:t>	</a:t>
            </a:r>
            <a:r>
              <a:rPr dirty="0" sz="2700" spc="95">
                <a:latin typeface="Times New Roman"/>
                <a:cs typeface="Times New Roman"/>
              </a:rPr>
              <a:t>Tracks</a:t>
            </a:r>
            <a:r>
              <a:rPr dirty="0" sz="2700" spc="15">
                <a:latin typeface="Times New Roman"/>
                <a:cs typeface="Times New Roman"/>
              </a:rPr>
              <a:t> </a:t>
            </a:r>
            <a:r>
              <a:rPr dirty="0" sz="2700" spc="90">
                <a:latin typeface="Times New Roman"/>
                <a:cs typeface="Times New Roman"/>
              </a:rPr>
              <a:t>the</a:t>
            </a:r>
            <a:r>
              <a:rPr dirty="0" sz="2700" spc="20">
                <a:latin typeface="Times New Roman"/>
                <a:cs typeface="Times New Roman"/>
              </a:rPr>
              <a:t> </a:t>
            </a:r>
            <a:r>
              <a:rPr dirty="0" sz="2700" spc="65">
                <a:latin typeface="Times New Roman"/>
                <a:cs typeface="Times New Roman"/>
              </a:rPr>
              <a:t>percentage</a:t>
            </a:r>
            <a:r>
              <a:rPr dirty="0" sz="2700" spc="20">
                <a:latin typeface="Times New Roman"/>
                <a:cs typeface="Times New Roman"/>
              </a:rPr>
              <a:t> </a:t>
            </a:r>
            <a:r>
              <a:rPr dirty="0" sz="2700" spc="45">
                <a:latin typeface="Times New Roman"/>
                <a:cs typeface="Times New Roman"/>
              </a:rPr>
              <a:t>increase</a:t>
            </a:r>
            <a:r>
              <a:rPr dirty="0" sz="2700" spc="20">
                <a:latin typeface="Times New Roman"/>
                <a:cs typeface="Times New Roman"/>
              </a:rPr>
              <a:t> </a:t>
            </a:r>
            <a:r>
              <a:rPr dirty="0" sz="2700" spc="60">
                <a:latin typeface="Times New Roman"/>
                <a:cs typeface="Times New Roman"/>
              </a:rPr>
              <a:t>in</a:t>
            </a:r>
            <a:r>
              <a:rPr dirty="0" sz="2700" spc="15">
                <a:latin typeface="Times New Roman"/>
                <a:cs typeface="Times New Roman"/>
              </a:rPr>
              <a:t> </a:t>
            </a:r>
            <a:r>
              <a:rPr dirty="0" sz="2700" spc="55">
                <a:latin typeface="Times New Roman"/>
                <a:cs typeface="Times New Roman"/>
              </a:rPr>
              <a:t>revenue</a:t>
            </a:r>
            <a:r>
              <a:rPr dirty="0" sz="2700" spc="20">
                <a:latin typeface="Times New Roman"/>
                <a:cs typeface="Times New Roman"/>
              </a:rPr>
              <a:t> </a:t>
            </a:r>
            <a:r>
              <a:rPr dirty="0" sz="2700" spc="65">
                <a:latin typeface="Times New Roman"/>
                <a:cs typeface="Times New Roman"/>
              </a:rPr>
              <a:t>over</a:t>
            </a:r>
            <a:r>
              <a:rPr dirty="0" sz="2700" spc="20">
                <a:latin typeface="Times New Roman"/>
                <a:cs typeface="Times New Roman"/>
              </a:rPr>
              <a:t> </a:t>
            </a:r>
            <a:r>
              <a:rPr dirty="0" sz="2700" spc="155">
                <a:latin typeface="Times New Roman"/>
                <a:cs typeface="Times New Roman"/>
              </a:rPr>
              <a:t>a</a:t>
            </a:r>
            <a:r>
              <a:rPr dirty="0" sz="2700" spc="20">
                <a:latin typeface="Times New Roman"/>
                <a:cs typeface="Times New Roman"/>
              </a:rPr>
              <a:t> </a:t>
            </a:r>
            <a:r>
              <a:rPr dirty="0" sz="2700">
                <a:latin typeface="Times New Roman"/>
                <a:cs typeface="Times New Roman"/>
              </a:rPr>
              <a:t>specific</a:t>
            </a:r>
            <a:r>
              <a:rPr dirty="0" sz="2700" spc="20">
                <a:latin typeface="Times New Roman"/>
                <a:cs typeface="Times New Roman"/>
              </a:rPr>
              <a:t> </a:t>
            </a:r>
            <a:r>
              <a:rPr dirty="0" sz="2700" spc="65">
                <a:latin typeface="Times New Roman"/>
                <a:cs typeface="Times New Roman"/>
              </a:rPr>
              <a:t>time</a:t>
            </a:r>
            <a:r>
              <a:rPr dirty="0" sz="2700" spc="15">
                <a:latin typeface="Times New Roman"/>
                <a:cs typeface="Times New Roman"/>
              </a:rPr>
              <a:t> </a:t>
            </a:r>
            <a:r>
              <a:rPr dirty="0" sz="2700" spc="70">
                <a:latin typeface="Times New Roman"/>
                <a:cs typeface="Times New Roman"/>
              </a:rPr>
              <a:t>period.</a:t>
            </a:r>
            <a:endParaRPr sz="2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05"/>
              </a:spcBef>
              <a:buFont typeface="Times New Roman"/>
              <a:buAutoNum type="arabicPeriod" startAt="3"/>
            </a:pPr>
            <a:endParaRPr sz="27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2700" b="1">
                <a:latin typeface="Times New Roman"/>
                <a:cs typeface="Times New Roman"/>
              </a:rPr>
              <a:t>L2</a:t>
            </a:r>
            <a:r>
              <a:rPr dirty="0" sz="2700" spc="30" b="1">
                <a:latin typeface="Times New Roman"/>
                <a:cs typeface="Times New Roman"/>
              </a:rPr>
              <a:t> </a:t>
            </a:r>
            <a:r>
              <a:rPr dirty="0" sz="2700" spc="-10" b="1">
                <a:latin typeface="Times New Roman"/>
                <a:cs typeface="Times New Roman"/>
              </a:rPr>
              <a:t>Metrics:</a:t>
            </a:r>
            <a:endParaRPr sz="2700">
              <a:latin typeface="Times New Roman"/>
              <a:cs typeface="Times New Roman"/>
            </a:endParaRPr>
          </a:p>
          <a:p>
            <a:pPr lvl="1" marL="600710" marR="772160" indent="-300990">
              <a:lnSpc>
                <a:spcPts val="3820"/>
              </a:lnSpc>
              <a:spcBef>
                <a:spcPts val="229"/>
              </a:spcBef>
              <a:buFont typeface="Times New Roman"/>
              <a:buAutoNum type="arabicPeriod"/>
              <a:tabLst>
                <a:tab pos="602615" algn="l"/>
              </a:tabLst>
            </a:pPr>
            <a:r>
              <a:rPr dirty="0" sz="2700" b="1">
                <a:latin typeface="Times New Roman"/>
                <a:cs typeface="Times New Roman"/>
              </a:rPr>
              <a:t>Cart</a:t>
            </a:r>
            <a:r>
              <a:rPr dirty="0" sz="2700" spc="-15" b="1">
                <a:latin typeface="Times New Roman"/>
                <a:cs typeface="Times New Roman"/>
              </a:rPr>
              <a:t> </a:t>
            </a:r>
            <a:r>
              <a:rPr dirty="0" sz="2700" spc="-70" b="1">
                <a:latin typeface="Times New Roman"/>
                <a:cs typeface="Times New Roman"/>
              </a:rPr>
              <a:t>Abandonment</a:t>
            </a:r>
            <a:r>
              <a:rPr dirty="0" sz="2700" spc="-10" b="1">
                <a:latin typeface="Times New Roman"/>
                <a:cs typeface="Times New Roman"/>
              </a:rPr>
              <a:t> </a:t>
            </a:r>
            <a:r>
              <a:rPr dirty="0" sz="2700" b="1">
                <a:latin typeface="Times New Roman"/>
                <a:cs typeface="Times New Roman"/>
              </a:rPr>
              <a:t>Rate</a:t>
            </a:r>
            <a:r>
              <a:rPr dirty="0" sz="2700" spc="-10" b="1">
                <a:latin typeface="Times New Roman"/>
                <a:cs typeface="Times New Roman"/>
              </a:rPr>
              <a:t> </a:t>
            </a:r>
            <a:r>
              <a:rPr dirty="0" sz="2700" b="1">
                <a:latin typeface="Times New Roman"/>
                <a:cs typeface="Times New Roman"/>
              </a:rPr>
              <a:t>:</a:t>
            </a:r>
            <a:r>
              <a:rPr dirty="0" sz="2700" spc="-10" b="1">
                <a:latin typeface="Times New Roman"/>
                <a:cs typeface="Times New Roman"/>
              </a:rPr>
              <a:t> </a:t>
            </a:r>
            <a:r>
              <a:rPr dirty="0" sz="2700" spc="80">
                <a:latin typeface="Times New Roman"/>
                <a:cs typeface="Times New Roman"/>
              </a:rPr>
              <a:t>Measures</a:t>
            </a:r>
            <a:r>
              <a:rPr dirty="0" sz="2700" spc="-10">
                <a:latin typeface="Times New Roman"/>
                <a:cs typeface="Times New Roman"/>
              </a:rPr>
              <a:t> </a:t>
            </a:r>
            <a:r>
              <a:rPr dirty="0" sz="2700" spc="90">
                <a:latin typeface="Times New Roman"/>
                <a:cs typeface="Times New Roman"/>
              </a:rPr>
              <a:t>the</a:t>
            </a:r>
            <a:r>
              <a:rPr dirty="0" sz="2700" spc="-15">
                <a:latin typeface="Times New Roman"/>
                <a:cs typeface="Times New Roman"/>
              </a:rPr>
              <a:t> </a:t>
            </a:r>
            <a:r>
              <a:rPr dirty="0" sz="2700" spc="65">
                <a:latin typeface="Times New Roman"/>
                <a:cs typeface="Times New Roman"/>
              </a:rPr>
              <a:t>percentage</a:t>
            </a:r>
            <a:r>
              <a:rPr dirty="0" sz="2700" spc="-10">
                <a:latin typeface="Times New Roman"/>
                <a:cs typeface="Times New Roman"/>
              </a:rPr>
              <a:t> </a:t>
            </a:r>
            <a:r>
              <a:rPr dirty="0" sz="2700" spc="75">
                <a:latin typeface="Times New Roman"/>
                <a:cs typeface="Times New Roman"/>
              </a:rPr>
              <a:t>of</a:t>
            </a:r>
            <a:r>
              <a:rPr dirty="0" sz="2700" spc="-10">
                <a:latin typeface="Times New Roman"/>
                <a:cs typeface="Times New Roman"/>
              </a:rPr>
              <a:t> </a:t>
            </a:r>
            <a:r>
              <a:rPr dirty="0" sz="2700" spc="50">
                <a:latin typeface="Times New Roman"/>
                <a:cs typeface="Times New Roman"/>
              </a:rPr>
              <a:t>users</a:t>
            </a:r>
            <a:r>
              <a:rPr dirty="0" sz="2700" spc="-10">
                <a:latin typeface="Times New Roman"/>
                <a:cs typeface="Times New Roman"/>
              </a:rPr>
              <a:t> </a:t>
            </a:r>
            <a:r>
              <a:rPr dirty="0" sz="2700" spc="95">
                <a:latin typeface="Times New Roman"/>
                <a:cs typeface="Times New Roman"/>
              </a:rPr>
              <a:t>who</a:t>
            </a:r>
            <a:r>
              <a:rPr dirty="0" sz="2700" spc="-10">
                <a:latin typeface="Times New Roman"/>
                <a:cs typeface="Times New Roman"/>
              </a:rPr>
              <a:t> </a:t>
            </a:r>
            <a:r>
              <a:rPr dirty="0" sz="2700" spc="145">
                <a:latin typeface="Times New Roman"/>
                <a:cs typeface="Times New Roman"/>
              </a:rPr>
              <a:t>add</a:t>
            </a:r>
            <a:r>
              <a:rPr dirty="0" sz="2700" spc="-10">
                <a:latin typeface="Times New Roman"/>
                <a:cs typeface="Times New Roman"/>
              </a:rPr>
              <a:t> </a:t>
            </a:r>
            <a:r>
              <a:rPr dirty="0" sz="2700" spc="50">
                <a:latin typeface="Times New Roman"/>
                <a:cs typeface="Times New Roman"/>
              </a:rPr>
              <a:t>items</a:t>
            </a:r>
            <a:r>
              <a:rPr dirty="0" sz="2700" spc="-15">
                <a:latin typeface="Times New Roman"/>
                <a:cs typeface="Times New Roman"/>
              </a:rPr>
              <a:t> </a:t>
            </a:r>
            <a:r>
              <a:rPr dirty="0" sz="2700" spc="150">
                <a:latin typeface="Times New Roman"/>
                <a:cs typeface="Times New Roman"/>
              </a:rPr>
              <a:t>to</a:t>
            </a:r>
            <a:r>
              <a:rPr dirty="0" sz="2700" spc="-10">
                <a:latin typeface="Times New Roman"/>
                <a:cs typeface="Times New Roman"/>
              </a:rPr>
              <a:t> </a:t>
            </a:r>
            <a:r>
              <a:rPr dirty="0" sz="2700" spc="80">
                <a:latin typeface="Times New Roman"/>
                <a:cs typeface="Times New Roman"/>
              </a:rPr>
              <a:t>their</a:t>
            </a:r>
            <a:r>
              <a:rPr dirty="0" sz="2700" spc="-10">
                <a:latin typeface="Times New Roman"/>
                <a:cs typeface="Times New Roman"/>
              </a:rPr>
              <a:t> </a:t>
            </a:r>
            <a:r>
              <a:rPr dirty="0" sz="2700" spc="105">
                <a:latin typeface="Times New Roman"/>
                <a:cs typeface="Times New Roman"/>
              </a:rPr>
              <a:t>cart</a:t>
            </a:r>
            <a:r>
              <a:rPr dirty="0" sz="2700" spc="-10">
                <a:latin typeface="Times New Roman"/>
                <a:cs typeface="Times New Roman"/>
              </a:rPr>
              <a:t> </a:t>
            </a:r>
            <a:r>
              <a:rPr dirty="0" sz="2700" spc="145">
                <a:latin typeface="Times New Roman"/>
                <a:cs typeface="Times New Roman"/>
              </a:rPr>
              <a:t>but</a:t>
            </a:r>
            <a:r>
              <a:rPr dirty="0" sz="2700" spc="-10">
                <a:latin typeface="Times New Roman"/>
                <a:cs typeface="Times New Roman"/>
              </a:rPr>
              <a:t> </a:t>
            </a:r>
            <a:r>
              <a:rPr dirty="0" sz="2700" spc="145">
                <a:latin typeface="Times New Roman"/>
                <a:cs typeface="Times New Roman"/>
              </a:rPr>
              <a:t>do</a:t>
            </a:r>
            <a:r>
              <a:rPr dirty="0" sz="2700" spc="-15">
                <a:latin typeface="Times New Roman"/>
                <a:cs typeface="Times New Roman"/>
              </a:rPr>
              <a:t> </a:t>
            </a:r>
            <a:r>
              <a:rPr dirty="0" sz="2700" spc="120">
                <a:latin typeface="Times New Roman"/>
                <a:cs typeface="Times New Roman"/>
              </a:rPr>
              <a:t>not </a:t>
            </a:r>
            <a:r>
              <a:rPr dirty="0" sz="2700" spc="120">
                <a:latin typeface="Times New Roman"/>
                <a:cs typeface="Times New Roman"/>
              </a:rPr>
              <a:t>	</a:t>
            </a:r>
            <a:r>
              <a:rPr dirty="0" sz="2700" spc="60">
                <a:latin typeface="Times New Roman"/>
                <a:cs typeface="Times New Roman"/>
              </a:rPr>
              <a:t>complete</a:t>
            </a:r>
            <a:r>
              <a:rPr dirty="0" sz="2700" spc="25">
                <a:latin typeface="Times New Roman"/>
                <a:cs typeface="Times New Roman"/>
              </a:rPr>
              <a:t> </a:t>
            </a:r>
            <a:r>
              <a:rPr dirty="0" sz="2700" spc="90">
                <a:latin typeface="Times New Roman"/>
                <a:cs typeface="Times New Roman"/>
              </a:rPr>
              <a:t>the</a:t>
            </a:r>
            <a:r>
              <a:rPr dirty="0" sz="2700" spc="30">
                <a:latin typeface="Times New Roman"/>
                <a:cs typeface="Times New Roman"/>
              </a:rPr>
              <a:t> </a:t>
            </a:r>
            <a:r>
              <a:rPr dirty="0" sz="2700" spc="70">
                <a:latin typeface="Times New Roman"/>
                <a:cs typeface="Times New Roman"/>
              </a:rPr>
              <a:t>purchase.</a:t>
            </a:r>
            <a:endParaRPr sz="2700">
              <a:latin typeface="Times New Roman"/>
              <a:cs typeface="Times New Roman"/>
            </a:endParaRPr>
          </a:p>
          <a:p>
            <a:pPr lvl="1" marL="688340" indent="-387985">
              <a:lnSpc>
                <a:spcPct val="100000"/>
              </a:lnSpc>
              <a:spcBef>
                <a:spcPts val="365"/>
              </a:spcBef>
              <a:buFont typeface="Times New Roman"/>
              <a:buAutoNum type="arabicPeriod"/>
              <a:tabLst>
                <a:tab pos="688340" algn="l"/>
                <a:tab pos="4145915" algn="l"/>
              </a:tabLst>
            </a:pPr>
            <a:r>
              <a:rPr dirty="0" sz="2700" spc="-40" b="1">
                <a:latin typeface="Times New Roman"/>
                <a:cs typeface="Times New Roman"/>
              </a:rPr>
              <a:t>Order</a:t>
            </a:r>
            <a:r>
              <a:rPr dirty="0" sz="2700" spc="-75" b="1">
                <a:latin typeface="Times New Roman"/>
                <a:cs typeface="Times New Roman"/>
              </a:rPr>
              <a:t> </a:t>
            </a:r>
            <a:r>
              <a:rPr dirty="0" sz="2700" spc="-30" b="1">
                <a:latin typeface="Times New Roman"/>
                <a:cs typeface="Times New Roman"/>
              </a:rPr>
              <a:t>Accuracy</a:t>
            </a:r>
            <a:r>
              <a:rPr dirty="0" sz="2700" spc="-70" b="1">
                <a:latin typeface="Times New Roman"/>
                <a:cs typeface="Times New Roman"/>
              </a:rPr>
              <a:t> </a:t>
            </a:r>
            <a:r>
              <a:rPr dirty="0" sz="2700" b="1">
                <a:latin typeface="Times New Roman"/>
                <a:cs typeface="Times New Roman"/>
              </a:rPr>
              <a:t>Rate</a:t>
            </a:r>
            <a:r>
              <a:rPr dirty="0" sz="2700" spc="-75" b="1">
                <a:latin typeface="Times New Roman"/>
                <a:cs typeface="Times New Roman"/>
              </a:rPr>
              <a:t> </a:t>
            </a:r>
            <a:r>
              <a:rPr dirty="0" sz="2700" spc="-50" b="1">
                <a:latin typeface="Times New Roman"/>
                <a:cs typeface="Times New Roman"/>
              </a:rPr>
              <a:t>:</a:t>
            </a:r>
            <a:r>
              <a:rPr dirty="0" sz="2700" b="1">
                <a:latin typeface="Times New Roman"/>
                <a:cs typeface="Times New Roman"/>
              </a:rPr>
              <a:t>	</a:t>
            </a:r>
            <a:r>
              <a:rPr dirty="0" sz="2700" spc="65">
                <a:latin typeface="Times New Roman"/>
                <a:cs typeface="Times New Roman"/>
              </a:rPr>
              <a:t>Percentage</a:t>
            </a:r>
            <a:r>
              <a:rPr dirty="0" sz="2700" spc="70">
                <a:latin typeface="Times New Roman"/>
                <a:cs typeface="Times New Roman"/>
              </a:rPr>
              <a:t> </a:t>
            </a:r>
            <a:r>
              <a:rPr dirty="0" sz="2700" spc="75">
                <a:latin typeface="Times New Roman"/>
                <a:cs typeface="Times New Roman"/>
              </a:rPr>
              <a:t>of</a:t>
            </a:r>
            <a:r>
              <a:rPr dirty="0" sz="2700" spc="70">
                <a:latin typeface="Times New Roman"/>
                <a:cs typeface="Times New Roman"/>
              </a:rPr>
              <a:t> </a:t>
            </a:r>
            <a:r>
              <a:rPr dirty="0" sz="2700" spc="90">
                <a:latin typeface="Times New Roman"/>
                <a:cs typeface="Times New Roman"/>
              </a:rPr>
              <a:t>orders</a:t>
            </a:r>
            <a:r>
              <a:rPr dirty="0" sz="2700" spc="70">
                <a:latin typeface="Times New Roman"/>
                <a:cs typeface="Times New Roman"/>
              </a:rPr>
              <a:t> </a:t>
            </a:r>
            <a:r>
              <a:rPr dirty="0" sz="2700" spc="150">
                <a:latin typeface="Times New Roman"/>
                <a:cs typeface="Times New Roman"/>
              </a:rPr>
              <a:t>that</a:t>
            </a:r>
            <a:r>
              <a:rPr dirty="0" sz="2700" spc="75">
                <a:latin typeface="Times New Roman"/>
                <a:cs typeface="Times New Roman"/>
              </a:rPr>
              <a:t> </a:t>
            </a:r>
            <a:r>
              <a:rPr dirty="0" sz="2700" spc="90">
                <a:latin typeface="Times New Roman"/>
                <a:cs typeface="Times New Roman"/>
              </a:rPr>
              <a:t>are</a:t>
            </a:r>
            <a:r>
              <a:rPr dirty="0" sz="2700" spc="70">
                <a:latin typeface="Times New Roman"/>
                <a:cs typeface="Times New Roman"/>
              </a:rPr>
              <a:t> </a:t>
            </a:r>
            <a:r>
              <a:rPr dirty="0" sz="2700">
                <a:latin typeface="Times New Roman"/>
                <a:cs typeface="Times New Roman"/>
              </a:rPr>
              <a:t>delivered</a:t>
            </a:r>
            <a:r>
              <a:rPr dirty="0" sz="2700" spc="70">
                <a:latin typeface="Times New Roman"/>
                <a:cs typeface="Times New Roman"/>
              </a:rPr>
              <a:t> </a:t>
            </a:r>
            <a:r>
              <a:rPr dirty="0" sz="2700" spc="45">
                <a:latin typeface="Times New Roman"/>
                <a:cs typeface="Times New Roman"/>
              </a:rPr>
              <a:t>correctly.</a:t>
            </a:r>
            <a:endParaRPr sz="2700">
              <a:latin typeface="Times New Roman"/>
              <a:cs typeface="Times New Roman"/>
            </a:endParaRPr>
          </a:p>
          <a:p>
            <a:pPr lvl="1" marL="602615" marR="478790" indent="-302895">
              <a:lnSpc>
                <a:spcPts val="3829"/>
              </a:lnSpc>
              <a:spcBef>
                <a:spcPts val="100"/>
              </a:spcBef>
              <a:buFont typeface="Times New Roman"/>
              <a:buAutoNum type="arabicPeriod"/>
              <a:tabLst>
                <a:tab pos="602615" algn="l"/>
                <a:tab pos="687705" algn="l"/>
              </a:tabLst>
            </a:pPr>
            <a:r>
              <a:rPr dirty="0" sz="2700">
                <a:latin typeface="Times New Roman"/>
                <a:cs typeface="Times New Roman"/>
              </a:rPr>
              <a:t>	</a:t>
            </a:r>
            <a:r>
              <a:rPr dirty="0" sz="2700" b="1">
                <a:latin typeface="Times New Roman"/>
                <a:cs typeface="Times New Roman"/>
              </a:rPr>
              <a:t>Push</a:t>
            </a:r>
            <a:r>
              <a:rPr dirty="0" sz="2700" spc="-20" b="1">
                <a:latin typeface="Times New Roman"/>
                <a:cs typeface="Times New Roman"/>
              </a:rPr>
              <a:t> </a:t>
            </a:r>
            <a:r>
              <a:rPr dirty="0" sz="2700" b="1">
                <a:latin typeface="Times New Roman"/>
                <a:cs typeface="Times New Roman"/>
              </a:rPr>
              <a:t>Notification</a:t>
            </a:r>
            <a:r>
              <a:rPr dirty="0" sz="2700" spc="-15" b="1">
                <a:latin typeface="Times New Roman"/>
                <a:cs typeface="Times New Roman"/>
              </a:rPr>
              <a:t> </a:t>
            </a:r>
            <a:r>
              <a:rPr dirty="0" sz="2700" spc="-35" b="1">
                <a:latin typeface="Times New Roman"/>
                <a:cs typeface="Times New Roman"/>
              </a:rPr>
              <a:t>Engagement</a:t>
            </a:r>
            <a:r>
              <a:rPr dirty="0" sz="2700" spc="-15" b="1">
                <a:latin typeface="Times New Roman"/>
                <a:cs typeface="Times New Roman"/>
              </a:rPr>
              <a:t> </a:t>
            </a:r>
            <a:r>
              <a:rPr dirty="0" sz="2700" b="1">
                <a:latin typeface="Times New Roman"/>
                <a:cs typeface="Times New Roman"/>
              </a:rPr>
              <a:t>Rate</a:t>
            </a:r>
            <a:r>
              <a:rPr dirty="0" sz="2700" spc="-20" b="1">
                <a:latin typeface="Times New Roman"/>
                <a:cs typeface="Times New Roman"/>
              </a:rPr>
              <a:t> </a:t>
            </a:r>
            <a:r>
              <a:rPr dirty="0" sz="2700" b="1">
                <a:latin typeface="Times New Roman"/>
                <a:cs typeface="Times New Roman"/>
              </a:rPr>
              <a:t>:</a:t>
            </a:r>
            <a:r>
              <a:rPr dirty="0" sz="2700" spc="-15" b="1">
                <a:latin typeface="Times New Roman"/>
                <a:cs typeface="Times New Roman"/>
              </a:rPr>
              <a:t> </a:t>
            </a:r>
            <a:r>
              <a:rPr dirty="0" sz="2700" spc="80">
                <a:latin typeface="Times New Roman"/>
                <a:cs typeface="Times New Roman"/>
              </a:rPr>
              <a:t>Measures</a:t>
            </a:r>
            <a:r>
              <a:rPr dirty="0" sz="2700" spc="-15">
                <a:latin typeface="Times New Roman"/>
                <a:cs typeface="Times New Roman"/>
              </a:rPr>
              <a:t> </a:t>
            </a:r>
            <a:r>
              <a:rPr dirty="0" sz="2700" spc="95">
                <a:latin typeface="Times New Roman"/>
                <a:cs typeface="Times New Roman"/>
              </a:rPr>
              <a:t>how</a:t>
            </a:r>
            <a:r>
              <a:rPr dirty="0" sz="2700" spc="-20">
                <a:latin typeface="Times New Roman"/>
                <a:cs typeface="Times New Roman"/>
              </a:rPr>
              <a:t> </a:t>
            </a:r>
            <a:r>
              <a:rPr dirty="0" sz="2700" spc="110">
                <a:latin typeface="Times New Roman"/>
                <a:cs typeface="Times New Roman"/>
              </a:rPr>
              <a:t>many</a:t>
            </a:r>
            <a:r>
              <a:rPr dirty="0" sz="2700" spc="-15">
                <a:latin typeface="Times New Roman"/>
                <a:cs typeface="Times New Roman"/>
              </a:rPr>
              <a:t> </a:t>
            </a:r>
            <a:r>
              <a:rPr dirty="0" sz="2700" spc="50">
                <a:latin typeface="Times New Roman"/>
                <a:cs typeface="Times New Roman"/>
              </a:rPr>
              <a:t>users</a:t>
            </a:r>
            <a:r>
              <a:rPr dirty="0" sz="2700" spc="-15">
                <a:latin typeface="Times New Roman"/>
                <a:cs typeface="Times New Roman"/>
              </a:rPr>
              <a:t> </a:t>
            </a:r>
            <a:r>
              <a:rPr dirty="0" sz="2700" spc="85">
                <a:latin typeface="Times New Roman"/>
                <a:cs typeface="Times New Roman"/>
              </a:rPr>
              <a:t>interact</a:t>
            </a:r>
            <a:r>
              <a:rPr dirty="0" sz="2700" spc="-15">
                <a:latin typeface="Times New Roman"/>
                <a:cs typeface="Times New Roman"/>
              </a:rPr>
              <a:t> </a:t>
            </a:r>
            <a:r>
              <a:rPr dirty="0" sz="2700" spc="65">
                <a:latin typeface="Times New Roman"/>
                <a:cs typeface="Times New Roman"/>
              </a:rPr>
              <a:t>with</a:t>
            </a:r>
            <a:r>
              <a:rPr dirty="0" sz="2700" spc="-20">
                <a:latin typeface="Times New Roman"/>
                <a:cs typeface="Times New Roman"/>
              </a:rPr>
              <a:t> </a:t>
            </a:r>
            <a:r>
              <a:rPr dirty="0" sz="2700" spc="90">
                <a:latin typeface="Times New Roman"/>
                <a:cs typeface="Times New Roman"/>
              </a:rPr>
              <a:t>the</a:t>
            </a:r>
            <a:r>
              <a:rPr dirty="0" sz="2700" spc="-15">
                <a:latin typeface="Times New Roman"/>
                <a:cs typeface="Times New Roman"/>
              </a:rPr>
              <a:t> </a:t>
            </a:r>
            <a:r>
              <a:rPr dirty="0" sz="2700" spc="105">
                <a:latin typeface="Times New Roman"/>
                <a:cs typeface="Times New Roman"/>
              </a:rPr>
              <a:t>push</a:t>
            </a:r>
            <a:r>
              <a:rPr dirty="0" sz="2700" spc="-15">
                <a:latin typeface="Times New Roman"/>
                <a:cs typeface="Times New Roman"/>
              </a:rPr>
              <a:t> </a:t>
            </a:r>
            <a:r>
              <a:rPr dirty="0" sz="2700" spc="60">
                <a:latin typeface="Times New Roman"/>
                <a:cs typeface="Times New Roman"/>
              </a:rPr>
              <a:t>notifications </a:t>
            </a:r>
            <a:r>
              <a:rPr dirty="0" sz="2700" spc="70">
                <a:latin typeface="Times New Roman"/>
                <a:cs typeface="Times New Roman"/>
              </a:rPr>
              <a:t>they</a:t>
            </a:r>
            <a:r>
              <a:rPr dirty="0" sz="2700" spc="15">
                <a:latin typeface="Times New Roman"/>
                <a:cs typeface="Times New Roman"/>
              </a:rPr>
              <a:t> </a:t>
            </a:r>
            <a:r>
              <a:rPr dirty="0" sz="2700" spc="-10">
                <a:latin typeface="Times New Roman"/>
                <a:cs typeface="Times New Roman"/>
              </a:rPr>
              <a:t>receive.</a:t>
            </a:r>
            <a:endParaRPr sz="2700">
              <a:latin typeface="Times New Roman"/>
              <a:cs typeface="Times New Roman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29159" y="1663566"/>
            <a:ext cx="1085849" cy="1195770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425830" y="203076"/>
            <a:ext cx="1510665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85" b="1">
                <a:latin typeface="Times New Roman"/>
                <a:cs typeface="Times New Roman"/>
              </a:rPr>
              <a:t>Overview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3716064" y="222126"/>
            <a:ext cx="584708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698875" algn="l"/>
              </a:tabLst>
            </a:pPr>
            <a:r>
              <a:rPr dirty="0" sz="3000" b="1">
                <a:latin typeface="Times New Roman"/>
                <a:cs typeface="Times New Roman"/>
              </a:rPr>
              <a:t>User</a:t>
            </a:r>
            <a:r>
              <a:rPr dirty="0" sz="3000" spc="-100" b="1">
                <a:latin typeface="Times New Roman"/>
                <a:cs typeface="Times New Roman"/>
              </a:rPr>
              <a:t> </a:t>
            </a:r>
            <a:r>
              <a:rPr dirty="0" sz="3000" spc="-10" b="1">
                <a:latin typeface="Times New Roman"/>
                <a:cs typeface="Times New Roman"/>
              </a:rPr>
              <a:t>Persona</a:t>
            </a:r>
            <a:r>
              <a:rPr dirty="0" sz="3000" b="1">
                <a:latin typeface="Times New Roman"/>
                <a:cs typeface="Times New Roman"/>
              </a:rPr>
              <a:t>	User</a:t>
            </a:r>
            <a:r>
              <a:rPr dirty="0" sz="3000" spc="-100" b="1">
                <a:latin typeface="Times New Roman"/>
                <a:cs typeface="Times New Roman"/>
              </a:rPr>
              <a:t> </a:t>
            </a:r>
            <a:r>
              <a:rPr dirty="0" sz="3000" spc="-50" b="1">
                <a:latin typeface="Times New Roman"/>
                <a:cs typeface="Times New Roman"/>
              </a:rPr>
              <a:t>Journey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40"/>
              <a:t>Product</a:t>
            </a:r>
            <a:r>
              <a:rPr dirty="0" spc="-130"/>
              <a:t> </a:t>
            </a:r>
            <a:r>
              <a:rPr dirty="0" spc="-100"/>
              <a:t>Improvement</a:t>
            </a:r>
          </a:p>
        </p:txBody>
      </p:sp>
      <p:sp>
        <p:nvSpPr>
          <p:cNvPr id="7" name="object 7" descr=""/>
          <p:cNvSpPr txBox="1"/>
          <p:nvPr/>
        </p:nvSpPr>
        <p:spPr>
          <a:xfrm>
            <a:off x="16164551" y="193551"/>
            <a:ext cx="125984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heavy" sz="30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Metrics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606722" y="1057224"/>
            <a:ext cx="9908540" cy="711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334260" algn="l"/>
                <a:tab pos="3423920" algn="l"/>
                <a:tab pos="5418455" algn="l"/>
                <a:tab pos="6257925" algn="l"/>
                <a:tab pos="8091805" algn="l"/>
              </a:tabLst>
            </a:pPr>
            <a:r>
              <a:rPr dirty="0" sz="4500" spc="-10" b="1">
                <a:latin typeface="Times New Roman"/>
                <a:cs typeface="Times New Roman"/>
              </a:rPr>
              <a:t>Tracking</a:t>
            </a:r>
            <a:r>
              <a:rPr dirty="0" sz="4500" b="1">
                <a:latin typeface="Times New Roman"/>
                <a:cs typeface="Times New Roman"/>
              </a:rPr>
              <a:t>	</a:t>
            </a:r>
            <a:r>
              <a:rPr dirty="0" sz="4500" spc="-25" b="1">
                <a:latin typeface="Times New Roman"/>
                <a:cs typeface="Times New Roman"/>
              </a:rPr>
              <a:t>Key</a:t>
            </a:r>
            <a:r>
              <a:rPr dirty="0" sz="4500" b="1">
                <a:latin typeface="Times New Roman"/>
                <a:cs typeface="Times New Roman"/>
              </a:rPr>
              <a:t>	</a:t>
            </a:r>
            <a:r>
              <a:rPr dirty="0" sz="4500" spc="-10" b="1">
                <a:latin typeface="Times New Roman"/>
                <a:cs typeface="Times New Roman"/>
              </a:rPr>
              <a:t>Metrics</a:t>
            </a:r>
            <a:r>
              <a:rPr dirty="0" sz="4500" b="1">
                <a:latin typeface="Times New Roman"/>
                <a:cs typeface="Times New Roman"/>
              </a:rPr>
              <a:t>	</a:t>
            </a:r>
            <a:r>
              <a:rPr dirty="0" sz="4500" spc="-25" b="1">
                <a:latin typeface="Times New Roman"/>
                <a:cs typeface="Times New Roman"/>
              </a:rPr>
              <a:t>for</a:t>
            </a:r>
            <a:r>
              <a:rPr dirty="0" sz="4500" b="1">
                <a:latin typeface="Times New Roman"/>
                <a:cs typeface="Times New Roman"/>
              </a:rPr>
              <a:t>	</a:t>
            </a:r>
            <a:r>
              <a:rPr dirty="0" sz="4500" spc="-10" b="1">
                <a:latin typeface="Times New Roman"/>
                <a:cs typeface="Times New Roman"/>
              </a:rPr>
              <a:t>Dunzo</a:t>
            </a:r>
            <a:r>
              <a:rPr dirty="0" sz="4500" b="1">
                <a:latin typeface="Times New Roman"/>
                <a:cs typeface="Times New Roman"/>
              </a:rPr>
              <a:t>	</a:t>
            </a:r>
            <a:r>
              <a:rPr dirty="0" sz="4500" spc="-130" b="1">
                <a:latin typeface="Times New Roman"/>
                <a:cs typeface="Times New Roman"/>
              </a:rPr>
              <a:t>Growth</a:t>
            </a:r>
            <a:endParaRPr sz="45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25830" y="203076"/>
            <a:ext cx="1510665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85" b="1">
                <a:latin typeface="Times New Roman"/>
                <a:cs typeface="Times New Roman"/>
              </a:rPr>
              <a:t>Overview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3716064" y="222126"/>
            <a:ext cx="2160905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b="1">
                <a:latin typeface="Times New Roman"/>
                <a:cs typeface="Times New Roman"/>
              </a:rPr>
              <a:t>User</a:t>
            </a:r>
            <a:r>
              <a:rPr dirty="0" sz="3000" spc="-100" b="1">
                <a:latin typeface="Times New Roman"/>
                <a:cs typeface="Times New Roman"/>
              </a:rPr>
              <a:t> </a:t>
            </a:r>
            <a:r>
              <a:rPr dirty="0" sz="3000" spc="-25" b="1">
                <a:latin typeface="Times New Roman"/>
                <a:cs typeface="Times New Roman"/>
              </a:rPr>
              <a:t>Persona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7402429" y="222126"/>
            <a:ext cx="2160905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b="1">
                <a:latin typeface="Times New Roman"/>
                <a:cs typeface="Times New Roman"/>
              </a:rPr>
              <a:t>User</a:t>
            </a:r>
            <a:r>
              <a:rPr dirty="0" sz="3000" spc="-100" b="1">
                <a:latin typeface="Times New Roman"/>
                <a:cs typeface="Times New Roman"/>
              </a:rPr>
              <a:t> </a:t>
            </a:r>
            <a:r>
              <a:rPr dirty="0" sz="3000" spc="-50" b="1">
                <a:latin typeface="Times New Roman"/>
                <a:cs typeface="Times New Roman"/>
              </a:rPr>
              <a:t>Journey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40"/>
              <a:t>Product</a:t>
            </a:r>
            <a:r>
              <a:rPr dirty="0" spc="-130"/>
              <a:t> </a:t>
            </a:r>
            <a:r>
              <a:rPr dirty="0" spc="-100"/>
              <a:t>Improvement</a:t>
            </a:r>
          </a:p>
        </p:txBody>
      </p:sp>
      <p:sp>
        <p:nvSpPr>
          <p:cNvPr id="6" name="object 6" descr=""/>
          <p:cNvSpPr txBox="1"/>
          <p:nvPr/>
        </p:nvSpPr>
        <p:spPr>
          <a:xfrm>
            <a:off x="16164551" y="193551"/>
            <a:ext cx="125984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heavy" sz="30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Metrics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7" name="object 7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365125" marR="1108710" indent="-353060">
              <a:lnSpc>
                <a:spcPct val="118100"/>
              </a:lnSpc>
              <a:spcBef>
                <a:spcPts val="90"/>
              </a:spcBef>
              <a:buAutoNum type="arabicPeriod" startAt="4"/>
              <a:tabLst>
                <a:tab pos="446405" algn="l"/>
                <a:tab pos="1805305" algn="l"/>
              </a:tabLst>
            </a:pPr>
            <a:r>
              <a:rPr dirty="0" spc="-45" b="1">
                <a:latin typeface="Times New Roman"/>
                <a:cs typeface="Times New Roman"/>
              </a:rPr>
              <a:t>Customer</a:t>
            </a:r>
            <a:r>
              <a:rPr dirty="0" spc="-35" b="1">
                <a:latin typeface="Times New Roman"/>
                <a:cs typeface="Times New Roman"/>
              </a:rPr>
              <a:t> </a:t>
            </a:r>
            <a:r>
              <a:rPr dirty="0" spc="-45" b="1">
                <a:latin typeface="Times New Roman"/>
                <a:cs typeface="Times New Roman"/>
              </a:rPr>
              <a:t>Support</a:t>
            </a:r>
            <a:r>
              <a:rPr dirty="0" spc="-30" b="1">
                <a:latin typeface="Times New Roman"/>
                <a:cs typeface="Times New Roman"/>
              </a:rPr>
              <a:t> </a:t>
            </a:r>
            <a:r>
              <a:rPr dirty="0" spc="-25" b="1">
                <a:latin typeface="Times New Roman"/>
                <a:cs typeface="Times New Roman"/>
              </a:rPr>
              <a:t>Response</a:t>
            </a:r>
            <a:r>
              <a:rPr dirty="0" spc="-35" b="1">
                <a:latin typeface="Times New Roman"/>
                <a:cs typeface="Times New Roman"/>
              </a:rPr>
              <a:t> </a:t>
            </a:r>
            <a:r>
              <a:rPr dirty="0" spc="-10" b="1">
                <a:latin typeface="Times New Roman"/>
                <a:cs typeface="Times New Roman"/>
              </a:rPr>
              <a:t>Time</a:t>
            </a:r>
            <a:r>
              <a:rPr dirty="0" spc="-30" b="1">
                <a:latin typeface="Times New Roman"/>
                <a:cs typeface="Times New Roman"/>
              </a:rPr>
              <a:t> </a:t>
            </a:r>
            <a:r>
              <a:rPr dirty="0" b="1">
                <a:latin typeface="Times New Roman"/>
                <a:cs typeface="Times New Roman"/>
              </a:rPr>
              <a:t>:</a:t>
            </a:r>
            <a:r>
              <a:rPr dirty="0" spc="-35" b="1">
                <a:latin typeface="Times New Roman"/>
                <a:cs typeface="Times New Roman"/>
              </a:rPr>
              <a:t> </a:t>
            </a:r>
            <a:r>
              <a:rPr dirty="0" spc="80"/>
              <a:t>Measures</a:t>
            </a:r>
            <a:r>
              <a:rPr dirty="0" spc="-30"/>
              <a:t> </a:t>
            </a:r>
            <a:r>
              <a:rPr dirty="0" spc="90"/>
              <a:t>the</a:t>
            </a:r>
            <a:r>
              <a:rPr dirty="0" spc="-35"/>
              <a:t> </a:t>
            </a:r>
            <a:r>
              <a:rPr dirty="0" spc="60"/>
              <a:t>average</a:t>
            </a:r>
            <a:r>
              <a:rPr dirty="0" spc="-30"/>
              <a:t> </a:t>
            </a:r>
            <a:r>
              <a:rPr dirty="0" spc="65"/>
              <a:t>time</a:t>
            </a:r>
            <a:r>
              <a:rPr dirty="0" spc="-35"/>
              <a:t> </a:t>
            </a:r>
            <a:r>
              <a:rPr dirty="0" spc="65"/>
              <a:t>it</a:t>
            </a:r>
            <a:r>
              <a:rPr dirty="0" spc="-30"/>
              <a:t> </a:t>
            </a:r>
            <a:r>
              <a:rPr dirty="0" spc="85"/>
              <a:t>takes</a:t>
            </a:r>
            <a:r>
              <a:rPr dirty="0" spc="-30"/>
              <a:t> </a:t>
            </a:r>
            <a:r>
              <a:rPr dirty="0" spc="95"/>
              <a:t>for</a:t>
            </a:r>
            <a:r>
              <a:rPr dirty="0" spc="-35"/>
              <a:t> </a:t>
            </a:r>
            <a:r>
              <a:rPr dirty="0" spc="85"/>
              <a:t>customer</a:t>
            </a:r>
            <a:r>
              <a:rPr dirty="0" spc="-30"/>
              <a:t> </a:t>
            </a:r>
            <a:r>
              <a:rPr dirty="0" spc="120"/>
              <a:t>support</a:t>
            </a:r>
            <a:r>
              <a:rPr dirty="0" spc="-35"/>
              <a:t> </a:t>
            </a:r>
            <a:r>
              <a:rPr dirty="0" spc="125"/>
              <a:t>to </a:t>
            </a:r>
            <a:r>
              <a:rPr dirty="0" spc="125"/>
              <a:t>	</a:t>
            </a:r>
            <a:r>
              <a:rPr dirty="0" spc="85"/>
              <a:t>respond</a:t>
            </a:r>
            <a:r>
              <a:rPr dirty="0"/>
              <a:t>	</a:t>
            </a:r>
            <a:r>
              <a:rPr dirty="0" spc="150"/>
              <a:t>to</a:t>
            </a:r>
            <a:r>
              <a:rPr dirty="0" spc="10"/>
              <a:t> </a:t>
            </a:r>
            <a:r>
              <a:rPr dirty="0" spc="65"/>
              <a:t>user</a:t>
            </a:r>
            <a:r>
              <a:rPr dirty="0" spc="15"/>
              <a:t> </a:t>
            </a:r>
            <a:r>
              <a:rPr dirty="0" spc="50"/>
              <a:t>queries</a:t>
            </a:r>
            <a:r>
              <a:rPr dirty="0" spc="15"/>
              <a:t> </a:t>
            </a:r>
            <a:r>
              <a:rPr dirty="0" spc="140"/>
              <a:t>or</a:t>
            </a:r>
            <a:r>
              <a:rPr dirty="0" spc="15"/>
              <a:t> </a:t>
            </a:r>
            <a:r>
              <a:rPr dirty="0" spc="-10"/>
              <a:t>issues.</a:t>
            </a:r>
          </a:p>
          <a:p>
            <a:pPr>
              <a:lnSpc>
                <a:spcPct val="100000"/>
              </a:lnSpc>
              <a:spcBef>
                <a:spcPts val="1305"/>
              </a:spcBef>
              <a:buFont typeface="Times New Roman"/>
              <a:buAutoNum type="arabicPeriod" startAt="4"/>
            </a:pPr>
          </a:p>
          <a:p>
            <a:pPr marL="12700">
              <a:lnSpc>
                <a:spcPct val="100000"/>
              </a:lnSpc>
              <a:tabLst>
                <a:tab pos="1049655" algn="l"/>
              </a:tabLst>
            </a:pPr>
            <a:r>
              <a:rPr dirty="0" spc="-10" b="1">
                <a:latin typeface="Times New Roman"/>
                <a:cs typeface="Times New Roman"/>
              </a:rPr>
              <a:t>North</a:t>
            </a:r>
            <a:r>
              <a:rPr dirty="0" b="1">
                <a:latin typeface="Times New Roman"/>
                <a:cs typeface="Times New Roman"/>
              </a:rPr>
              <a:t>	Star</a:t>
            </a:r>
            <a:r>
              <a:rPr dirty="0" spc="-30" b="1">
                <a:latin typeface="Times New Roman"/>
                <a:cs typeface="Times New Roman"/>
              </a:rPr>
              <a:t> </a:t>
            </a:r>
            <a:r>
              <a:rPr dirty="0" b="1">
                <a:latin typeface="Times New Roman"/>
                <a:cs typeface="Times New Roman"/>
              </a:rPr>
              <a:t>Metrics</a:t>
            </a:r>
            <a:r>
              <a:rPr dirty="0" spc="-25" b="1">
                <a:latin typeface="Times New Roman"/>
                <a:cs typeface="Times New Roman"/>
              </a:rPr>
              <a:t> </a:t>
            </a:r>
            <a:r>
              <a:rPr dirty="0" spc="-50" b="1">
                <a:latin typeface="Times New Roman"/>
                <a:cs typeface="Times New Roman"/>
              </a:rPr>
              <a:t>:</a:t>
            </a:r>
          </a:p>
          <a:p>
            <a:pPr lvl="1" marL="340995" indent="-300990">
              <a:lnSpc>
                <a:spcPct val="100000"/>
              </a:lnSpc>
              <a:spcBef>
                <a:spcPts val="585"/>
              </a:spcBef>
              <a:buFont typeface="Times New Roman"/>
              <a:buAutoNum type="arabicPeriod"/>
              <a:tabLst>
                <a:tab pos="340995" algn="l"/>
              </a:tabLst>
            </a:pPr>
            <a:r>
              <a:rPr dirty="0" sz="2700" b="1">
                <a:latin typeface="Times New Roman"/>
                <a:cs typeface="Times New Roman"/>
              </a:rPr>
              <a:t>Total</a:t>
            </a:r>
            <a:r>
              <a:rPr dirty="0" sz="2700" spc="-5" b="1">
                <a:latin typeface="Times New Roman"/>
                <a:cs typeface="Times New Roman"/>
              </a:rPr>
              <a:t> </a:t>
            </a:r>
            <a:r>
              <a:rPr dirty="0" sz="2700" spc="-35" b="1">
                <a:latin typeface="Times New Roman"/>
                <a:cs typeface="Times New Roman"/>
              </a:rPr>
              <a:t>Orders</a:t>
            </a:r>
            <a:r>
              <a:rPr dirty="0" sz="2700" spc="-5" b="1">
                <a:latin typeface="Times New Roman"/>
                <a:cs typeface="Times New Roman"/>
              </a:rPr>
              <a:t> </a:t>
            </a:r>
            <a:r>
              <a:rPr dirty="0" sz="2700" spc="-70" b="1">
                <a:latin typeface="Times New Roman"/>
                <a:cs typeface="Times New Roman"/>
              </a:rPr>
              <a:t>per</a:t>
            </a:r>
            <a:r>
              <a:rPr dirty="0" sz="2700" spc="-5" b="1">
                <a:latin typeface="Times New Roman"/>
                <a:cs typeface="Times New Roman"/>
              </a:rPr>
              <a:t> </a:t>
            </a:r>
            <a:r>
              <a:rPr dirty="0" sz="2700" b="1">
                <a:latin typeface="Times New Roman"/>
                <a:cs typeface="Times New Roman"/>
              </a:rPr>
              <a:t>Month</a:t>
            </a:r>
            <a:r>
              <a:rPr dirty="0" sz="2700" spc="-5" b="1">
                <a:latin typeface="Times New Roman"/>
                <a:cs typeface="Times New Roman"/>
              </a:rPr>
              <a:t> </a:t>
            </a:r>
            <a:r>
              <a:rPr dirty="0" sz="2700" b="1">
                <a:latin typeface="Times New Roman"/>
                <a:cs typeface="Times New Roman"/>
              </a:rPr>
              <a:t>:</a:t>
            </a:r>
            <a:r>
              <a:rPr dirty="0" sz="2700" spc="-5" b="1">
                <a:latin typeface="Times New Roman"/>
                <a:cs typeface="Times New Roman"/>
              </a:rPr>
              <a:t> </a:t>
            </a:r>
            <a:r>
              <a:rPr dirty="0" sz="2700" spc="114">
                <a:latin typeface="Times New Roman"/>
                <a:cs typeface="Times New Roman"/>
              </a:rPr>
              <a:t>Total</a:t>
            </a:r>
            <a:r>
              <a:rPr dirty="0" sz="2700" spc="-5">
                <a:latin typeface="Times New Roman"/>
                <a:cs typeface="Times New Roman"/>
              </a:rPr>
              <a:t> </a:t>
            </a:r>
            <a:r>
              <a:rPr dirty="0" sz="2700" spc="114">
                <a:latin typeface="Times New Roman"/>
                <a:cs typeface="Times New Roman"/>
              </a:rPr>
              <a:t>number</a:t>
            </a:r>
            <a:r>
              <a:rPr dirty="0" sz="2700" spc="-5">
                <a:latin typeface="Times New Roman"/>
                <a:cs typeface="Times New Roman"/>
              </a:rPr>
              <a:t> </a:t>
            </a:r>
            <a:r>
              <a:rPr dirty="0" sz="2700" spc="75">
                <a:latin typeface="Times New Roman"/>
                <a:cs typeface="Times New Roman"/>
              </a:rPr>
              <a:t>of</a:t>
            </a:r>
            <a:r>
              <a:rPr dirty="0" sz="2700">
                <a:latin typeface="Times New Roman"/>
                <a:cs typeface="Times New Roman"/>
              </a:rPr>
              <a:t> </a:t>
            </a:r>
            <a:r>
              <a:rPr dirty="0" sz="2700" spc="90">
                <a:latin typeface="Times New Roman"/>
                <a:cs typeface="Times New Roman"/>
              </a:rPr>
              <a:t>orders</a:t>
            </a:r>
            <a:r>
              <a:rPr dirty="0" sz="2700" spc="-5">
                <a:latin typeface="Times New Roman"/>
                <a:cs typeface="Times New Roman"/>
              </a:rPr>
              <a:t> </a:t>
            </a:r>
            <a:r>
              <a:rPr dirty="0" sz="2700" spc="60">
                <a:latin typeface="Times New Roman"/>
                <a:cs typeface="Times New Roman"/>
              </a:rPr>
              <a:t>placed</a:t>
            </a:r>
            <a:r>
              <a:rPr dirty="0" sz="2700" spc="-5">
                <a:latin typeface="Times New Roman"/>
                <a:cs typeface="Times New Roman"/>
              </a:rPr>
              <a:t> </a:t>
            </a:r>
            <a:r>
              <a:rPr dirty="0" sz="2700" spc="75">
                <a:latin typeface="Times New Roman"/>
                <a:cs typeface="Times New Roman"/>
              </a:rPr>
              <a:t>by</a:t>
            </a:r>
            <a:r>
              <a:rPr dirty="0" sz="2700" spc="-5">
                <a:latin typeface="Times New Roman"/>
                <a:cs typeface="Times New Roman"/>
              </a:rPr>
              <a:t> </a:t>
            </a:r>
            <a:r>
              <a:rPr dirty="0" sz="2700">
                <a:latin typeface="Times New Roman"/>
                <a:cs typeface="Times New Roman"/>
              </a:rPr>
              <a:t>all</a:t>
            </a:r>
            <a:r>
              <a:rPr dirty="0" sz="2700" spc="-5">
                <a:latin typeface="Times New Roman"/>
                <a:cs typeface="Times New Roman"/>
              </a:rPr>
              <a:t> </a:t>
            </a:r>
            <a:r>
              <a:rPr dirty="0" sz="2700" spc="50">
                <a:latin typeface="Times New Roman"/>
                <a:cs typeface="Times New Roman"/>
              </a:rPr>
              <a:t>users</a:t>
            </a:r>
            <a:r>
              <a:rPr dirty="0" sz="2700" spc="-5">
                <a:latin typeface="Times New Roman"/>
                <a:cs typeface="Times New Roman"/>
              </a:rPr>
              <a:t> </a:t>
            </a:r>
            <a:r>
              <a:rPr dirty="0" sz="2700" spc="65">
                <a:latin typeface="Times New Roman"/>
                <a:cs typeface="Times New Roman"/>
              </a:rPr>
              <a:t>within</a:t>
            </a:r>
            <a:r>
              <a:rPr dirty="0" sz="2700" spc="-5">
                <a:latin typeface="Times New Roman"/>
                <a:cs typeface="Times New Roman"/>
              </a:rPr>
              <a:t> </a:t>
            </a:r>
            <a:r>
              <a:rPr dirty="0" sz="2700" spc="155">
                <a:latin typeface="Times New Roman"/>
                <a:cs typeface="Times New Roman"/>
              </a:rPr>
              <a:t>a</a:t>
            </a:r>
            <a:r>
              <a:rPr dirty="0" sz="2700">
                <a:latin typeface="Times New Roman"/>
                <a:cs typeface="Times New Roman"/>
              </a:rPr>
              <a:t> given</a:t>
            </a:r>
            <a:r>
              <a:rPr dirty="0" sz="2700" spc="-5">
                <a:latin typeface="Times New Roman"/>
                <a:cs typeface="Times New Roman"/>
              </a:rPr>
              <a:t> </a:t>
            </a:r>
            <a:r>
              <a:rPr dirty="0" sz="2700" spc="120">
                <a:latin typeface="Times New Roman"/>
                <a:cs typeface="Times New Roman"/>
              </a:rPr>
              <a:t>month.</a:t>
            </a:r>
            <a:endParaRPr sz="2700">
              <a:latin typeface="Times New Roman"/>
              <a:cs typeface="Times New Roman"/>
            </a:endParaRPr>
          </a:p>
          <a:p>
            <a:pPr lvl="1" marL="427990" indent="-387985">
              <a:lnSpc>
                <a:spcPct val="100000"/>
              </a:lnSpc>
              <a:spcBef>
                <a:spcPts val="585"/>
              </a:spcBef>
              <a:buFont typeface="Times New Roman"/>
              <a:buAutoNum type="arabicPeriod"/>
              <a:tabLst>
                <a:tab pos="427990" algn="l"/>
              </a:tabLst>
            </a:pPr>
            <a:r>
              <a:rPr dirty="0" sz="2700" spc="-10" b="1">
                <a:latin typeface="Times New Roman"/>
                <a:cs typeface="Times New Roman"/>
              </a:rPr>
              <a:t>Time</a:t>
            </a:r>
            <a:r>
              <a:rPr dirty="0" sz="2700" b="1">
                <a:latin typeface="Times New Roman"/>
                <a:cs typeface="Times New Roman"/>
              </a:rPr>
              <a:t> to </a:t>
            </a:r>
            <a:r>
              <a:rPr dirty="0" sz="2700" spc="-10" b="1">
                <a:latin typeface="Times New Roman"/>
                <a:cs typeface="Times New Roman"/>
              </a:rPr>
              <a:t>Delivery</a:t>
            </a:r>
            <a:r>
              <a:rPr dirty="0" sz="2700" spc="5" b="1">
                <a:latin typeface="Times New Roman"/>
                <a:cs typeface="Times New Roman"/>
              </a:rPr>
              <a:t> </a:t>
            </a:r>
            <a:r>
              <a:rPr dirty="0" sz="2700" b="1">
                <a:latin typeface="Times New Roman"/>
                <a:cs typeface="Times New Roman"/>
              </a:rPr>
              <a:t>: </a:t>
            </a:r>
            <a:r>
              <a:rPr dirty="0" sz="2700" spc="95">
                <a:latin typeface="Times New Roman"/>
                <a:cs typeface="Times New Roman"/>
              </a:rPr>
              <a:t>The</a:t>
            </a:r>
            <a:r>
              <a:rPr dirty="0" sz="2700" spc="5">
                <a:latin typeface="Times New Roman"/>
                <a:cs typeface="Times New Roman"/>
              </a:rPr>
              <a:t> </a:t>
            </a:r>
            <a:r>
              <a:rPr dirty="0" sz="2700" spc="60">
                <a:latin typeface="Times New Roman"/>
                <a:cs typeface="Times New Roman"/>
              </a:rPr>
              <a:t>average</a:t>
            </a:r>
            <a:r>
              <a:rPr dirty="0" sz="2700">
                <a:latin typeface="Times New Roman"/>
                <a:cs typeface="Times New Roman"/>
              </a:rPr>
              <a:t> </a:t>
            </a:r>
            <a:r>
              <a:rPr dirty="0" sz="2700" spc="65">
                <a:latin typeface="Times New Roman"/>
                <a:cs typeface="Times New Roman"/>
              </a:rPr>
              <a:t>time</a:t>
            </a:r>
            <a:r>
              <a:rPr dirty="0" sz="2700" spc="5">
                <a:latin typeface="Times New Roman"/>
                <a:cs typeface="Times New Roman"/>
              </a:rPr>
              <a:t> </a:t>
            </a:r>
            <a:r>
              <a:rPr dirty="0" sz="2700" spc="65">
                <a:latin typeface="Times New Roman"/>
                <a:cs typeface="Times New Roman"/>
              </a:rPr>
              <a:t>it</a:t>
            </a:r>
            <a:r>
              <a:rPr dirty="0" sz="2700">
                <a:latin typeface="Times New Roman"/>
                <a:cs typeface="Times New Roman"/>
              </a:rPr>
              <a:t> </a:t>
            </a:r>
            <a:r>
              <a:rPr dirty="0" sz="2700" spc="85">
                <a:latin typeface="Times New Roman"/>
                <a:cs typeface="Times New Roman"/>
              </a:rPr>
              <a:t>takes</a:t>
            </a:r>
            <a:r>
              <a:rPr dirty="0" sz="2700" spc="5">
                <a:latin typeface="Times New Roman"/>
                <a:cs typeface="Times New Roman"/>
              </a:rPr>
              <a:t> </a:t>
            </a:r>
            <a:r>
              <a:rPr dirty="0" sz="2700" spc="95">
                <a:latin typeface="Times New Roman"/>
                <a:cs typeface="Times New Roman"/>
              </a:rPr>
              <a:t>for</a:t>
            </a:r>
            <a:r>
              <a:rPr dirty="0" sz="2700">
                <a:latin typeface="Times New Roman"/>
                <a:cs typeface="Times New Roman"/>
              </a:rPr>
              <a:t> </a:t>
            </a:r>
            <a:r>
              <a:rPr dirty="0" sz="2700" spc="145">
                <a:latin typeface="Times New Roman"/>
                <a:cs typeface="Times New Roman"/>
              </a:rPr>
              <a:t>an</a:t>
            </a:r>
            <a:r>
              <a:rPr dirty="0" sz="2700" spc="5">
                <a:latin typeface="Times New Roman"/>
                <a:cs typeface="Times New Roman"/>
              </a:rPr>
              <a:t> </a:t>
            </a:r>
            <a:r>
              <a:rPr dirty="0" sz="2700" spc="110">
                <a:latin typeface="Times New Roman"/>
                <a:cs typeface="Times New Roman"/>
              </a:rPr>
              <a:t>order</a:t>
            </a:r>
            <a:r>
              <a:rPr dirty="0" sz="2700">
                <a:latin typeface="Times New Roman"/>
                <a:cs typeface="Times New Roman"/>
              </a:rPr>
              <a:t> </a:t>
            </a:r>
            <a:r>
              <a:rPr dirty="0" sz="2700" spc="150">
                <a:latin typeface="Times New Roman"/>
                <a:cs typeface="Times New Roman"/>
              </a:rPr>
              <a:t>to</a:t>
            </a:r>
            <a:r>
              <a:rPr dirty="0" sz="2700" spc="5">
                <a:latin typeface="Times New Roman"/>
                <a:cs typeface="Times New Roman"/>
              </a:rPr>
              <a:t> </a:t>
            </a:r>
            <a:r>
              <a:rPr dirty="0" sz="2700" spc="65">
                <a:latin typeface="Times New Roman"/>
                <a:cs typeface="Times New Roman"/>
              </a:rPr>
              <a:t>be</a:t>
            </a:r>
            <a:r>
              <a:rPr dirty="0" sz="2700">
                <a:latin typeface="Times New Roman"/>
                <a:cs typeface="Times New Roman"/>
              </a:rPr>
              <a:t> delivered</a:t>
            </a:r>
            <a:r>
              <a:rPr dirty="0" sz="2700" spc="5">
                <a:latin typeface="Times New Roman"/>
                <a:cs typeface="Times New Roman"/>
              </a:rPr>
              <a:t> </a:t>
            </a:r>
            <a:r>
              <a:rPr dirty="0" sz="2700" spc="85">
                <a:latin typeface="Times New Roman"/>
                <a:cs typeface="Times New Roman"/>
              </a:rPr>
              <a:t>after</a:t>
            </a:r>
            <a:r>
              <a:rPr dirty="0" sz="2700">
                <a:latin typeface="Times New Roman"/>
                <a:cs typeface="Times New Roman"/>
              </a:rPr>
              <a:t> </a:t>
            </a:r>
            <a:r>
              <a:rPr dirty="0" sz="2700" spc="65">
                <a:latin typeface="Times New Roman"/>
                <a:cs typeface="Times New Roman"/>
              </a:rPr>
              <a:t>it</a:t>
            </a:r>
            <a:r>
              <a:rPr dirty="0" sz="2700" spc="5">
                <a:latin typeface="Times New Roman"/>
                <a:cs typeface="Times New Roman"/>
              </a:rPr>
              <a:t> </a:t>
            </a:r>
            <a:r>
              <a:rPr dirty="0" sz="2700">
                <a:latin typeface="Times New Roman"/>
                <a:cs typeface="Times New Roman"/>
              </a:rPr>
              <a:t>is </a:t>
            </a:r>
            <a:r>
              <a:rPr dirty="0" sz="2700" spc="50">
                <a:latin typeface="Times New Roman"/>
                <a:cs typeface="Times New Roman"/>
              </a:rPr>
              <a:t>placed.</a:t>
            </a:r>
            <a:endParaRPr sz="2700">
              <a:latin typeface="Times New Roman"/>
              <a:cs typeface="Times New Roman"/>
            </a:endParaRPr>
          </a:p>
          <a:p>
            <a:pPr lvl="1" marL="342265" marR="5080" indent="-302895">
              <a:lnSpc>
                <a:spcPts val="3829"/>
              </a:lnSpc>
              <a:spcBef>
                <a:spcPts val="220"/>
              </a:spcBef>
              <a:buAutoNum type="arabicPeriod"/>
              <a:tabLst>
                <a:tab pos="342265" algn="l"/>
                <a:tab pos="461009" algn="l"/>
              </a:tabLst>
            </a:pPr>
            <a:r>
              <a:rPr dirty="0" sz="2700">
                <a:latin typeface="Times New Roman"/>
                <a:cs typeface="Times New Roman"/>
              </a:rPr>
              <a:t>	</a:t>
            </a:r>
            <a:r>
              <a:rPr dirty="0" sz="2700" b="1">
                <a:latin typeface="Times New Roman"/>
                <a:cs typeface="Times New Roman"/>
              </a:rPr>
              <a:t>Net</a:t>
            </a:r>
            <a:r>
              <a:rPr dirty="0" sz="2700" spc="280" b="1">
                <a:latin typeface="Times New Roman"/>
                <a:cs typeface="Times New Roman"/>
              </a:rPr>
              <a:t> </a:t>
            </a:r>
            <a:r>
              <a:rPr dirty="0" sz="2700" b="1">
                <a:latin typeface="Times New Roman"/>
                <a:cs typeface="Times New Roman"/>
              </a:rPr>
              <a:t>Promoter</a:t>
            </a:r>
            <a:r>
              <a:rPr dirty="0" sz="2700" spc="285" b="1">
                <a:latin typeface="Times New Roman"/>
                <a:cs typeface="Times New Roman"/>
              </a:rPr>
              <a:t> </a:t>
            </a:r>
            <a:r>
              <a:rPr dirty="0" sz="2700" b="1">
                <a:latin typeface="Times New Roman"/>
                <a:cs typeface="Times New Roman"/>
              </a:rPr>
              <a:t>Score</a:t>
            </a:r>
            <a:r>
              <a:rPr dirty="0" sz="2700" spc="280" b="1">
                <a:latin typeface="Times New Roman"/>
                <a:cs typeface="Times New Roman"/>
              </a:rPr>
              <a:t> </a:t>
            </a:r>
            <a:r>
              <a:rPr dirty="0" sz="2700" spc="90" b="1">
                <a:latin typeface="Times New Roman"/>
                <a:cs typeface="Times New Roman"/>
              </a:rPr>
              <a:t>(NPS)</a:t>
            </a:r>
            <a:r>
              <a:rPr dirty="0" sz="2700" spc="285" b="1">
                <a:latin typeface="Times New Roman"/>
                <a:cs typeface="Times New Roman"/>
              </a:rPr>
              <a:t> </a:t>
            </a:r>
            <a:r>
              <a:rPr dirty="0" sz="2700" b="1">
                <a:latin typeface="Times New Roman"/>
                <a:cs typeface="Times New Roman"/>
              </a:rPr>
              <a:t>:</a:t>
            </a:r>
            <a:r>
              <a:rPr dirty="0" sz="2700" spc="280" b="1">
                <a:latin typeface="Times New Roman"/>
                <a:cs typeface="Times New Roman"/>
              </a:rPr>
              <a:t> </a:t>
            </a:r>
            <a:r>
              <a:rPr dirty="0" sz="2700" spc="155">
                <a:latin typeface="Times New Roman"/>
                <a:cs typeface="Times New Roman"/>
              </a:rPr>
              <a:t>A</a:t>
            </a:r>
            <a:r>
              <a:rPr dirty="0" sz="2700" spc="285">
                <a:latin typeface="Times New Roman"/>
                <a:cs typeface="Times New Roman"/>
              </a:rPr>
              <a:t> </a:t>
            </a:r>
            <a:r>
              <a:rPr dirty="0" sz="2700">
                <a:latin typeface="Times New Roman"/>
                <a:cs typeface="Times New Roman"/>
              </a:rPr>
              <a:t>score</a:t>
            </a:r>
            <a:r>
              <a:rPr dirty="0" sz="2700" spc="285">
                <a:latin typeface="Times New Roman"/>
                <a:cs typeface="Times New Roman"/>
              </a:rPr>
              <a:t> </a:t>
            </a:r>
            <a:r>
              <a:rPr dirty="0" sz="2700" spc="150">
                <a:latin typeface="Times New Roman"/>
                <a:cs typeface="Times New Roman"/>
              </a:rPr>
              <a:t>that</a:t>
            </a:r>
            <a:r>
              <a:rPr dirty="0" sz="2700" spc="280">
                <a:latin typeface="Times New Roman"/>
                <a:cs typeface="Times New Roman"/>
              </a:rPr>
              <a:t> </a:t>
            </a:r>
            <a:r>
              <a:rPr dirty="0" sz="2700">
                <a:latin typeface="Times New Roman"/>
                <a:cs typeface="Times New Roman"/>
              </a:rPr>
              <a:t>gauges</a:t>
            </a:r>
            <a:r>
              <a:rPr dirty="0" sz="2700" spc="285">
                <a:latin typeface="Times New Roman"/>
                <a:cs typeface="Times New Roman"/>
              </a:rPr>
              <a:t> </a:t>
            </a:r>
            <a:r>
              <a:rPr dirty="0" sz="2700" spc="85">
                <a:latin typeface="Times New Roman"/>
                <a:cs typeface="Times New Roman"/>
              </a:rPr>
              <a:t>customer</a:t>
            </a:r>
            <a:r>
              <a:rPr dirty="0" sz="2700" spc="280">
                <a:latin typeface="Times New Roman"/>
                <a:cs typeface="Times New Roman"/>
              </a:rPr>
              <a:t> </a:t>
            </a:r>
            <a:r>
              <a:rPr dirty="0" sz="2700" spc="65">
                <a:latin typeface="Times New Roman"/>
                <a:cs typeface="Times New Roman"/>
              </a:rPr>
              <a:t>satisfaction</a:t>
            </a:r>
            <a:r>
              <a:rPr dirty="0" sz="2700" spc="285">
                <a:latin typeface="Times New Roman"/>
                <a:cs typeface="Times New Roman"/>
              </a:rPr>
              <a:t> </a:t>
            </a:r>
            <a:r>
              <a:rPr dirty="0" sz="2700" spc="145">
                <a:latin typeface="Times New Roman"/>
                <a:cs typeface="Times New Roman"/>
              </a:rPr>
              <a:t>and</a:t>
            </a:r>
            <a:r>
              <a:rPr dirty="0" sz="2700" spc="285">
                <a:latin typeface="Times New Roman"/>
                <a:cs typeface="Times New Roman"/>
              </a:rPr>
              <a:t> </a:t>
            </a:r>
            <a:r>
              <a:rPr dirty="0" sz="2700" spc="95">
                <a:latin typeface="Times New Roman"/>
                <a:cs typeface="Times New Roman"/>
              </a:rPr>
              <a:t>how</a:t>
            </a:r>
            <a:r>
              <a:rPr dirty="0" sz="2700" spc="280">
                <a:latin typeface="Times New Roman"/>
                <a:cs typeface="Times New Roman"/>
              </a:rPr>
              <a:t> </a:t>
            </a:r>
            <a:r>
              <a:rPr dirty="0" sz="2700">
                <a:latin typeface="Times New Roman"/>
                <a:cs typeface="Times New Roman"/>
              </a:rPr>
              <a:t>likely</a:t>
            </a:r>
            <a:r>
              <a:rPr dirty="0" sz="2700" spc="285">
                <a:latin typeface="Times New Roman"/>
                <a:cs typeface="Times New Roman"/>
              </a:rPr>
              <a:t> </a:t>
            </a:r>
            <a:r>
              <a:rPr dirty="0" sz="2700" spc="50">
                <a:latin typeface="Times New Roman"/>
                <a:cs typeface="Times New Roman"/>
              </a:rPr>
              <a:t>users</a:t>
            </a:r>
            <a:r>
              <a:rPr dirty="0" sz="2700" spc="280">
                <a:latin typeface="Times New Roman"/>
                <a:cs typeface="Times New Roman"/>
              </a:rPr>
              <a:t> </a:t>
            </a:r>
            <a:r>
              <a:rPr dirty="0" sz="2700" spc="90">
                <a:latin typeface="Times New Roman"/>
                <a:cs typeface="Times New Roman"/>
              </a:rPr>
              <a:t>are</a:t>
            </a:r>
            <a:r>
              <a:rPr dirty="0" sz="2700" spc="285">
                <a:latin typeface="Times New Roman"/>
                <a:cs typeface="Times New Roman"/>
              </a:rPr>
              <a:t> </a:t>
            </a:r>
            <a:r>
              <a:rPr dirty="0" sz="2700" spc="125">
                <a:latin typeface="Times New Roman"/>
                <a:cs typeface="Times New Roman"/>
              </a:rPr>
              <a:t>to </a:t>
            </a:r>
            <a:r>
              <a:rPr dirty="0" sz="2700" spc="85">
                <a:latin typeface="Times New Roman"/>
                <a:cs typeface="Times New Roman"/>
              </a:rPr>
              <a:t>recommend</a:t>
            </a:r>
            <a:r>
              <a:rPr dirty="0" sz="2700" spc="35">
                <a:latin typeface="Times New Roman"/>
                <a:cs typeface="Times New Roman"/>
              </a:rPr>
              <a:t> </a:t>
            </a:r>
            <a:r>
              <a:rPr dirty="0" sz="2700" spc="90">
                <a:latin typeface="Times New Roman"/>
                <a:cs typeface="Times New Roman"/>
              </a:rPr>
              <a:t>the</a:t>
            </a:r>
            <a:r>
              <a:rPr dirty="0" sz="2700" spc="40">
                <a:latin typeface="Times New Roman"/>
                <a:cs typeface="Times New Roman"/>
              </a:rPr>
              <a:t> </a:t>
            </a:r>
            <a:r>
              <a:rPr dirty="0" sz="2700">
                <a:latin typeface="Times New Roman"/>
                <a:cs typeface="Times New Roman"/>
              </a:rPr>
              <a:t>service</a:t>
            </a:r>
            <a:r>
              <a:rPr dirty="0" sz="2700" spc="40">
                <a:latin typeface="Times New Roman"/>
                <a:cs typeface="Times New Roman"/>
              </a:rPr>
              <a:t> </a:t>
            </a:r>
            <a:r>
              <a:rPr dirty="0" sz="2700" spc="150">
                <a:latin typeface="Times New Roman"/>
                <a:cs typeface="Times New Roman"/>
              </a:rPr>
              <a:t>to</a:t>
            </a:r>
            <a:r>
              <a:rPr dirty="0" sz="2700" spc="35">
                <a:latin typeface="Times New Roman"/>
                <a:cs typeface="Times New Roman"/>
              </a:rPr>
              <a:t> </a:t>
            </a:r>
            <a:r>
              <a:rPr dirty="0" sz="2700" spc="75">
                <a:latin typeface="Times New Roman"/>
                <a:cs typeface="Times New Roman"/>
              </a:rPr>
              <a:t>others.</a:t>
            </a:r>
            <a:endParaRPr sz="2700">
              <a:latin typeface="Times New Roman"/>
              <a:cs typeface="Times New Roman"/>
            </a:endParaRPr>
          </a:p>
          <a:p>
            <a:pPr lvl="1" marL="485775" indent="-445770">
              <a:lnSpc>
                <a:spcPct val="100000"/>
              </a:lnSpc>
              <a:spcBef>
                <a:spcPts val="355"/>
              </a:spcBef>
              <a:buFont typeface="Times New Roman"/>
              <a:buAutoNum type="arabicPeriod"/>
              <a:tabLst>
                <a:tab pos="485775" algn="l"/>
                <a:tab pos="2028189" algn="l"/>
                <a:tab pos="3394075" algn="l"/>
                <a:tab pos="4380865" algn="l"/>
                <a:tab pos="5717540" algn="l"/>
                <a:tab pos="5955030" algn="l"/>
                <a:tab pos="6673850" algn="l"/>
                <a:tab pos="8191500" algn="l"/>
                <a:tab pos="8794115" algn="l"/>
                <a:tab pos="9779635" algn="l"/>
                <a:tab pos="11358880" algn="l"/>
                <a:tab pos="12228830" algn="l"/>
                <a:tab pos="12545695" algn="l"/>
                <a:tab pos="14044930" algn="l"/>
                <a:tab pos="14839315" algn="l"/>
              </a:tabLst>
            </a:pPr>
            <a:r>
              <a:rPr dirty="0" sz="2700" spc="-10" b="1">
                <a:latin typeface="Times New Roman"/>
                <a:cs typeface="Times New Roman"/>
              </a:rPr>
              <a:t>Customer</a:t>
            </a:r>
            <a:r>
              <a:rPr dirty="0" sz="2700" b="1">
                <a:latin typeface="Times New Roman"/>
                <a:cs typeface="Times New Roman"/>
              </a:rPr>
              <a:t>	</a:t>
            </a:r>
            <a:r>
              <a:rPr dirty="0" sz="2700" spc="-10" b="1">
                <a:latin typeface="Times New Roman"/>
                <a:cs typeface="Times New Roman"/>
              </a:rPr>
              <a:t>Lifetime</a:t>
            </a:r>
            <a:r>
              <a:rPr dirty="0" sz="2700" b="1">
                <a:latin typeface="Times New Roman"/>
                <a:cs typeface="Times New Roman"/>
              </a:rPr>
              <a:t>	</a:t>
            </a:r>
            <a:r>
              <a:rPr dirty="0" sz="2700" spc="-10" b="1">
                <a:latin typeface="Times New Roman"/>
                <a:cs typeface="Times New Roman"/>
              </a:rPr>
              <a:t>Value</a:t>
            </a:r>
            <a:r>
              <a:rPr dirty="0" sz="2700" b="1">
                <a:latin typeface="Times New Roman"/>
                <a:cs typeface="Times New Roman"/>
              </a:rPr>
              <a:t>	</a:t>
            </a:r>
            <a:r>
              <a:rPr dirty="0" sz="2700" spc="-10" b="1">
                <a:latin typeface="Times New Roman"/>
                <a:cs typeface="Times New Roman"/>
              </a:rPr>
              <a:t>(CLTV)</a:t>
            </a:r>
            <a:r>
              <a:rPr dirty="0" sz="2700" b="1">
                <a:latin typeface="Times New Roman"/>
                <a:cs typeface="Times New Roman"/>
              </a:rPr>
              <a:t>	</a:t>
            </a:r>
            <a:r>
              <a:rPr dirty="0" sz="2700" spc="-50" b="1">
                <a:latin typeface="Times New Roman"/>
                <a:cs typeface="Times New Roman"/>
              </a:rPr>
              <a:t>:</a:t>
            </a:r>
            <a:r>
              <a:rPr dirty="0" sz="2700" b="1">
                <a:latin typeface="Times New Roman"/>
                <a:cs typeface="Times New Roman"/>
              </a:rPr>
              <a:t>	</a:t>
            </a:r>
            <a:r>
              <a:rPr dirty="0" sz="2700" spc="70">
                <a:latin typeface="Times New Roman"/>
                <a:cs typeface="Times New Roman"/>
              </a:rPr>
              <a:t>The</a:t>
            </a:r>
            <a:r>
              <a:rPr dirty="0" sz="2700">
                <a:latin typeface="Times New Roman"/>
                <a:cs typeface="Times New Roman"/>
              </a:rPr>
              <a:t>	</a:t>
            </a:r>
            <a:r>
              <a:rPr dirty="0" sz="2700" spc="60">
                <a:latin typeface="Times New Roman"/>
                <a:cs typeface="Times New Roman"/>
              </a:rPr>
              <a:t>predicted</a:t>
            </a:r>
            <a:r>
              <a:rPr dirty="0" sz="2700">
                <a:latin typeface="Times New Roman"/>
                <a:cs typeface="Times New Roman"/>
              </a:rPr>
              <a:t>	</a:t>
            </a:r>
            <a:r>
              <a:rPr dirty="0" sz="2700" spc="65">
                <a:latin typeface="Times New Roman"/>
                <a:cs typeface="Times New Roman"/>
              </a:rPr>
              <a:t>net</a:t>
            </a:r>
            <a:r>
              <a:rPr dirty="0" sz="2700">
                <a:latin typeface="Times New Roman"/>
                <a:cs typeface="Times New Roman"/>
              </a:rPr>
              <a:t>	</a:t>
            </a:r>
            <a:r>
              <a:rPr dirty="0" sz="2700" spc="80">
                <a:latin typeface="Times New Roman"/>
                <a:cs typeface="Times New Roman"/>
              </a:rPr>
              <a:t>profit</a:t>
            </a:r>
            <a:r>
              <a:rPr dirty="0" sz="2700">
                <a:latin typeface="Times New Roman"/>
                <a:cs typeface="Times New Roman"/>
              </a:rPr>
              <a:t>	</a:t>
            </a:r>
            <a:r>
              <a:rPr dirty="0" sz="2700" spc="65">
                <a:latin typeface="Times New Roman"/>
                <a:cs typeface="Times New Roman"/>
              </a:rPr>
              <a:t>generated</a:t>
            </a:r>
            <a:r>
              <a:rPr dirty="0" sz="2700">
                <a:latin typeface="Times New Roman"/>
                <a:cs typeface="Times New Roman"/>
              </a:rPr>
              <a:t>	</a:t>
            </a:r>
            <a:r>
              <a:rPr dirty="0" sz="2700" spc="85">
                <a:latin typeface="Times New Roman"/>
                <a:cs typeface="Times New Roman"/>
              </a:rPr>
              <a:t>from</a:t>
            </a:r>
            <a:r>
              <a:rPr dirty="0" sz="2700">
                <a:latin typeface="Times New Roman"/>
                <a:cs typeface="Times New Roman"/>
              </a:rPr>
              <a:t>	</a:t>
            </a:r>
            <a:r>
              <a:rPr dirty="0" sz="2700" spc="105">
                <a:latin typeface="Times New Roman"/>
                <a:cs typeface="Times New Roman"/>
              </a:rPr>
              <a:t>a</a:t>
            </a:r>
            <a:r>
              <a:rPr dirty="0" sz="2700">
                <a:latin typeface="Times New Roman"/>
                <a:cs typeface="Times New Roman"/>
              </a:rPr>
              <a:t>	</a:t>
            </a:r>
            <a:r>
              <a:rPr dirty="0" sz="2700" spc="75">
                <a:latin typeface="Times New Roman"/>
                <a:cs typeface="Times New Roman"/>
              </a:rPr>
              <a:t>customer</a:t>
            </a:r>
            <a:r>
              <a:rPr dirty="0" sz="2700">
                <a:latin typeface="Times New Roman"/>
                <a:cs typeface="Times New Roman"/>
              </a:rPr>
              <a:t>	</a:t>
            </a:r>
            <a:r>
              <a:rPr dirty="0" sz="2700" spc="45">
                <a:latin typeface="Times New Roman"/>
                <a:cs typeface="Times New Roman"/>
              </a:rPr>
              <a:t>over</a:t>
            </a:r>
            <a:r>
              <a:rPr dirty="0" sz="2700">
                <a:latin typeface="Times New Roman"/>
                <a:cs typeface="Times New Roman"/>
              </a:rPr>
              <a:t>	</a:t>
            </a:r>
            <a:r>
              <a:rPr dirty="0" sz="2700" spc="65">
                <a:latin typeface="Times New Roman"/>
                <a:cs typeface="Times New Roman"/>
              </a:rPr>
              <a:t>the</a:t>
            </a:r>
            <a:endParaRPr sz="2700">
              <a:latin typeface="Times New Roman"/>
              <a:cs typeface="Times New Roman"/>
            </a:endParaRPr>
          </a:p>
          <a:p>
            <a:pPr marL="342265">
              <a:lnSpc>
                <a:spcPct val="100000"/>
              </a:lnSpc>
              <a:spcBef>
                <a:spcPts val="585"/>
              </a:spcBef>
            </a:pPr>
            <a:r>
              <a:rPr dirty="0" spc="60"/>
              <a:t>entire</a:t>
            </a:r>
            <a:r>
              <a:rPr dirty="0" spc="15"/>
              <a:t> </a:t>
            </a:r>
            <a:r>
              <a:rPr dirty="0" spc="125"/>
              <a:t>duration</a:t>
            </a:r>
            <a:r>
              <a:rPr dirty="0" spc="20"/>
              <a:t> </a:t>
            </a:r>
            <a:r>
              <a:rPr dirty="0" spc="75"/>
              <a:t>of</a:t>
            </a:r>
            <a:r>
              <a:rPr dirty="0" spc="20"/>
              <a:t> </a:t>
            </a:r>
            <a:r>
              <a:rPr dirty="0" spc="80"/>
              <a:t>their</a:t>
            </a:r>
            <a:r>
              <a:rPr dirty="0" spc="20"/>
              <a:t> </a:t>
            </a:r>
            <a:r>
              <a:rPr dirty="0" spc="75"/>
              <a:t>relationship</a:t>
            </a:r>
            <a:r>
              <a:rPr dirty="0" spc="20"/>
              <a:t> </a:t>
            </a:r>
            <a:r>
              <a:rPr dirty="0" spc="65"/>
              <a:t>with</a:t>
            </a:r>
            <a:r>
              <a:rPr dirty="0" spc="20"/>
              <a:t> </a:t>
            </a:r>
            <a:r>
              <a:rPr dirty="0" spc="90"/>
              <a:t>the</a:t>
            </a:r>
            <a:r>
              <a:rPr dirty="0" spc="20"/>
              <a:t> </a:t>
            </a:r>
            <a:r>
              <a:rPr dirty="0" spc="85"/>
              <a:t>company.</a:t>
            </a:r>
          </a:p>
        </p:txBody>
      </p:sp>
      <p:pic>
        <p:nvPicPr>
          <p:cNvPr id="8" name="object 8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481559" y="1815966"/>
            <a:ext cx="1085849" cy="119577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600" spc="50">
                <a:solidFill>
                  <a:srgbClr val="FFFFFF"/>
                </a:solidFill>
              </a:rPr>
              <a:t>THANK</a:t>
            </a:r>
            <a:r>
              <a:rPr dirty="0" sz="7600" spc="20">
                <a:solidFill>
                  <a:srgbClr val="FFFFFF"/>
                </a:solidFill>
              </a:rPr>
              <a:t> </a:t>
            </a:r>
            <a:r>
              <a:rPr dirty="0" sz="7600" spc="220">
                <a:solidFill>
                  <a:srgbClr val="FFFFFF"/>
                </a:solidFill>
              </a:rPr>
              <a:t>YOU</a:t>
            </a:r>
            <a:endParaRPr sz="7600"/>
          </a:p>
        </p:txBody>
      </p:sp>
      <p:sp>
        <p:nvSpPr>
          <p:cNvPr id="3" name="object 3" descr=""/>
          <p:cNvSpPr txBox="1"/>
          <p:nvPr/>
        </p:nvSpPr>
        <p:spPr>
          <a:xfrm>
            <a:off x="10949533" y="5299393"/>
            <a:ext cx="2766695" cy="528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300" spc="-70" b="1">
                <a:solidFill>
                  <a:srgbClr val="FFFFFF"/>
                </a:solidFill>
                <a:latin typeface="Times New Roman"/>
                <a:cs typeface="Times New Roman"/>
              </a:rPr>
              <a:t>Amisha</a:t>
            </a:r>
            <a:r>
              <a:rPr dirty="0" sz="3300" spc="-10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300" spc="-120" b="1">
                <a:solidFill>
                  <a:srgbClr val="FFFFFF"/>
                </a:solidFill>
                <a:latin typeface="Times New Roman"/>
                <a:cs typeface="Times New Roman"/>
              </a:rPr>
              <a:t>Kumari</a:t>
            </a:r>
            <a:endParaRPr sz="33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Amisha Kumari</dc:creator>
  <cp:keywords>DAGZJmqjvAk,BAFu8zupUtQ</cp:keywords>
  <dc:title>Product Teardown New user Onboarding</dc:title>
  <dcterms:created xsi:type="dcterms:W3CDTF">2025-01-29T19:22:32Z</dcterms:created>
  <dcterms:modified xsi:type="dcterms:W3CDTF">2025-01-29T19:22:32Z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2024-12-13T00:00:00Z</vt:filetime>
  </property>
  <property fmtid="{D5CDD505-2E9C-101B-9397-08002B2CF9AE}" pid="3" name="Creator">
    <vt:lpwstr>Canva</vt:lpwstr>
  </property>
  <property fmtid="{D5CDD505-2E9C-101B-9397-08002B2CF9AE}" pid="4" name="LastSaved">
    <vt:filetime>2025-01-29T00:00:00Z</vt:filetime>
  </property>
  <property fmtid="{D5CDD505-2E9C-101B-9397-08002B2CF9AE}" pid="5" name="Producer">
    <vt:lpwstr>Canva</vt:lpwstr>
  </property>
</Properties>
</file>