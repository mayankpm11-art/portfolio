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0693400" cy="7562850"/>
  <p:notesSz cx="106934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1440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24436" y="872747"/>
            <a:ext cx="5024785" cy="8129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26136" y="1751076"/>
            <a:ext cx="10040620" cy="4895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mayank.pm11@gmail.com" TargetMode="External"/><Relationship Id="rId2" Type="http://schemas.openxmlformats.org/officeDocument/2006/relationships/hyperlink" Target="http://www.linkedin.com/in/mayankkumarpm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g"/><Relationship Id="rId5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mailto:mayank.pm11@gmail.com" TargetMode="External"/><Relationship Id="rId2" Type="http://schemas.openxmlformats.org/officeDocument/2006/relationships/hyperlink" Target="http://www.linkedin.com/in/mayankkumarpm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72668"/>
            <a:ext cx="10692765" cy="6014085"/>
          </a:xfrm>
          <a:custGeom>
            <a:avLst/>
            <a:gdLst/>
            <a:ahLst/>
            <a:cxnLst/>
            <a:rect l="l" t="t" r="r" b="b"/>
            <a:pathLst>
              <a:path w="10692765" h="6014084">
                <a:moveTo>
                  <a:pt x="10692384" y="6013703"/>
                </a:moveTo>
                <a:lnTo>
                  <a:pt x="0" y="6013703"/>
                </a:lnTo>
                <a:lnTo>
                  <a:pt x="0" y="0"/>
                </a:lnTo>
                <a:lnTo>
                  <a:pt x="10692384" y="0"/>
                </a:lnTo>
                <a:lnTo>
                  <a:pt x="10692384" y="6013703"/>
                </a:lnTo>
                <a:close/>
              </a:path>
            </a:pathLst>
          </a:custGeom>
          <a:solidFill>
            <a:srgbClr val="FDD6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813367" y="3065746"/>
            <a:ext cx="5066030" cy="20978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4650" b="1" spc="-10" dirty="0">
                <a:latin typeface="Calibri"/>
                <a:cs typeface="Calibri"/>
              </a:rPr>
              <a:t>IMPROVING</a:t>
            </a:r>
            <a:r>
              <a:rPr sz="4650" b="1" spc="-220" dirty="0">
                <a:latin typeface="Calibri"/>
                <a:cs typeface="Calibri"/>
              </a:rPr>
              <a:t> </a:t>
            </a:r>
            <a:r>
              <a:rPr sz="4650" b="1" spc="-10" dirty="0">
                <a:latin typeface="Calibri"/>
                <a:cs typeface="Calibri"/>
              </a:rPr>
              <a:t>RAPIDO</a:t>
            </a:r>
            <a:endParaRPr sz="4650" dirty="0">
              <a:latin typeface="Calibri"/>
              <a:cs typeface="Calibri"/>
            </a:endParaRPr>
          </a:p>
          <a:p>
            <a:pPr marL="368935" marR="361315" algn="ctr">
              <a:lnSpc>
                <a:spcPct val="109500"/>
              </a:lnSpc>
              <a:spcBef>
                <a:spcPts val="3325"/>
              </a:spcBef>
            </a:pPr>
            <a:r>
              <a:rPr lang="en-IN" sz="1900" dirty="0">
                <a:latin typeface="Calibri"/>
                <a:cs typeface="Calibri"/>
              </a:rPr>
              <a:t>Mayank Kumar</a:t>
            </a:r>
            <a:r>
              <a:rPr lang="en-IN" sz="1800" dirty="0"/>
              <a:t> </a:t>
            </a:r>
            <a:r>
              <a:rPr lang="en-IN" sz="1900" u="sng" dirty="0">
                <a:hlinkClick r:id="rId2"/>
              </a:rPr>
              <a:t>linkedin.com/in/</a:t>
            </a:r>
            <a:r>
              <a:rPr lang="en-IN" sz="1900" u="sng" dirty="0" err="1">
                <a:hlinkClick r:id="rId2"/>
              </a:rPr>
              <a:t>mayankkumar</a:t>
            </a:r>
            <a:r>
              <a:rPr sz="1900" spc="-10" dirty="0">
                <a:solidFill>
                  <a:srgbClr val="0562C1"/>
                </a:solidFill>
                <a:latin typeface="Calibri"/>
                <a:cs typeface="Calibri"/>
              </a:rPr>
              <a:t> </a:t>
            </a:r>
            <a:r>
              <a:rPr lang="en-IN" sz="1900" u="sng" dirty="0">
                <a:hlinkClick r:id="rId3"/>
              </a:rPr>
              <a:t>mayank.pm11@gmail.com</a:t>
            </a:r>
            <a:r>
              <a:rPr lang="en-IN" sz="1900" dirty="0"/>
              <a:t> </a:t>
            </a:r>
            <a:endParaRPr sz="1900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58954" y="1476078"/>
            <a:ext cx="2555748" cy="1463040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3136900" y="4516918"/>
            <a:ext cx="382905" cy="675640"/>
            <a:chOff x="2668524" y="5655564"/>
            <a:chExt cx="382905" cy="675640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14244" y="5655564"/>
              <a:ext cx="294132" cy="2941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68524" y="5943600"/>
              <a:ext cx="382524" cy="387095"/>
            </a:xfrm>
            <a:prstGeom prst="rect">
              <a:avLst/>
            </a:prstGeom>
          </p:spPr>
        </p:pic>
      </p:grpSp>
      <p:sp>
        <p:nvSpPr>
          <p:cNvPr id="10" name="Title 9">
            <a:extLst>
              <a:ext uri="{FF2B5EF4-FFF2-40B4-BE49-F238E27FC236}">
                <a16:creationId xmlns:a16="http://schemas.microsoft.com/office/drawing/2014/main" id="{0B5316EF-D5F8-0475-5107-D8BCF2945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02572" y="1403144"/>
            <a:ext cx="680021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Company</a:t>
            </a:r>
            <a:r>
              <a:rPr spc="-120" dirty="0"/>
              <a:t> </a:t>
            </a:r>
            <a:r>
              <a:rPr dirty="0"/>
              <a:t>background</a:t>
            </a:r>
            <a:r>
              <a:rPr spc="-85" dirty="0"/>
              <a:t> </a:t>
            </a:r>
            <a:r>
              <a:rPr dirty="0"/>
              <a:t>and</a:t>
            </a:r>
            <a:r>
              <a:rPr spc="-85" dirty="0"/>
              <a:t> </a:t>
            </a:r>
            <a:r>
              <a:rPr dirty="0"/>
              <a:t>problem</a:t>
            </a:r>
            <a:r>
              <a:rPr spc="-55" dirty="0"/>
              <a:t> </a:t>
            </a:r>
            <a:r>
              <a:rPr spc="-10" dirty="0"/>
              <a:t>statement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23900" y="2362200"/>
            <a:ext cx="9246235" cy="3840479"/>
            <a:chOff x="723900" y="2362200"/>
            <a:chExt cx="9246235" cy="3840479"/>
          </a:xfrm>
        </p:grpSpPr>
        <p:sp>
          <p:nvSpPr>
            <p:cNvPr id="4" name="object 4"/>
            <p:cNvSpPr/>
            <p:nvPr/>
          </p:nvSpPr>
          <p:spPr>
            <a:xfrm>
              <a:off x="736091" y="2374391"/>
              <a:ext cx="9222105" cy="3816350"/>
            </a:xfrm>
            <a:custGeom>
              <a:avLst/>
              <a:gdLst/>
              <a:ahLst/>
              <a:cxnLst/>
              <a:rect l="l" t="t" r="r" b="b"/>
              <a:pathLst>
                <a:path w="9222105" h="3816350">
                  <a:moveTo>
                    <a:pt x="9221723" y="3816095"/>
                  </a:moveTo>
                  <a:lnTo>
                    <a:pt x="0" y="3816095"/>
                  </a:lnTo>
                  <a:lnTo>
                    <a:pt x="0" y="0"/>
                  </a:lnTo>
                  <a:lnTo>
                    <a:pt x="9221723" y="0"/>
                  </a:lnTo>
                  <a:lnTo>
                    <a:pt x="9221723" y="3816095"/>
                  </a:lnTo>
                  <a:close/>
                </a:path>
              </a:pathLst>
            </a:custGeom>
            <a:solidFill>
              <a:srgbClr val="FDD6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36091" y="2374391"/>
              <a:ext cx="9222105" cy="3816350"/>
            </a:xfrm>
            <a:custGeom>
              <a:avLst/>
              <a:gdLst/>
              <a:ahLst/>
              <a:cxnLst/>
              <a:rect l="l" t="t" r="r" b="b"/>
              <a:pathLst>
                <a:path w="9222105" h="3816350">
                  <a:moveTo>
                    <a:pt x="0" y="0"/>
                  </a:moveTo>
                  <a:lnTo>
                    <a:pt x="9221723" y="0"/>
                  </a:lnTo>
                  <a:lnTo>
                    <a:pt x="9221723" y="3816095"/>
                  </a:lnTo>
                  <a:lnTo>
                    <a:pt x="0" y="3816095"/>
                  </a:lnTo>
                  <a:lnTo>
                    <a:pt x="0" y="0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07239" y="2360203"/>
            <a:ext cx="9071610" cy="375983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065" marR="5080" indent="-635" algn="ctr">
              <a:lnSpc>
                <a:spcPts val="1900"/>
              </a:lnSpc>
              <a:spcBef>
                <a:spcPts val="330"/>
              </a:spcBef>
            </a:pPr>
            <a:r>
              <a:rPr sz="1750" dirty="0">
                <a:latin typeface="Calibri"/>
                <a:cs typeface="Calibri"/>
              </a:rPr>
              <a:t>Rapido</a:t>
            </a:r>
            <a:r>
              <a:rPr sz="1750" spc="-45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is</a:t>
            </a:r>
            <a:r>
              <a:rPr sz="1750" spc="-25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an</a:t>
            </a:r>
            <a:r>
              <a:rPr sz="1750" spc="-40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auto</a:t>
            </a:r>
            <a:r>
              <a:rPr sz="1750" spc="-40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and</a:t>
            </a:r>
            <a:r>
              <a:rPr sz="1750" spc="-15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bike</a:t>
            </a:r>
            <a:r>
              <a:rPr sz="1750" spc="-25" dirty="0">
                <a:latin typeface="Calibri"/>
                <a:cs typeface="Calibri"/>
              </a:rPr>
              <a:t> </a:t>
            </a:r>
            <a:r>
              <a:rPr sz="1750" spc="-10" dirty="0">
                <a:latin typeface="Calibri"/>
                <a:cs typeface="Calibri"/>
              </a:rPr>
              <a:t>ride-</a:t>
            </a:r>
            <a:r>
              <a:rPr sz="1750" dirty="0">
                <a:latin typeface="Calibri"/>
                <a:cs typeface="Calibri"/>
              </a:rPr>
              <a:t>hailing</a:t>
            </a:r>
            <a:r>
              <a:rPr sz="1750" spc="-45" dirty="0">
                <a:latin typeface="Calibri"/>
                <a:cs typeface="Calibri"/>
              </a:rPr>
              <a:t> </a:t>
            </a:r>
            <a:r>
              <a:rPr sz="1750" spc="-10" dirty="0">
                <a:latin typeface="Calibri"/>
                <a:cs typeface="Calibri"/>
              </a:rPr>
              <a:t>platform,</a:t>
            </a:r>
            <a:r>
              <a:rPr sz="1750" spc="-40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currently</a:t>
            </a:r>
            <a:r>
              <a:rPr sz="1750" spc="-50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running</a:t>
            </a:r>
            <a:r>
              <a:rPr sz="1750" spc="-45" dirty="0">
                <a:latin typeface="Calibri"/>
                <a:cs typeface="Calibri"/>
              </a:rPr>
              <a:t> </a:t>
            </a:r>
            <a:r>
              <a:rPr sz="1750" spc="-10" dirty="0">
                <a:latin typeface="Calibri"/>
                <a:cs typeface="Calibri"/>
              </a:rPr>
              <a:t>operations</a:t>
            </a:r>
            <a:r>
              <a:rPr sz="1750" spc="-45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in</a:t>
            </a:r>
            <a:r>
              <a:rPr sz="1750" spc="-50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more</a:t>
            </a:r>
            <a:r>
              <a:rPr sz="1750" spc="-40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than</a:t>
            </a:r>
            <a:r>
              <a:rPr sz="1750" spc="-20" dirty="0">
                <a:latin typeface="Calibri"/>
                <a:cs typeface="Calibri"/>
              </a:rPr>
              <a:t> </a:t>
            </a:r>
            <a:r>
              <a:rPr sz="1750" spc="-25" dirty="0">
                <a:latin typeface="Calibri"/>
                <a:cs typeface="Calibri"/>
              </a:rPr>
              <a:t>100</a:t>
            </a:r>
            <a:r>
              <a:rPr sz="1750" spc="500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cities</a:t>
            </a:r>
            <a:r>
              <a:rPr sz="1750" spc="-45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in</a:t>
            </a:r>
            <a:r>
              <a:rPr sz="1750" spc="-35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India.</a:t>
            </a:r>
            <a:r>
              <a:rPr sz="1750" spc="-40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Founded</a:t>
            </a:r>
            <a:r>
              <a:rPr sz="1750" spc="-35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in</a:t>
            </a:r>
            <a:r>
              <a:rPr sz="1750" spc="-35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2015,</a:t>
            </a:r>
            <a:r>
              <a:rPr sz="1750" spc="-40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the</a:t>
            </a:r>
            <a:r>
              <a:rPr sz="1750" spc="-35" dirty="0">
                <a:latin typeface="Calibri"/>
                <a:cs typeface="Calibri"/>
              </a:rPr>
              <a:t> </a:t>
            </a:r>
            <a:r>
              <a:rPr sz="1750" spc="-10" dirty="0">
                <a:latin typeface="Calibri"/>
                <a:cs typeface="Calibri"/>
              </a:rPr>
              <a:t>company’s</a:t>
            </a:r>
            <a:r>
              <a:rPr sz="1750" spc="-25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1.5</a:t>
            </a:r>
            <a:r>
              <a:rPr sz="1750" spc="-35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million</a:t>
            </a:r>
            <a:r>
              <a:rPr sz="1750" spc="-45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captains</a:t>
            </a:r>
            <a:r>
              <a:rPr sz="1750" spc="-25" dirty="0">
                <a:latin typeface="Calibri"/>
                <a:cs typeface="Calibri"/>
              </a:rPr>
              <a:t> </a:t>
            </a:r>
            <a:r>
              <a:rPr sz="1750" spc="-10" dirty="0">
                <a:latin typeface="Calibri"/>
                <a:cs typeface="Calibri"/>
              </a:rPr>
              <a:t>(driver-</a:t>
            </a:r>
            <a:r>
              <a:rPr sz="1750" dirty="0">
                <a:latin typeface="Calibri"/>
                <a:cs typeface="Calibri"/>
              </a:rPr>
              <a:t>partners)</a:t>
            </a:r>
            <a:r>
              <a:rPr sz="1750" spc="-30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serve</a:t>
            </a:r>
            <a:r>
              <a:rPr sz="1750" spc="-20" dirty="0">
                <a:latin typeface="Calibri"/>
                <a:cs typeface="Calibri"/>
              </a:rPr>
              <a:t> more</a:t>
            </a:r>
            <a:r>
              <a:rPr sz="1750" spc="500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than</a:t>
            </a:r>
            <a:r>
              <a:rPr sz="1750" spc="-20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15</a:t>
            </a:r>
            <a:r>
              <a:rPr sz="1750" spc="-25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million</a:t>
            </a:r>
            <a:r>
              <a:rPr sz="1750" spc="-50" dirty="0">
                <a:latin typeface="Calibri"/>
                <a:cs typeface="Calibri"/>
              </a:rPr>
              <a:t> </a:t>
            </a:r>
            <a:r>
              <a:rPr sz="1750" spc="-10" dirty="0">
                <a:latin typeface="Calibri"/>
                <a:cs typeface="Calibri"/>
              </a:rPr>
              <a:t>registered</a:t>
            </a:r>
            <a:r>
              <a:rPr sz="1750" spc="-20" dirty="0">
                <a:latin typeface="Calibri"/>
                <a:cs typeface="Calibri"/>
              </a:rPr>
              <a:t> </a:t>
            </a:r>
            <a:r>
              <a:rPr sz="1750" spc="-10" dirty="0">
                <a:latin typeface="Calibri"/>
                <a:cs typeface="Calibri"/>
              </a:rPr>
              <a:t>customers</a:t>
            </a:r>
            <a:r>
              <a:rPr sz="1750" spc="-25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with</a:t>
            </a:r>
            <a:r>
              <a:rPr sz="1750" spc="-40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their</a:t>
            </a:r>
            <a:r>
              <a:rPr sz="1750" spc="-40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services,</a:t>
            </a:r>
            <a:r>
              <a:rPr sz="1750" spc="-10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accumulating</a:t>
            </a:r>
            <a:r>
              <a:rPr sz="1750" spc="-30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well</a:t>
            </a:r>
            <a:r>
              <a:rPr sz="1750" spc="-25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over</a:t>
            </a:r>
            <a:r>
              <a:rPr sz="1750" spc="-45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50</a:t>
            </a:r>
            <a:r>
              <a:rPr sz="1750" spc="-35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million</a:t>
            </a:r>
            <a:r>
              <a:rPr sz="1750" spc="-50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rides</a:t>
            </a:r>
            <a:r>
              <a:rPr sz="1750" spc="-30" dirty="0">
                <a:latin typeface="Calibri"/>
                <a:cs typeface="Calibri"/>
              </a:rPr>
              <a:t> </a:t>
            </a:r>
            <a:r>
              <a:rPr sz="1750" spc="-25" dirty="0">
                <a:latin typeface="Calibri"/>
                <a:cs typeface="Calibri"/>
              </a:rPr>
              <a:t>and </a:t>
            </a:r>
            <a:r>
              <a:rPr sz="1750" dirty="0">
                <a:latin typeface="Calibri"/>
                <a:cs typeface="Calibri"/>
              </a:rPr>
              <a:t>a</a:t>
            </a:r>
            <a:r>
              <a:rPr sz="1750" spc="-25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total</a:t>
            </a:r>
            <a:r>
              <a:rPr sz="1750" spc="-25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of</a:t>
            </a:r>
            <a:r>
              <a:rPr sz="1750" spc="-30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over</a:t>
            </a:r>
            <a:r>
              <a:rPr sz="1750" spc="-40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250</a:t>
            </a:r>
            <a:r>
              <a:rPr sz="1750" spc="-35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million</a:t>
            </a:r>
            <a:r>
              <a:rPr sz="1750" spc="-45" dirty="0">
                <a:latin typeface="Calibri"/>
                <a:cs typeface="Calibri"/>
              </a:rPr>
              <a:t> </a:t>
            </a:r>
            <a:r>
              <a:rPr sz="1750" spc="-10" dirty="0">
                <a:latin typeface="Calibri"/>
                <a:cs typeface="Calibri"/>
              </a:rPr>
              <a:t>kilometers.</a:t>
            </a:r>
            <a:endParaRPr sz="17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175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  <a:spcBef>
                <a:spcPts val="5"/>
              </a:spcBef>
            </a:pPr>
            <a:r>
              <a:rPr sz="175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Rapido</a:t>
            </a:r>
            <a:r>
              <a:rPr sz="1750" i="1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75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is</a:t>
            </a:r>
            <a:r>
              <a:rPr sz="1750" i="1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75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</a:t>
            </a:r>
            <a:r>
              <a:rPr sz="1750" i="1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75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its</a:t>
            </a:r>
            <a:r>
              <a:rPr sz="1750" i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75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growth phase</a:t>
            </a:r>
            <a:r>
              <a:rPr sz="1750" i="1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75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and</a:t>
            </a:r>
            <a:r>
              <a:rPr sz="1750" i="1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75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it</a:t>
            </a:r>
            <a:r>
              <a:rPr sz="1750" i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75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operating</a:t>
            </a:r>
            <a:r>
              <a:rPr sz="1750" i="1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75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</a:t>
            </a:r>
            <a:r>
              <a:rPr sz="1750" i="1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75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</a:t>
            </a:r>
            <a:r>
              <a:rPr sz="1750" i="1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750" i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market</a:t>
            </a:r>
            <a:r>
              <a:rPr sz="1750" i="1" u="sng" spc="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75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where</a:t>
            </a:r>
            <a:r>
              <a:rPr sz="1750" i="1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75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Ola</a:t>
            </a:r>
            <a:r>
              <a:rPr sz="1750" i="1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75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and</a:t>
            </a:r>
            <a:r>
              <a:rPr sz="1750" i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75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Uber</a:t>
            </a:r>
            <a:r>
              <a:rPr sz="1750" i="1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75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are</a:t>
            </a:r>
            <a:r>
              <a:rPr sz="1750" i="1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75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dominant</a:t>
            </a:r>
            <a:r>
              <a:rPr sz="1750" i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750" i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players.</a:t>
            </a:r>
            <a:endParaRPr sz="17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05"/>
              </a:spcBef>
            </a:pPr>
            <a:endParaRPr sz="1750">
              <a:latin typeface="Calibri"/>
              <a:cs typeface="Calibri"/>
            </a:endParaRPr>
          </a:p>
          <a:p>
            <a:pPr marL="76200" marR="66675" algn="ctr">
              <a:lnSpc>
                <a:spcPct val="90000"/>
              </a:lnSpc>
            </a:pPr>
            <a:r>
              <a:rPr sz="1750" spc="-10" dirty="0">
                <a:latin typeface="Calibri"/>
                <a:cs typeface="Calibri"/>
              </a:rPr>
              <a:t>Thorough</a:t>
            </a:r>
            <a:r>
              <a:rPr sz="1750" spc="-80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customer</a:t>
            </a:r>
            <a:r>
              <a:rPr sz="1750" spc="-55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research</a:t>
            </a:r>
            <a:r>
              <a:rPr sz="1750" spc="-50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has</a:t>
            </a:r>
            <a:r>
              <a:rPr sz="1750" spc="-75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provided</a:t>
            </a:r>
            <a:r>
              <a:rPr sz="1750" spc="-65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insights</a:t>
            </a:r>
            <a:r>
              <a:rPr sz="1750" spc="-75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that</a:t>
            </a:r>
            <a:r>
              <a:rPr sz="1750" spc="-45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users</a:t>
            </a:r>
            <a:r>
              <a:rPr sz="1750" spc="-60" dirty="0">
                <a:latin typeface="Calibri"/>
                <a:cs typeface="Calibri"/>
              </a:rPr>
              <a:t> </a:t>
            </a:r>
            <a:r>
              <a:rPr sz="1750" spc="-10" dirty="0">
                <a:latin typeface="Calibri"/>
                <a:cs typeface="Calibri"/>
              </a:rPr>
              <a:t>constantly</a:t>
            </a:r>
            <a:r>
              <a:rPr sz="1750" spc="-60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switch</a:t>
            </a:r>
            <a:r>
              <a:rPr sz="1750" spc="-50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between</a:t>
            </a:r>
            <a:r>
              <a:rPr sz="1750" spc="-65" dirty="0">
                <a:latin typeface="Calibri"/>
                <a:cs typeface="Calibri"/>
              </a:rPr>
              <a:t> </a:t>
            </a:r>
            <a:r>
              <a:rPr sz="1750" spc="-25" dirty="0">
                <a:latin typeface="Calibri"/>
                <a:cs typeface="Calibri"/>
              </a:rPr>
              <a:t>Uber,</a:t>
            </a:r>
            <a:r>
              <a:rPr sz="1750" spc="-55" dirty="0">
                <a:latin typeface="Calibri"/>
                <a:cs typeface="Calibri"/>
              </a:rPr>
              <a:t> </a:t>
            </a:r>
            <a:r>
              <a:rPr sz="1750" spc="-20" dirty="0">
                <a:latin typeface="Calibri"/>
                <a:cs typeface="Calibri"/>
              </a:rPr>
              <a:t>Ola, </a:t>
            </a:r>
            <a:r>
              <a:rPr sz="1750" dirty="0">
                <a:latin typeface="Calibri"/>
                <a:cs typeface="Calibri"/>
              </a:rPr>
              <a:t>and</a:t>
            </a:r>
            <a:r>
              <a:rPr sz="1750" spc="-45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Rapido</a:t>
            </a:r>
            <a:r>
              <a:rPr sz="1750" spc="-45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while</a:t>
            </a:r>
            <a:r>
              <a:rPr sz="1750" spc="-45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booking</a:t>
            </a:r>
            <a:r>
              <a:rPr sz="1750" spc="-30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an</a:t>
            </a:r>
            <a:r>
              <a:rPr sz="1750" spc="-40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auto,</a:t>
            </a:r>
            <a:r>
              <a:rPr sz="1750" spc="-45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and</a:t>
            </a:r>
            <a:r>
              <a:rPr sz="1750" spc="-40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finalizing</a:t>
            </a:r>
            <a:r>
              <a:rPr sz="1750" spc="-65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the</a:t>
            </a:r>
            <a:r>
              <a:rPr sz="1750" spc="-25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booking</a:t>
            </a:r>
            <a:r>
              <a:rPr sz="1750" spc="-50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which</a:t>
            </a:r>
            <a:r>
              <a:rPr sz="1750" spc="-55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provides</a:t>
            </a:r>
            <a:r>
              <a:rPr sz="1750" spc="-30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the</a:t>
            </a:r>
            <a:r>
              <a:rPr sz="1750" spc="-50" dirty="0">
                <a:latin typeface="Calibri"/>
                <a:cs typeface="Calibri"/>
              </a:rPr>
              <a:t> </a:t>
            </a:r>
            <a:r>
              <a:rPr sz="1750" spc="-10" dirty="0">
                <a:latin typeface="Calibri"/>
                <a:cs typeface="Calibri"/>
              </a:rPr>
              <a:t>perfect combination</a:t>
            </a:r>
            <a:r>
              <a:rPr sz="1750" spc="-45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of</a:t>
            </a:r>
            <a:r>
              <a:rPr sz="1750" spc="-25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price</a:t>
            </a:r>
            <a:r>
              <a:rPr sz="1750" spc="-10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and</a:t>
            </a:r>
            <a:r>
              <a:rPr sz="1750" spc="-5" dirty="0">
                <a:latin typeface="Calibri"/>
                <a:cs typeface="Calibri"/>
              </a:rPr>
              <a:t> </a:t>
            </a:r>
            <a:r>
              <a:rPr sz="1750" spc="-10" dirty="0">
                <a:latin typeface="Calibri"/>
                <a:cs typeface="Calibri"/>
              </a:rPr>
              <a:t>expected</a:t>
            </a:r>
            <a:r>
              <a:rPr sz="1750" spc="-30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time</a:t>
            </a:r>
            <a:r>
              <a:rPr sz="1750" spc="-10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of</a:t>
            </a:r>
            <a:r>
              <a:rPr sz="1750" spc="-40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arrival</a:t>
            </a:r>
            <a:r>
              <a:rPr sz="1750" spc="-15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at</a:t>
            </a:r>
            <a:r>
              <a:rPr sz="1750" spc="-10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their</a:t>
            </a:r>
            <a:r>
              <a:rPr sz="1750" spc="-15" dirty="0">
                <a:latin typeface="Calibri"/>
                <a:cs typeface="Calibri"/>
              </a:rPr>
              <a:t> </a:t>
            </a:r>
            <a:r>
              <a:rPr sz="1750" spc="-10" dirty="0">
                <a:latin typeface="Calibri"/>
                <a:cs typeface="Calibri"/>
              </a:rPr>
              <a:t>doorstep.</a:t>
            </a:r>
            <a:endParaRPr sz="17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40"/>
              </a:spcBef>
            </a:pPr>
            <a:endParaRPr sz="1750">
              <a:latin typeface="Calibri"/>
              <a:cs typeface="Calibri"/>
            </a:endParaRPr>
          </a:p>
          <a:p>
            <a:pPr marL="198120" marR="189230" algn="ctr">
              <a:lnSpc>
                <a:spcPts val="1900"/>
              </a:lnSpc>
            </a:pPr>
            <a:r>
              <a:rPr sz="1750" dirty="0">
                <a:latin typeface="Calibri"/>
                <a:cs typeface="Calibri"/>
              </a:rPr>
              <a:t>We</a:t>
            </a:r>
            <a:r>
              <a:rPr sz="1750" spc="-50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wish</a:t>
            </a:r>
            <a:r>
              <a:rPr sz="1750" spc="-40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to</a:t>
            </a:r>
            <a:r>
              <a:rPr sz="1750" spc="-30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launch</a:t>
            </a:r>
            <a:r>
              <a:rPr sz="1750" spc="-40" dirty="0">
                <a:latin typeface="Calibri"/>
                <a:cs typeface="Calibri"/>
              </a:rPr>
              <a:t> </a:t>
            </a:r>
            <a:r>
              <a:rPr sz="1750" spc="-10" dirty="0">
                <a:latin typeface="Calibri"/>
                <a:cs typeface="Calibri"/>
              </a:rPr>
              <a:t>2-</a:t>
            </a:r>
            <a:r>
              <a:rPr sz="1750" dirty="0">
                <a:latin typeface="Calibri"/>
                <a:cs typeface="Calibri"/>
              </a:rPr>
              <a:t>3</a:t>
            </a:r>
            <a:r>
              <a:rPr sz="1750" spc="-45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new</a:t>
            </a:r>
            <a:r>
              <a:rPr sz="1750" spc="-40" dirty="0">
                <a:latin typeface="Calibri"/>
                <a:cs typeface="Calibri"/>
              </a:rPr>
              <a:t> </a:t>
            </a:r>
            <a:r>
              <a:rPr sz="1750" spc="-10" dirty="0">
                <a:latin typeface="Calibri"/>
                <a:cs typeface="Calibri"/>
              </a:rPr>
              <a:t>features</a:t>
            </a:r>
            <a:r>
              <a:rPr sz="1750" spc="-35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in</a:t>
            </a:r>
            <a:r>
              <a:rPr sz="1750" spc="-20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the</a:t>
            </a:r>
            <a:r>
              <a:rPr sz="1750" spc="-30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current</a:t>
            </a:r>
            <a:r>
              <a:rPr sz="1750" spc="-40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app,</a:t>
            </a:r>
            <a:r>
              <a:rPr sz="1750" spc="-35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which</a:t>
            </a:r>
            <a:r>
              <a:rPr sz="1750" spc="-40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can</a:t>
            </a:r>
            <a:r>
              <a:rPr sz="1750" spc="-25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reduce</a:t>
            </a:r>
            <a:r>
              <a:rPr sz="1750" spc="-45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the</a:t>
            </a:r>
            <a:r>
              <a:rPr sz="1750" spc="-30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switching</a:t>
            </a:r>
            <a:r>
              <a:rPr sz="1750" spc="-35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of</a:t>
            </a:r>
            <a:r>
              <a:rPr sz="1750" spc="-40" dirty="0">
                <a:latin typeface="Calibri"/>
                <a:cs typeface="Calibri"/>
              </a:rPr>
              <a:t> </a:t>
            </a:r>
            <a:r>
              <a:rPr sz="1750" spc="-10" dirty="0">
                <a:latin typeface="Calibri"/>
                <a:cs typeface="Calibri"/>
              </a:rPr>
              <a:t>users, </a:t>
            </a:r>
            <a:r>
              <a:rPr sz="1750" dirty="0">
                <a:latin typeface="Calibri"/>
                <a:cs typeface="Calibri"/>
              </a:rPr>
              <a:t>and</a:t>
            </a:r>
            <a:r>
              <a:rPr sz="1750" spc="-50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make</a:t>
            </a:r>
            <a:r>
              <a:rPr sz="1750" spc="-30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sure</a:t>
            </a:r>
            <a:r>
              <a:rPr sz="1750" spc="-35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they</a:t>
            </a:r>
            <a:r>
              <a:rPr sz="1750" spc="-45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stick</a:t>
            </a:r>
            <a:r>
              <a:rPr sz="1750" spc="-45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to</a:t>
            </a:r>
            <a:r>
              <a:rPr sz="1750" spc="-50" dirty="0"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our</a:t>
            </a:r>
            <a:r>
              <a:rPr sz="1750" spc="-50" dirty="0">
                <a:latin typeface="Calibri"/>
                <a:cs typeface="Calibri"/>
              </a:rPr>
              <a:t> </a:t>
            </a:r>
            <a:r>
              <a:rPr sz="1750" spc="-20" dirty="0">
                <a:latin typeface="Calibri"/>
                <a:cs typeface="Calibri"/>
              </a:rPr>
              <a:t>app.</a:t>
            </a:r>
            <a:endParaRPr sz="1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6508" y="1537716"/>
            <a:ext cx="9543288" cy="5033771"/>
          </a:xfrm>
          <a:prstGeom prst="rect">
            <a:avLst/>
          </a:prstGeom>
        </p:spPr>
      </p:pic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99744" y="1520952"/>
          <a:ext cx="9653270" cy="50253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60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4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42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42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940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5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Features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75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Uber</a:t>
                      </a:r>
                      <a:endParaRPr sz="175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75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Ola</a:t>
                      </a:r>
                      <a:endParaRPr sz="175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7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Rapido</a:t>
                      </a:r>
                      <a:endParaRPr sz="175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110">
                <a:tc gridSpan="4">
                  <a:txBody>
                    <a:bodyPr/>
                    <a:lstStyle/>
                    <a:p>
                      <a:pPr algn="ctr">
                        <a:lnSpc>
                          <a:spcPts val="1830"/>
                        </a:lnSpc>
                      </a:pPr>
                      <a:r>
                        <a:rPr sz="1550" b="1" dirty="0">
                          <a:latin typeface="Calibri"/>
                          <a:cs typeface="Calibri"/>
                        </a:rPr>
                        <a:t>CUSTOMER</a:t>
                      </a:r>
                      <a:r>
                        <a:rPr sz="1550" b="1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b="1" spc="-10" dirty="0">
                          <a:latin typeface="Calibri"/>
                          <a:cs typeface="Calibri"/>
                        </a:rPr>
                        <a:t>EXPERIENCE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635" algn="ctr">
                        <a:lnSpc>
                          <a:spcPts val="163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Multiple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languages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Linkage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through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google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maps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635" algn="ctr">
                        <a:lnSpc>
                          <a:spcPts val="163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Use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without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internet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2540" algn="ctr">
                        <a:lnSpc>
                          <a:spcPts val="163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Use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without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location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Booking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someone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else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30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Multiple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stops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30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SOME</a:t>
                      </a:r>
                      <a:r>
                        <a:rPr sz="14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CITIES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79">
                <a:tc gridSpan="4"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</a:pPr>
                      <a:r>
                        <a:rPr sz="1550" b="1" spc="-10" dirty="0">
                          <a:latin typeface="Calibri"/>
                          <a:cs typeface="Calibri"/>
                        </a:rPr>
                        <a:t>PAYMENTS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2540" algn="ctr">
                        <a:lnSpc>
                          <a:spcPts val="1630"/>
                        </a:lnSpc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Postpaid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feature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(payment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credit)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30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1270" algn="ctr">
                        <a:lnSpc>
                          <a:spcPts val="1630"/>
                        </a:lnSpc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Wallet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30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Change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payment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mode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after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booking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30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Monthly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passes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30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5110">
                <a:tc gridSpan="4">
                  <a:txBody>
                    <a:bodyPr/>
                    <a:lstStyle/>
                    <a:p>
                      <a:pPr algn="ctr">
                        <a:lnSpc>
                          <a:spcPts val="1830"/>
                        </a:lnSpc>
                      </a:pPr>
                      <a:r>
                        <a:rPr sz="1550" b="1" spc="-10" dirty="0">
                          <a:latin typeface="Calibri"/>
                          <a:cs typeface="Calibri"/>
                        </a:rPr>
                        <a:t>DRIVERS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635" algn="ctr">
                        <a:lnSpc>
                          <a:spcPts val="163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Frequency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payouts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30"/>
                        </a:lnSpc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WEEKLY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DAILY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DAILY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1905" algn="ctr">
                        <a:lnSpc>
                          <a:spcPts val="1630"/>
                        </a:lnSpc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Incentives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number of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rides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offered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30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46379">
                <a:tc gridSpan="4">
                  <a:txBody>
                    <a:bodyPr/>
                    <a:lstStyle/>
                    <a:p>
                      <a:pPr algn="ctr">
                        <a:lnSpc>
                          <a:spcPts val="1835"/>
                        </a:lnSpc>
                      </a:pPr>
                      <a:r>
                        <a:rPr sz="1550" b="1" dirty="0">
                          <a:latin typeface="Calibri"/>
                          <a:cs typeface="Calibri"/>
                        </a:rPr>
                        <a:t>ADDITIONAL</a:t>
                      </a:r>
                      <a:r>
                        <a:rPr sz="1550" b="1" spc="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b="1" spc="-10" dirty="0">
                          <a:latin typeface="Calibri"/>
                          <a:cs typeface="Calibri"/>
                        </a:rPr>
                        <a:t>SERVICES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Delivery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services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635" algn="ctr">
                        <a:lnSpc>
                          <a:spcPts val="163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Insured</a:t>
                      </a:r>
                      <a:r>
                        <a:rPr sz="1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rides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30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Additional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insurance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services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7804">
                <a:tc>
                  <a:txBody>
                    <a:bodyPr/>
                    <a:lstStyle/>
                    <a:p>
                      <a:pPr marL="1270" algn="ctr">
                        <a:lnSpc>
                          <a:spcPts val="1614"/>
                        </a:lnSpc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Payment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services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(integration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other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apps)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4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4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4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Package</a:t>
                      </a:r>
                      <a:r>
                        <a:rPr sz="1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delivery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services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539" y="2298192"/>
            <a:ext cx="810768" cy="81533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9539" y="3695700"/>
            <a:ext cx="810768" cy="78943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2127" y="4721352"/>
            <a:ext cx="545591" cy="54101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54507" y="5657088"/>
            <a:ext cx="659891" cy="661416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3437670" y="872747"/>
            <a:ext cx="406400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Competition</a:t>
            </a:r>
            <a:r>
              <a:rPr spc="-80" dirty="0"/>
              <a:t> </a:t>
            </a:r>
            <a:r>
              <a:rPr spc="-10" dirty="0"/>
              <a:t>benchmarking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72668"/>
            <a:ext cx="10692765" cy="6014085"/>
          </a:xfrm>
          <a:custGeom>
            <a:avLst/>
            <a:gdLst/>
            <a:ahLst/>
            <a:cxnLst/>
            <a:rect l="l" t="t" r="r" b="b"/>
            <a:pathLst>
              <a:path w="10692765" h="6014084">
                <a:moveTo>
                  <a:pt x="10692384" y="6013703"/>
                </a:moveTo>
                <a:lnTo>
                  <a:pt x="0" y="6013703"/>
                </a:lnTo>
                <a:lnTo>
                  <a:pt x="0" y="0"/>
                </a:lnTo>
                <a:lnTo>
                  <a:pt x="10692384" y="0"/>
                </a:lnTo>
                <a:lnTo>
                  <a:pt x="10692384" y="6013703"/>
                </a:lnTo>
                <a:close/>
              </a:path>
            </a:pathLst>
          </a:custGeom>
          <a:solidFill>
            <a:srgbClr val="FDD6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853664" y="894164"/>
            <a:ext cx="322389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User</a:t>
            </a:r>
            <a:r>
              <a:rPr spc="-55" dirty="0"/>
              <a:t> </a:t>
            </a:r>
            <a:r>
              <a:rPr dirty="0"/>
              <a:t>personas:</a:t>
            </a:r>
            <a:r>
              <a:rPr spc="-80" dirty="0"/>
              <a:t> </a:t>
            </a:r>
            <a:r>
              <a:rPr spc="-10" dirty="0"/>
              <a:t>Riders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40792" y="1488948"/>
            <a:ext cx="8227059" cy="1630680"/>
          </a:xfrm>
          <a:prstGeom prst="rect">
            <a:avLst/>
          </a:prstGeom>
          <a:solidFill>
            <a:srgbClr val="FFFFFF"/>
          </a:solidFill>
          <a:ln w="24384">
            <a:solidFill>
              <a:srgbClr val="000000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40"/>
              </a:spcBef>
            </a:pPr>
            <a:r>
              <a:rPr sz="1300" b="1" dirty="0">
                <a:latin typeface="Calibri"/>
                <a:cs typeface="Calibri"/>
              </a:rPr>
              <a:t>User</a:t>
            </a:r>
            <a:r>
              <a:rPr sz="1300" b="1" spc="1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1: </a:t>
            </a:r>
            <a:r>
              <a:rPr sz="1300" b="1" spc="-10" dirty="0">
                <a:latin typeface="Calibri"/>
                <a:cs typeface="Calibri"/>
              </a:rPr>
              <a:t>Rishabh</a:t>
            </a:r>
            <a:endParaRPr sz="1300">
              <a:latin typeface="Calibri"/>
              <a:cs typeface="Calibri"/>
            </a:endParaRPr>
          </a:p>
          <a:p>
            <a:pPr marL="380365" indent="-299720">
              <a:lnSpc>
                <a:spcPct val="100000"/>
              </a:lnSpc>
              <a:spcBef>
                <a:spcPts val="1055"/>
              </a:spcBef>
              <a:buFont typeface="Symbol"/>
              <a:buChar char=""/>
              <a:tabLst>
                <a:tab pos="380365" algn="l"/>
              </a:tabLst>
            </a:pPr>
            <a:r>
              <a:rPr sz="1150" dirty="0">
                <a:latin typeface="Calibri"/>
                <a:cs typeface="Calibri"/>
              </a:rPr>
              <a:t>26,</a:t>
            </a:r>
            <a:r>
              <a:rPr sz="1150" spc="-25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Fresh</a:t>
            </a:r>
            <a:r>
              <a:rPr sz="1150" spc="-15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MBA</a:t>
            </a:r>
            <a:r>
              <a:rPr sz="1150" spc="-25" dirty="0">
                <a:latin typeface="Calibri"/>
                <a:cs typeface="Calibri"/>
              </a:rPr>
              <a:t> </a:t>
            </a:r>
            <a:r>
              <a:rPr sz="1150" spc="-10" dirty="0">
                <a:latin typeface="Calibri"/>
                <a:cs typeface="Calibri"/>
              </a:rPr>
              <a:t>graduate,</a:t>
            </a:r>
            <a:r>
              <a:rPr sz="1150" spc="-25" dirty="0">
                <a:latin typeface="Calibri"/>
                <a:cs typeface="Calibri"/>
              </a:rPr>
              <a:t> </a:t>
            </a:r>
            <a:r>
              <a:rPr sz="1150" spc="-10" dirty="0">
                <a:latin typeface="Calibri"/>
                <a:cs typeface="Calibri"/>
              </a:rPr>
              <a:t>posted</a:t>
            </a:r>
            <a:r>
              <a:rPr sz="1150" spc="-20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in</a:t>
            </a:r>
            <a:r>
              <a:rPr sz="1150" spc="-25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a</a:t>
            </a:r>
            <a:r>
              <a:rPr sz="1150" spc="-20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tier</a:t>
            </a:r>
            <a:r>
              <a:rPr sz="1150" spc="-25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2</a:t>
            </a:r>
            <a:r>
              <a:rPr sz="1150" spc="-20" dirty="0">
                <a:latin typeface="Calibri"/>
                <a:cs typeface="Calibri"/>
              </a:rPr>
              <a:t> city</a:t>
            </a:r>
            <a:endParaRPr sz="1150">
              <a:latin typeface="Calibri"/>
              <a:cs typeface="Calibri"/>
            </a:endParaRPr>
          </a:p>
          <a:p>
            <a:pPr marL="380365" indent="-299720">
              <a:lnSpc>
                <a:spcPct val="100000"/>
              </a:lnSpc>
              <a:spcBef>
                <a:spcPts val="335"/>
              </a:spcBef>
              <a:buFont typeface="Symbol"/>
              <a:buChar char=""/>
              <a:tabLst>
                <a:tab pos="380365" algn="l"/>
              </a:tabLst>
            </a:pPr>
            <a:r>
              <a:rPr sz="1150" spc="-25" dirty="0">
                <a:latin typeface="Calibri"/>
                <a:cs typeface="Calibri"/>
              </a:rPr>
              <a:t>Travels </a:t>
            </a:r>
            <a:r>
              <a:rPr sz="1150" dirty="0">
                <a:latin typeface="Calibri"/>
                <a:cs typeface="Calibri"/>
              </a:rPr>
              <a:t>daily</a:t>
            </a:r>
            <a:r>
              <a:rPr sz="1150" spc="-20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from</a:t>
            </a:r>
            <a:r>
              <a:rPr sz="1150" spc="-15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his</a:t>
            </a:r>
            <a:r>
              <a:rPr sz="1150" spc="-30" dirty="0">
                <a:latin typeface="Calibri"/>
                <a:cs typeface="Calibri"/>
              </a:rPr>
              <a:t> </a:t>
            </a:r>
            <a:r>
              <a:rPr sz="1150" spc="-10" dirty="0">
                <a:latin typeface="Calibri"/>
                <a:cs typeface="Calibri"/>
              </a:rPr>
              <a:t>rented</a:t>
            </a:r>
            <a:r>
              <a:rPr sz="1150" spc="-25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flat</a:t>
            </a:r>
            <a:r>
              <a:rPr sz="1150" spc="-25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to</a:t>
            </a:r>
            <a:r>
              <a:rPr sz="1150" spc="-25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his</a:t>
            </a:r>
            <a:r>
              <a:rPr sz="1150" spc="-15" dirty="0">
                <a:latin typeface="Calibri"/>
                <a:cs typeface="Calibri"/>
              </a:rPr>
              <a:t> </a:t>
            </a:r>
            <a:r>
              <a:rPr sz="1150" spc="-10" dirty="0">
                <a:latin typeface="Calibri"/>
                <a:cs typeface="Calibri"/>
              </a:rPr>
              <a:t>work</a:t>
            </a:r>
            <a:r>
              <a:rPr sz="1150" spc="-40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place</a:t>
            </a:r>
            <a:r>
              <a:rPr sz="1150" spc="-20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and</a:t>
            </a:r>
            <a:r>
              <a:rPr sz="1150" spc="-25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back.</a:t>
            </a:r>
            <a:r>
              <a:rPr sz="1150" spc="-35" dirty="0">
                <a:latin typeface="Calibri"/>
                <a:cs typeface="Calibri"/>
              </a:rPr>
              <a:t> </a:t>
            </a:r>
            <a:r>
              <a:rPr sz="11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Finds</a:t>
            </a:r>
            <a:r>
              <a:rPr sz="115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it</a:t>
            </a:r>
            <a:r>
              <a:rPr sz="115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5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cumbersome</a:t>
            </a:r>
            <a:r>
              <a:rPr sz="1150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booking</a:t>
            </a:r>
            <a:r>
              <a:rPr sz="115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</a:t>
            </a:r>
            <a:r>
              <a:rPr sz="115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auto</a:t>
            </a:r>
            <a:r>
              <a:rPr sz="115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5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everyday</a:t>
            </a:r>
            <a:endParaRPr sz="1150">
              <a:latin typeface="Calibri"/>
              <a:cs typeface="Calibri"/>
            </a:endParaRPr>
          </a:p>
          <a:p>
            <a:pPr marL="380365" indent="-299720">
              <a:lnSpc>
                <a:spcPct val="100000"/>
              </a:lnSpc>
              <a:spcBef>
                <a:spcPts val="335"/>
              </a:spcBef>
              <a:buFont typeface="Symbol"/>
              <a:buChar char=""/>
              <a:tabLst>
                <a:tab pos="380365" algn="l"/>
              </a:tabLst>
            </a:pPr>
            <a:r>
              <a:rPr sz="1150" dirty="0">
                <a:latin typeface="Calibri"/>
                <a:cs typeface="Calibri"/>
              </a:rPr>
              <a:t>Has</a:t>
            </a:r>
            <a:r>
              <a:rPr sz="1150" spc="-20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to</a:t>
            </a:r>
            <a:r>
              <a:rPr sz="1150" spc="-15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do</a:t>
            </a:r>
            <a:r>
              <a:rPr sz="1150" spc="-35" dirty="0">
                <a:latin typeface="Calibri"/>
                <a:cs typeface="Calibri"/>
              </a:rPr>
              <a:t> </a:t>
            </a:r>
            <a:r>
              <a:rPr sz="1150" spc="-10" dirty="0">
                <a:latin typeface="Calibri"/>
                <a:cs typeface="Calibri"/>
              </a:rPr>
              <a:t>market</a:t>
            </a:r>
            <a:r>
              <a:rPr sz="1150" spc="-20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visits</a:t>
            </a:r>
            <a:r>
              <a:rPr sz="1150" spc="-25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as</a:t>
            </a:r>
            <a:r>
              <a:rPr sz="1150" spc="-30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part</a:t>
            </a:r>
            <a:r>
              <a:rPr sz="1150" spc="-30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of</a:t>
            </a:r>
            <a:r>
              <a:rPr sz="1150" spc="-10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his</a:t>
            </a:r>
            <a:r>
              <a:rPr sz="1150" spc="-30" dirty="0">
                <a:latin typeface="Calibri"/>
                <a:cs typeface="Calibri"/>
              </a:rPr>
              <a:t> </a:t>
            </a:r>
            <a:r>
              <a:rPr sz="1150" spc="-10" dirty="0">
                <a:latin typeface="Calibri"/>
                <a:cs typeface="Calibri"/>
              </a:rPr>
              <a:t>work,</a:t>
            </a:r>
            <a:r>
              <a:rPr sz="1150" spc="-35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which</a:t>
            </a:r>
            <a:r>
              <a:rPr sz="1150" spc="-20" dirty="0">
                <a:latin typeface="Calibri"/>
                <a:cs typeface="Calibri"/>
              </a:rPr>
              <a:t> </a:t>
            </a:r>
            <a:r>
              <a:rPr sz="1150" spc="-10" dirty="0">
                <a:latin typeface="Calibri"/>
                <a:cs typeface="Calibri"/>
              </a:rPr>
              <a:t>takes</a:t>
            </a:r>
            <a:r>
              <a:rPr sz="1150" spc="-15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him</a:t>
            </a:r>
            <a:r>
              <a:rPr sz="1150" spc="-35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to</a:t>
            </a:r>
            <a:r>
              <a:rPr sz="1150" spc="-15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new</a:t>
            </a:r>
            <a:r>
              <a:rPr sz="1150" spc="-30" dirty="0">
                <a:latin typeface="Calibri"/>
                <a:cs typeface="Calibri"/>
              </a:rPr>
              <a:t> </a:t>
            </a:r>
            <a:r>
              <a:rPr sz="1150" spc="-10" dirty="0">
                <a:latin typeface="Calibri"/>
                <a:cs typeface="Calibri"/>
              </a:rPr>
              <a:t>locations</a:t>
            </a:r>
            <a:r>
              <a:rPr sz="1150" spc="-20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most</a:t>
            </a:r>
            <a:r>
              <a:rPr sz="1150" spc="-20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of</a:t>
            </a:r>
            <a:r>
              <a:rPr sz="1150" spc="-20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the</a:t>
            </a:r>
            <a:r>
              <a:rPr sz="1150" spc="-15" dirty="0">
                <a:latin typeface="Calibri"/>
                <a:cs typeface="Calibri"/>
              </a:rPr>
              <a:t> </a:t>
            </a:r>
            <a:r>
              <a:rPr sz="1150" spc="-20" dirty="0">
                <a:latin typeface="Calibri"/>
                <a:cs typeface="Calibri"/>
              </a:rPr>
              <a:t>days</a:t>
            </a:r>
            <a:endParaRPr sz="1150">
              <a:latin typeface="Calibri"/>
              <a:cs typeface="Calibri"/>
            </a:endParaRPr>
          </a:p>
          <a:p>
            <a:pPr marL="381000" marR="480059" indent="-300355">
              <a:lnSpc>
                <a:spcPts val="1190"/>
              </a:lnSpc>
              <a:spcBef>
                <a:spcPts val="535"/>
              </a:spcBef>
              <a:buFont typeface="Symbol"/>
              <a:buChar char=""/>
              <a:tabLst>
                <a:tab pos="381000" algn="l"/>
              </a:tabLst>
            </a:pPr>
            <a:r>
              <a:rPr sz="1150" spc="-10" dirty="0">
                <a:latin typeface="Calibri"/>
                <a:cs typeface="Calibri"/>
              </a:rPr>
              <a:t>Doesn’t</a:t>
            </a:r>
            <a:r>
              <a:rPr sz="1150" spc="-25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know</a:t>
            </a:r>
            <a:r>
              <a:rPr sz="1150" spc="-25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most</a:t>
            </a:r>
            <a:r>
              <a:rPr sz="1150" spc="-40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of</a:t>
            </a:r>
            <a:r>
              <a:rPr sz="1150" spc="-20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the</a:t>
            </a:r>
            <a:r>
              <a:rPr sz="1150" spc="-30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places</a:t>
            </a:r>
            <a:r>
              <a:rPr sz="1150" spc="-25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he</a:t>
            </a:r>
            <a:r>
              <a:rPr sz="1150" spc="-20" dirty="0">
                <a:latin typeface="Calibri"/>
                <a:cs typeface="Calibri"/>
              </a:rPr>
              <a:t> </a:t>
            </a:r>
            <a:r>
              <a:rPr sz="1150" spc="-10" dirty="0">
                <a:latin typeface="Calibri"/>
                <a:cs typeface="Calibri"/>
              </a:rPr>
              <a:t>travels</a:t>
            </a:r>
            <a:r>
              <a:rPr sz="1150" spc="-30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to,</a:t>
            </a:r>
            <a:r>
              <a:rPr sz="1150" spc="-25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and</a:t>
            </a:r>
            <a:r>
              <a:rPr sz="1150" spc="-30" dirty="0">
                <a:latin typeface="Calibri"/>
                <a:cs typeface="Calibri"/>
              </a:rPr>
              <a:t> </a:t>
            </a:r>
            <a:r>
              <a:rPr sz="11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finds</a:t>
            </a:r>
            <a:r>
              <a:rPr sz="115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it</a:t>
            </a:r>
            <a:r>
              <a:rPr sz="115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challenging</a:t>
            </a:r>
            <a:r>
              <a:rPr sz="115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</a:t>
            </a:r>
            <a:r>
              <a:rPr sz="115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direct</a:t>
            </a:r>
            <a:r>
              <a:rPr sz="115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5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drivers</a:t>
            </a:r>
            <a:r>
              <a:rPr sz="115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</a:t>
            </a:r>
            <a:r>
              <a:rPr sz="115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his</a:t>
            </a:r>
            <a:r>
              <a:rPr sz="115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5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location</a:t>
            </a:r>
            <a:r>
              <a:rPr sz="115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as</a:t>
            </a:r>
            <a:r>
              <a:rPr sz="115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he</a:t>
            </a:r>
            <a:r>
              <a:rPr sz="115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doesn’t</a:t>
            </a:r>
            <a:r>
              <a:rPr sz="115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know</a:t>
            </a:r>
            <a:r>
              <a:rPr sz="115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5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1150" spc="-25" dirty="0">
                <a:latin typeface="Calibri"/>
                <a:cs typeface="Calibri"/>
              </a:rPr>
              <a:t> </a:t>
            </a:r>
            <a:r>
              <a:rPr sz="115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landmarks </a:t>
            </a:r>
            <a:r>
              <a:rPr sz="11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</a:t>
            </a:r>
            <a:r>
              <a:rPr sz="1150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</a:t>
            </a:r>
            <a:r>
              <a:rPr sz="115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new</a:t>
            </a:r>
            <a:r>
              <a:rPr sz="1150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5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place</a:t>
            </a:r>
            <a:endParaRPr sz="1150">
              <a:latin typeface="Calibri"/>
              <a:cs typeface="Calibri"/>
            </a:endParaRPr>
          </a:p>
          <a:p>
            <a:pPr marL="281305" indent="-200660">
              <a:lnSpc>
                <a:spcPct val="100000"/>
              </a:lnSpc>
              <a:spcBef>
                <a:spcPts val="670"/>
              </a:spcBef>
              <a:buFont typeface="Wingdings"/>
              <a:buChar char=""/>
              <a:tabLst>
                <a:tab pos="281305" algn="l"/>
              </a:tabLst>
            </a:pPr>
            <a:r>
              <a:rPr sz="1150" dirty="0">
                <a:latin typeface="Calibri"/>
                <a:cs typeface="Calibri"/>
              </a:rPr>
              <a:t>Solution:</a:t>
            </a:r>
            <a:r>
              <a:rPr sz="1150" spc="-50" dirty="0">
                <a:latin typeface="Calibri"/>
                <a:cs typeface="Calibri"/>
              </a:rPr>
              <a:t> </a:t>
            </a:r>
            <a:r>
              <a:rPr sz="1150" spc="-10" dirty="0">
                <a:latin typeface="Calibri"/>
                <a:cs typeface="Calibri"/>
              </a:rPr>
              <a:t>Provide</a:t>
            </a:r>
            <a:r>
              <a:rPr sz="1150" spc="-35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regular</a:t>
            </a:r>
            <a:r>
              <a:rPr sz="1150" spc="-60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scheduled</a:t>
            </a:r>
            <a:r>
              <a:rPr sz="1150" spc="-15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services</a:t>
            </a:r>
            <a:r>
              <a:rPr sz="1150" spc="-40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and</a:t>
            </a:r>
            <a:r>
              <a:rPr sz="1150" spc="-50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share</a:t>
            </a:r>
            <a:r>
              <a:rPr sz="1150" spc="-35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live</a:t>
            </a:r>
            <a:r>
              <a:rPr sz="1150" spc="-60" dirty="0">
                <a:latin typeface="Calibri"/>
                <a:cs typeface="Calibri"/>
              </a:rPr>
              <a:t> </a:t>
            </a:r>
            <a:r>
              <a:rPr sz="1150" spc="-10" dirty="0">
                <a:latin typeface="Calibri"/>
                <a:cs typeface="Calibri"/>
              </a:rPr>
              <a:t>location</a:t>
            </a:r>
            <a:endParaRPr sz="115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06028" y="1560575"/>
            <a:ext cx="1488947" cy="14889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79180" y="4867655"/>
            <a:ext cx="1488948" cy="148894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40792" y="3236976"/>
            <a:ext cx="8227059" cy="1400810"/>
          </a:xfrm>
          <a:prstGeom prst="rect">
            <a:avLst/>
          </a:prstGeom>
          <a:solidFill>
            <a:srgbClr val="FFFFFF"/>
          </a:solidFill>
          <a:ln w="24384">
            <a:solidFill>
              <a:srgbClr val="000000"/>
            </a:solidFill>
          </a:ln>
        </p:spPr>
        <p:txBody>
          <a:bodyPr vert="horz" wrap="square" lIns="0" tIns="36194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284"/>
              </a:spcBef>
            </a:pPr>
            <a:r>
              <a:rPr sz="1300" b="1" dirty="0">
                <a:latin typeface="Calibri"/>
                <a:cs typeface="Calibri"/>
              </a:rPr>
              <a:t>User</a:t>
            </a:r>
            <a:r>
              <a:rPr sz="1300" b="1" spc="1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2: </a:t>
            </a:r>
            <a:r>
              <a:rPr sz="1300" b="1" spc="-10" dirty="0">
                <a:latin typeface="Calibri"/>
                <a:cs typeface="Calibri"/>
              </a:rPr>
              <a:t>Divya</a:t>
            </a:r>
            <a:endParaRPr sz="1300">
              <a:latin typeface="Calibri"/>
              <a:cs typeface="Calibri"/>
            </a:endParaRPr>
          </a:p>
          <a:p>
            <a:pPr marL="380365" indent="-299720">
              <a:lnSpc>
                <a:spcPct val="100000"/>
              </a:lnSpc>
              <a:spcBef>
                <a:spcPts val="1325"/>
              </a:spcBef>
              <a:buFont typeface="Symbol"/>
              <a:buChar char=""/>
              <a:tabLst>
                <a:tab pos="380365" algn="l"/>
              </a:tabLst>
            </a:pPr>
            <a:r>
              <a:rPr sz="1150" dirty="0">
                <a:latin typeface="Calibri"/>
                <a:cs typeface="Calibri"/>
              </a:rPr>
              <a:t>24,</a:t>
            </a:r>
            <a:r>
              <a:rPr sz="1150" spc="-25" dirty="0">
                <a:latin typeface="Calibri"/>
                <a:cs typeface="Calibri"/>
              </a:rPr>
              <a:t> </a:t>
            </a:r>
            <a:r>
              <a:rPr sz="1150" spc="-10" dirty="0">
                <a:latin typeface="Calibri"/>
                <a:cs typeface="Calibri"/>
              </a:rPr>
              <a:t>works</a:t>
            </a:r>
            <a:r>
              <a:rPr sz="1150" spc="-15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for</a:t>
            </a:r>
            <a:r>
              <a:rPr sz="1150" spc="-25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an</a:t>
            </a:r>
            <a:r>
              <a:rPr sz="1150" spc="-20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IT</a:t>
            </a:r>
            <a:r>
              <a:rPr sz="1150" spc="-20" dirty="0">
                <a:latin typeface="Calibri"/>
                <a:cs typeface="Calibri"/>
              </a:rPr>
              <a:t> </a:t>
            </a:r>
            <a:r>
              <a:rPr sz="1150" spc="-10" dirty="0">
                <a:latin typeface="Calibri"/>
                <a:cs typeface="Calibri"/>
              </a:rPr>
              <a:t>company</a:t>
            </a:r>
            <a:r>
              <a:rPr sz="1150" spc="-15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and</a:t>
            </a:r>
            <a:r>
              <a:rPr sz="1150" spc="-25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lives</a:t>
            </a:r>
            <a:r>
              <a:rPr sz="1150" spc="-25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in</a:t>
            </a:r>
            <a:r>
              <a:rPr sz="1150" spc="-30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a</a:t>
            </a:r>
            <a:r>
              <a:rPr sz="1150" spc="-15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flat</a:t>
            </a:r>
            <a:r>
              <a:rPr sz="1150" spc="-15" dirty="0">
                <a:latin typeface="Calibri"/>
                <a:cs typeface="Calibri"/>
              </a:rPr>
              <a:t> </a:t>
            </a:r>
            <a:r>
              <a:rPr sz="1150" spc="-20" dirty="0">
                <a:latin typeface="Calibri"/>
                <a:cs typeface="Calibri"/>
              </a:rPr>
              <a:t>alone</a:t>
            </a:r>
            <a:endParaRPr sz="1150">
              <a:latin typeface="Calibri"/>
              <a:cs typeface="Calibri"/>
            </a:endParaRPr>
          </a:p>
          <a:p>
            <a:pPr marL="380365" indent="-299720">
              <a:lnSpc>
                <a:spcPct val="100000"/>
              </a:lnSpc>
              <a:spcBef>
                <a:spcPts val="610"/>
              </a:spcBef>
              <a:buFont typeface="Symbol"/>
              <a:buChar char=""/>
              <a:tabLst>
                <a:tab pos="380365" algn="l"/>
              </a:tabLst>
            </a:pPr>
            <a:r>
              <a:rPr sz="1150" dirty="0">
                <a:latin typeface="Calibri"/>
                <a:cs typeface="Calibri"/>
              </a:rPr>
              <a:t>Has</a:t>
            </a:r>
            <a:r>
              <a:rPr sz="1150" spc="-15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her</a:t>
            </a:r>
            <a:r>
              <a:rPr sz="1150" spc="-15" dirty="0">
                <a:latin typeface="Calibri"/>
                <a:cs typeface="Calibri"/>
              </a:rPr>
              <a:t> </a:t>
            </a:r>
            <a:r>
              <a:rPr sz="1150" spc="-10" dirty="0">
                <a:latin typeface="Calibri"/>
                <a:cs typeface="Calibri"/>
              </a:rPr>
              <a:t>grandparents</a:t>
            </a:r>
            <a:r>
              <a:rPr sz="1150" spc="-20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visit</a:t>
            </a:r>
            <a:r>
              <a:rPr sz="1150" spc="-20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her</a:t>
            </a:r>
            <a:r>
              <a:rPr sz="1150" spc="-10" dirty="0">
                <a:latin typeface="Calibri"/>
                <a:cs typeface="Calibri"/>
              </a:rPr>
              <a:t> occasionally</a:t>
            </a:r>
            <a:r>
              <a:rPr sz="1150" spc="-15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from</a:t>
            </a:r>
            <a:r>
              <a:rPr sz="1150" spc="-25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the</a:t>
            </a:r>
            <a:r>
              <a:rPr sz="1150" spc="-10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other</a:t>
            </a:r>
            <a:r>
              <a:rPr sz="1150" spc="-35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part</a:t>
            </a:r>
            <a:r>
              <a:rPr sz="1150" spc="-20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of</a:t>
            </a:r>
            <a:r>
              <a:rPr sz="1150" spc="-25" dirty="0">
                <a:latin typeface="Calibri"/>
                <a:cs typeface="Calibri"/>
              </a:rPr>
              <a:t> </a:t>
            </a:r>
            <a:r>
              <a:rPr sz="1150" spc="-20" dirty="0">
                <a:latin typeface="Calibri"/>
                <a:cs typeface="Calibri"/>
              </a:rPr>
              <a:t>town</a:t>
            </a:r>
            <a:endParaRPr sz="1150">
              <a:latin typeface="Calibri"/>
              <a:cs typeface="Calibri"/>
            </a:endParaRPr>
          </a:p>
          <a:p>
            <a:pPr marL="380365" indent="-299720">
              <a:lnSpc>
                <a:spcPct val="100000"/>
              </a:lnSpc>
              <a:spcBef>
                <a:spcPts val="615"/>
              </a:spcBef>
              <a:buFont typeface="Symbol"/>
              <a:buChar char=""/>
              <a:tabLst>
                <a:tab pos="380365" algn="l"/>
              </a:tabLst>
            </a:pPr>
            <a:r>
              <a:rPr sz="11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She</a:t>
            </a:r>
            <a:r>
              <a:rPr sz="115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wants</a:t>
            </a:r>
            <a:r>
              <a:rPr sz="115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them</a:t>
            </a:r>
            <a:r>
              <a:rPr sz="115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</a:t>
            </a:r>
            <a:r>
              <a:rPr sz="115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safely</a:t>
            </a:r>
            <a:r>
              <a:rPr sz="115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5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travel</a:t>
            </a:r>
            <a:r>
              <a:rPr sz="115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</a:t>
            </a:r>
            <a:r>
              <a:rPr sz="115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and</a:t>
            </a:r>
            <a:r>
              <a:rPr sz="115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from</a:t>
            </a:r>
            <a:r>
              <a:rPr sz="115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her</a:t>
            </a:r>
            <a:r>
              <a:rPr sz="1150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5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place</a:t>
            </a:r>
            <a:endParaRPr sz="1150">
              <a:latin typeface="Calibri"/>
              <a:cs typeface="Calibri"/>
            </a:endParaRPr>
          </a:p>
          <a:p>
            <a:pPr marL="380365" indent="-299720">
              <a:lnSpc>
                <a:spcPct val="100000"/>
              </a:lnSpc>
              <a:spcBef>
                <a:spcPts val="610"/>
              </a:spcBef>
              <a:buFont typeface="Wingdings"/>
              <a:buChar char=""/>
              <a:tabLst>
                <a:tab pos="380365" algn="l"/>
              </a:tabLst>
            </a:pPr>
            <a:r>
              <a:rPr sz="1150" dirty="0">
                <a:latin typeface="Calibri"/>
                <a:cs typeface="Calibri"/>
              </a:rPr>
              <a:t>Solution:</a:t>
            </a:r>
            <a:r>
              <a:rPr sz="1150" spc="-50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Book</a:t>
            </a:r>
            <a:r>
              <a:rPr sz="1150" spc="-50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for</a:t>
            </a:r>
            <a:r>
              <a:rPr sz="1150" spc="-40" dirty="0">
                <a:latin typeface="Calibri"/>
                <a:cs typeface="Calibri"/>
              </a:rPr>
              <a:t> </a:t>
            </a:r>
            <a:r>
              <a:rPr sz="1150" spc="-10" dirty="0">
                <a:latin typeface="Calibri"/>
                <a:cs typeface="Calibri"/>
              </a:rPr>
              <a:t>others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0792" y="4783835"/>
            <a:ext cx="8227059" cy="1655445"/>
          </a:xfrm>
          <a:prstGeom prst="rect">
            <a:avLst/>
          </a:prstGeom>
          <a:solidFill>
            <a:srgbClr val="FFFFFF"/>
          </a:solidFill>
          <a:ln w="24384">
            <a:solidFill>
              <a:srgbClr val="000000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280"/>
              </a:spcBef>
            </a:pPr>
            <a:r>
              <a:rPr sz="1300" b="1" dirty="0">
                <a:latin typeface="Calibri"/>
                <a:cs typeface="Calibri"/>
              </a:rPr>
              <a:t>User</a:t>
            </a:r>
            <a:r>
              <a:rPr sz="1300" b="1" spc="10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3: Ram</a:t>
            </a:r>
            <a:r>
              <a:rPr sz="1300" b="1" spc="15" dirty="0">
                <a:latin typeface="Calibri"/>
                <a:cs typeface="Calibri"/>
              </a:rPr>
              <a:t> </a:t>
            </a:r>
            <a:r>
              <a:rPr sz="1300" b="1" spc="-10" dirty="0">
                <a:latin typeface="Calibri"/>
                <a:cs typeface="Calibri"/>
              </a:rPr>
              <a:t>Nikunj</a:t>
            </a:r>
            <a:endParaRPr sz="1300">
              <a:latin typeface="Calibri"/>
              <a:cs typeface="Calibri"/>
            </a:endParaRPr>
          </a:p>
          <a:p>
            <a:pPr marL="380365" indent="-299720">
              <a:lnSpc>
                <a:spcPct val="100000"/>
              </a:lnSpc>
              <a:spcBef>
                <a:spcPts val="1330"/>
              </a:spcBef>
              <a:buFont typeface="Symbol"/>
              <a:buChar char=""/>
              <a:tabLst>
                <a:tab pos="380365" algn="l"/>
              </a:tabLst>
            </a:pPr>
            <a:r>
              <a:rPr sz="1150" spc="-20" dirty="0">
                <a:latin typeface="Calibri"/>
                <a:cs typeface="Calibri"/>
              </a:rPr>
              <a:t>Divya’s</a:t>
            </a:r>
            <a:r>
              <a:rPr sz="1150" spc="-45" dirty="0">
                <a:latin typeface="Calibri"/>
                <a:cs typeface="Calibri"/>
              </a:rPr>
              <a:t> </a:t>
            </a:r>
            <a:r>
              <a:rPr sz="1150" spc="-20" dirty="0">
                <a:latin typeface="Calibri"/>
                <a:cs typeface="Calibri"/>
              </a:rPr>
              <a:t>grandfather,</a:t>
            </a:r>
            <a:r>
              <a:rPr sz="1150" spc="-25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72,</a:t>
            </a:r>
            <a:r>
              <a:rPr sz="1150" spc="-5" dirty="0">
                <a:latin typeface="Calibri"/>
                <a:cs typeface="Calibri"/>
              </a:rPr>
              <a:t> </a:t>
            </a:r>
            <a:r>
              <a:rPr sz="1150" spc="-10" dirty="0">
                <a:latin typeface="Calibri"/>
                <a:cs typeface="Calibri"/>
              </a:rPr>
              <a:t>retired</a:t>
            </a:r>
            <a:r>
              <a:rPr sz="1150" spc="-25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from</a:t>
            </a:r>
            <a:r>
              <a:rPr sz="1150" spc="-5" dirty="0">
                <a:latin typeface="Calibri"/>
                <a:cs typeface="Calibri"/>
              </a:rPr>
              <a:t> </a:t>
            </a:r>
            <a:r>
              <a:rPr sz="1150" spc="-10" dirty="0">
                <a:latin typeface="Calibri"/>
                <a:cs typeface="Calibri"/>
              </a:rPr>
              <a:t>government</a:t>
            </a:r>
            <a:r>
              <a:rPr sz="1150" spc="-20" dirty="0">
                <a:latin typeface="Calibri"/>
                <a:cs typeface="Calibri"/>
              </a:rPr>
              <a:t> </a:t>
            </a:r>
            <a:r>
              <a:rPr sz="1150" spc="-10" dirty="0">
                <a:latin typeface="Calibri"/>
                <a:cs typeface="Calibri"/>
              </a:rPr>
              <a:t>service</a:t>
            </a:r>
            <a:endParaRPr sz="1150">
              <a:latin typeface="Calibri"/>
              <a:cs typeface="Calibri"/>
            </a:endParaRPr>
          </a:p>
          <a:p>
            <a:pPr marL="380365" indent="-299720">
              <a:lnSpc>
                <a:spcPct val="100000"/>
              </a:lnSpc>
              <a:spcBef>
                <a:spcPts val="610"/>
              </a:spcBef>
              <a:buFont typeface="Symbol"/>
              <a:buChar char=""/>
              <a:tabLst>
                <a:tab pos="380365" algn="l"/>
              </a:tabLst>
            </a:pPr>
            <a:r>
              <a:rPr sz="1150" dirty="0">
                <a:latin typeface="Calibri"/>
                <a:cs typeface="Calibri"/>
              </a:rPr>
              <a:t>Lives</a:t>
            </a:r>
            <a:r>
              <a:rPr sz="1150" spc="-25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with</a:t>
            </a:r>
            <a:r>
              <a:rPr sz="1150" spc="-30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his</a:t>
            </a:r>
            <a:r>
              <a:rPr sz="1150" spc="-30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wife,</a:t>
            </a:r>
            <a:r>
              <a:rPr sz="1150" spc="-30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and</a:t>
            </a:r>
            <a:r>
              <a:rPr sz="1150" spc="-30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has</a:t>
            </a:r>
            <a:r>
              <a:rPr sz="1150" spc="-30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his</a:t>
            </a:r>
            <a:r>
              <a:rPr sz="1150" spc="-30" dirty="0">
                <a:latin typeface="Calibri"/>
                <a:cs typeface="Calibri"/>
              </a:rPr>
              <a:t> </a:t>
            </a:r>
            <a:r>
              <a:rPr sz="1150" spc="-10" dirty="0">
                <a:latin typeface="Calibri"/>
                <a:cs typeface="Calibri"/>
              </a:rPr>
              <a:t>granddaughter</a:t>
            </a:r>
            <a:r>
              <a:rPr sz="1150" spc="-20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living</a:t>
            </a:r>
            <a:r>
              <a:rPr sz="1150" spc="-40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in</a:t>
            </a:r>
            <a:r>
              <a:rPr sz="1150" spc="-30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other</a:t>
            </a:r>
            <a:r>
              <a:rPr sz="1150" spc="-15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part</a:t>
            </a:r>
            <a:r>
              <a:rPr sz="1150" spc="-40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of</a:t>
            </a:r>
            <a:r>
              <a:rPr sz="1150" spc="-15" dirty="0">
                <a:latin typeface="Calibri"/>
                <a:cs typeface="Calibri"/>
              </a:rPr>
              <a:t> </a:t>
            </a:r>
            <a:r>
              <a:rPr sz="1150" spc="-10" dirty="0">
                <a:latin typeface="Calibri"/>
                <a:cs typeface="Calibri"/>
              </a:rPr>
              <a:t>town</a:t>
            </a:r>
            <a:r>
              <a:rPr sz="1150" spc="-40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whom</a:t>
            </a:r>
            <a:r>
              <a:rPr sz="1150" spc="-30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he</a:t>
            </a:r>
            <a:r>
              <a:rPr sz="1150" spc="-25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wants</a:t>
            </a:r>
            <a:r>
              <a:rPr sz="1150" spc="-35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to</a:t>
            </a:r>
            <a:r>
              <a:rPr sz="1150" spc="-25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visit</a:t>
            </a:r>
            <a:r>
              <a:rPr sz="1150" spc="-30" dirty="0">
                <a:latin typeface="Calibri"/>
                <a:cs typeface="Calibri"/>
              </a:rPr>
              <a:t> </a:t>
            </a:r>
            <a:r>
              <a:rPr sz="1150" spc="-10" dirty="0">
                <a:latin typeface="Calibri"/>
                <a:cs typeface="Calibri"/>
              </a:rPr>
              <a:t>frequently</a:t>
            </a:r>
            <a:r>
              <a:rPr sz="1150" spc="-15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without</a:t>
            </a:r>
            <a:r>
              <a:rPr sz="1150" spc="-25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bothering</a:t>
            </a:r>
            <a:r>
              <a:rPr sz="1150" spc="-25" dirty="0">
                <a:latin typeface="Calibri"/>
                <a:cs typeface="Calibri"/>
              </a:rPr>
              <a:t> her</a:t>
            </a:r>
            <a:endParaRPr sz="1150">
              <a:latin typeface="Calibri"/>
              <a:cs typeface="Calibri"/>
            </a:endParaRPr>
          </a:p>
          <a:p>
            <a:pPr marL="380365" indent="-299720">
              <a:lnSpc>
                <a:spcPct val="100000"/>
              </a:lnSpc>
              <a:spcBef>
                <a:spcPts val="615"/>
              </a:spcBef>
              <a:buFont typeface="Symbol"/>
              <a:buChar char=""/>
              <a:tabLst>
                <a:tab pos="380365" algn="l"/>
              </a:tabLst>
            </a:pPr>
            <a:r>
              <a:rPr sz="11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Is</a:t>
            </a:r>
            <a:r>
              <a:rPr sz="115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not</a:t>
            </a:r>
            <a:r>
              <a:rPr sz="115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</a:t>
            </a:r>
            <a:r>
              <a:rPr sz="1150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5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tech-</a:t>
            </a:r>
            <a:r>
              <a:rPr sz="11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wizard,</a:t>
            </a:r>
            <a:r>
              <a:rPr sz="1150" spc="-25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but</a:t>
            </a:r>
            <a:r>
              <a:rPr sz="1150" spc="-20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is</a:t>
            </a:r>
            <a:r>
              <a:rPr sz="1150" spc="-20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eager</a:t>
            </a:r>
            <a:r>
              <a:rPr sz="1150" spc="-25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to</a:t>
            </a:r>
            <a:r>
              <a:rPr sz="1150" spc="-10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learn</a:t>
            </a:r>
            <a:r>
              <a:rPr sz="1150" spc="-20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and</a:t>
            </a:r>
            <a:r>
              <a:rPr sz="1150" spc="-25" dirty="0">
                <a:latin typeface="Calibri"/>
                <a:cs typeface="Calibri"/>
              </a:rPr>
              <a:t> </a:t>
            </a:r>
            <a:r>
              <a:rPr sz="1150" spc="-10" dirty="0">
                <a:latin typeface="Calibri"/>
                <a:cs typeface="Calibri"/>
              </a:rPr>
              <a:t>likes</a:t>
            </a:r>
            <a:r>
              <a:rPr sz="1150" spc="-25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to</a:t>
            </a:r>
            <a:r>
              <a:rPr sz="1150" spc="-10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do</a:t>
            </a:r>
            <a:r>
              <a:rPr sz="1150" spc="-25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things</a:t>
            </a:r>
            <a:r>
              <a:rPr sz="1150" spc="-15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by</a:t>
            </a:r>
            <a:r>
              <a:rPr sz="1150" spc="-15" dirty="0">
                <a:latin typeface="Calibri"/>
                <a:cs typeface="Calibri"/>
              </a:rPr>
              <a:t> </a:t>
            </a:r>
            <a:r>
              <a:rPr sz="1150" spc="-10" dirty="0">
                <a:latin typeface="Calibri"/>
                <a:cs typeface="Calibri"/>
              </a:rPr>
              <a:t>himself.</a:t>
            </a:r>
            <a:endParaRPr sz="1150">
              <a:latin typeface="Calibri"/>
              <a:cs typeface="Calibri"/>
            </a:endParaRPr>
          </a:p>
          <a:p>
            <a:pPr marL="380365" indent="-299720">
              <a:lnSpc>
                <a:spcPct val="100000"/>
              </a:lnSpc>
              <a:spcBef>
                <a:spcPts val="610"/>
              </a:spcBef>
              <a:buFont typeface="Symbol"/>
              <a:buChar char=""/>
              <a:tabLst>
                <a:tab pos="380365" algn="l"/>
              </a:tabLst>
            </a:pPr>
            <a:r>
              <a:rPr sz="1150" dirty="0">
                <a:latin typeface="Calibri"/>
                <a:cs typeface="Calibri"/>
              </a:rPr>
              <a:t>Has</a:t>
            </a:r>
            <a:r>
              <a:rPr sz="1150" spc="-20" dirty="0">
                <a:latin typeface="Calibri"/>
                <a:cs typeface="Calibri"/>
              </a:rPr>
              <a:t> </a:t>
            </a:r>
            <a:r>
              <a:rPr sz="11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trouble</a:t>
            </a:r>
            <a:r>
              <a:rPr sz="1150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5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understanding</a:t>
            </a:r>
            <a:r>
              <a:rPr sz="1150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if</a:t>
            </a:r>
            <a:r>
              <a:rPr sz="115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he</a:t>
            </a:r>
            <a:r>
              <a:rPr sz="115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has</a:t>
            </a:r>
            <a:r>
              <a:rPr sz="1150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</a:t>
            </a:r>
            <a:r>
              <a:rPr sz="115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pay</a:t>
            </a:r>
            <a:r>
              <a:rPr sz="115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cash</a:t>
            </a:r>
            <a:r>
              <a:rPr sz="115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at</a:t>
            </a:r>
            <a:r>
              <a:rPr sz="115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115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end</a:t>
            </a:r>
            <a:r>
              <a:rPr sz="1150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sz="115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1150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ride</a:t>
            </a:r>
            <a:r>
              <a:rPr sz="115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or</a:t>
            </a:r>
            <a:r>
              <a:rPr sz="115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if</a:t>
            </a:r>
            <a:r>
              <a:rPr sz="115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5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payment</a:t>
            </a:r>
            <a:r>
              <a:rPr sz="1150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will</a:t>
            </a:r>
            <a:r>
              <a:rPr sz="115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be</a:t>
            </a:r>
            <a:r>
              <a:rPr sz="115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5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taken</a:t>
            </a:r>
            <a:r>
              <a:rPr sz="115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5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online</a:t>
            </a:r>
            <a:endParaRPr sz="1150">
              <a:latin typeface="Calibri"/>
              <a:cs typeface="Calibri"/>
            </a:endParaRPr>
          </a:p>
          <a:p>
            <a:pPr marL="380365" indent="-299720">
              <a:lnSpc>
                <a:spcPct val="100000"/>
              </a:lnSpc>
              <a:spcBef>
                <a:spcPts val="610"/>
              </a:spcBef>
              <a:buFont typeface="Wingdings"/>
              <a:buChar char=""/>
              <a:tabLst>
                <a:tab pos="380365" algn="l"/>
              </a:tabLst>
            </a:pPr>
            <a:r>
              <a:rPr sz="1150" dirty="0">
                <a:latin typeface="Calibri"/>
                <a:cs typeface="Calibri"/>
              </a:rPr>
              <a:t>Solution:</a:t>
            </a:r>
            <a:r>
              <a:rPr sz="1150" spc="-35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Simplifying</a:t>
            </a:r>
            <a:r>
              <a:rPr sz="1150" spc="-30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the</a:t>
            </a:r>
            <a:r>
              <a:rPr sz="1150" spc="-25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UI,</a:t>
            </a:r>
            <a:r>
              <a:rPr sz="1150" spc="-35" dirty="0">
                <a:latin typeface="Calibri"/>
                <a:cs typeface="Calibri"/>
              </a:rPr>
              <a:t> </a:t>
            </a:r>
            <a:r>
              <a:rPr sz="1150" spc="-10" dirty="0">
                <a:latin typeface="Calibri"/>
                <a:cs typeface="Calibri"/>
              </a:rPr>
              <a:t>Introduce</a:t>
            </a:r>
            <a:r>
              <a:rPr sz="1150" spc="-15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pay</a:t>
            </a:r>
            <a:r>
              <a:rPr sz="1150" spc="-45" dirty="0">
                <a:latin typeface="Calibri"/>
                <a:cs typeface="Calibri"/>
              </a:rPr>
              <a:t> </a:t>
            </a:r>
            <a:r>
              <a:rPr sz="1150" spc="-10" dirty="0">
                <a:latin typeface="Calibri"/>
                <a:cs typeface="Calibri"/>
              </a:rPr>
              <a:t>later</a:t>
            </a:r>
            <a:r>
              <a:rPr sz="1150" spc="-45" dirty="0">
                <a:latin typeface="Calibri"/>
                <a:cs typeface="Calibri"/>
              </a:rPr>
              <a:t> </a:t>
            </a:r>
            <a:r>
              <a:rPr sz="1150" spc="-10" dirty="0">
                <a:latin typeface="Calibri"/>
                <a:cs typeface="Calibri"/>
              </a:rPr>
              <a:t>option</a:t>
            </a:r>
            <a:endParaRPr sz="115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66988" y="3235451"/>
            <a:ext cx="1411223" cy="14097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72668"/>
            <a:ext cx="10692765" cy="6014085"/>
          </a:xfrm>
          <a:custGeom>
            <a:avLst/>
            <a:gdLst/>
            <a:ahLst/>
            <a:cxnLst/>
            <a:rect l="l" t="t" r="r" b="b"/>
            <a:pathLst>
              <a:path w="10692765" h="6014084">
                <a:moveTo>
                  <a:pt x="10692384" y="6013703"/>
                </a:moveTo>
                <a:lnTo>
                  <a:pt x="0" y="6013703"/>
                </a:lnTo>
                <a:lnTo>
                  <a:pt x="0" y="0"/>
                </a:lnTo>
                <a:lnTo>
                  <a:pt x="10692384" y="0"/>
                </a:lnTo>
                <a:lnTo>
                  <a:pt x="10692384" y="6013703"/>
                </a:lnTo>
                <a:close/>
              </a:path>
            </a:pathLst>
          </a:custGeom>
          <a:solidFill>
            <a:srgbClr val="FDD6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670828" y="1523467"/>
            <a:ext cx="334899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User</a:t>
            </a:r>
            <a:r>
              <a:rPr spc="-55" dirty="0"/>
              <a:t> </a:t>
            </a:r>
            <a:r>
              <a:rPr dirty="0"/>
              <a:t>personas:</a:t>
            </a:r>
            <a:r>
              <a:rPr spc="-80" dirty="0"/>
              <a:t> </a:t>
            </a:r>
            <a:r>
              <a:rPr spc="-10" dirty="0"/>
              <a:t>Drivers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52627" y="2362200"/>
            <a:ext cx="8072755" cy="1774189"/>
            <a:chOff x="452627" y="2362200"/>
            <a:chExt cx="8072755" cy="1774189"/>
          </a:xfrm>
        </p:grpSpPr>
        <p:sp>
          <p:nvSpPr>
            <p:cNvPr id="5" name="object 5"/>
            <p:cNvSpPr/>
            <p:nvPr/>
          </p:nvSpPr>
          <p:spPr>
            <a:xfrm>
              <a:off x="464819" y="2374391"/>
              <a:ext cx="8048625" cy="1750060"/>
            </a:xfrm>
            <a:custGeom>
              <a:avLst/>
              <a:gdLst/>
              <a:ahLst/>
              <a:cxnLst/>
              <a:rect l="l" t="t" r="r" b="b"/>
              <a:pathLst>
                <a:path w="8048625" h="1750060">
                  <a:moveTo>
                    <a:pt x="8048244" y="1749551"/>
                  </a:moveTo>
                  <a:lnTo>
                    <a:pt x="0" y="1749551"/>
                  </a:lnTo>
                  <a:lnTo>
                    <a:pt x="0" y="0"/>
                  </a:lnTo>
                  <a:lnTo>
                    <a:pt x="8048244" y="0"/>
                  </a:lnTo>
                  <a:lnTo>
                    <a:pt x="8048244" y="17495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4819" y="2374391"/>
              <a:ext cx="8048625" cy="1750060"/>
            </a:xfrm>
            <a:custGeom>
              <a:avLst/>
              <a:gdLst/>
              <a:ahLst/>
              <a:cxnLst/>
              <a:rect l="l" t="t" r="r" b="b"/>
              <a:pathLst>
                <a:path w="8048625" h="1750060">
                  <a:moveTo>
                    <a:pt x="0" y="0"/>
                  </a:moveTo>
                  <a:lnTo>
                    <a:pt x="8048244" y="0"/>
                  </a:lnTo>
                  <a:lnTo>
                    <a:pt x="8048244" y="1749551"/>
                  </a:lnTo>
                  <a:lnTo>
                    <a:pt x="0" y="1749551"/>
                  </a:lnTo>
                  <a:lnTo>
                    <a:pt x="0" y="0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45589" y="2396725"/>
            <a:ext cx="6767830" cy="1576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Calibri"/>
                <a:cs typeface="Calibri"/>
              </a:rPr>
              <a:t>User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1:</a:t>
            </a:r>
            <a:r>
              <a:rPr sz="1400" b="1" spc="-1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Sunder</a:t>
            </a:r>
            <a:r>
              <a:rPr sz="1400" b="1" spc="-10" dirty="0">
                <a:latin typeface="Calibri"/>
                <a:cs typeface="Calibri"/>
              </a:rPr>
              <a:t> </a:t>
            </a:r>
            <a:r>
              <a:rPr sz="1400" b="1" spc="-25" dirty="0">
                <a:latin typeface="Calibri"/>
                <a:cs typeface="Calibri"/>
              </a:rPr>
              <a:t>Lal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Calibri"/>
              <a:cs typeface="Calibri"/>
            </a:endParaRPr>
          </a:p>
          <a:p>
            <a:pPr marL="299720" indent="-299720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299720" algn="l"/>
              </a:tabLst>
            </a:pPr>
            <a:r>
              <a:rPr sz="1200" dirty="0">
                <a:latin typeface="Calibri"/>
                <a:cs typeface="Calibri"/>
              </a:rPr>
              <a:t>Lives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tier</a:t>
            </a:r>
            <a:r>
              <a:rPr sz="1200" spc="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2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city,</a:t>
            </a:r>
            <a:r>
              <a:rPr sz="1200" spc="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has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been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doing</a:t>
            </a:r>
            <a:r>
              <a:rPr sz="1200" spc="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well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himself</a:t>
            </a:r>
            <a:r>
              <a:rPr sz="1200" spc="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as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Rapido/Uber/Ola</a:t>
            </a:r>
            <a:r>
              <a:rPr sz="1200" spc="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driver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past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2</a:t>
            </a:r>
            <a:r>
              <a:rPr sz="1200" spc="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months</a:t>
            </a:r>
            <a:endParaRPr sz="1200">
              <a:latin typeface="Calibri"/>
              <a:cs typeface="Calibri"/>
            </a:endParaRPr>
          </a:p>
          <a:p>
            <a:pPr marL="299720" indent="-299720">
              <a:lnSpc>
                <a:spcPct val="100000"/>
              </a:lnSpc>
              <a:spcBef>
                <a:spcPts val="1005"/>
              </a:spcBef>
              <a:buFont typeface="Symbol"/>
              <a:buChar char=""/>
              <a:tabLst>
                <a:tab pos="299720" algn="l"/>
              </a:tabLst>
            </a:pPr>
            <a:r>
              <a:rPr sz="1200" dirty="0">
                <a:latin typeface="Calibri"/>
                <a:cs typeface="Calibri"/>
              </a:rPr>
              <a:t>Has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shifted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new</a:t>
            </a:r>
            <a:r>
              <a:rPr sz="1200" spc="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city,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so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doesn’t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know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its</a:t>
            </a:r>
            <a:r>
              <a:rPr sz="1200" spc="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localities</a:t>
            </a:r>
            <a:r>
              <a:rPr sz="1200" spc="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that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well.</a:t>
            </a:r>
            <a:endParaRPr sz="1200">
              <a:latin typeface="Calibri"/>
              <a:cs typeface="Calibri"/>
            </a:endParaRPr>
          </a:p>
          <a:p>
            <a:pPr marL="299720" indent="-299720">
              <a:lnSpc>
                <a:spcPct val="100000"/>
              </a:lnSpc>
              <a:spcBef>
                <a:spcPts val="1019"/>
              </a:spcBef>
              <a:buFont typeface="Symbol"/>
              <a:buChar char=""/>
              <a:tabLst>
                <a:tab pos="299720" algn="l"/>
              </a:tabLst>
            </a:pPr>
            <a:r>
              <a:rPr sz="1200" dirty="0">
                <a:latin typeface="Calibri"/>
                <a:cs typeface="Calibri"/>
              </a:rPr>
              <a:t>Complains</a:t>
            </a:r>
            <a:r>
              <a:rPr sz="1200" spc="6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that</a:t>
            </a:r>
            <a:r>
              <a:rPr sz="1200" spc="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it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40" dirty="0">
                <a:latin typeface="Calibri"/>
                <a:cs typeface="Calibri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difficult</a:t>
            </a:r>
            <a:r>
              <a:rPr sz="1200" u="sng" spc="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</a:t>
            </a:r>
            <a:r>
              <a:rPr sz="1200" u="sng" spc="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locate</a:t>
            </a:r>
            <a:r>
              <a:rPr sz="1200" u="sng" spc="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riders</a:t>
            </a:r>
            <a:r>
              <a:rPr sz="1200" u="sng" spc="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when</a:t>
            </a:r>
            <a:r>
              <a:rPr sz="1200" u="sng" spc="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picking</a:t>
            </a:r>
            <a:r>
              <a:rPr sz="1200" u="sng" spc="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them</a:t>
            </a:r>
            <a:r>
              <a:rPr sz="1200" u="sng" spc="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up,</a:t>
            </a:r>
            <a:r>
              <a:rPr sz="1200" u="sng" spc="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especially</a:t>
            </a:r>
            <a:r>
              <a:rPr sz="1200" u="sng" spc="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older</a:t>
            </a:r>
            <a:r>
              <a:rPr sz="1200" u="sng" spc="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2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generation</a:t>
            </a:r>
            <a:endParaRPr sz="1200">
              <a:latin typeface="Calibri"/>
              <a:cs typeface="Calibri"/>
            </a:endParaRPr>
          </a:p>
          <a:p>
            <a:pPr marL="271145" indent="-271145">
              <a:lnSpc>
                <a:spcPct val="100000"/>
              </a:lnSpc>
              <a:spcBef>
                <a:spcPts val="1010"/>
              </a:spcBef>
              <a:buFont typeface="Wingdings"/>
              <a:buChar char=""/>
              <a:tabLst>
                <a:tab pos="271145" algn="l"/>
              </a:tabLst>
            </a:pPr>
            <a:r>
              <a:rPr sz="1200" dirty="0">
                <a:latin typeface="Calibri"/>
                <a:cs typeface="Calibri"/>
              </a:rPr>
              <a:t>Solution: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Riders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can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share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live</a:t>
            </a:r>
            <a:r>
              <a:rPr sz="1200" spc="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location</a:t>
            </a:r>
            <a:r>
              <a:rPr sz="1200" spc="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drivers</a:t>
            </a:r>
            <a:r>
              <a:rPr sz="1200" spc="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easier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reachability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16696" y="4672584"/>
            <a:ext cx="1886711" cy="121462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53855" y="2444496"/>
            <a:ext cx="1612391" cy="160781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64819" y="4529327"/>
            <a:ext cx="8023859" cy="1635760"/>
          </a:xfrm>
          <a:prstGeom prst="rect">
            <a:avLst/>
          </a:prstGeom>
          <a:solidFill>
            <a:srgbClr val="FFFFFF"/>
          </a:solidFill>
          <a:ln w="24384">
            <a:solidFill>
              <a:srgbClr val="000000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280"/>
              </a:spcBef>
            </a:pPr>
            <a:r>
              <a:rPr sz="1400" b="1" dirty="0">
                <a:latin typeface="Calibri"/>
                <a:cs typeface="Calibri"/>
              </a:rPr>
              <a:t>User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2:</a:t>
            </a:r>
            <a:r>
              <a:rPr sz="1400" b="1" spc="-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Harish</a:t>
            </a:r>
            <a:endParaRPr sz="1400">
              <a:latin typeface="Calibri"/>
              <a:cs typeface="Calibri"/>
            </a:endParaRPr>
          </a:p>
          <a:p>
            <a:pPr marL="380365" indent="-299720">
              <a:lnSpc>
                <a:spcPct val="100000"/>
              </a:lnSpc>
              <a:spcBef>
                <a:spcPts val="1375"/>
              </a:spcBef>
              <a:buFont typeface="Symbol"/>
              <a:buChar char=""/>
              <a:tabLst>
                <a:tab pos="380365" algn="l"/>
              </a:tabLst>
            </a:pPr>
            <a:r>
              <a:rPr sz="1200" dirty="0">
                <a:latin typeface="Calibri"/>
                <a:cs typeface="Calibri"/>
              </a:rPr>
              <a:t>Has</a:t>
            </a:r>
            <a:r>
              <a:rPr sz="1200" spc="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been</a:t>
            </a:r>
            <a:r>
              <a:rPr sz="1200" spc="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driving</a:t>
            </a:r>
            <a:r>
              <a:rPr sz="1200" spc="7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Rapido/Uber/Ola</a:t>
            </a:r>
            <a:r>
              <a:rPr sz="1200" spc="7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auto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4</a:t>
            </a:r>
            <a:r>
              <a:rPr sz="1200" spc="5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years</a:t>
            </a:r>
            <a:endParaRPr sz="1200">
              <a:latin typeface="Calibri"/>
              <a:cs typeface="Calibri"/>
            </a:endParaRPr>
          </a:p>
          <a:p>
            <a:pPr marL="381000" marR="418465" indent="-300355">
              <a:lnSpc>
                <a:spcPct val="109200"/>
              </a:lnSpc>
              <a:spcBef>
                <a:spcPts val="525"/>
              </a:spcBef>
              <a:buFont typeface="Symbol"/>
              <a:buChar char=""/>
              <a:tabLst>
                <a:tab pos="381000" algn="l"/>
              </a:tabLst>
            </a:pPr>
            <a:r>
              <a:rPr sz="1200" dirty="0">
                <a:latin typeface="Calibri"/>
                <a:cs typeface="Calibri"/>
              </a:rPr>
              <a:t>Complains</a:t>
            </a:r>
            <a:r>
              <a:rPr sz="1200" spc="7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about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no</a:t>
            </a:r>
            <a:r>
              <a:rPr sz="1200" u="sng" spc="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help</a:t>
            </a:r>
            <a:r>
              <a:rPr sz="1200" u="sng" spc="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from</a:t>
            </a:r>
            <a:r>
              <a:rPr sz="1200" u="sng" spc="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1200" u="sng" spc="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companies</a:t>
            </a:r>
            <a:r>
              <a:rPr sz="1200" u="sng" spc="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</a:t>
            </a:r>
            <a:r>
              <a:rPr sz="1200" u="sng" spc="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drivers</a:t>
            </a:r>
            <a:r>
              <a:rPr sz="1200" u="sng" spc="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</a:t>
            </a:r>
            <a:r>
              <a:rPr sz="1200" u="sng" spc="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conflict</a:t>
            </a:r>
            <a:r>
              <a:rPr sz="1200" u="sng" spc="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resolution</a:t>
            </a:r>
            <a:r>
              <a:rPr sz="1200" dirty="0">
                <a:latin typeface="Calibri"/>
                <a:cs typeface="Calibri"/>
              </a:rPr>
              <a:t>.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Solutions</a:t>
            </a:r>
            <a:r>
              <a:rPr sz="1200" spc="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are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always</a:t>
            </a:r>
            <a:r>
              <a:rPr sz="1200" spc="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biased</a:t>
            </a:r>
            <a:r>
              <a:rPr sz="1200" spc="5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towards riders</a:t>
            </a:r>
            <a:endParaRPr sz="1200">
              <a:latin typeface="Calibri"/>
              <a:cs typeface="Calibri"/>
            </a:endParaRPr>
          </a:p>
          <a:p>
            <a:pPr marL="80645" marR="114935" indent="297180">
              <a:lnSpc>
                <a:spcPct val="109200"/>
              </a:lnSpc>
              <a:spcBef>
                <a:spcPts val="540"/>
              </a:spcBef>
              <a:buFont typeface="Wingdings"/>
              <a:buChar char=""/>
              <a:tabLst>
                <a:tab pos="377825" algn="l"/>
              </a:tabLst>
            </a:pPr>
            <a:r>
              <a:rPr sz="1200" dirty="0">
                <a:latin typeface="Calibri"/>
                <a:cs typeface="Calibri"/>
              </a:rPr>
              <a:t>Solution:</a:t>
            </a:r>
            <a:r>
              <a:rPr sz="1200" spc="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Dedicated</a:t>
            </a:r>
            <a:r>
              <a:rPr sz="1200" spc="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customer</a:t>
            </a:r>
            <a:r>
              <a:rPr sz="1200" spc="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service</a:t>
            </a:r>
            <a:r>
              <a:rPr sz="1200" spc="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line</a:t>
            </a:r>
            <a:r>
              <a:rPr sz="1200" spc="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drivers</a:t>
            </a:r>
            <a:r>
              <a:rPr sz="1200" spc="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order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sort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out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their</a:t>
            </a:r>
            <a:r>
              <a:rPr sz="1200" spc="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problems</a:t>
            </a:r>
            <a:r>
              <a:rPr sz="1200" spc="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</a:t>
            </a:r>
            <a:r>
              <a:rPr sz="1200" spc="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priority</a:t>
            </a:r>
            <a:r>
              <a:rPr sz="1200" spc="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without</a:t>
            </a:r>
            <a:r>
              <a:rPr sz="1200" spc="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need</a:t>
            </a:r>
            <a:r>
              <a:rPr sz="1200" spc="5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to </a:t>
            </a:r>
            <a:r>
              <a:rPr sz="1200" dirty="0">
                <a:latin typeface="Calibri"/>
                <a:cs typeface="Calibri"/>
              </a:rPr>
              <a:t>raise tickets</a:t>
            </a:r>
            <a:r>
              <a:rPr sz="1200" spc="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first.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53266" y="980881"/>
            <a:ext cx="385191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Possible</a:t>
            </a:r>
            <a:r>
              <a:rPr spc="-85" dirty="0"/>
              <a:t> </a:t>
            </a:r>
            <a:r>
              <a:rPr spc="-10" dirty="0"/>
              <a:t>feature</a:t>
            </a:r>
            <a:r>
              <a:rPr spc="-80" dirty="0"/>
              <a:t> </a:t>
            </a:r>
            <a:r>
              <a:rPr spc="-10" dirty="0"/>
              <a:t>additions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00050" y="1523237"/>
          <a:ext cx="9970135" cy="3896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1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8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422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235">
                <a:tc>
                  <a:txBody>
                    <a:bodyPr/>
                    <a:lstStyle/>
                    <a:p>
                      <a:pPr marR="7683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Feature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(Riders)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BF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Details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B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Problems</a:t>
                      </a:r>
                      <a:r>
                        <a:rPr sz="1400" b="1" spc="-7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targeted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B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64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403860" marR="195580" indent="-20447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50" b="1" dirty="0">
                          <a:latin typeface="Calibri"/>
                          <a:cs typeface="Calibri"/>
                        </a:rPr>
                        <a:t>Share</a:t>
                      </a:r>
                      <a:r>
                        <a:rPr sz="105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dirty="0">
                          <a:latin typeface="Calibri"/>
                          <a:cs typeface="Calibri"/>
                        </a:rPr>
                        <a:t>live</a:t>
                      </a:r>
                      <a:r>
                        <a:rPr sz="105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10" dirty="0">
                          <a:latin typeface="Calibri"/>
                          <a:cs typeface="Calibri"/>
                        </a:rPr>
                        <a:t>location </a:t>
                      </a:r>
                      <a:r>
                        <a:rPr sz="1050" b="1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05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10" dirty="0">
                          <a:latin typeface="Calibri"/>
                          <a:cs typeface="Calibri"/>
                        </a:rPr>
                        <a:t>driver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1125855" marR="147955" indent="-9709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50" dirty="0">
                          <a:latin typeface="Calibri"/>
                          <a:cs typeface="Calibri"/>
                        </a:rPr>
                        <a:t>Option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users</a:t>
                      </a:r>
                      <a:r>
                        <a:rPr sz="10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share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their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live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locations</a:t>
                      </a:r>
                      <a:r>
                        <a:rPr sz="105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driver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before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starting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trip.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 marL="103505" marR="97155"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050" dirty="0">
                          <a:latin typeface="Calibri"/>
                          <a:cs typeface="Calibri"/>
                        </a:rPr>
                        <a:t>Riders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who</a:t>
                      </a:r>
                      <a:r>
                        <a:rPr sz="10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unaware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05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their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surroundings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can be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found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drivers</a:t>
                      </a:r>
                      <a:r>
                        <a:rPr sz="105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in case</a:t>
                      </a:r>
                      <a:r>
                        <a:rPr sz="105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they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have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wandered</a:t>
                      </a:r>
                      <a:r>
                        <a:rPr sz="105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away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from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pickup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point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unable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present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at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designated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pickup</a:t>
                      </a:r>
                      <a:r>
                        <a:rPr sz="105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point.</a:t>
                      </a:r>
                      <a:endParaRPr sz="1050">
                        <a:latin typeface="Calibri"/>
                        <a:cs typeface="Calibri"/>
                      </a:endParaRPr>
                    </a:p>
                    <a:p>
                      <a:pPr marL="111125" marR="106680"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050" dirty="0">
                          <a:latin typeface="Calibri"/>
                          <a:cs typeface="Calibri"/>
                        </a:rPr>
                        <a:t>Drivers</a:t>
                      </a:r>
                      <a:r>
                        <a:rPr sz="105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general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more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aware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localities</a:t>
                      </a:r>
                      <a:r>
                        <a:rPr sz="105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reach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rider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easily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case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they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have</a:t>
                      </a:r>
                      <a:r>
                        <a:rPr sz="105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their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live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locations</a:t>
                      </a:r>
                      <a:r>
                        <a:rPr sz="10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accessible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539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20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spc="-10" dirty="0">
                          <a:latin typeface="Calibri"/>
                          <a:cs typeface="Calibri"/>
                        </a:rPr>
                        <a:t>Pay</a:t>
                      </a:r>
                      <a:r>
                        <a:rPr sz="105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dirty="0">
                          <a:latin typeface="Calibri"/>
                          <a:cs typeface="Calibri"/>
                        </a:rPr>
                        <a:t>later</a:t>
                      </a:r>
                      <a:r>
                        <a:rPr sz="105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10" dirty="0">
                          <a:latin typeface="Calibri"/>
                          <a:cs typeface="Calibri"/>
                        </a:rPr>
                        <a:t>option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marL="99060" marR="9334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050" dirty="0">
                          <a:latin typeface="Calibri"/>
                          <a:cs typeface="Calibri"/>
                        </a:rPr>
                        <a:t>Option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users</a:t>
                      </a:r>
                      <a:r>
                        <a:rPr sz="105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make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payment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before</a:t>
                      </a:r>
                      <a:r>
                        <a:rPr sz="105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next</a:t>
                      </a:r>
                      <a:r>
                        <a:rPr sz="10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ride</a:t>
                      </a:r>
                      <a:r>
                        <a:rPr sz="10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instead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of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current</a:t>
                      </a:r>
                      <a:r>
                        <a:rPr sz="105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limit of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within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minutes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ending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current 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ride</a:t>
                      </a:r>
                      <a:endParaRPr sz="1050">
                        <a:latin typeface="Calibri"/>
                        <a:cs typeface="Calibri"/>
                      </a:endParaRPr>
                    </a:p>
                    <a:p>
                      <a:pPr marL="80645" marR="72390" indent="-1270"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050" spc="-3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avoid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accumulation</a:t>
                      </a:r>
                      <a:r>
                        <a:rPr sz="10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debt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company,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there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05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limit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ride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amount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that is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eligible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pay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later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option,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which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later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increased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good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credit</a:t>
                      </a:r>
                      <a:r>
                        <a:rPr sz="105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behaviour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126364" marR="120014" indent="51435" algn="just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5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case</a:t>
                      </a:r>
                      <a:r>
                        <a:rPr sz="10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of online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payments,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when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0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hurry</a:t>
                      </a:r>
                      <a:r>
                        <a:rPr sz="10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unable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to receive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network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in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their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phones,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they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should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have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option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pay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later,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before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being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able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book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their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next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ride.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This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feature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10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expanded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later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credit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based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payment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like Ola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PostPaid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181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4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dirty="0">
                          <a:latin typeface="Calibri"/>
                          <a:cs typeface="Calibri"/>
                        </a:rPr>
                        <a:t>Book</a:t>
                      </a:r>
                      <a:r>
                        <a:rPr sz="105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05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10" dirty="0">
                          <a:latin typeface="Calibri"/>
                          <a:cs typeface="Calibri"/>
                        </a:rPr>
                        <a:t>others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 marL="1656080" marR="177800" indent="-1472565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050" dirty="0">
                          <a:latin typeface="Calibri"/>
                          <a:cs typeface="Calibri"/>
                        </a:rPr>
                        <a:t>Option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book ride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riders</a:t>
                      </a:r>
                      <a:r>
                        <a:rPr sz="105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who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do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have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mobile 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app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117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 marL="154940" marR="148590" indent="-317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050" dirty="0">
                          <a:latin typeface="Calibri"/>
                          <a:cs typeface="Calibri"/>
                        </a:rPr>
                        <a:t>Helps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people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who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do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not have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mobile</a:t>
                      </a:r>
                      <a:r>
                        <a:rPr sz="10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app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unable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book the ride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by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themselves.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E.g.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older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people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people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who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cannot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access</a:t>
                      </a:r>
                      <a:r>
                        <a:rPr sz="105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internet</a:t>
                      </a:r>
                      <a:r>
                        <a:rPr sz="105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due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to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some</a:t>
                      </a:r>
                      <a:r>
                        <a:rPr sz="10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reason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sz="1050" b="1" dirty="0">
                          <a:latin typeface="Calibri"/>
                          <a:cs typeface="Calibri"/>
                        </a:rPr>
                        <a:t>UI</a:t>
                      </a:r>
                      <a:r>
                        <a:rPr sz="1050" b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10" dirty="0">
                          <a:latin typeface="Calibri"/>
                          <a:cs typeface="Calibri"/>
                        </a:rPr>
                        <a:t>simplification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212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marL="1080135" marR="142240" indent="-9296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050" dirty="0">
                          <a:latin typeface="Calibri"/>
                          <a:cs typeface="Calibri"/>
                        </a:rPr>
                        <a:t>Simplify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UI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during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0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at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end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rides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make</a:t>
                      </a:r>
                      <a:r>
                        <a:rPr sz="10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it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cleaner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easier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use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marL="1327150" marR="143510" indent="-117665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05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avoid</a:t>
                      </a:r>
                      <a:r>
                        <a:rPr sz="10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information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overload,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help</a:t>
                      </a:r>
                      <a:r>
                        <a:rPr sz="10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less</a:t>
                      </a:r>
                      <a:r>
                        <a:rPr sz="10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tech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friendly</a:t>
                      </a:r>
                      <a:r>
                        <a:rPr sz="105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people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operate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app</a:t>
                      </a:r>
                      <a:r>
                        <a:rPr sz="10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make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them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more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likely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use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our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services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4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dirty="0">
                          <a:latin typeface="Calibri"/>
                          <a:cs typeface="Calibri"/>
                        </a:rPr>
                        <a:t>Rapido </a:t>
                      </a:r>
                      <a:r>
                        <a:rPr sz="1050" b="1" spc="-10" dirty="0">
                          <a:latin typeface="Calibri"/>
                          <a:cs typeface="Calibri"/>
                        </a:rPr>
                        <a:t>Regular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 marL="998219" marR="353060" indent="-638810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sz="1050" dirty="0">
                          <a:latin typeface="Calibri"/>
                          <a:cs typeface="Calibri"/>
                        </a:rPr>
                        <a:t>Schedule</a:t>
                      </a:r>
                      <a:r>
                        <a:rPr sz="10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regular</a:t>
                      </a:r>
                      <a:r>
                        <a:rPr sz="10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services</a:t>
                      </a:r>
                      <a:r>
                        <a:rPr sz="10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between</a:t>
                      </a:r>
                      <a:r>
                        <a:rPr sz="105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fixed</a:t>
                      </a:r>
                      <a:r>
                        <a:rPr sz="105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source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destinations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at</a:t>
                      </a:r>
                      <a:r>
                        <a:rPr sz="105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fixed</a:t>
                      </a:r>
                      <a:r>
                        <a:rPr sz="105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timings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257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 marL="146050" marR="138430" indent="-254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5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avoid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hassle of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making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new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bookings</a:t>
                      </a:r>
                      <a:r>
                        <a:rPr sz="10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everyday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05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app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do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that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you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everyday</a:t>
                      </a:r>
                      <a:r>
                        <a:rPr sz="105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at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specified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time between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given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locations.</a:t>
                      </a:r>
                      <a:r>
                        <a:rPr sz="10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There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an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option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to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update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timings or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locations</a:t>
                      </a:r>
                      <a:r>
                        <a:rPr sz="105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within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 specified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window,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if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required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00050" y="5520689"/>
          <a:ext cx="9970135" cy="10604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1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12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0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9725"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Feature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(Drivers)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B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Details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B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Problems</a:t>
                      </a:r>
                      <a:r>
                        <a:rPr sz="14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targeted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B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725">
                <a:tc>
                  <a:txBody>
                    <a:bodyPr/>
                    <a:lstStyle/>
                    <a:p>
                      <a:pPr marL="513080" marR="149225" indent="-361315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1050" b="1" dirty="0">
                          <a:latin typeface="Calibri"/>
                          <a:cs typeface="Calibri"/>
                        </a:rPr>
                        <a:t>Dedicated</a:t>
                      </a:r>
                      <a:r>
                        <a:rPr sz="105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10" dirty="0">
                          <a:latin typeface="Calibri"/>
                          <a:cs typeface="Calibri"/>
                        </a:rPr>
                        <a:t>customer service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1048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7620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050" dirty="0">
                          <a:latin typeface="Calibri"/>
                          <a:cs typeface="Calibri"/>
                        </a:rPr>
                        <a:t>There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different</a:t>
                      </a:r>
                      <a:r>
                        <a:rPr sz="105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customer service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team for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taking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care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driver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concerns</a:t>
                      </a:r>
                      <a:endParaRPr sz="1050">
                        <a:latin typeface="Calibri"/>
                        <a:cs typeface="Calibri"/>
                      </a:endParaRPr>
                    </a:p>
                    <a:p>
                      <a:pPr marL="246379" marR="240665" algn="ctr">
                        <a:lnSpc>
                          <a:spcPts val="1270"/>
                        </a:lnSpc>
                        <a:spcBef>
                          <a:spcPts val="35"/>
                        </a:spcBef>
                      </a:pPr>
                      <a:r>
                        <a:rPr sz="105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current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team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take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driver</a:t>
                      </a:r>
                      <a:r>
                        <a:rPr sz="105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concerns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priority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without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need</a:t>
                      </a:r>
                      <a:r>
                        <a:rPr sz="10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them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raising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tickets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2051050" marR="150495" indent="-1894839">
                        <a:lnSpc>
                          <a:spcPct val="100000"/>
                        </a:lnSpc>
                      </a:pPr>
                      <a:r>
                        <a:rPr sz="1050" dirty="0">
                          <a:latin typeface="Calibri"/>
                          <a:cs typeface="Calibri"/>
                        </a:rPr>
                        <a:t>Drivers</a:t>
                      </a:r>
                      <a:r>
                        <a:rPr sz="105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feel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valued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reassure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them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that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their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concerns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05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important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to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us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as the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riders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36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Analysis</a:t>
            </a:r>
            <a:r>
              <a:rPr spc="-6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solutions</a:t>
            </a:r>
            <a:r>
              <a:rPr spc="-35" dirty="0"/>
              <a:t> </a:t>
            </a:r>
            <a:r>
              <a:rPr spc="-10" dirty="0"/>
              <a:t>proposed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64236" y="1751076"/>
          <a:ext cx="10040620" cy="48952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87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38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4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09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88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14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18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991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sz="15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Feature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2190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BF00"/>
                    </a:solidFill>
                  </a:tcPr>
                </a:tc>
                <a:tc>
                  <a:txBody>
                    <a:bodyPr/>
                    <a:lstStyle/>
                    <a:p>
                      <a:pPr marL="236220" marR="231140" indent="149225">
                        <a:lnSpc>
                          <a:spcPct val="101899"/>
                        </a:lnSpc>
                        <a:spcBef>
                          <a:spcPts val="740"/>
                        </a:spcBef>
                      </a:pPr>
                      <a:r>
                        <a:rPr sz="15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Reach </a:t>
                      </a:r>
                      <a:r>
                        <a:rPr sz="15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(0-</a:t>
                      </a:r>
                      <a:r>
                        <a:rPr sz="15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10000)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BF00"/>
                    </a:solidFill>
                  </a:tcPr>
                </a:tc>
                <a:tc>
                  <a:txBody>
                    <a:bodyPr/>
                    <a:lstStyle/>
                    <a:p>
                      <a:pPr marL="401955" marR="302260" indent="-94615">
                        <a:lnSpc>
                          <a:spcPct val="101899"/>
                        </a:lnSpc>
                        <a:spcBef>
                          <a:spcPts val="740"/>
                        </a:spcBef>
                      </a:pPr>
                      <a:r>
                        <a:rPr sz="15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Impact </a:t>
                      </a:r>
                      <a:r>
                        <a:rPr sz="15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(1-</a:t>
                      </a:r>
                      <a:r>
                        <a:rPr sz="155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5)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BF00"/>
                    </a:solidFill>
                  </a:tcPr>
                </a:tc>
                <a:tc>
                  <a:txBody>
                    <a:bodyPr/>
                    <a:lstStyle/>
                    <a:p>
                      <a:pPr marL="588010" marR="312420" indent="-271780">
                        <a:lnSpc>
                          <a:spcPct val="101899"/>
                        </a:lnSpc>
                        <a:spcBef>
                          <a:spcPts val="740"/>
                        </a:spcBef>
                      </a:pPr>
                      <a:r>
                        <a:rPr sz="15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Confidence </a:t>
                      </a:r>
                      <a:r>
                        <a:rPr sz="15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(1-</a:t>
                      </a:r>
                      <a:r>
                        <a:rPr sz="155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5)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BF00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219710" indent="-38735">
                        <a:lnSpc>
                          <a:spcPct val="101899"/>
                        </a:lnSpc>
                        <a:spcBef>
                          <a:spcPts val="740"/>
                        </a:spcBef>
                      </a:pPr>
                      <a:r>
                        <a:rPr sz="15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Effort </a:t>
                      </a:r>
                      <a:r>
                        <a:rPr sz="15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(1-</a:t>
                      </a:r>
                      <a:r>
                        <a:rPr sz="155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5)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B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sz="15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Final</a:t>
                      </a:r>
                      <a:r>
                        <a:rPr sz="1550" b="1" spc="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score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2190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BF00"/>
                    </a:solidFill>
                  </a:tcPr>
                </a:tc>
                <a:tc>
                  <a:txBody>
                    <a:bodyPr/>
                    <a:lstStyle/>
                    <a:p>
                      <a:pPr marL="302260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sz="15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Success</a:t>
                      </a:r>
                      <a:r>
                        <a:rPr sz="1550" b="1" spc="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metrics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2190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B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9135">
                <a:tc>
                  <a:txBody>
                    <a:bodyPr/>
                    <a:lstStyle/>
                    <a:p>
                      <a:pPr marL="702310" marR="130810" indent="-565785">
                        <a:lnSpc>
                          <a:spcPct val="101600"/>
                        </a:lnSpc>
                        <a:spcBef>
                          <a:spcPts val="1200"/>
                        </a:spcBef>
                      </a:pPr>
                      <a:r>
                        <a:rPr sz="1200" b="1" dirty="0">
                          <a:latin typeface="Calibri"/>
                          <a:cs typeface="Calibri"/>
                        </a:rPr>
                        <a:t>Share</a:t>
                      </a:r>
                      <a:r>
                        <a:rPr sz="1200" b="1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latin typeface="Calibri"/>
                          <a:cs typeface="Calibri"/>
                        </a:rPr>
                        <a:t>live</a:t>
                      </a:r>
                      <a:r>
                        <a:rPr sz="1200" b="1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latin typeface="Calibri"/>
                          <a:cs typeface="Calibri"/>
                        </a:rPr>
                        <a:t>location</a:t>
                      </a:r>
                      <a:r>
                        <a:rPr sz="1200" b="1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20" dirty="0">
                          <a:latin typeface="Calibri"/>
                          <a:cs typeface="Calibri"/>
                        </a:rPr>
                        <a:t>with </a:t>
                      </a:r>
                      <a:r>
                        <a:rPr sz="1200" b="1" spc="-10" dirty="0">
                          <a:latin typeface="Calibri"/>
                          <a:cs typeface="Calibri"/>
                        </a:rPr>
                        <a:t>driver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524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8D18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6000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8D18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8D18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8D18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8D18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36000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8D18E"/>
                    </a:solidFill>
                  </a:tcPr>
                </a:tc>
                <a:tc>
                  <a:txBody>
                    <a:bodyPr/>
                    <a:lstStyle/>
                    <a:p>
                      <a:pPr marL="775335" marR="19685" indent="-751840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Turnaround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time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reach rider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8D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91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dirty="0">
                          <a:latin typeface="Calibri"/>
                          <a:cs typeface="Calibri"/>
                        </a:rPr>
                        <a:t>Pay later</a:t>
                      </a:r>
                      <a:r>
                        <a:rPr sz="1200" b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latin typeface="Calibri"/>
                          <a:cs typeface="Calibri"/>
                        </a:rPr>
                        <a:t>option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429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8D18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8000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8D18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8D18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8D18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8D18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40000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8D18E"/>
                    </a:solidFill>
                  </a:tcPr>
                </a:tc>
                <a:tc>
                  <a:txBody>
                    <a:bodyPr/>
                    <a:lstStyle/>
                    <a:p>
                      <a:pPr marL="309245" marR="175260" indent="-13144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NPS, App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downloads,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Churn,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MAU/DAU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282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8D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04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dirty="0">
                          <a:latin typeface="Calibri"/>
                          <a:cs typeface="Calibri"/>
                        </a:rPr>
                        <a:t>Book</a:t>
                      </a:r>
                      <a:r>
                        <a:rPr sz="1200" b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200" b="1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latin typeface="Calibri"/>
                          <a:cs typeface="Calibri"/>
                        </a:rPr>
                        <a:t>others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429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8000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24000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marL="569595" marR="175260" indent="-39179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NPS, App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downloads, MAU/DAU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282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4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91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dirty="0">
                          <a:latin typeface="Calibri"/>
                          <a:cs typeface="Calibri"/>
                        </a:rPr>
                        <a:t>UI</a:t>
                      </a:r>
                      <a:r>
                        <a:rPr sz="1200" b="1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latin typeface="Calibri"/>
                          <a:cs typeface="Calibri"/>
                        </a:rPr>
                        <a:t>simplification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30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10000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20000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marL="731520" marR="175260" indent="-553720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NPS, App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downloads,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Churn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4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91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dirty="0">
                          <a:latin typeface="Calibri"/>
                          <a:cs typeface="Calibri"/>
                        </a:rPr>
                        <a:t>Rapido</a:t>
                      </a:r>
                      <a:r>
                        <a:rPr sz="1200" b="1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latin typeface="Calibri"/>
                          <a:cs typeface="Calibri"/>
                        </a:rPr>
                        <a:t>Regular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429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8D18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5000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8D18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8D18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8D18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8D18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25000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8D18E"/>
                    </a:solidFill>
                  </a:tcPr>
                </a:tc>
                <a:tc>
                  <a:txBody>
                    <a:bodyPr/>
                    <a:lstStyle/>
                    <a:p>
                      <a:pPr marL="569595" marR="175260" indent="-391795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NPS, App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downloads, MAU/DAU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8D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9135">
                <a:tc>
                  <a:txBody>
                    <a:bodyPr/>
                    <a:lstStyle/>
                    <a:p>
                      <a:pPr marL="318135" marR="240029" indent="-71755">
                        <a:lnSpc>
                          <a:spcPct val="101600"/>
                        </a:lnSpc>
                        <a:spcBef>
                          <a:spcPts val="1200"/>
                        </a:spcBef>
                      </a:pPr>
                      <a:r>
                        <a:rPr sz="1200" b="1" dirty="0">
                          <a:latin typeface="Calibri"/>
                          <a:cs typeface="Calibri"/>
                        </a:rPr>
                        <a:t>Dedicated</a:t>
                      </a:r>
                      <a:r>
                        <a:rPr sz="1200" b="1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latin typeface="Calibri"/>
                          <a:cs typeface="Calibri"/>
                        </a:rPr>
                        <a:t>customer </a:t>
                      </a:r>
                      <a:r>
                        <a:rPr sz="1200" b="1" dirty="0">
                          <a:latin typeface="Calibri"/>
                          <a:cs typeface="Calibri"/>
                        </a:rPr>
                        <a:t>service</a:t>
                      </a:r>
                      <a:r>
                        <a:rPr sz="1200" b="1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200" b="1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latin typeface="Calibri"/>
                          <a:cs typeface="Calibri"/>
                        </a:rPr>
                        <a:t>drivers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524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5000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10000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marL="43815" marR="4127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Increase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Rapido captain</a:t>
                      </a:r>
                      <a:r>
                        <a:rPr sz="1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workforce,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NPS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(drivers),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App</a:t>
                      </a:r>
                      <a:r>
                        <a:rPr sz="14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downloads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4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2911" rIns="0" bIns="0" rtlCol="0">
            <a:spAutoFit/>
          </a:bodyPr>
          <a:lstStyle/>
          <a:p>
            <a:pPr marL="55244">
              <a:lnSpc>
                <a:spcPct val="100000"/>
              </a:lnSpc>
              <a:spcBef>
                <a:spcPts val="105"/>
              </a:spcBef>
            </a:pPr>
            <a:r>
              <a:rPr dirty="0"/>
              <a:t>Solutions</a:t>
            </a:r>
            <a:r>
              <a:rPr spc="-35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dirty="0"/>
              <a:t>be</a:t>
            </a:r>
            <a:r>
              <a:rPr spc="-15" dirty="0"/>
              <a:t> </a:t>
            </a:r>
            <a:r>
              <a:rPr spc="-10" dirty="0"/>
              <a:t>implemented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8976" y="2081783"/>
            <a:ext cx="3584575" cy="4453255"/>
          </a:xfrm>
          <a:prstGeom prst="rect">
            <a:avLst/>
          </a:prstGeom>
          <a:solidFill>
            <a:srgbClr val="FDD667"/>
          </a:solidFill>
          <a:ln w="6096">
            <a:solidFill>
              <a:srgbClr val="000000"/>
            </a:solidFill>
          </a:ln>
        </p:spPr>
        <p:txBody>
          <a:bodyPr vert="horz" wrap="square" lIns="0" tIns="2603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04"/>
              </a:spcBef>
            </a:pPr>
            <a:r>
              <a:rPr sz="1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Rapido</a:t>
            </a:r>
            <a:r>
              <a:rPr sz="1400" b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Regular</a:t>
            </a:r>
            <a:endParaRPr sz="1400">
              <a:latin typeface="Calibri"/>
              <a:cs typeface="Calibri"/>
            </a:endParaRPr>
          </a:p>
          <a:p>
            <a:pPr marL="78740" marR="346710">
              <a:lnSpc>
                <a:spcPct val="102099"/>
              </a:lnSpc>
              <a:spcBef>
                <a:spcPts val="1490"/>
              </a:spcBef>
            </a:pPr>
            <a:r>
              <a:rPr sz="1200" i="1" spc="-10" dirty="0">
                <a:latin typeface="Calibri"/>
                <a:cs typeface="Calibri"/>
              </a:rPr>
              <a:t>“A</a:t>
            </a:r>
            <a:r>
              <a:rPr sz="1200" i="1" spc="1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user</a:t>
            </a:r>
            <a:r>
              <a:rPr sz="1200" i="1" spc="1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opting</a:t>
            </a:r>
            <a:r>
              <a:rPr sz="1200" i="1" spc="4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for</a:t>
            </a:r>
            <a:r>
              <a:rPr sz="1200" i="1" spc="-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regular</a:t>
            </a:r>
            <a:r>
              <a:rPr sz="1200" i="1" spc="3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service</a:t>
            </a:r>
            <a:r>
              <a:rPr sz="1200" i="1" spc="3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on</a:t>
            </a:r>
            <a:r>
              <a:rPr sz="1200" i="1" spc="1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a</a:t>
            </a:r>
            <a:r>
              <a:rPr sz="1200" i="1" spc="2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fixed</a:t>
            </a:r>
            <a:r>
              <a:rPr sz="1200" i="1" spc="30" dirty="0">
                <a:latin typeface="Calibri"/>
                <a:cs typeface="Calibri"/>
              </a:rPr>
              <a:t> </a:t>
            </a:r>
            <a:r>
              <a:rPr sz="1200" i="1" spc="-20" dirty="0">
                <a:latin typeface="Calibri"/>
                <a:cs typeface="Calibri"/>
              </a:rPr>
              <a:t>route </a:t>
            </a:r>
            <a:r>
              <a:rPr sz="1200" i="1" dirty="0">
                <a:latin typeface="Calibri"/>
                <a:cs typeface="Calibri"/>
              </a:rPr>
              <a:t>should</a:t>
            </a:r>
            <a:r>
              <a:rPr sz="1200" i="1" spc="6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not</a:t>
            </a:r>
            <a:r>
              <a:rPr sz="1200" i="1" spc="3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have</a:t>
            </a:r>
            <a:r>
              <a:rPr sz="1200" i="1" spc="5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to</a:t>
            </a:r>
            <a:r>
              <a:rPr sz="1200" i="1" spc="1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worry about</a:t>
            </a:r>
            <a:r>
              <a:rPr sz="1200" i="1" spc="6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finding</a:t>
            </a:r>
            <a:r>
              <a:rPr sz="1200" i="1" spc="8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a</a:t>
            </a:r>
            <a:r>
              <a:rPr sz="1200" i="1" spc="1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new</a:t>
            </a:r>
            <a:r>
              <a:rPr sz="1200" i="1" spc="45" dirty="0">
                <a:latin typeface="Calibri"/>
                <a:cs typeface="Calibri"/>
              </a:rPr>
              <a:t> </a:t>
            </a:r>
            <a:r>
              <a:rPr sz="1200" i="1" spc="-20" dirty="0">
                <a:latin typeface="Calibri"/>
                <a:cs typeface="Calibri"/>
              </a:rPr>
              <a:t>ride </a:t>
            </a:r>
            <a:r>
              <a:rPr sz="1200" i="1" dirty="0">
                <a:latin typeface="Calibri"/>
                <a:cs typeface="Calibri"/>
              </a:rPr>
              <a:t>every</a:t>
            </a:r>
            <a:r>
              <a:rPr sz="1200" i="1" spc="10" dirty="0">
                <a:latin typeface="Calibri"/>
                <a:cs typeface="Calibri"/>
              </a:rPr>
              <a:t> </a:t>
            </a:r>
            <a:r>
              <a:rPr sz="1200" i="1" spc="-10" dirty="0">
                <a:latin typeface="Calibri"/>
                <a:cs typeface="Calibri"/>
              </a:rPr>
              <a:t>time”</a:t>
            </a:r>
            <a:endParaRPr sz="1200">
              <a:latin typeface="Calibri"/>
              <a:cs typeface="Calibri"/>
            </a:endParaRPr>
          </a:p>
          <a:p>
            <a:pPr marL="78740">
              <a:lnSpc>
                <a:spcPct val="100000"/>
              </a:lnSpc>
              <a:spcBef>
                <a:spcPts val="35"/>
              </a:spcBef>
            </a:pPr>
            <a:r>
              <a:rPr sz="1200" dirty="0">
                <a:latin typeface="Calibri"/>
                <a:cs typeface="Calibri"/>
              </a:rPr>
              <a:t>Examples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are:</a:t>
            </a:r>
            <a:endParaRPr sz="1200">
              <a:latin typeface="Calibri"/>
              <a:cs typeface="Calibri"/>
            </a:endParaRPr>
          </a:p>
          <a:p>
            <a:pPr marL="328930" indent="-250190">
              <a:lnSpc>
                <a:spcPct val="100000"/>
              </a:lnSpc>
              <a:spcBef>
                <a:spcPts val="40"/>
              </a:spcBef>
              <a:buFont typeface="Arial MT"/>
              <a:buChar char="•"/>
              <a:tabLst>
                <a:tab pos="328930" algn="l"/>
              </a:tabLst>
            </a:pPr>
            <a:r>
              <a:rPr sz="1200" dirty="0">
                <a:latin typeface="Calibri"/>
                <a:cs typeface="Calibri"/>
              </a:rPr>
              <a:t>Students</a:t>
            </a:r>
            <a:r>
              <a:rPr sz="1200" spc="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going</a:t>
            </a:r>
            <a:r>
              <a:rPr sz="1200" spc="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4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tuition/school</a:t>
            </a:r>
            <a:endParaRPr sz="1200">
              <a:latin typeface="Calibri"/>
              <a:cs typeface="Calibri"/>
            </a:endParaRPr>
          </a:p>
          <a:p>
            <a:pPr marL="328930" marR="370205" indent="-250190">
              <a:lnSpc>
                <a:spcPts val="1480"/>
              </a:lnSpc>
              <a:spcBef>
                <a:spcPts val="40"/>
              </a:spcBef>
              <a:buFont typeface="Arial MT"/>
              <a:buChar char="•"/>
              <a:tabLst>
                <a:tab pos="328930" algn="l"/>
              </a:tabLst>
            </a:pPr>
            <a:r>
              <a:rPr sz="1200" dirty="0">
                <a:latin typeface="Calibri"/>
                <a:cs typeface="Calibri"/>
              </a:rPr>
              <a:t>Working</a:t>
            </a:r>
            <a:r>
              <a:rPr sz="1200" spc="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professional</a:t>
            </a:r>
            <a:r>
              <a:rPr sz="1200" spc="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commuting</a:t>
            </a:r>
            <a:r>
              <a:rPr sz="1200" spc="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from </a:t>
            </a:r>
            <a:r>
              <a:rPr sz="1200" dirty="0">
                <a:latin typeface="Calibri"/>
                <a:cs typeface="Calibri"/>
              </a:rPr>
              <a:t>home</a:t>
            </a:r>
            <a:r>
              <a:rPr sz="1200" spc="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office</a:t>
            </a:r>
            <a:endParaRPr sz="1200">
              <a:latin typeface="Calibri"/>
              <a:cs typeface="Calibri"/>
            </a:endParaRPr>
          </a:p>
          <a:p>
            <a:pPr marL="78740">
              <a:lnSpc>
                <a:spcPct val="100000"/>
              </a:lnSpc>
              <a:spcBef>
                <a:spcPts val="1450"/>
              </a:spcBef>
            </a:pPr>
            <a:r>
              <a:rPr sz="1200" b="1" dirty="0">
                <a:latin typeface="Calibri"/>
                <a:cs typeface="Calibri"/>
              </a:rPr>
              <a:t>Define</a:t>
            </a:r>
            <a:r>
              <a:rPr sz="1200" b="1" spc="20" dirty="0">
                <a:latin typeface="Calibri"/>
                <a:cs typeface="Calibri"/>
              </a:rPr>
              <a:t> </a:t>
            </a:r>
            <a:r>
              <a:rPr sz="1200" b="1" spc="-20" dirty="0">
                <a:latin typeface="Calibri"/>
                <a:cs typeface="Calibri"/>
              </a:rPr>
              <a:t>MVP:</a:t>
            </a:r>
            <a:endParaRPr sz="1200">
              <a:latin typeface="Calibri"/>
              <a:cs typeface="Calibri"/>
            </a:endParaRPr>
          </a:p>
          <a:p>
            <a:pPr marL="328930" marR="294640" indent="-250190">
              <a:lnSpc>
                <a:spcPts val="1480"/>
              </a:lnSpc>
              <a:spcBef>
                <a:spcPts val="40"/>
              </a:spcBef>
              <a:buFont typeface="Arial MT"/>
              <a:buChar char="•"/>
              <a:tabLst>
                <a:tab pos="328930" algn="l"/>
              </a:tabLst>
            </a:pPr>
            <a:r>
              <a:rPr sz="1200" b="1" dirty="0">
                <a:latin typeface="Calibri"/>
                <a:cs typeface="Calibri"/>
              </a:rPr>
              <a:t>New</a:t>
            </a:r>
            <a:r>
              <a:rPr sz="1200" b="1" spc="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menu</a:t>
            </a:r>
            <a:r>
              <a:rPr sz="1200" b="1" spc="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item:</a:t>
            </a:r>
            <a:r>
              <a:rPr sz="1200" b="1" spc="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Define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details</a:t>
            </a:r>
            <a:r>
              <a:rPr sz="1200" spc="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like</a:t>
            </a:r>
            <a:r>
              <a:rPr sz="1200" spc="4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source, </a:t>
            </a:r>
            <a:r>
              <a:rPr sz="1200" dirty="0">
                <a:latin typeface="Calibri"/>
                <a:cs typeface="Calibri"/>
              </a:rPr>
              <a:t>destination,</a:t>
            </a:r>
            <a:r>
              <a:rPr sz="1200" spc="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start</a:t>
            </a:r>
            <a:r>
              <a:rPr sz="1200" spc="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date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time</a:t>
            </a:r>
            <a:r>
              <a:rPr sz="1200" spc="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frequency</a:t>
            </a:r>
            <a:endParaRPr sz="1200">
              <a:latin typeface="Calibri"/>
              <a:cs typeface="Calibri"/>
            </a:endParaRPr>
          </a:p>
          <a:p>
            <a:pPr marL="328930" indent="-250190">
              <a:lnSpc>
                <a:spcPts val="1415"/>
              </a:lnSpc>
              <a:buFont typeface="Arial MT"/>
              <a:buChar char="•"/>
              <a:tabLst>
                <a:tab pos="328930" algn="l"/>
              </a:tabLst>
            </a:pPr>
            <a:r>
              <a:rPr sz="1200" dirty="0">
                <a:latin typeface="Calibri"/>
                <a:cs typeface="Calibri"/>
              </a:rPr>
              <a:t>The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payment</a:t>
            </a:r>
            <a:r>
              <a:rPr sz="1200" b="1" spc="3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option</a:t>
            </a:r>
            <a:r>
              <a:rPr sz="1200" b="1" spc="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can</a:t>
            </a:r>
            <a:r>
              <a:rPr sz="1200" b="1" spc="3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only</a:t>
            </a:r>
            <a:r>
              <a:rPr sz="1200" b="1" spc="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be</a:t>
            </a:r>
            <a:r>
              <a:rPr sz="1200" b="1" spc="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Rapido</a:t>
            </a:r>
            <a:r>
              <a:rPr sz="1200" b="1" spc="3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Wallet.</a:t>
            </a:r>
            <a:endParaRPr sz="1200">
              <a:latin typeface="Calibri"/>
              <a:cs typeface="Calibri"/>
            </a:endParaRPr>
          </a:p>
          <a:p>
            <a:pPr marL="328930" marR="414020">
              <a:lnSpc>
                <a:spcPct val="101600"/>
              </a:lnSpc>
              <a:spcBef>
                <a:spcPts val="15"/>
              </a:spcBef>
            </a:pPr>
            <a:r>
              <a:rPr sz="1200" dirty="0">
                <a:latin typeface="Calibri"/>
                <a:cs typeface="Calibri"/>
              </a:rPr>
              <a:t>PostPaid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wallet</a:t>
            </a:r>
            <a:r>
              <a:rPr sz="1200" spc="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can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also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</a:t>
            </a:r>
            <a:r>
              <a:rPr sz="1200" spc="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added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later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if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the </a:t>
            </a:r>
            <a:r>
              <a:rPr sz="1200" dirty="0">
                <a:latin typeface="Calibri"/>
                <a:cs typeface="Calibri"/>
              </a:rPr>
              <a:t>company</a:t>
            </a:r>
            <a:r>
              <a:rPr sz="1200" spc="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starts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PostPaid</a:t>
            </a:r>
            <a:r>
              <a:rPr sz="1200" spc="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option</a:t>
            </a:r>
            <a:r>
              <a:rPr sz="1200" spc="2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later</a:t>
            </a:r>
            <a:endParaRPr sz="1200">
              <a:latin typeface="Calibri"/>
              <a:cs typeface="Calibri"/>
            </a:endParaRPr>
          </a:p>
          <a:p>
            <a:pPr marL="328930" marR="159385" indent="-250190">
              <a:lnSpc>
                <a:spcPct val="102099"/>
              </a:lnSpc>
              <a:spcBef>
                <a:spcPts val="5"/>
              </a:spcBef>
              <a:buFont typeface="Arial MT"/>
              <a:buChar char="•"/>
              <a:tabLst>
                <a:tab pos="328930" algn="l"/>
              </a:tabLst>
            </a:pPr>
            <a:r>
              <a:rPr sz="1200" dirty="0">
                <a:latin typeface="Calibri"/>
                <a:cs typeface="Calibri"/>
              </a:rPr>
              <a:t>Ride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details</a:t>
            </a:r>
            <a:r>
              <a:rPr sz="1200" spc="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like</a:t>
            </a:r>
            <a:r>
              <a:rPr sz="1200" spc="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source,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destination</a:t>
            </a:r>
            <a:r>
              <a:rPr sz="1200" spc="6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time</a:t>
            </a:r>
            <a:r>
              <a:rPr sz="1200" spc="4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can </a:t>
            </a:r>
            <a:r>
              <a:rPr sz="1200" dirty="0">
                <a:latin typeface="Calibri"/>
                <a:cs typeface="Calibri"/>
              </a:rPr>
              <a:t>only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edited</a:t>
            </a:r>
            <a:r>
              <a:rPr sz="1200" spc="4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until</a:t>
            </a:r>
            <a:r>
              <a:rPr sz="1200" b="1" spc="3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15</a:t>
            </a:r>
            <a:r>
              <a:rPr sz="1200" b="1" spc="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minutes</a:t>
            </a:r>
            <a:r>
              <a:rPr sz="1200" b="1" spc="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before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next </a:t>
            </a:r>
            <a:r>
              <a:rPr sz="1200" dirty="0">
                <a:latin typeface="Calibri"/>
                <a:cs typeface="Calibri"/>
              </a:rPr>
              <a:t>scheduled</a:t>
            </a:r>
            <a:r>
              <a:rPr sz="1200" spc="7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ride</a:t>
            </a:r>
            <a:endParaRPr sz="1200">
              <a:latin typeface="Calibri"/>
              <a:cs typeface="Calibri"/>
            </a:endParaRPr>
          </a:p>
          <a:p>
            <a:pPr marL="328930" marR="135255" indent="-250190">
              <a:lnSpc>
                <a:spcPct val="102200"/>
              </a:lnSpc>
              <a:spcBef>
                <a:spcPts val="5"/>
              </a:spcBef>
              <a:buFont typeface="Arial MT"/>
              <a:buChar char="•"/>
              <a:tabLst>
                <a:tab pos="328930" algn="l"/>
              </a:tabLst>
            </a:pPr>
            <a:r>
              <a:rPr sz="1200" b="1" dirty="0">
                <a:latin typeface="Calibri"/>
                <a:cs typeface="Calibri"/>
              </a:rPr>
              <a:t>Alert</a:t>
            </a:r>
            <a:r>
              <a:rPr sz="1200" b="1" spc="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for</a:t>
            </a:r>
            <a:r>
              <a:rPr sz="1200" b="1" spc="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low</a:t>
            </a:r>
            <a:r>
              <a:rPr sz="1200" b="1" spc="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wallet</a:t>
            </a:r>
            <a:r>
              <a:rPr sz="1200" b="1" spc="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balance</a:t>
            </a:r>
            <a:r>
              <a:rPr sz="1200" dirty="0">
                <a:latin typeface="Calibri"/>
                <a:cs typeface="Calibri"/>
              </a:rPr>
              <a:t>,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so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that</a:t>
            </a:r>
            <a:r>
              <a:rPr sz="1200" spc="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user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can </a:t>
            </a:r>
            <a:r>
              <a:rPr sz="1200" dirty="0">
                <a:latin typeface="Calibri"/>
                <a:cs typeface="Calibri"/>
              </a:rPr>
              <a:t>continue</a:t>
            </a:r>
            <a:r>
              <a:rPr sz="1200" spc="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uninterrupted</a:t>
            </a:r>
            <a:r>
              <a:rPr sz="1200" spc="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services.</a:t>
            </a:r>
            <a:r>
              <a:rPr sz="1200" spc="6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This</a:t>
            </a:r>
            <a:r>
              <a:rPr sz="1200" spc="7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alert</a:t>
            </a:r>
            <a:r>
              <a:rPr sz="1200" spc="6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is </a:t>
            </a:r>
            <a:r>
              <a:rPr sz="1200" dirty="0">
                <a:latin typeface="Calibri"/>
                <a:cs typeface="Calibri"/>
              </a:rPr>
              <a:t>triggered</a:t>
            </a:r>
            <a:r>
              <a:rPr sz="1200" spc="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by</a:t>
            </a:r>
            <a:r>
              <a:rPr sz="1200" spc="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wallet</a:t>
            </a:r>
            <a:r>
              <a:rPr sz="1200" spc="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balance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falling</a:t>
            </a:r>
            <a:r>
              <a:rPr sz="1200" spc="8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below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the </a:t>
            </a:r>
            <a:r>
              <a:rPr sz="1200" dirty="0">
                <a:latin typeface="Calibri"/>
                <a:cs typeface="Calibri"/>
              </a:rPr>
              <a:t>amount</a:t>
            </a:r>
            <a:r>
              <a:rPr sz="1200" spc="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payable</a:t>
            </a:r>
            <a:r>
              <a:rPr sz="1200" spc="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next</a:t>
            </a:r>
            <a:r>
              <a:rPr sz="1200" spc="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scheduled</a:t>
            </a:r>
            <a:r>
              <a:rPr sz="1200" spc="4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ride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79164" y="2081783"/>
            <a:ext cx="2735580" cy="4506595"/>
          </a:xfrm>
          <a:prstGeom prst="rect">
            <a:avLst/>
          </a:prstGeom>
          <a:solidFill>
            <a:srgbClr val="FDD667"/>
          </a:solidFill>
          <a:ln w="6096">
            <a:solidFill>
              <a:srgbClr val="000000"/>
            </a:solidFill>
          </a:ln>
        </p:spPr>
        <p:txBody>
          <a:bodyPr vert="horz" wrap="square" lIns="0" tIns="26034" rIns="0" bIns="0" rtlCol="0">
            <a:spAutoFit/>
          </a:bodyPr>
          <a:lstStyle/>
          <a:p>
            <a:pPr marL="685800">
              <a:lnSpc>
                <a:spcPct val="100000"/>
              </a:lnSpc>
              <a:spcBef>
                <a:spcPts val="204"/>
              </a:spcBef>
            </a:pPr>
            <a:r>
              <a:rPr sz="1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Share</a:t>
            </a:r>
            <a:r>
              <a:rPr sz="1400" b="1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live</a:t>
            </a:r>
            <a:r>
              <a:rPr sz="1400" b="1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location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400">
              <a:latin typeface="Calibri"/>
              <a:cs typeface="Calibri"/>
            </a:endParaRPr>
          </a:p>
          <a:p>
            <a:pPr marL="78740" marR="98425">
              <a:lnSpc>
                <a:spcPct val="102099"/>
              </a:lnSpc>
            </a:pPr>
            <a:r>
              <a:rPr sz="1200" i="1" spc="-10" dirty="0">
                <a:latin typeface="Calibri"/>
                <a:cs typeface="Calibri"/>
              </a:rPr>
              <a:t>“A</a:t>
            </a:r>
            <a:r>
              <a:rPr sz="1200" i="1" spc="1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driver</a:t>
            </a:r>
            <a:r>
              <a:rPr sz="1200" i="1" spc="2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or</a:t>
            </a:r>
            <a:r>
              <a:rPr sz="1200" i="1" spc="-1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rider</a:t>
            </a:r>
            <a:r>
              <a:rPr sz="1200" i="1" spc="2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who</a:t>
            </a:r>
            <a:r>
              <a:rPr sz="1200" i="1" spc="1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is</a:t>
            </a:r>
            <a:r>
              <a:rPr sz="1200" i="1" spc="2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unfamiliar</a:t>
            </a:r>
            <a:r>
              <a:rPr sz="1200" i="1" spc="65" dirty="0">
                <a:latin typeface="Calibri"/>
                <a:cs typeface="Calibri"/>
              </a:rPr>
              <a:t> </a:t>
            </a:r>
            <a:r>
              <a:rPr sz="1200" i="1" spc="-20" dirty="0">
                <a:latin typeface="Calibri"/>
                <a:cs typeface="Calibri"/>
              </a:rPr>
              <a:t>with </a:t>
            </a:r>
            <a:r>
              <a:rPr sz="1200" i="1" dirty="0">
                <a:latin typeface="Calibri"/>
                <a:cs typeface="Calibri"/>
              </a:rPr>
              <a:t>their</a:t>
            </a:r>
            <a:r>
              <a:rPr sz="1200" i="1" spc="3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surroundings</a:t>
            </a:r>
            <a:r>
              <a:rPr sz="1200" i="1" spc="9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should</a:t>
            </a:r>
            <a:r>
              <a:rPr sz="1200" i="1" spc="6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be</a:t>
            </a:r>
            <a:r>
              <a:rPr sz="1200" i="1" spc="2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able</a:t>
            </a:r>
            <a:r>
              <a:rPr sz="1200" i="1" spc="4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to</a:t>
            </a:r>
            <a:r>
              <a:rPr sz="1200" i="1" spc="30" dirty="0">
                <a:latin typeface="Calibri"/>
                <a:cs typeface="Calibri"/>
              </a:rPr>
              <a:t> </a:t>
            </a:r>
            <a:r>
              <a:rPr sz="1200" i="1" spc="-20" dirty="0">
                <a:latin typeface="Calibri"/>
                <a:cs typeface="Calibri"/>
              </a:rPr>
              <a:t>find </a:t>
            </a:r>
            <a:r>
              <a:rPr sz="1200" i="1" dirty="0">
                <a:latin typeface="Calibri"/>
                <a:cs typeface="Calibri"/>
              </a:rPr>
              <a:t>their</a:t>
            </a:r>
            <a:r>
              <a:rPr sz="1200" i="1" spc="3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rides</a:t>
            </a:r>
            <a:r>
              <a:rPr sz="1200" i="1" spc="30" dirty="0">
                <a:latin typeface="Calibri"/>
                <a:cs typeface="Calibri"/>
              </a:rPr>
              <a:t> </a:t>
            </a:r>
            <a:r>
              <a:rPr sz="1200" i="1" spc="-10" dirty="0">
                <a:latin typeface="Calibri"/>
                <a:cs typeface="Calibri"/>
              </a:rPr>
              <a:t>easily”</a:t>
            </a:r>
            <a:endParaRPr sz="1200">
              <a:latin typeface="Calibri"/>
              <a:cs typeface="Calibri"/>
            </a:endParaRPr>
          </a:p>
          <a:p>
            <a:pPr marL="78740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latin typeface="Calibri"/>
                <a:cs typeface="Calibri"/>
              </a:rPr>
              <a:t>Examples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are:</a:t>
            </a:r>
            <a:endParaRPr sz="1200">
              <a:latin typeface="Calibri"/>
              <a:cs typeface="Calibri"/>
            </a:endParaRPr>
          </a:p>
          <a:p>
            <a:pPr marL="328930" marR="253365" indent="-250190">
              <a:lnSpc>
                <a:spcPct val="101600"/>
              </a:lnSpc>
              <a:spcBef>
                <a:spcPts val="10"/>
              </a:spcBef>
              <a:buFont typeface="Arial MT"/>
              <a:buChar char="•"/>
              <a:tabLst>
                <a:tab pos="328930" algn="l"/>
              </a:tabLst>
            </a:pPr>
            <a:r>
              <a:rPr sz="1200" dirty="0">
                <a:latin typeface="Calibri"/>
                <a:cs typeface="Calibri"/>
              </a:rPr>
              <a:t>Person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trying</a:t>
            </a:r>
            <a:r>
              <a:rPr sz="1200" spc="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find</a:t>
            </a:r>
            <a:r>
              <a:rPr sz="1200" spc="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their</a:t>
            </a:r>
            <a:r>
              <a:rPr sz="1200" spc="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cab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20" dirty="0">
                <a:latin typeface="Calibri"/>
                <a:cs typeface="Calibri"/>
              </a:rPr>
              <a:t> </a:t>
            </a:r>
            <a:r>
              <a:rPr sz="1200" spc="-50" dirty="0">
                <a:latin typeface="Calibri"/>
                <a:cs typeface="Calibri"/>
              </a:rPr>
              <a:t>a </a:t>
            </a:r>
            <a:r>
              <a:rPr sz="1200" dirty="0">
                <a:latin typeface="Calibri"/>
                <a:cs typeface="Calibri"/>
              </a:rPr>
              <a:t>crowded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place</a:t>
            </a:r>
            <a:endParaRPr sz="1200">
              <a:latin typeface="Calibri"/>
              <a:cs typeface="Calibri"/>
            </a:endParaRPr>
          </a:p>
          <a:p>
            <a:pPr marL="328930" marR="144780" indent="-250190" algn="just">
              <a:lnSpc>
                <a:spcPct val="102499"/>
              </a:lnSpc>
              <a:buFont typeface="Arial MT"/>
              <a:buChar char="•"/>
              <a:tabLst>
                <a:tab pos="328930" algn="l"/>
                <a:tab pos="330835" algn="l"/>
              </a:tabLst>
            </a:pPr>
            <a:r>
              <a:rPr sz="1200" dirty="0">
                <a:latin typeface="Calibri"/>
                <a:cs typeface="Calibri"/>
              </a:rPr>
              <a:t>	Rapido</a:t>
            </a:r>
            <a:r>
              <a:rPr sz="1200" spc="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captain</a:t>
            </a:r>
            <a:r>
              <a:rPr sz="1200" spc="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trying</a:t>
            </a:r>
            <a:r>
              <a:rPr sz="1200" spc="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navigate</a:t>
            </a:r>
            <a:r>
              <a:rPr sz="1200" spc="7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to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pickup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point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location</a:t>
            </a:r>
            <a:r>
              <a:rPr sz="1200" spc="7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full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of </a:t>
            </a:r>
            <a:r>
              <a:rPr sz="1200" dirty="0">
                <a:latin typeface="Calibri"/>
                <a:cs typeface="Calibri"/>
              </a:rPr>
              <a:t>alleys</a:t>
            </a:r>
            <a:r>
              <a:rPr sz="1200" spc="6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small</a:t>
            </a:r>
            <a:r>
              <a:rPr sz="1200" spc="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parallel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streets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 MT"/>
              <a:buChar char="•"/>
            </a:pPr>
            <a:endParaRPr sz="1200">
              <a:latin typeface="Calibri"/>
              <a:cs typeface="Calibri"/>
            </a:endParaRPr>
          </a:p>
          <a:p>
            <a:pPr marL="78740">
              <a:lnSpc>
                <a:spcPct val="100000"/>
              </a:lnSpc>
            </a:pPr>
            <a:r>
              <a:rPr sz="1200" b="1" dirty="0">
                <a:latin typeface="Calibri"/>
                <a:cs typeface="Calibri"/>
              </a:rPr>
              <a:t>Define</a:t>
            </a:r>
            <a:r>
              <a:rPr sz="1200" b="1" spc="20" dirty="0">
                <a:latin typeface="Calibri"/>
                <a:cs typeface="Calibri"/>
              </a:rPr>
              <a:t> </a:t>
            </a:r>
            <a:r>
              <a:rPr sz="1200" b="1" spc="-20" dirty="0">
                <a:latin typeface="Calibri"/>
                <a:cs typeface="Calibri"/>
              </a:rPr>
              <a:t>MVP:</a:t>
            </a:r>
            <a:endParaRPr sz="1200">
              <a:latin typeface="Calibri"/>
              <a:cs typeface="Calibri"/>
            </a:endParaRPr>
          </a:p>
          <a:p>
            <a:pPr marL="328930" marR="239395" indent="-250190">
              <a:lnSpc>
                <a:spcPct val="102200"/>
              </a:lnSpc>
              <a:spcBef>
                <a:spcPts val="5"/>
              </a:spcBef>
              <a:buFont typeface="Arial MT"/>
              <a:buChar char="•"/>
              <a:tabLst>
                <a:tab pos="328930" algn="l"/>
              </a:tabLst>
            </a:pPr>
            <a:r>
              <a:rPr sz="1200" b="1" dirty="0">
                <a:latin typeface="Calibri"/>
                <a:cs typeface="Calibri"/>
              </a:rPr>
              <a:t>Add</a:t>
            </a:r>
            <a:r>
              <a:rPr sz="1200" b="1" spc="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</a:t>
            </a:r>
            <a:r>
              <a:rPr sz="1200" b="1" spc="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new</a:t>
            </a:r>
            <a:r>
              <a:rPr sz="1200" b="1" spc="1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widget</a:t>
            </a:r>
            <a:r>
              <a:rPr sz="1200" b="1" spc="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ride </a:t>
            </a:r>
            <a:r>
              <a:rPr sz="1200" dirty="0">
                <a:latin typeface="Calibri"/>
                <a:cs typeface="Calibri"/>
              </a:rPr>
              <a:t>navigation</a:t>
            </a:r>
            <a:r>
              <a:rPr sz="1200" spc="6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screen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give</a:t>
            </a:r>
            <a:r>
              <a:rPr sz="1200" spc="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rider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option</a:t>
            </a:r>
            <a:r>
              <a:rPr sz="1200" spc="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share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their</a:t>
            </a:r>
            <a:r>
              <a:rPr sz="1200" spc="4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location </a:t>
            </a:r>
            <a:r>
              <a:rPr sz="1200" dirty="0">
                <a:latin typeface="Calibri"/>
                <a:cs typeface="Calibri"/>
              </a:rPr>
              <a:t>with</a:t>
            </a:r>
            <a:r>
              <a:rPr sz="1200" spc="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Rapido</a:t>
            </a:r>
            <a:r>
              <a:rPr sz="1200" spc="5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captain</a:t>
            </a:r>
            <a:endParaRPr sz="1200">
              <a:latin typeface="Calibri"/>
              <a:cs typeface="Calibri"/>
            </a:endParaRPr>
          </a:p>
          <a:p>
            <a:pPr marL="328930" marR="114935" indent="-250190">
              <a:lnSpc>
                <a:spcPct val="102200"/>
              </a:lnSpc>
              <a:spcBef>
                <a:spcPts val="5"/>
              </a:spcBef>
              <a:buFont typeface="Arial MT"/>
              <a:buChar char="•"/>
              <a:tabLst>
                <a:tab pos="328930" algn="l"/>
              </a:tabLst>
            </a:pPr>
            <a:r>
              <a:rPr sz="1200" b="1" dirty="0">
                <a:latin typeface="Calibri"/>
                <a:cs typeface="Calibri"/>
              </a:rPr>
              <a:t>Alert</a:t>
            </a:r>
            <a:r>
              <a:rPr sz="1200" b="1" spc="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to</a:t>
            </a:r>
            <a:r>
              <a:rPr sz="1200" b="1" spc="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the</a:t>
            </a:r>
            <a:r>
              <a:rPr sz="1200" b="1" spc="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Rapido</a:t>
            </a:r>
            <a:r>
              <a:rPr sz="1200" b="1" spc="4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captain</a:t>
            </a:r>
            <a:r>
              <a:rPr sz="1200" b="1" spc="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that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the </a:t>
            </a:r>
            <a:r>
              <a:rPr sz="1200" dirty="0">
                <a:latin typeface="Calibri"/>
                <a:cs typeface="Calibri"/>
              </a:rPr>
              <a:t>rider’s</a:t>
            </a:r>
            <a:r>
              <a:rPr sz="1200" spc="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location</a:t>
            </a:r>
            <a:r>
              <a:rPr sz="1200" spc="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has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been</a:t>
            </a:r>
            <a:r>
              <a:rPr sz="1200" spc="4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shared. </a:t>
            </a:r>
            <a:r>
              <a:rPr sz="1200" b="1" dirty="0">
                <a:latin typeface="Calibri"/>
                <a:cs typeface="Calibri"/>
              </a:rPr>
              <a:t>Marker</a:t>
            </a:r>
            <a:r>
              <a:rPr sz="1200" b="1" spc="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will</a:t>
            </a:r>
            <a:r>
              <a:rPr sz="1200" b="1" spc="4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be added</a:t>
            </a:r>
            <a:r>
              <a:rPr sz="1200" b="1" spc="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his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in-</a:t>
            </a:r>
            <a:r>
              <a:rPr sz="1200" spc="-25" dirty="0">
                <a:latin typeface="Calibri"/>
                <a:cs typeface="Calibri"/>
              </a:rPr>
              <a:t>app </a:t>
            </a:r>
            <a:r>
              <a:rPr sz="1200" dirty="0">
                <a:latin typeface="Calibri"/>
                <a:cs typeface="Calibri"/>
              </a:rPr>
              <a:t>map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that</a:t>
            </a:r>
            <a:r>
              <a:rPr sz="1200" spc="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will</a:t>
            </a:r>
            <a:r>
              <a:rPr sz="1200" spc="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show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4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pickup </a:t>
            </a:r>
            <a:r>
              <a:rPr sz="1200" dirty="0">
                <a:latin typeface="Calibri"/>
                <a:cs typeface="Calibri"/>
              </a:rPr>
              <a:t>location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as</a:t>
            </a:r>
            <a:r>
              <a:rPr sz="1200" spc="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well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as</a:t>
            </a:r>
            <a:r>
              <a:rPr sz="1200" spc="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current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location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rider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62571" y="2081783"/>
            <a:ext cx="3726179" cy="4506595"/>
          </a:xfrm>
          <a:prstGeom prst="rect">
            <a:avLst/>
          </a:prstGeom>
          <a:solidFill>
            <a:srgbClr val="FDD667"/>
          </a:solidFill>
          <a:ln w="6096">
            <a:solidFill>
              <a:srgbClr val="000000"/>
            </a:solidFill>
          </a:ln>
        </p:spPr>
        <p:txBody>
          <a:bodyPr vert="horz" wrap="square" lIns="0" tIns="2603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04"/>
              </a:spcBef>
            </a:pPr>
            <a:r>
              <a:rPr sz="1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Pay</a:t>
            </a:r>
            <a:r>
              <a:rPr sz="1400" b="1" u="sng" spc="-8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Later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400">
              <a:latin typeface="Calibri"/>
              <a:cs typeface="Calibri"/>
            </a:endParaRPr>
          </a:p>
          <a:p>
            <a:pPr marL="80645" marR="86995">
              <a:lnSpc>
                <a:spcPct val="102200"/>
              </a:lnSpc>
            </a:pPr>
            <a:r>
              <a:rPr sz="1200" i="1" dirty="0">
                <a:latin typeface="Calibri"/>
                <a:cs typeface="Calibri"/>
              </a:rPr>
              <a:t>“In a</a:t>
            </a:r>
            <a:r>
              <a:rPr sz="1200" i="1" spc="3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cashless</a:t>
            </a:r>
            <a:r>
              <a:rPr sz="1200" i="1" spc="7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environment,</a:t>
            </a:r>
            <a:r>
              <a:rPr sz="1200" i="1" spc="6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a</a:t>
            </a:r>
            <a:r>
              <a:rPr sz="1200" i="1" spc="3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rider</a:t>
            </a:r>
            <a:r>
              <a:rPr sz="1200" i="1" spc="1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who</a:t>
            </a:r>
            <a:r>
              <a:rPr sz="1200" i="1" spc="3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is</a:t>
            </a:r>
            <a:r>
              <a:rPr sz="1200" i="1" spc="3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in</a:t>
            </a:r>
            <a:r>
              <a:rPr sz="1200" i="1" spc="4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a hurry</a:t>
            </a:r>
            <a:r>
              <a:rPr sz="1200" i="1" spc="4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or</a:t>
            </a:r>
            <a:r>
              <a:rPr sz="1200" i="1" spc="5" dirty="0">
                <a:latin typeface="Calibri"/>
                <a:cs typeface="Calibri"/>
              </a:rPr>
              <a:t> </a:t>
            </a:r>
            <a:r>
              <a:rPr sz="1200" i="1" spc="-25" dirty="0">
                <a:latin typeface="Calibri"/>
                <a:cs typeface="Calibri"/>
              </a:rPr>
              <a:t>is </a:t>
            </a:r>
            <a:r>
              <a:rPr sz="1200" i="1" dirty="0">
                <a:latin typeface="Calibri"/>
                <a:cs typeface="Calibri"/>
              </a:rPr>
              <a:t>unable</a:t>
            </a:r>
            <a:r>
              <a:rPr sz="1200" i="1" spc="6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to</a:t>
            </a:r>
            <a:r>
              <a:rPr sz="1200" i="1" spc="1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receive</a:t>
            </a:r>
            <a:r>
              <a:rPr sz="1200" i="1" spc="3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network</a:t>
            </a:r>
            <a:r>
              <a:rPr sz="1200" i="1" spc="2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enough</a:t>
            </a:r>
            <a:r>
              <a:rPr sz="1200" i="1" spc="3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to</a:t>
            </a:r>
            <a:r>
              <a:rPr sz="1200" i="1" spc="2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make</a:t>
            </a:r>
            <a:r>
              <a:rPr sz="1200" i="1" spc="1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a</a:t>
            </a:r>
            <a:r>
              <a:rPr sz="1200" i="1" spc="10" dirty="0">
                <a:latin typeface="Calibri"/>
                <a:cs typeface="Calibri"/>
              </a:rPr>
              <a:t> </a:t>
            </a:r>
            <a:r>
              <a:rPr sz="1200" i="1" spc="-10" dirty="0">
                <a:latin typeface="Calibri"/>
                <a:cs typeface="Calibri"/>
              </a:rPr>
              <a:t>payment</a:t>
            </a:r>
            <a:r>
              <a:rPr sz="1200" i="1" spc="50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on</a:t>
            </a:r>
            <a:r>
              <a:rPr sz="1200" i="1" spc="1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the</a:t>
            </a:r>
            <a:r>
              <a:rPr sz="1200" i="1" spc="2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spot</a:t>
            </a:r>
            <a:r>
              <a:rPr sz="1200" i="1" spc="1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should</a:t>
            </a:r>
            <a:r>
              <a:rPr sz="1200" i="1" spc="6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have</a:t>
            </a:r>
            <a:r>
              <a:rPr sz="1200" i="1" spc="3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the</a:t>
            </a:r>
            <a:r>
              <a:rPr sz="1200" i="1" spc="2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chance</a:t>
            </a:r>
            <a:r>
              <a:rPr sz="1200" i="1" spc="7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to</a:t>
            </a:r>
            <a:r>
              <a:rPr sz="1200" i="1" spc="2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make</a:t>
            </a:r>
            <a:r>
              <a:rPr sz="1200" i="1" spc="20" dirty="0">
                <a:latin typeface="Calibri"/>
                <a:cs typeface="Calibri"/>
              </a:rPr>
              <a:t> </a:t>
            </a:r>
            <a:r>
              <a:rPr sz="1200" i="1" spc="-25" dirty="0">
                <a:latin typeface="Calibri"/>
                <a:cs typeface="Calibri"/>
              </a:rPr>
              <a:t>the</a:t>
            </a:r>
            <a:r>
              <a:rPr sz="1200" i="1" spc="50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payment</a:t>
            </a:r>
            <a:r>
              <a:rPr sz="1200" i="1" spc="60" dirty="0">
                <a:latin typeface="Calibri"/>
                <a:cs typeface="Calibri"/>
              </a:rPr>
              <a:t> </a:t>
            </a:r>
            <a:r>
              <a:rPr sz="1200" i="1" spc="-10" dirty="0">
                <a:latin typeface="Calibri"/>
                <a:cs typeface="Calibri"/>
              </a:rPr>
              <a:t>later”</a:t>
            </a:r>
            <a:endParaRPr sz="1200">
              <a:latin typeface="Calibri"/>
              <a:cs typeface="Calibri"/>
            </a:endParaRPr>
          </a:p>
          <a:p>
            <a:pPr marL="80645">
              <a:lnSpc>
                <a:spcPct val="100000"/>
              </a:lnSpc>
              <a:spcBef>
                <a:spcPts val="35"/>
              </a:spcBef>
            </a:pPr>
            <a:r>
              <a:rPr sz="1200" dirty="0">
                <a:latin typeface="Calibri"/>
                <a:cs typeface="Calibri"/>
              </a:rPr>
              <a:t>Examples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are:</a:t>
            </a:r>
            <a:endParaRPr sz="1200">
              <a:latin typeface="Calibri"/>
              <a:cs typeface="Calibri"/>
            </a:endParaRPr>
          </a:p>
          <a:p>
            <a:pPr marL="330200" indent="-249554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330200" algn="l"/>
              </a:tabLst>
            </a:pPr>
            <a:r>
              <a:rPr sz="1200" dirty="0">
                <a:latin typeface="Calibri"/>
                <a:cs typeface="Calibri"/>
              </a:rPr>
              <a:t>Work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professional</a:t>
            </a:r>
            <a:r>
              <a:rPr sz="1200" spc="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heading</a:t>
            </a:r>
            <a:r>
              <a:rPr sz="1200" spc="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their</a:t>
            </a:r>
            <a:r>
              <a:rPr sz="1200" spc="4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office</a:t>
            </a:r>
            <a:endParaRPr sz="1200">
              <a:latin typeface="Calibri"/>
              <a:cs typeface="Calibri"/>
            </a:endParaRPr>
          </a:p>
          <a:p>
            <a:pPr marL="330200" marR="232410" indent="-250190">
              <a:lnSpc>
                <a:spcPct val="102499"/>
              </a:lnSpc>
              <a:buFont typeface="Arial MT"/>
              <a:buChar char="•"/>
              <a:tabLst>
                <a:tab pos="330200" algn="l"/>
              </a:tabLst>
            </a:pPr>
            <a:r>
              <a:rPr sz="1200" dirty="0">
                <a:latin typeface="Calibri"/>
                <a:cs typeface="Calibri"/>
              </a:rPr>
              <a:t>People</a:t>
            </a:r>
            <a:r>
              <a:rPr sz="1200" spc="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visiting</a:t>
            </a:r>
            <a:r>
              <a:rPr sz="1200" spc="7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locations</a:t>
            </a:r>
            <a:r>
              <a:rPr sz="1200" spc="8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where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they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are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unable</a:t>
            </a:r>
            <a:r>
              <a:rPr sz="1200" spc="4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to </a:t>
            </a:r>
            <a:r>
              <a:rPr sz="1200" dirty="0">
                <a:latin typeface="Calibri"/>
                <a:cs typeface="Calibri"/>
              </a:rPr>
              <a:t>get</a:t>
            </a:r>
            <a:r>
              <a:rPr sz="1200" spc="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network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or make</a:t>
            </a:r>
            <a:r>
              <a:rPr sz="1200" spc="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online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payment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 MT"/>
              <a:buChar char="•"/>
            </a:pPr>
            <a:endParaRPr sz="1200">
              <a:latin typeface="Calibri"/>
              <a:cs typeface="Calibri"/>
            </a:endParaRPr>
          </a:p>
          <a:p>
            <a:pPr marL="80645">
              <a:lnSpc>
                <a:spcPct val="100000"/>
              </a:lnSpc>
            </a:pPr>
            <a:r>
              <a:rPr sz="1200" b="1" dirty="0">
                <a:latin typeface="Calibri"/>
                <a:cs typeface="Calibri"/>
              </a:rPr>
              <a:t>Define</a:t>
            </a:r>
            <a:r>
              <a:rPr sz="1200" b="1" spc="20" dirty="0">
                <a:latin typeface="Calibri"/>
                <a:cs typeface="Calibri"/>
              </a:rPr>
              <a:t> </a:t>
            </a:r>
            <a:r>
              <a:rPr sz="1200" b="1" spc="-20" dirty="0">
                <a:latin typeface="Calibri"/>
                <a:cs typeface="Calibri"/>
              </a:rPr>
              <a:t>MVP:</a:t>
            </a:r>
            <a:endParaRPr sz="1200">
              <a:latin typeface="Calibri"/>
              <a:cs typeface="Calibri"/>
            </a:endParaRPr>
          </a:p>
          <a:p>
            <a:pPr marL="330200" marR="132080" indent="-250190">
              <a:lnSpc>
                <a:spcPct val="102299"/>
              </a:lnSpc>
              <a:spcBef>
                <a:spcPts val="5"/>
              </a:spcBef>
              <a:buFont typeface="Arial MT"/>
              <a:buChar char="•"/>
              <a:tabLst>
                <a:tab pos="330200" algn="l"/>
              </a:tabLst>
            </a:pPr>
            <a:r>
              <a:rPr sz="1200" dirty="0">
                <a:latin typeface="Calibri"/>
                <a:cs typeface="Calibri"/>
              </a:rPr>
              <a:t>Starting</a:t>
            </a:r>
            <a:r>
              <a:rPr sz="1200" spc="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with</a:t>
            </a:r>
            <a:r>
              <a:rPr sz="1200" spc="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decided</a:t>
            </a:r>
            <a:r>
              <a:rPr sz="1200" spc="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limit</a:t>
            </a:r>
            <a:r>
              <a:rPr sz="1200" spc="6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(e.g.: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₹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100),</a:t>
            </a:r>
            <a:r>
              <a:rPr sz="1200" spc="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riders </a:t>
            </a:r>
            <a:r>
              <a:rPr sz="1200" dirty="0">
                <a:latin typeface="Calibri"/>
                <a:cs typeface="Calibri"/>
              </a:rPr>
              <a:t>whose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total</a:t>
            </a:r>
            <a:r>
              <a:rPr sz="1200" spc="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payable</a:t>
            </a:r>
            <a:r>
              <a:rPr sz="1200" spc="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amount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falls</a:t>
            </a:r>
            <a:r>
              <a:rPr sz="1200" spc="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below</a:t>
            </a:r>
            <a:r>
              <a:rPr sz="1200" spc="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this</a:t>
            </a:r>
            <a:r>
              <a:rPr sz="1200" spc="4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limit </a:t>
            </a:r>
            <a:r>
              <a:rPr sz="1200" dirty="0">
                <a:latin typeface="Calibri"/>
                <a:cs typeface="Calibri"/>
              </a:rPr>
              <a:t>should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shown</a:t>
            </a:r>
            <a:r>
              <a:rPr sz="1200" b="1" spc="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the</a:t>
            </a:r>
            <a:r>
              <a:rPr sz="1200" b="1" spc="3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option</a:t>
            </a:r>
            <a:r>
              <a:rPr sz="1200" b="1" spc="4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of</a:t>
            </a:r>
            <a:r>
              <a:rPr sz="1200" b="1" spc="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making</a:t>
            </a:r>
            <a:r>
              <a:rPr sz="1200" b="1" spc="35" dirty="0">
                <a:latin typeface="Calibri"/>
                <a:cs typeface="Calibri"/>
              </a:rPr>
              <a:t> </a:t>
            </a:r>
            <a:r>
              <a:rPr sz="1200" b="1" spc="-25" dirty="0">
                <a:latin typeface="Calibri"/>
                <a:cs typeface="Calibri"/>
              </a:rPr>
              <a:t>the </a:t>
            </a:r>
            <a:r>
              <a:rPr sz="1200" b="1" dirty="0">
                <a:latin typeface="Calibri"/>
                <a:cs typeface="Calibri"/>
              </a:rPr>
              <a:t>payment</a:t>
            </a:r>
            <a:r>
              <a:rPr sz="1200" b="1" spc="2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later.</a:t>
            </a:r>
            <a:r>
              <a:rPr sz="1200" b="1" spc="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But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this</a:t>
            </a:r>
            <a:r>
              <a:rPr sz="1200" spc="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payment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should</a:t>
            </a:r>
            <a:r>
              <a:rPr sz="1200" spc="4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necessarily </a:t>
            </a:r>
            <a:r>
              <a:rPr sz="1200" dirty="0">
                <a:latin typeface="Calibri"/>
                <a:cs typeface="Calibri"/>
              </a:rPr>
              <a:t>be</a:t>
            </a:r>
            <a:r>
              <a:rPr sz="1200" spc="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made</a:t>
            </a:r>
            <a:r>
              <a:rPr sz="1200" spc="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before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user</a:t>
            </a:r>
            <a:r>
              <a:rPr sz="1200" spc="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can</a:t>
            </a:r>
            <a:r>
              <a:rPr sz="1200" spc="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book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his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next</a:t>
            </a:r>
            <a:r>
              <a:rPr sz="1200" spc="5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ride.</a:t>
            </a:r>
            <a:endParaRPr sz="1200">
              <a:latin typeface="Calibri"/>
              <a:cs typeface="Calibri"/>
            </a:endParaRPr>
          </a:p>
          <a:p>
            <a:pPr marL="330200" marR="240665" indent="-250190">
              <a:lnSpc>
                <a:spcPct val="102099"/>
              </a:lnSpc>
              <a:spcBef>
                <a:spcPts val="5"/>
              </a:spcBef>
              <a:buFont typeface="Arial MT"/>
              <a:buChar char="•"/>
              <a:tabLst>
                <a:tab pos="330200" algn="l"/>
              </a:tabLst>
            </a:pPr>
            <a:r>
              <a:rPr sz="1200" b="1" dirty="0">
                <a:latin typeface="Calibri"/>
                <a:cs typeface="Calibri"/>
              </a:rPr>
              <a:t>User</a:t>
            </a:r>
            <a:r>
              <a:rPr sz="1200" b="1" spc="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should</a:t>
            </a:r>
            <a:r>
              <a:rPr sz="1200" b="1" spc="4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be</a:t>
            </a:r>
            <a:r>
              <a:rPr sz="1200" b="1" spc="1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shown</a:t>
            </a:r>
            <a:r>
              <a:rPr sz="1200" b="1" spc="1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alert</a:t>
            </a:r>
            <a:r>
              <a:rPr sz="1200" b="1" spc="3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on</a:t>
            </a:r>
            <a:r>
              <a:rPr sz="1200" b="1" spc="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the</a:t>
            </a:r>
            <a:r>
              <a:rPr sz="1200" b="1" spc="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book</a:t>
            </a:r>
            <a:r>
              <a:rPr sz="1200" b="1" spc="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</a:t>
            </a:r>
            <a:r>
              <a:rPr sz="1200" b="1" spc="30" dirty="0">
                <a:latin typeface="Calibri"/>
                <a:cs typeface="Calibri"/>
              </a:rPr>
              <a:t> </a:t>
            </a:r>
            <a:r>
              <a:rPr sz="1200" b="1" spc="-20" dirty="0">
                <a:latin typeface="Calibri"/>
                <a:cs typeface="Calibri"/>
              </a:rPr>
              <a:t>ride </a:t>
            </a:r>
            <a:r>
              <a:rPr sz="1200" b="1" dirty="0">
                <a:latin typeface="Calibri"/>
                <a:cs typeface="Calibri"/>
              </a:rPr>
              <a:t>page</a:t>
            </a:r>
            <a:r>
              <a:rPr sz="1200" b="1" spc="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that</a:t>
            </a:r>
            <a:r>
              <a:rPr sz="1200" spc="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he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has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make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payment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order </a:t>
            </a:r>
            <a:r>
              <a:rPr sz="1200" spc="-25" dirty="0">
                <a:latin typeface="Calibri"/>
                <a:cs typeface="Calibri"/>
              </a:rPr>
              <a:t>to </a:t>
            </a:r>
            <a:r>
              <a:rPr sz="1200" dirty="0">
                <a:latin typeface="Calibri"/>
                <a:cs typeface="Calibri"/>
              </a:rPr>
              <a:t>make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next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booking</a:t>
            </a:r>
            <a:endParaRPr sz="1200">
              <a:latin typeface="Calibri"/>
              <a:cs typeface="Calibri"/>
            </a:endParaRPr>
          </a:p>
          <a:p>
            <a:pPr marL="330200" marR="86995" indent="-250190">
              <a:lnSpc>
                <a:spcPct val="102099"/>
              </a:lnSpc>
              <a:spcBef>
                <a:spcPts val="5"/>
              </a:spcBef>
              <a:buFont typeface="Arial MT"/>
              <a:buChar char="•"/>
              <a:tabLst>
                <a:tab pos="330200" algn="l"/>
              </a:tabLst>
            </a:pPr>
            <a:r>
              <a:rPr sz="1200" dirty="0">
                <a:latin typeface="Calibri"/>
                <a:cs typeface="Calibri"/>
              </a:rPr>
              <a:t>Good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credit</a:t>
            </a:r>
            <a:r>
              <a:rPr sz="1200" spc="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behaviour</a:t>
            </a:r>
            <a:r>
              <a:rPr sz="1200" spc="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(timely</a:t>
            </a:r>
            <a:r>
              <a:rPr sz="1200" spc="7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payments</a:t>
            </a:r>
            <a:r>
              <a:rPr sz="1200" spc="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previous </a:t>
            </a:r>
            <a:r>
              <a:rPr sz="1200" dirty="0">
                <a:latin typeface="Calibri"/>
                <a:cs typeface="Calibri"/>
              </a:rPr>
              <a:t>bookings</a:t>
            </a:r>
            <a:r>
              <a:rPr sz="1200" spc="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should</a:t>
            </a:r>
            <a:r>
              <a:rPr sz="1200" spc="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rewarded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with</a:t>
            </a:r>
            <a:r>
              <a:rPr sz="1200" spc="6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increase</a:t>
            </a:r>
            <a:r>
              <a:rPr sz="1200" b="1" spc="50" dirty="0">
                <a:latin typeface="Calibri"/>
                <a:cs typeface="Calibri"/>
              </a:rPr>
              <a:t> </a:t>
            </a:r>
            <a:r>
              <a:rPr sz="1200" b="1" spc="-25" dirty="0">
                <a:latin typeface="Calibri"/>
                <a:cs typeface="Calibri"/>
              </a:rPr>
              <a:t>in</a:t>
            </a:r>
            <a:r>
              <a:rPr sz="1200" b="1" spc="50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credit</a:t>
            </a:r>
            <a:r>
              <a:rPr sz="1200" b="1" spc="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limit</a:t>
            </a:r>
            <a:r>
              <a:rPr sz="1200" b="1" spc="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5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user)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5996" rIns="0" bIns="0" rtlCol="0">
            <a:spAutoFit/>
          </a:bodyPr>
          <a:lstStyle/>
          <a:p>
            <a:pPr marL="23177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Wireframes</a:t>
            </a:r>
            <a:r>
              <a:rPr spc="-55" dirty="0"/>
              <a:t> </a:t>
            </a:r>
            <a:r>
              <a:rPr dirty="0"/>
              <a:t>-</a:t>
            </a:r>
            <a:r>
              <a:rPr spc="-40" dirty="0"/>
              <a:t> </a:t>
            </a:r>
            <a:r>
              <a:rPr dirty="0"/>
              <a:t>Rapido</a:t>
            </a:r>
            <a:r>
              <a:rPr spc="-45" dirty="0"/>
              <a:t> </a:t>
            </a:r>
            <a:r>
              <a:rPr spc="-10" dirty="0"/>
              <a:t>Regular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010655" y="1546860"/>
            <a:ext cx="2551430" cy="4533900"/>
            <a:chOff x="6010655" y="1546860"/>
            <a:chExt cx="2551430" cy="45339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10655" y="1546860"/>
              <a:ext cx="2244851" cy="45339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933943" y="4104132"/>
              <a:ext cx="628015" cy="228600"/>
            </a:xfrm>
            <a:custGeom>
              <a:avLst/>
              <a:gdLst/>
              <a:ahLst/>
              <a:cxnLst/>
              <a:rect l="l" t="t" r="r" b="b"/>
              <a:pathLst>
                <a:path w="628015" h="228600">
                  <a:moveTo>
                    <a:pt x="561171" y="23309"/>
                  </a:moveTo>
                  <a:lnTo>
                    <a:pt x="553212" y="0"/>
                  </a:lnTo>
                  <a:lnTo>
                    <a:pt x="627888" y="10668"/>
                  </a:lnTo>
                  <a:lnTo>
                    <a:pt x="618475" y="19812"/>
                  </a:lnTo>
                  <a:lnTo>
                    <a:pt x="571500" y="19812"/>
                  </a:lnTo>
                  <a:lnTo>
                    <a:pt x="561171" y="23309"/>
                  </a:lnTo>
                  <a:close/>
                </a:path>
                <a:path w="628015" h="228600">
                  <a:moveTo>
                    <a:pt x="566925" y="40161"/>
                  </a:moveTo>
                  <a:lnTo>
                    <a:pt x="561171" y="23309"/>
                  </a:lnTo>
                  <a:lnTo>
                    <a:pt x="571500" y="19812"/>
                  </a:lnTo>
                  <a:lnTo>
                    <a:pt x="577596" y="36576"/>
                  </a:lnTo>
                  <a:lnTo>
                    <a:pt x="566925" y="40161"/>
                  </a:lnTo>
                  <a:close/>
                </a:path>
                <a:path w="628015" h="228600">
                  <a:moveTo>
                    <a:pt x="574548" y="62483"/>
                  </a:moveTo>
                  <a:lnTo>
                    <a:pt x="566925" y="40161"/>
                  </a:lnTo>
                  <a:lnTo>
                    <a:pt x="577596" y="36576"/>
                  </a:lnTo>
                  <a:lnTo>
                    <a:pt x="571500" y="19812"/>
                  </a:lnTo>
                  <a:lnTo>
                    <a:pt x="618475" y="19812"/>
                  </a:lnTo>
                  <a:lnTo>
                    <a:pt x="574548" y="62483"/>
                  </a:lnTo>
                  <a:close/>
                </a:path>
                <a:path w="628015" h="228600">
                  <a:moveTo>
                    <a:pt x="6096" y="228600"/>
                  </a:moveTo>
                  <a:lnTo>
                    <a:pt x="0" y="213360"/>
                  </a:lnTo>
                  <a:lnTo>
                    <a:pt x="561171" y="23309"/>
                  </a:lnTo>
                  <a:lnTo>
                    <a:pt x="566925" y="40161"/>
                  </a:lnTo>
                  <a:lnTo>
                    <a:pt x="6096" y="2286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576605" y="3631242"/>
            <a:ext cx="1114425" cy="11461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2200"/>
              </a:lnSpc>
              <a:spcBef>
                <a:spcPts val="90"/>
              </a:spcBef>
            </a:pPr>
            <a:r>
              <a:rPr sz="1200" dirty="0">
                <a:latin typeface="Calibri"/>
                <a:cs typeface="Calibri"/>
              </a:rPr>
              <a:t>Payment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method </a:t>
            </a:r>
            <a:r>
              <a:rPr sz="1200" dirty="0">
                <a:latin typeface="Calibri"/>
                <a:cs typeface="Calibri"/>
              </a:rPr>
              <a:t>will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limited</a:t>
            </a:r>
            <a:r>
              <a:rPr sz="1200" spc="6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to </a:t>
            </a:r>
            <a:r>
              <a:rPr sz="1200" dirty="0">
                <a:latin typeface="Calibri"/>
                <a:cs typeface="Calibri"/>
              </a:rPr>
              <a:t>Rapido</a:t>
            </a:r>
            <a:r>
              <a:rPr sz="1200" spc="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wallet</a:t>
            </a:r>
            <a:r>
              <a:rPr sz="1200" spc="5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in </a:t>
            </a:r>
            <a:r>
              <a:rPr sz="1200" dirty="0">
                <a:latin typeface="Calibri"/>
                <a:cs typeface="Calibri"/>
              </a:rPr>
              <a:t>order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not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bug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6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rider</a:t>
            </a:r>
            <a:r>
              <a:rPr sz="1200" spc="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after </a:t>
            </a:r>
            <a:r>
              <a:rPr sz="1200" dirty="0">
                <a:latin typeface="Calibri"/>
                <a:cs typeface="Calibri"/>
              </a:rPr>
              <a:t>every</a:t>
            </a:r>
            <a:r>
              <a:rPr sz="1200" spc="5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ride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10188" y="6252470"/>
            <a:ext cx="2527300" cy="2120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00" b="1" dirty="0">
                <a:latin typeface="Calibri"/>
                <a:cs typeface="Calibri"/>
              </a:rPr>
              <a:t>Rapido</a:t>
            </a:r>
            <a:r>
              <a:rPr sz="1200" b="1" spc="5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Regular</a:t>
            </a:r>
            <a:r>
              <a:rPr sz="1200" b="1" spc="4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Schedule</a:t>
            </a:r>
            <a:r>
              <a:rPr sz="1200" b="1" spc="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booking</a:t>
            </a:r>
            <a:r>
              <a:rPr sz="1200" b="1" spc="40" dirty="0">
                <a:latin typeface="Calibri"/>
                <a:cs typeface="Calibri"/>
              </a:rPr>
              <a:t> </a:t>
            </a:r>
            <a:r>
              <a:rPr sz="1200" b="1" spc="-20" dirty="0">
                <a:latin typeface="Calibri"/>
                <a:cs typeface="Calibri"/>
              </a:rPr>
              <a:t>page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874520" y="1546860"/>
            <a:ext cx="2303145" cy="4533900"/>
            <a:chOff x="1874520" y="1546860"/>
            <a:chExt cx="2303145" cy="453390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74520" y="1546860"/>
              <a:ext cx="2302763" cy="45339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372855" y="1879091"/>
              <a:ext cx="567055" cy="245745"/>
            </a:xfrm>
            <a:custGeom>
              <a:avLst/>
              <a:gdLst/>
              <a:ahLst/>
              <a:cxnLst/>
              <a:rect l="l" t="t" r="r" b="b"/>
              <a:pathLst>
                <a:path w="567055" h="245744">
                  <a:moveTo>
                    <a:pt x="566928" y="88392"/>
                  </a:moveTo>
                  <a:lnTo>
                    <a:pt x="551688" y="40767"/>
                  </a:lnTo>
                  <a:lnTo>
                    <a:pt x="509016" y="13716"/>
                  </a:lnTo>
                  <a:lnTo>
                    <a:pt x="489204" y="9144"/>
                  </a:lnTo>
                  <a:lnTo>
                    <a:pt x="486156" y="9144"/>
                  </a:lnTo>
                  <a:lnTo>
                    <a:pt x="470916" y="6096"/>
                  </a:lnTo>
                  <a:lnTo>
                    <a:pt x="463296" y="4572"/>
                  </a:lnTo>
                  <a:lnTo>
                    <a:pt x="464820" y="6096"/>
                  </a:lnTo>
                  <a:lnTo>
                    <a:pt x="449580" y="3048"/>
                  </a:lnTo>
                  <a:lnTo>
                    <a:pt x="446532" y="1524"/>
                  </a:lnTo>
                  <a:lnTo>
                    <a:pt x="437388" y="1524"/>
                  </a:lnTo>
                  <a:lnTo>
                    <a:pt x="434340" y="0"/>
                  </a:lnTo>
                  <a:lnTo>
                    <a:pt x="85344" y="0"/>
                  </a:lnTo>
                  <a:lnTo>
                    <a:pt x="55435" y="5905"/>
                  </a:lnTo>
                  <a:lnTo>
                    <a:pt x="31242" y="22098"/>
                  </a:lnTo>
                  <a:lnTo>
                    <a:pt x="15049" y="46291"/>
                  </a:lnTo>
                  <a:lnTo>
                    <a:pt x="9144" y="76200"/>
                  </a:lnTo>
                  <a:lnTo>
                    <a:pt x="15049" y="106108"/>
                  </a:lnTo>
                  <a:lnTo>
                    <a:pt x="16090" y="107683"/>
                  </a:lnTo>
                  <a:lnTo>
                    <a:pt x="5892" y="123139"/>
                  </a:lnTo>
                  <a:lnTo>
                    <a:pt x="6146" y="182308"/>
                  </a:lnTo>
                  <a:lnTo>
                    <a:pt x="47586" y="222694"/>
                  </a:lnTo>
                  <a:lnTo>
                    <a:pt x="77317" y="228523"/>
                  </a:lnTo>
                  <a:lnTo>
                    <a:pt x="79019" y="228523"/>
                  </a:lnTo>
                  <a:lnTo>
                    <a:pt x="101130" y="227139"/>
                  </a:lnTo>
                  <a:lnTo>
                    <a:pt x="148158" y="228523"/>
                  </a:lnTo>
                  <a:lnTo>
                    <a:pt x="173736" y="233172"/>
                  </a:lnTo>
                  <a:lnTo>
                    <a:pt x="172212" y="231648"/>
                  </a:lnTo>
                  <a:lnTo>
                    <a:pt x="179832" y="233172"/>
                  </a:lnTo>
                  <a:lnTo>
                    <a:pt x="176784" y="233172"/>
                  </a:lnTo>
                  <a:lnTo>
                    <a:pt x="192024" y="237744"/>
                  </a:lnTo>
                  <a:lnTo>
                    <a:pt x="188976" y="236220"/>
                  </a:lnTo>
                  <a:lnTo>
                    <a:pt x="193548" y="237744"/>
                  </a:lnTo>
                  <a:lnTo>
                    <a:pt x="196596" y="239268"/>
                  </a:lnTo>
                  <a:lnTo>
                    <a:pt x="202692" y="239268"/>
                  </a:lnTo>
                  <a:lnTo>
                    <a:pt x="205740" y="240792"/>
                  </a:lnTo>
                  <a:lnTo>
                    <a:pt x="210312" y="242316"/>
                  </a:lnTo>
                  <a:lnTo>
                    <a:pt x="216408" y="242316"/>
                  </a:lnTo>
                  <a:lnTo>
                    <a:pt x="227076" y="243840"/>
                  </a:lnTo>
                  <a:lnTo>
                    <a:pt x="230124" y="243840"/>
                  </a:lnTo>
                  <a:lnTo>
                    <a:pt x="233172" y="245364"/>
                  </a:lnTo>
                  <a:lnTo>
                    <a:pt x="237744" y="245364"/>
                  </a:lnTo>
                  <a:lnTo>
                    <a:pt x="326136" y="243840"/>
                  </a:lnTo>
                  <a:lnTo>
                    <a:pt x="336816" y="243840"/>
                  </a:lnTo>
                  <a:lnTo>
                    <a:pt x="365760" y="239268"/>
                  </a:lnTo>
                  <a:lnTo>
                    <a:pt x="396240" y="236220"/>
                  </a:lnTo>
                  <a:lnTo>
                    <a:pt x="408444" y="236220"/>
                  </a:lnTo>
                  <a:lnTo>
                    <a:pt x="414540" y="234696"/>
                  </a:lnTo>
                  <a:lnTo>
                    <a:pt x="420636" y="234696"/>
                  </a:lnTo>
                  <a:lnTo>
                    <a:pt x="438912" y="231648"/>
                  </a:lnTo>
                  <a:lnTo>
                    <a:pt x="443496" y="231648"/>
                  </a:lnTo>
                  <a:lnTo>
                    <a:pt x="448068" y="230124"/>
                  </a:lnTo>
                  <a:lnTo>
                    <a:pt x="451269" y="228523"/>
                  </a:lnTo>
                  <a:lnTo>
                    <a:pt x="455688" y="227076"/>
                  </a:lnTo>
                  <a:lnTo>
                    <a:pt x="460260" y="225552"/>
                  </a:lnTo>
                  <a:lnTo>
                    <a:pt x="459244" y="226060"/>
                  </a:lnTo>
                  <a:lnTo>
                    <a:pt x="455688" y="227076"/>
                  </a:lnTo>
                  <a:lnTo>
                    <a:pt x="457720" y="226822"/>
                  </a:lnTo>
                  <a:lnTo>
                    <a:pt x="457212" y="227076"/>
                  </a:lnTo>
                  <a:lnTo>
                    <a:pt x="458114" y="226771"/>
                  </a:lnTo>
                  <a:lnTo>
                    <a:pt x="480072" y="224028"/>
                  </a:lnTo>
                  <a:lnTo>
                    <a:pt x="506564" y="215531"/>
                  </a:lnTo>
                  <a:lnTo>
                    <a:pt x="527507" y="198310"/>
                  </a:lnTo>
                  <a:lnTo>
                    <a:pt x="540715" y="174523"/>
                  </a:lnTo>
                  <a:lnTo>
                    <a:pt x="544068" y="146304"/>
                  </a:lnTo>
                  <a:lnTo>
                    <a:pt x="542036" y="138252"/>
                  </a:lnTo>
                  <a:lnTo>
                    <a:pt x="547497" y="134112"/>
                  </a:lnTo>
                  <a:lnTo>
                    <a:pt x="561213" y="113258"/>
                  </a:lnTo>
                  <a:lnTo>
                    <a:pt x="566928" y="883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823768" y="6252470"/>
            <a:ext cx="2403475" cy="398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6075" marR="5080" indent="-334010">
              <a:lnSpc>
                <a:spcPct val="101699"/>
              </a:lnSpc>
              <a:spcBef>
                <a:spcPts val="100"/>
              </a:spcBef>
            </a:pPr>
            <a:r>
              <a:rPr sz="1200" b="1" dirty="0">
                <a:latin typeface="Calibri"/>
                <a:cs typeface="Calibri"/>
              </a:rPr>
              <a:t>New</a:t>
            </a:r>
            <a:r>
              <a:rPr sz="1200" b="1" spc="3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Menu</a:t>
            </a:r>
            <a:r>
              <a:rPr sz="1200" b="1" spc="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item</a:t>
            </a:r>
            <a:r>
              <a:rPr sz="1200" b="1" spc="4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to</a:t>
            </a:r>
            <a:r>
              <a:rPr sz="1200" b="1" spc="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schedule</a:t>
            </a:r>
            <a:r>
              <a:rPr sz="1200" b="1" spc="1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booking </a:t>
            </a:r>
            <a:r>
              <a:rPr sz="1200" b="1" dirty="0">
                <a:latin typeface="Calibri"/>
                <a:cs typeface="Calibri"/>
              </a:rPr>
              <a:t>and</a:t>
            </a:r>
            <a:r>
              <a:rPr sz="1200" b="1" spc="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view</a:t>
            </a:r>
            <a:r>
              <a:rPr sz="1200" b="1" spc="3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current</a:t>
            </a:r>
            <a:r>
              <a:rPr sz="1200" b="1" spc="3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bookings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036" rIns="0" bIns="0" rtlCol="0">
            <a:spAutoFit/>
          </a:bodyPr>
          <a:lstStyle/>
          <a:p>
            <a:pPr marL="40576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Wireframes</a:t>
            </a:r>
            <a:r>
              <a:rPr spc="-55" dirty="0"/>
              <a:t> </a:t>
            </a:r>
            <a:r>
              <a:rPr dirty="0"/>
              <a:t>-</a:t>
            </a:r>
            <a:r>
              <a:rPr spc="-40" dirty="0"/>
              <a:t> </a:t>
            </a:r>
            <a:r>
              <a:rPr dirty="0"/>
              <a:t>Rapido</a:t>
            </a:r>
            <a:r>
              <a:rPr spc="-75" dirty="0"/>
              <a:t> </a:t>
            </a:r>
            <a:r>
              <a:rPr spc="-10" dirty="0"/>
              <a:t>Regular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989320" y="1684020"/>
            <a:ext cx="2520950" cy="4533900"/>
            <a:chOff x="5989320" y="1684020"/>
            <a:chExt cx="2520950" cy="45339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89320" y="1684020"/>
              <a:ext cx="2240279" cy="45338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979664" y="3413760"/>
              <a:ext cx="530860" cy="76200"/>
            </a:xfrm>
            <a:custGeom>
              <a:avLst/>
              <a:gdLst/>
              <a:ahLst/>
              <a:cxnLst/>
              <a:rect l="l" t="t" r="r" b="b"/>
              <a:pathLst>
                <a:path w="530859" h="76200">
                  <a:moveTo>
                    <a:pt x="454152" y="76200"/>
                  </a:moveTo>
                  <a:lnTo>
                    <a:pt x="454152" y="0"/>
                  </a:lnTo>
                  <a:lnTo>
                    <a:pt x="505968" y="25908"/>
                  </a:lnTo>
                  <a:lnTo>
                    <a:pt x="467868" y="25908"/>
                  </a:lnTo>
                  <a:lnTo>
                    <a:pt x="467868" y="50292"/>
                  </a:lnTo>
                  <a:lnTo>
                    <a:pt x="505968" y="50292"/>
                  </a:lnTo>
                  <a:lnTo>
                    <a:pt x="454152" y="76200"/>
                  </a:lnTo>
                  <a:close/>
                </a:path>
                <a:path w="530859" h="76200">
                  <a:moveTo>
                    <a:pt x="454152" y="50292"/>
                  </a:moveTo>
                  <a:lnTo>
                    <a:pt x="0" y="50292"/>
                  </a:lnTo>
                  <a:lnTo>
                    <a:pt x="0" y="25908"/>
                  </a:lnTo>
                  <a:lnTo>
                    <a:pt x="454152" y="25908"/>
                  </a:lnTo>
                  <a:lnTo>
                    <a:pt x="454152" y="50292"/>
                  </a:lnTo>
                  <a:close/>
                </a:path>
                <a:path w="530859" h="76200">
                  <a:moveTo>
                    <a:pt x="505968" y="50292"/>
                  </a:moveTo>
                  <a:lnTo>
                    <a:pt x="467868" y="50292"/>
                  </a:lnTo>
                  <a:lnTo>
                    <a:pt x="467868" y="25908"/>
                  </a:lnTo>
                  <a:lnTo>
                    <a:pt x="505968" y="25908"/>
                  </a:lnTo>
                  <a:lnTo>
                    <a:pt x="530352" y="38100"/>
                  </a:lnTo>
                  <a:lnTo>
                    <a:pt x="505968" y="502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308124" y="2893619"/>
            <a:ext cx="2084070" cy="15214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90"/>
              </a:spcBef>
            </a:pPr>
            <a:r>
              <a:rPr sz="1200" dirty="0">
                <a:latin typeface="Calibri"/>
                <a:cs typeface="Calibri"/>
              </a:rPr>
              <a:t>Edit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option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not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available</a:t>
            </a:r>
            <a:r>
              <a:rPr sz="1200" spc="6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if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the </a:t>
            </a:r>
            <a:r>
              <a:rPr sz="1200" dirty="0">
                <a:latin typeface="Calibri"/>
                <a:cs typeface="Calibri"/>
              </a:rPr>
              <a:t>ride</a:t>
            </a:r>
            <a:r>
              <a:rPr sz="1200" spc="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scheduled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next</a:t>
            </a:r>
            <a:r>
              <a:rPr sz="1200" spc="5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15 </a:t>
            </a:r>
            <a:r>
              <a:rPr sz="1200" dirty="0">
                <a:latin typeface="Calibri"/>
                <a:cs typeface="Calibri"/>
              </a:rPr>
              <a:t>minutes.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This</a:t>
            </a:r>
            <a:r>
              <a:rPr sz="1200" spc="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because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4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app </a:t>
            </a:r>
            <a:r>
              <a:rPr sz="1200" dirty="0">
                <a:latin typeface="Calibri"/>
                <a:cs typeface="Calibri"/>
              </a:rPr>
              <a:t>will</a:t>
            </a:r>
            <a:r>
              <a:rPr sz="1200" spc="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run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Fetch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ride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process</a:t>
            </a:r>
            <a:r>
              <a:rPr sz="1200" spc="50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backend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15</a:t>
            </a:r>
            <a:r>
              <a:rPr sz="1200" spc="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minutes </a:t>
            </a:r>
            <a:r>
              <a:rPr sz="1200" dirty="0">
                <a:latin typeface="Calibri"/>
                <a:cs typeface="Calibri"/>
              </a:rPr>
              <a:t>before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designated</a:t>
            </a:r>
            <a:r>
              <a:rPr sz="1200" spc="7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pickup </a:t>
            </a:r>
            <a:r>
              <a:rPr sz="1200" dirty="0">
                <a:latin typeface="Calibri"/>
                <a:cs typeface="Calibri"/>
              </a:rPr>
              <a:t>time.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such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cases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only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cancel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is </a:t>
            </a:r>
            <a:r>
              <a:rPr sz="1200" spc="-10" dirty="0">
                <a:latin typeface="Calibri"/>
                <a:cs typeface="Calibri"/>
              </a:rPr>
              <a:t>available.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578122" y="2893619"/>
            <a:ext cx="1494155" cy="13341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2200"/>
              </a:lnSpc>
              <a:spcBef>
                <a:spcPts val="90"/>
              </a:spcBef>
            </a:pPr>
            <a:r>
              <a:rPr sz="1200" dirty="0">
                <a:latin typeface="Calibri"/>
                <a:cs typeface="Calibri"/>
              </a:rPr>
              <a:t>The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alert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low</a:t>
            </a:r>
            <a:r>
              <a:rPr sz="1200" spc="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wallet </a:t>
            </a:r>
            <a:r>
              <a:rPr sz="1200" dirty="0">
                <a:latin typeface="Calibri"/>
                <a:cs typeface="Calibri"/>
              </a:rPr>
              <a:t>balance</a:t>
            </a:r>
            <a:r>
              <a:rPr sz="1200" spc="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pops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up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by</a:t>
            </a:r>
            <a:r>
              <a:rPr sz="1200" spc="4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the </a:t>
            </a:r>
            <a:r>
              <a:rPr sz="1200" dirty="0">
                <a:latin typeface="Calibri"/>
                <a:cs typeface="Calibri"/>
              </a:rPr>
              <a:t>triggering</a:t>
            </a:r>
            <a:r>
              <a:rPr sz="1200" spc="8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4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event: </a:t>
            </a:r>
            <a:r>
              <a:rPr sz="1200" dirty="0">
                <a:latin typeface="Calibri"/>
                <a:cs typeface="Calibri"/>
              </a:rPr>
              <a:t>Wallet</a:t>
            </a:r>
            <a:r>
              <a:rPr sz="1200" spc="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balance</a:t>
            </a:r>
            <a:r>
              <a:rPr sz="1200" spc="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2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lower </a:t>
            </a:r>
            <a:r>
              <a:rPr sz="1200" dirty="0">
                <a:latin typeface="Calibri"/>
                <a:cs typeface="Calibri"/>
              </a:rPr>
              <a:t>than</a:t>
            </a:r>
            <a:r>
              <a:rPr sz="1200" spc="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total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amount </a:t>
            </a:r>
            <a:r>
              <a:rPr sz="1200" dirty="0">
                <a:latin typeface="Calibri"/>
                <a:cs typeface="Calibri"/>
              </a:rPr>
              <a:t>payable</a:t>
            </a:r>
            <a:r>
              <a:rPr sz="1200" spc="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next </a:t>
            </a:r>
            <a:r>
              <a:rPr sz="1200" dirty="0">
                <a:latin typeface="Calibri"/>
                <a:cs typeface="Calibri"/>
              </a:rPr>
              <a:t>scheduled</a:t>
            </a:r>
            <a:r>
              <a:rPr sz="1200" spc="7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ride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94004" y="1758695"/>
            <a:ext cx="2446020" cy="4459605"/>
            <a:chOff x="794004" y="1758695"/>
            <a:chExt cx="2446020" cy="445960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4004" y="1758695"/>
              <a:ext cx="2194974" cy="445922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220467" y="3035808"/>
              <a:ext cx="422275" cy="160020"/>
            </a:xfrm>
            <a:custGeom>
              <a:avLst/>
              <a:gdLst/>
              <a:ahLst/>
              <a:cxnLst/>
              <a:rect l="l" t="t" r="r" b="b"/>
              <a:pathLst>
                <a:path w="422275" h="160019">
                  <a:moveTo>
                    <a:pt x="0" y="79248"/>
                  </a:moveTo>
                  <a:lnTo>
                    <a:pt x="40770" y="32260"/>
                  </a:lnTo>
                  <a:lnTo>
                    <a:pt x="86575" y="15166"/>
                  </a:lnTo>
                  <a:lnTo>
                    <a:pt x="144743" y="3998"/>
                  </a:lnTo>
                  <a:lnTo>
                    <a:pt x="211836" y="0"/>
                  </a:lnTo>
                  <a:lnTo>
                    <a:pt x="278184" y="3998"/>
                  </a:lnTo>
                  <a:lnTo>
                    <a:pt x="335901" y="15166"/>
                  </a:lnTo>
                  <a:lnTo>
                    <a:pt x="381475" y="32260"/>
                  </a:lnTo>
                  <a:lnTo>
                    <a:pt x="411394" y="54034"/>
                  </a:lnTo>
                  <a:lnTo>
                    <a:pt x="422148" y="79248"/>
                  </a:lnTo>
                  <a:lnTo>
                    <a:pt x="411394" y="105204"/>
                  </a:lnTo>
                  <a:lnTo>
                    <a:pt x="381475" y="127430"/>
                  </a:lnTo>
                  <a:lnTo>
                    <a:pt x="335901" y="144755"/>
                  </a:lnTo>
                  <a:lnTo>
                    <a:pt x="278184" y="156008"/>
                  </a:lnTo>
                  <a:lnTo>
                    <a:pt x="211836" y="160020"/>
                  </a:lnTo>
                  <a:lnTo>
                    <a:pt x="144743" y="156008"/>
                  </a:lnTo>
                  <a:lnTo>
                    <a:pt x="86575" y="144755"/>
                  </a:lnTo>
                  <a:lnTo>
                    <a:pt x="40770" y="127430"/>
                  </a:lnTo>
                  <a:lnTo>
                    <a:pt x="10765" y="105204"/>
                  </a:lnTo>
                  <a:lnTo>
                    <a:pt x="0" y="79248"/>
                  </a:lnTo>
                </a:path>
              </a:pathLst>
            </a:custGeom>
            <a:ln w="1676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35735" y="1869947"/>
              <a:ext cx="422275" cy="160020"/>
            </a:xfrm>
            <a:custGeom>
              <a:avLst/>
              <a:gdLst/>
              <a:ahLst/>
              <a:cxnLst/>
              <a:rect l="l" t="t" r="r" b="b"/>
              <a:pathLst>
                <a:path w="422275" h="160019">
                  <a:moveTo>
                    <a:pt x="0" y="79248"/>
                  </a:moveTo>
                  <a:lnTo>
                    <a:pt x="40770" y="32260"/>
                  </a:lnTo>
                  <a:lnTo>
                    <a:pt x="86575" y="15166"/>
                  </a:lnTo>
                  <a:lnTo>
                    <a:pt x="144743" y="3998"/>
                  </a:lnTo>
                  <a:lnTo>
                    <a:pt x="211836" y="0"/>
                  </a:lnTo>
                  <a:lnTo>
                    <a:pt x="278184" y="3998"/>
                  </a:lnTo>
                  <a:lnTo>
                    <a:pt x="335901" y="15166"/>
                  </a:lnTo>
                  <a:lnTo>
                    <a:pt x="381475" y="32260"/>
                  </a:lnTo>
                  <a:lnTo>
                    <a:pt x="411394" y="54034"/>
                  </a:lnTo>
                  <a:lnTo>
                    <a:pt x="422148" y="79248"/>
                  </a:lnTo>
                  <a:lnTo>
                    <a:pt x="411394" y="104619"/>
                  </a:lnTo>
                  <a:lnTo>
                    <a:pt x="381475" y="126772"/>
                  </a:lnTo>
                  <a:lnTo>
                    <a:pt x="335901" y="144316"/>
                  </a:lnTo>
                  <a:lnTo>
                    <a:pt x="278184" y="155862"/>
                  </a:lnTo>
                  <a:lnTo>
                    <a:pt x="211836" y="160020"/>
                  </a:lnTo>
                  <a:lnTo>
                    <a:pt x="144743" y="155862"/>
                  </a:lnTo>
                  <a:lnTo>
                    <a:pt x="86575" y="144316"/>
                  </a:lnTo>
                  <a:lnTo>
                    <a:pt x="40770" y="126772"/>
                  </a:lnTo>
                  <a:lnTo>
                    <a:pt x="10765" y="104619"/>
                  </a:lnTo>
                  <a:lnTo>
                    <a:pt x="0" y="79248"/>
                  </a:lnTo>
                </a:path>
              </a:pathLst>
            </a:custGeom>
            <a:ln w="1676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09672" y="3078480"/>
              <a:ext cx="530860" cy="74930"/>
            </a:xfrm>
            <a:custGeom>
              <a:avLst/>
              <a:gdLst/>
              <a:ahLst/>
              <a:cxnLst/>
              <a:rect l="l" t="t" r="r" b="b"/>
              <a:pathLst>
                <a:path w="530860" h="74930">
                  <a:moveTo>
                    <a:pt x="455676" y="74676"/>
                  </a:moveTo>
                  <a:lnTo>
                    <a:pt x="455676" y="0"/>
                  </a:lnTo>
                  <a:lnTo>
                    <a:pt x="505460" y="24384"/>
                  </a:lnTo>
                  <a:lnTo>
                    <a:pt x="467868" y="24384"/>
                  </a:lnTo>
                  <a:lnTo>
                    <a:pt x="467868" y="50292"/>
                  </a:lnTo>
                  <a:lnTo>
                    <a:pt x="503468" y="50292"/>
                  </a:lnTo>
                  <a:lnTo>
                    <a:pt x="455676" y="74676"/>
                  </a:lnTo>
                  <a:close/>
                </a:path>
                <a:path w="530860" h="74930">
                  <a:moveTo>
                    <a:pt x="455676" y="50292"/>
                  </a:moveTo>
                  <a:lnTo>
                    <a:pt x="0" y="50292"/>
                  </a:lnTo>
                  <a:lnTo>
                    <a:pt x="0" y="24384"/>
                  </a:lnTo>
                  <a:lnTo>
                    <a:pt x="455676" y="24384"/>
                  </a:lnTo>
                  <a:lnTo>
                    <a:pt x="455676" y="50292"/>
                  </a:lnTo>
                  <a:close/>
                </a:path>
                <a:path w="530860" h="74930">
                  <a:moveTo>
                    <a:pt x="503468" y="50292"/>
                  </a:moveTo>
                  <a:lnTo>
                    <a:pt x="467868" y="50292"/>
                  </a:lnTo>
                  <a:lnTo>
                    <a:pt x="467868" y="24384"/>
                  </a:lnTo>
                  <a:lnTo>
                    <a:pt x="505460" y="24384"/>
                  </a:lnTo>
                  <a:lnTo>
                    <a:pt x="530352" y="36576"/>
                  </a:lnTo>
                  <a:lnTo>
                    <a:pt x="503468" y="502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862080" y="6336343"/>
            <a:ext cx="2328545" cy="2120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00" b="1" dirty="0">
                <a:latin typeface="Calibri"/>
                <a:cs typeface="Calibri"/>
              </a:rPr>
              <a:t>Rapido</a:t>
            </a:r>
            <a:r>
              <a:rPr sz="1200" b="1" spc="4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Regular</a:t>
            </a:r>
            <a:r>
              <a:rPr sz="1200" b="1" spc="3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View</a:t>
            </a:r>
            <a:r>
              <a:rPr sz="1200" b="1" spc="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bookings</a:t>
            </a:r>
            <a:r>
              <a:rPr sz="1200" b="1" spc="30" dirty="0">
                <a:latin typeface="Calibri"/>
                <a:cs typeface="Calibri"/>
              </a:rPr>
              <a:t> </a:t>
            </a:r>
            <a:r>
              <a:rPr sz="1200" b="1" spc="-20" dirty="0">
                <a:latin typeface="Calibri"/>
                <a:cs typeface="Calibri"/>
              </a:rPr>
              <a:t>page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69058" y="6318031"/>
            <a:ext cx="2312035" cy="2120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00" b="1" dirty="0">
                <a:latin typeface="Calibri"/>
                <a:cs typeface="Calibri"/>
              </a:rPr>
              <a:t>Rapido</a:t>
            </a:r>
            <a:r>
              <a:rPr sz="1200" b="1" spc="4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Regular</a:t>
            </a:r>
            <a:r>
              <a:rPr sz="1200" b="1" spc="4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wallet</a:t>
            </a:r>
            <a:r>
              <a:rPr sz="1200" b="1" spc="3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balance</a:t>
            </a:r>
            <a:r>
              <a:rPr sz="1200" b="1" spc="10" dirty="0">
                <a:latin typeface="Calibri"/>
                <a:cs typeface="Calibri"/>
              </a:rPr>
              <a:t> </a:t>
            </a:r>
            <a:r>
              <a:rPr sz="1200" b="1" spc="-20" dirty="0">
                <a:latin typeface="Calibri"/>
                <a:cs typeface="Calibri"/>
              </a:rPr>
              <a:t>alert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9006" rIns="0" bIns="0" rtlCol="0">
            <a:spAutoFit/>
          </a:bodyPr>
          <a:lstStyle/>
          <a:p>
            <a:pPr marL="230504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Wireframes</a:t>
            </a:r>
            <a:r>
              <a:rPr spc="-60" dirty="0"/>
              <a:t> </a:t>
            </a:r>
            <a:r>
              <a:rPr dirty="0"/>
              <a:t>–</a:t>
            </a:r>
            <a:r>
              <a:rPr spc="-25" dirty="0"/>
              <a:t> </a:t>
            </a:r>
            <a:r>
              <a:rPr dirty="0"/>
              <a:t>Share</a:t>
            </a:r>
            <a:r>
              <a:rPr spc="-65" dirty="0"/>
              <a:t> </a:t>
            </a:r>
            <a:r>
              <a:rPr dirty="0"/>
              <a:t>live</a:t>
            </a:r>
            <a:r>
              <a:rPr spc="-45" dirty="0"/>
              <a:t> </a:t>
            </a:r>
            <a:r>
              <a:rPr spc="-10" dirty="0"/>
              <a:t>location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729739" y="1891284"/>
            <a:ext cx="2339340" cy="4276725"/>
            <a:chOff x="1729739" y="1891284"/>
            <a:chExt cx="2339340" cy="42767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9739" y="1891284"/>
              <a:ext cx="2115311" cy="427634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668267" y="3006852"/>
              <a:ext cx="401320" cy="189230"/>
            </a:xfrm>
            <a:custGeom>
              <a:avLst/>
              <a:gdLst/>
              <a:ahLst/>
              <a:cxnLst/>
              <a:rect l="l" t="t" r="r" b="b"/>
              <a:pathLst>
                <a:path w="401320" h="189230">
                  <a:moveTo>
                    <a:pt x="327080" y="165773"/>
                  </a:moveTo>
                  <a:lnTo>
                    <a:pt x="0" y="22860"/>
                  </a:lnTo>
                  <a:lnTo>
                    <a:pt x="9144" y="0"/>
                  </a:lnTo>
                  <a:lnTo>
                    <a:pt x="337127" y="142665"/>
                  </a:lnTo>
                  <a:lnTo>
                    <a:pt x="327080" y="165773"/>
                  </a:lnTo>
                  <a:close/>
                </a:path>
                <a:path w="401320" h="189230">
                  <a:moveTo>
                    <a:pt x="389647" y="170688"/>
                  </a:moveTo>
                  <a:lnTo>
                    <a:pt x="338328" y="170688"/>
                  </a:lnTo>
                  <a:lnTo>
                    <a:pt x="348996" y="147828"/>
                  </a:lnTo>
                  <a:lnTo>
                    <a:pt x="337127" y="142665"/>
                  </a:lnTo>
                  <a:lnTo>
                    <a:pt x="347472" y="118872"/>
                  </a:lnTo>
                  <a:lnTo>
                    <a:pt x="389647" y="170688"/>
                  </a:lnTo>
                  <a:close/>
                </a:path>
                <a:path w="401320" h="189230">
                  <a:moveTo>
                    <a:pt x="338328" y="170688"/>
                  </a:moveTo>
                  <a:lnTo>
                    <a:pt x="327080" y="165773"/>
                  </a:lnTo>
                  <a:lnTo>
                    <a:pt x="337127" y="142665"/>
                  </a:lnTo>
                  <a:lnTo>
                    <a:pt x="348996" y="147828"/>
                  </a:lnTo>
                  <a:lnTo>
                    <a:pt x="338328" y="170688"/>
                  </a:lnTo>
                  <a:close/>
                </a:path>
                <a:path w="401320" h="189230">
                  <a:moveTo>
                    <a:pt x="316992" y="188976"/>
                  </a:moveTo>
                  <a:lnTo>
                    <a:pt x="327080" y="165773"/>
                  </a:lnTo>
                  <a:lnTo>
                    <a:pt x="338328" y="170688"/>
                  </a:lnTo>
                  <a:lnTo>
                    <a:pt x="389647" y="170688"/>
                  </a:lnTo>
                  <a:lnTo>
                    <a:pt x="400812" y="184404"/>
                  </a:lnTo>
                  <a:lnTo>
                    <a:pt x="316992" y="1889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6588252" y="1991867"/>
            <a:ext cx="2262505" cy="4076700"/>
            <a:chOff x="6588252" y="1991867"/>
            <a:chExt cx="2262505" cy="40767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88252" y="1991867"/>
              <a:ext cx="2262029" cy="40767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267955" y="3505200"/>
              <a:ext cx="160020" cy="239395"/>
            </a:xfrm>
            <a:custGeom>
              <a:avLst/>
              <a:gdLst/>
              <a:ahLst/>
              <a:cxnLst/>
              <a:rect l="l" t="t" r="r" b="b"/>
              <a:pathLst>
                <a:path w="160020" h="239395">
                  <a:moveTo>
                    <a:pt x="0" y="118872"/>
                  </a:moveTo>
                  <a:lnTo>
                    <a:pt x="6405" y="72651"/>
                  </a:lnTo>
                  <a:lnTo>
                    <a:pt x="23812" y="34861"/>
                  </a:lnTo>
                  <a:lnTo>
                    <a:pt x="49506" y="9358"/>
                  </a:lnTo>
                  <a:lnTo>
                    <a:pt x="80772" y="0"/>
                  </a:lnTo>
                  <a:lnTo>
                    <a:pt x="111799" y="9358"/>
                  </a:lnTo>
                  <a:lnTo>
                    <a:pt x="136969" y="34861"/>
                  </a:lnTo>
                  <a:lnTo>
                    <a:pt x="153852" y="72651"/>
                  </a:lnTo>
                  <a:lnTo>
                    <a:pt x="160019" y="118872"/>
                  </a:lnTo>
                  <a:lnTo>
                    <a:pt x="153852" y="165973"/>
                  </a:lnTo>
                  <a:lnTo>
                    <a:pt x="136969" y="204216"/>
                  </a:lnTo>
                  <a:lnTo>
                    <a:pt x="111799" y="229885"/>
                  </a:lnTo>
                  <a:lnTo>
                    <a:pt x="80772" y="239268"/>
                  </a:lnTo>
                  <a:lnTo>
                    <a:pt x="49506" y="229885"/>
                  </a:lnTo>
                  <a:lnTo>
                    <a:pt x="23812" y="204216"/>
                  </a:lnTo>
                  <a:lnTo>
                    <a:pt x="6405" y="165973"/>
                  </a:lnTo>
                  <a:lnTo>
                    <a:pt x="0" y="118872"/>
                  </a:lnTo>
                </a:path>
              </a:pathLst>
            </a:custGeom>
            <a:ln w="16764">
              <a:solidFill>
                <a:srgbClr val="70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137210" y="2885952"/>
            <a:ext cx="1359535" cy="5854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2099"/>
              </a:lnSpc>
              <a:spcBef>
                <a:spcPts val="90"/>
              </a:spcBef>
            </a:pPr>
            <a:r>
              <a:rPr sz="1200" dirty="0">
                <a:latin typeface="Calibri"/>
                <a:cs typeface="Calibri"/>
              </a:rPr>
              <a:t>Widget</a:t>
            </a:r>
            <a:r>
              <a:rPr sz="1200" spc="9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added</a:t>
            </a:r>
            <a:r>
              <a:rPr sz="1200" spc="4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for </a:t>
            </a:r>
            <a:r>
              <a:rPr sz="1200" dirty="0">
                <a:latin typeface="Calibri"/>
                <a:cs typeface="Calibri"/>
              </a:rPr>
              <a:t>rider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share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his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live </a:t>
            </a:r>
            <a:r>
              <a:rPr sz="1200" dirty="0">
                <a:latin typeface="Calibri"/>
                <a:cs typeface="Calibri"/>
              </a:rPr>
              <a:t>location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driver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76285" y="6334824"/>
            <a:ext cx="2624455" cy="2120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00" b="1" dirty="0">
                <a:latin typeface="Calibri"/>
                <a:cs typeface="Calibri"/>
              </a:rPr>
              <a:t>Widget</a:t>
            </a:r>
            <a:r>
              <a:rPr sz="1200" b="1" spc="4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added</a:t>
            </a:r>
            <a:r>
              <a:rPr sz="1200" b="1" spc="1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to</a:t>
            </a:r>
            <a:r>
              <a:rPr sz="1200" b="1" spc="4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current</a:t>
            </a:r>
            <a:r>
              <a:rPr sz="1200" b="1" spc="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booking</a:t>
            </a:r>
            <a:r>
              <a:rPr sz="1200" b="1" spc="1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screen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77079" y="6334824"/>
            <a:ext cx="2680335" cy="2120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00" b="1" dirty="0">
                <a:latin typeface="Calibri"/>
                <a:cs typeface="Calibri"/>
              </a:rPr>
              <a:t>Driver</a:t>
            </a:r>
            <a:r>
              <a:rPr sz="1200" b="1" spc="5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alert</a:t>
            </a:r>
            <a:r>
              <a:rPr sz="1200" b="1" spc="4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and</a:t>
            </a:r>
            <a:r>
              <a:rPr sz="1200" b="1" spc="-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rider</a:t>
            </a:r>
            <a:r>
              <a:rPr sz="1200" b="1" spc="4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live</a:t>
            </a:r>
            <a:r>
              <a:rPr sz="1200" b="1" spc="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location</a:t>
            </a:r>
            <a:r>
              <a:rPr sz="1200" b="1" spc="4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shared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5249" rIns="0" bIns="0" rtlCol="0">
            <a:spAutoFit/>
          </a:bodyPr>
          <a:lstStyle/>
          <a:p>
            <a:pPr marL="368935">
              <a:lnSpc>
                <a:spcPct val="100000"/>
              </a:lnSpc>
              <a:spcBef>
                <a:spcPts val="105"/>
              </a:spcBef>
            </a:pPr>
            <a:r>
              <a:rPr dirty="0"/>
              <a:t>Wireframe</a:t>
            </a:r>
            <a:r>
              <a:rPr spc="-85" dirty="0"/>
              <a:t> </a:t>
            </a:r>
            <a:r>
              <a:rPr dirty="0"/>
              <a:t>–</a:t>
            </a:r>
            <a:r>
              <a:rPr spc="-110" dirty="0"/>
              <a:t> </a:t>
            </a:r>
            <a:r>
              <a:rPr dirty="0"/>
              <a:t>Pay</a:t>
            </a:r>
            <a:r>
              <a:rPr spc="-135" dirty="0"/>
              <a:t> </a:t>
            </a:r>
            <a:r>
              <a:rPr dirty="0"/>
              <a:t>later</a:t>
            </a:r>
            <a:r>
              <a:rPr spc="-110" dirty="0"/>
              <a:t> </a:t>
            </a:r>
            <a:r>
              <a:rPr spc="-10" dirty="0"/>
              <a:t>option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5631" y="1741932"/>
            <a:ext cx="2257043" cy="446379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02835" y="1741932"/>
            <a:ext cx="2252471" cy="44637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35467" y="1821180"/>
            <a:ext cx="2257043" cy="438454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20369" y="6310393"/>
            <a:ext cx="2562225" cy="2120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00" b="1" dirty="0">
                <a:latin typeface="Calibri"/>
                <a:cs typeface="Calibri"/>
              </a:rPr>
              <a:t>Pay</a:t>
            </a:r>
            <a:r>
              <a:rPr sz="1200" b="1" spc="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later</a:t>
            </a:r>
            <a:r>
              <a:rPr sz="1200" b="1" spc="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option</a:t>
            </a:r>
            <a:r>
              <a:rPr sz="1200" b="1" spc="1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shown</a:t>
            </a:r>
            <a:r>
              <a:rPr sz="1200" b="1" spc="-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to</a:t>
            </a:r>
            <a:r>
              <a:rPr sz="1200" b="1" spc="1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eligible</a:t>
            </a:r>
            <a:r>
              <a:rPr sz="1200" b="1" spc="50" dirty="0">
                <a:latin typeface="Calibri"/>
                <a:cs typeface="Calibri"/>
              </a:rPr>
              <a:t> </a:t>
            </a:r>
            <a:r>
              <a:rPr sz="1200" b="1" spc="-20" dirty="0">
                <a:latin typeface="Calibri"/>
                <a:cs typeface="Calibri"/>
              </a:rPr>
              <a:t>users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40776" y="6310393"/>
            <a:ext cx="2577465" cy="398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23265" marR="5080" indent="-711200">
              <a:lnSpc>
                <a:spcPct val="101699"/>
              </a:lnSpc>
              <a:spcBef>
                <a:spcPts val="100"/>
              </a:spcBef>
            </a:pPr>
            <a:r>
              <a:rPr sz="1200" b="1" dirty="0">
                <a:latin typeface="Calibri"/>
                <a:cs typeface="Calibri"/>
              </a:rPr>
              <a:t>Mandatory</a:t>
            </a:r>
            <a:r>
              <a:rPr sz="1200" b="1" spc="5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payment</a:t>
            </a:r>
            <a:r>
              <a:rPr sz="1200" b="1" spc="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to</a:t>
            </a:r>
            <a:r>
              <a:rPr sz="1200" b="1" spc="5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be made</a:t>
            </a:r>
            <a:r>
              <a:rPr sz="1200" b="1" spc="2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before </a:t>
            </a:r>
            <a:r>
              <a:rPr sz="1200" b="1" dirty="0">
                <a:latin typeface="Calibri"/>
                <a:cs typeface="Calibri"/>
              </a:rPr>
              <a:t>booking</a:t>
            </a:r>
            <a:r>
              <a:rPr sz="1200" b="1" spc="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next</a:t>
            </a:r>
            <a:r>
              <a:rPr sz="1200" b="1" spc="30" dirty="0">
                <a:latin typeface="Calibri"/>
                <a:cs typeface="Calibri"/>
              </a:rPr>
              <a:t> </a:t>
            </a:r>
            <a:r>
              <a:rPr sz="1200" b="1" spc="-20" dirty="0">
                <a:latin typeface="Calibri"/>
                <a:cs typeface="Calibri"/>
              </a:rPr>
              <a:t>ride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05432" y="6310393"/>
            <a:ext cx="2519680" cy="2120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00" b="1" dirty="0">
                <a:latin typeface="Calibri"/>
                <a:cs typeface="Calibri"/>
              </a:rPr>
              <a:t>Alert</a:t>
            </a:r>
            <a:r>
              <a:rPr sz="1200" b="1" spc="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for</a:t>
            </a:r>
            <a:r>
              <a:rPr sz="1200" b="1" spc="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increase</a:t>
            </a:r>
            <a:r>
              <a:rPr sz="1200" b="1" spc="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in</a:t>
            </a:r>
            <a:r>
              <a:rPr sz="1200" b="1" spc="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credit</a:t>
            </a:r>
            <a:r>
              <a:rPr sz="1200" b="1" spc="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limit</a:t>
            </a:r>
            <a:r>
              <a:rPr sz="1200" b="1" spc="5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of</a:t>
            </a:r>
            <a:r>
              <a:rPr sz="1200" b="1" spc="20" dirty="0">
                <a:latin typeface="Calibri"/>
                <a:cs typeface="Calibri"/>
              </a:rPr>
              <a:t> </a:t>
            </a:r>
            <a:r>
              <a:rPr sz="1200" b="1" spc="-20" dirty="0">
                <a:latin typeface="Calibri"/>
                <a:cs typeface="Calibri"/>
              </a:rPr>
              <a:t>user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182942" y="1343592"/>
            <a:ext cx="232219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Success</a:t>
            </a:r>
            <a:r>
              <a:rPr spc="-30" dirty="0"/>
              <a:t> </a:t>
            </a:r>
            <a:r>
              <a:rPr spc="-10" dirty="0"/>
              <a:t>metrics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38555" y="2583180"/>
            <a:ext cx="9246235" cy="3470275"/>
            <a:chOff x="638555" y="2583180"/>
            <a:chExt cx="9246235" cy="3470275"/>
          </a:xfrm>
        </p:grpSpPr>
        <p:sp>
          <p:nvSpPr>
            <p:cNvPr id="4" name="object 4"/>
            <p:cNvSpPr/>
            <p:nvPr/>
          </p:nvSpPr>
          <p:spPr>
            <a:xfrm>
              <a:off x="650747" y="2595372"/>
              <a:ext cx="9222105" cy="3446145"/>
            </a:xfrm>
            <a:custGeom>
              <a:avLst/>
              <a:gdLst/>
              <a:ahLst/>
              <a:cxnLst/>
              <a:rect l="l" t="t" r="r" b="b"/>
              <a:pathLst>
                <a:path w="9222105" h="3446145">
                  <a:moveTo>
                    <a:pt x="9221723" y="3445763"/>
                  </a:moveTo>
                  <a:lnTo>
                    <a:pt x="0" y="3445763"/>
                  </a:lnTo>
                  <a:lnTo>
                    <a:pt x="0" y="0"/>
                  </a:lnTo>
                  <a:lnTo>
                    <a:pt x="9221723" y="0"/>
                  </a:lnTo>
                  <a:lnTo>
                    <a:pt x="9221723" y="3445763"/>
                  </a:lnTo>
                  <a:close/>
                </a:path>
              </a:pathLst>
            </a:custGeom>
            <a:solidFill>
              <a:srgbClr val="FDD6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50747" y="2595372"/>
              <a:ext cx="9222105" cy="3446145"/>
            </a:xfrm>
            <a:custGeom>
              <a:avLst/>
              <a:gdLst/>
              <a:ahLst/>
              <a:cxnLst/>
              <a:rect l="l" t="t" r="r" b="b"/>
              <a:pathLst>
                <a:path w="9222105" h="3446145">
                  <a:moveTo>
                    <a:pt x="0" y="0"/>
                  </a:moveTo>
                  <a:lnTo>
                    <a:pt x="9221723" y="0"/>
                  </a:lnTo>
                  <a:lnTo>
                    <a:pt x="9221723" y="3445763"/>
                  </a:lnTo>
                  <a:lnTo>
                    <a:pt x="0" y="3445763"/>
                  </a:lnTo>
                  <a:lnTo>
                    <a:pt x="0" y="0"/>
                  </a:lnTo>
                  <a:close/>
                </a:path>
              </a:pathLst>
            </a:custGeom>
            <a:ln w="243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18769" y="2571991"/>
            <a:ext cx="9030970" cy="338899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13360" marR="58419" indent="-201295">
              <a:lnSpc>
                <a:spcPts val="2270"/>
              </a:lnSpc>
              <a:spcBef>
                <a:spcPts val="380"/>
              </a:spcBef>
              <a:buFont typeface="Arial MT"/>
              <a:buChar char="•"/>
              <a:tabLst>
                <a:tab pos="213360" algn="l"/>
              </a:tabLst>
            </a:pPr>
            <a:r>
              <a:rPr sz="2100" b="1" spc="-10" dirty="0">
                <a:latin typeface="Calibri"/>
                <a:cs typeface="Calibri"/>
              </a:rPr>
              <a:t>Turnaround</a:t>
            </a:r>
            <a:r>
              <a:rPr sz="2100" b="1" spc="-20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time</a:t>
            </a:r>
            <a:r>
              <a:rPr sz="2100" b="1" spc="-15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to</a:t>
            </a:r>
            <a:r>
              <a:rPr sz="2100" b="1" spc="-40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reach</a:t>
            </a:r>
            <a:r>
              <a:rPr sz="2100" b="1" spc="-20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the</a:t>
            </a:r>
            <a:r>
              <a:rPr sz="2100" b="1" spc="-30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rider:</a:t>
            </a:r>
            <a:r>
              <a:rPr sz="2100" b="1" spc="-15" dirty="0">
                <a:latin typeface="Calibri"/>
                <a:cs typeface="Calibri"/>
              </a:rPr>
              <a:t> </a:t>
            </a:r>
            <a:r>
              <a:rPr sz="21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%</a:t>
            </a:r>
            <a:r>
              <a:rPr sz="21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1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reduction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in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time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taken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by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Rapido </a:t>
            </a:r>
            <a:r>
              <a:rPr sz="2100" dirty="0">
                <a:latin typeface="Calibri"/>
                <a:cs typeface="Calibri"/>
              </a:rPr>
              <a:t>captains</a:t>
            </a:r>
            <a:r>
              <a:rPr sz="2100" spc="-7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to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reach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6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rider</a:t>
            </a:r>
            <a:r>
              <a:rPr sz="2100" spc="-2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for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pickup</a:t>
            </a:r>
            <a:endParaRPr sz="2100">
              <a:latin typeface="Calibri"/>
              <a:cs typeface="Calibri"/>
            </a:endParaRPr>
          </a:p>
          <a:p>
            <a:pPr marL="213360" marR="5080" indent="-201295">
              <a:lnSpc>
                <a:spcPts val="2270"/>
              </a:lnSpc>
              <a:spcBef>
                <a:spcPts val="885"/>
              </a:spcBef>
              <a:buFont typeface="Arial MT"/>
              <a:buChar char="•"/>
              <a:tabLst>
                <a:tab pos="213360" algn="l"/>
              </a:tabLst>
            </a:pPr>
            <a:r>
              <a:rPr sz="2100" b="1" dirty="0">
                <a:latin typeface="Calibri"/>
                <a:cs typeface="Calibri"/>
              </a:rPr>
              <a:t>Daily</a:t>
            </a:r>
            <a:r>
              <a:rPr sz="2100" b="1" spc="-50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and</a:t>
            </a:r>
            <a:r>
              <a:rPr sz="2100" b="1" spc="-40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monthly</a:t>
            </a:r>
            <a:r>
              <a:rPr sz="2100" b="1" spc="-50" dirty="0">
                <a:latin typeface="Calibri"/>
                <a:cs typeface="Calibri"/>
              </a:rPr>
              <a:t> </a:t>
            </a:r>
            <a:r>
              <a:rPr sz="2100" b="1" spc="-10" dirty="0">
                <a:latin typeface="Calibri"/>
                <a:cs typeface="Calibri"/>
              </a:rPr>
              <a:t>average</a:t>
            </a:r>
            <a:r>
              <a:rPr sz="2100" b="1" spc="-15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users</a:t>
            </a:r>
            <a:r>
              <a:rPr sz="2100" b="1" spc="-40" dirty="0">
                <a:latin typeface="Calibri"/>
                <a:cs typeface="Calibri"/>
              </a:rPr>
              <a:t> </a:t>
            </a:r>
            <a:r>
              <a:rPr sz="2100" b="1" spc="-10" dirty="0">
                <a:latin typeface="Calibri"/>
                <a:cs typeface="Calibri"/>
              </a:rPr>
              <a:t>(DAU/MAU):</a:t>
            </a:r>
            <a:r>
              <a:rPr sz="2100" b="1" spc="-35" dirty="0">
                <a:latin typeface="Calibri"/>
                <a:cs typeface="Calibri"/>
              </a:rPr>
              <a:t> </a:t>
            </a:r>
            <a:r>
              <a:rPr sz="21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%</a:t>
            </a:r>
            <a:r>
              <a:rPr sz="2100" u="sng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1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increase</a:t>
            </a:r>
            <a:r>
              <a:rPr sz="21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in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number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users </a:t>
            </a:r>
            <a:r>
              <a:rPr sz="2100" dirty="0">
                <a:latin typeface="Calibri"/>
                <a:cs typeface="Calibri"/>
              </a:rPr>
              <a:t>engaging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with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application</a:t>
            </a:r>
            <a:endParaRPr sz="2100">
              <a:latin typeface="Calibri"/>
              <a:cs typeface="Calibri"/>
            </a:endParaRPr>
          </a:p>
          <a:p>
            <a:pPr marL="213995" indent="-20129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213995" algn="l"/>
              </a:tabLst>
            </a:pPr>
            <a:r>
              <a:rPr sz="2100" b="1" dirty="0">
                <a:latin typeface="Calibri"/>
                <a:cs typeface="Calibri"/>
              </a:rPr>
              <a:t>Net</a:t>
            </a:r>
            <a:r>
              <a:rPr sz="2100" b="1" spc="-50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promoter</a:t>
            </a:r>
            <a:r>
              <a:rPr sz="2100" b="1" spc="-60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score</a:t>
            </a:r>
            <a:r>
              <a:rPr sz="2100" b="1" spc="-40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(NPS):</a:t>
            </a:r>
            <a:r>
              <a:rPr sz="2100" b="1" spc="-60" dirty="0">
                <a:latin typeface="Calibri"/>
                <a:cs typeface="Calibri"/>
              </a:rPr>
              <a:t> </a:t>
            </a:r>
            <a:r>
              <a:rPr sz="21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%</a:t>
            </a:r>
            <a:r>
              <a:rPr sz="2100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1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increase</a:t>
            </a:r>
            <a:r>
              <a:rPr sz="2100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in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Play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store/App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store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reviews</a:t>
            </a:r>
            <a:endParaRPr sz="2100">
              <a:latin typeface="Calibri"/>
              <a:cs typeface="Calibri"/>
            </a:endParaRPr>
          </a:p>
          <a:p>
            <a:pPr marL="213360" marR="339090" indent="-201295">
              <a:lnSpc>
                <a:spcPts val="2270"/>
              </a:lnSpc>
              <a:spcBef>
                <a:spcPts val="910"/>
              </a:spcBef>
              <a:buFont typeface="Arial MT"/>
              <a:buChar char="•"/>
              <a:tabLst>
                <a:tab pos="213360" algn="l"/>
              </a:tabLst>
            </a:pPr>
            <a:r>
              <a:rPr sz="2100" b="1" dirty="0">
                <a:latin typeface="Calibri"/>
                <a:cs typeface="Calibri"/>
              </a:rPr>
              <a:t>App</a:t>
            </a:r>
            <a:r>
              <a:rPr sz="2100" b="1" spc="-50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downloads:</a:t>
            </a:r>
            <a:r>
              <a:rPr sz="2100" b="1" spc="-20" dirty="0">
                <a:latin typeface="Calibri"/>
                <a:cs typeface="Calibri"/>
              </a:rPr>
              <a:t> </a:t>
            </a:r>
            <a:r>
              <a:rPr sz="21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%</a:t>
            </a:r>
            <a:r>
              <a:rPr sz="2100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1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increase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in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app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downloads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will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indicate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an</a:t>
            </a:r>
            <a:r>
              <a:rPr sz="2100" spc="-2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increase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both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spc="-25" dirty="0">
                <a:latin typeface="Calibri"/>
                <a:cs typeface="Calibri"/>
              </a:rPr>
              <a:t>in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2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number</a:t>
            </a:r>
            <a:r>
              <a:rPr sz="2100" spc="-1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captains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and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riders</a:t>
            </a:r>
            <a:endParaRPr sz="2100">
              <a:latin typeface="Calibri"/>
              <a:cs typeface="Calibri"/>
            </a:endParaRPr>
          </a:p>
          <a:p>
            <a:pPr marL="213360" marR="19050" indent="-201295">
              <a:lnSpc>
                <a:spcPct val="90300"/>
              </a:lnSpc>
              <a:spcBef>
                <a:spcPts val="844"/>
              </a:spcBef>
              <a:buFont typeface="Arial MT"/>
              <a:buChar char="•"/>
              <a:tabLst>
                <a:tab pos="213360" algn="l"/>
              </a:tabLst>
            </a:pPr>
            <a:r>
              <a:rPr sz="2100" b="1" dirty="0">
                <a:latin typeface="Calibri"/>
                <a:cs typeface="Calibri"/>
              </a:rPr>
              <a:t>Churn</a:t>
            </a:r>
            <a:r>
              <a:rPr sz="2100" b="1" spc="-30" dirty="0">
                <a:latin typeface="Calibri"/>
                <a:cs typeface="Calibri"/>
              </a:rPr>
              <a:t> </a:t>
            </a:r>
            <a:r>
              <a:rPr sz="2100" b="1" spc="-10" dirty="0">
                <a:latin typeface="Calibri"/>
                <a:cs typeface="Calibri"/>
              </a:rPr>
              <a:t>rate:</a:t>
            </a:r>
            <a:r>
              <a:rPr sz="2100" b="1" spc="-35" dirty="0">
                <a:latin typeface="Calibri"/>
                <a:cs typeface="Calibri"/>
              </a:rPr>
              <a:t> </a:t>
            </a:r>
            <a:r>
              <a:rPr sz="21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%</a:t>
            </a:r>
            <a:r>
              <a:rPr sz="2100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1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reduction</a:t>
            </a:r>
            <a:r>
              <a:rPr sz="21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in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users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who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are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not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engaging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with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our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services.</a:t>
            </a:r>
            <a:r>
              <a:rPr sz="2100" spc="-20" dirty="0">
                <a:latin typeface="Calibri"/>
                <a:cs typeface="Calibri"/>
              </a:rPr>
              <a:t> This </a:t>
            </a:r>
            <a:r>
              <a:rPr sz="2100" dirty="0">
                <a:latin typeface="Calibri"/>
                <a:cs typeface="Calibri"/>
              </a:rPr>
              <a:t>can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be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tracked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at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various</a:t>
            </a:r>
            <a:r>
              <a:rPr sz="2100" spc="-2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points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user</a:t>
            </a:r>
            <a:r>
              <a:rPr sz="2100" spc="-20" dirty="0">
                <a:latin typeface="Calibri"/>
                <a:cs typeface="Calibri"/>
              </a:rPr>
              <a:t> journey.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For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example,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searching</a:t>
            </a:r>
            <a:r>
              <a:rPr sz="2100" spc="-25" dirty="0">
                <a:latin typeface="Calibri"/>
                <a:cs typeface="Calibri"/>
              </a:rPr>
              <a:t> but </a:t>
            </a:r>
            <a:r>
              <a:rPr sz="2100" dirty="0">
                <a:latin typeface="Calibri"/>
                <a:cs typeface="Calibri"/>
              </a:rPr>
              <a:t>not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booking,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Booking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but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cancelling,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spc="-20" dirty="0">
                <a:latin typeface="Calibri"/>
                <a:cs typeface="Calibri"/>
              </a:rPr>
              <a:t>etc.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4304" rIns="0" bIns="0" rtlCol="0">
            <a:spAutoFit/>
          </a:bodyPr>
          <a:lstStyle/>
          <a:p>
            <a:pPr marL="120840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Go-</a:t>
            </a:r>
            <a:r>
              <a:rPr dirty="0"/>
              <a:t>to</a:t>
            </a:r>
            <a:r>
              <a:rPr spc="-100" dirty="0"/>
              <a:t> </a:t>
            </a:r>
            <a:r>
              <a:rPr dirty="0"/>
              <a:t>market</a:t>
            </a:r>
            <a:r>
              <a:rPr spc="-75" dirty="0"/>
              <a:t> </a:t>
            </a:r>
            <a:r>
              <a:rPr spc="-20" dirty="0"/>
              <a:t>plan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657" y="2934462"/>
            <a:ext cx="10189217" cy="18089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132868" y="3704361"/>
            <a:ext cx="92138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10" dirty="0">
                <a:latin typeface="Calibri"/>
                <a:cs typeface="Calibri"/>
              </a:rPr>
              <a:t>Track</a:t>
            </a:r>
            <a:r>
              <a:rPr sz="1300" spc="-4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metrics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73246" y="3343132"/>
            <a:ext cx="843280" cy="94932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 marR="5080" algn="ctr">
              <a:lnSpc>
                <a:spcPct val="91200"/>
              </a:lnSpc>
              <a:spcBef>
                <a:spcPts val="254"/>
              </a:spcBef>
            </a:pPr>
            <a:r>
              <a:rPr sz="1300" dirty="0">
                <a:latin typeface="Calibri"/>
                <a:cs typeface="Calibri"/>
              </a:rPr>
              <a:t>Receive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spc="-25" dirty="0">
                <a:latin typeface="Calibri"/>
                <a:cs typeface="Calibri"/>
              </a:rPr>
              <a:t>and </a:t>
            </a:r>
            <a:r>
              <a:rPr sz="1300" spc="-10" dirty="0">
                <a:latin typeface="Calibri"/>
                <a:cs typeface="Calibri"/>
              </a:rPr>
              <a:t>implement </a:t>
            </a:r>
            <a:r>
              <a:rPr sz="1300" dirty="0">
                <a:latin typeface="Calibri"/>
                <a:cs typeface="Calibri"/>
              </a:rPr>
              <a:t>feedback</a:t>
            </a:r>
            <a:r>
              <a:rPr sz="1300" spc="-25" dirty="0">
                <a:latin typeface="Calibri"/>
                <a:cs typeface="Calibri"/>
              </a:rPr>
              <a:t> in </a:t>
            </a:r>
            <a:r>
              <a:rPr sz="1300" spc="-10" dirty="0">
                <a:latin typeface="Calibri"/>
                <a:cs typeface="Calibri"/>
              </a:rPr>
              <a:t>consequent sprints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57145" y="3433091"/>
            <a:ext cx="875030" cy="76771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 algn="ctr">
              <a:lnSpc>
                <a:spcPct val="91000"/>
              </a:lnSpc>
              <a:spcBef>
                <a:spcPts val="260"/>
              </a:spcBef>
            </a:pPr>
            <a:r>
              <a:rPr sz="1300" dirty="0">
                <a:latin typeface="Calibri"/>
                <a:cs typeface="Calibri"/>
              </a:rPr>
              <a:t>Release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spc="-25" dirty="0">
                <a:latin typeface="Calibri"/>
                <a:cs typeface="Calibri"/>
              </a:rPr>
              <a:t>new </a:t>
            </a:r>
            <a:r>
              <a:rPr sz="1300" dirty="0">
                <a:latin typeface="Calibri"/>
                <a:cs typeface="Calibri"/>
              </a:rPr>
              <a:t>features</a:t>
            </a:r>
            <a:r>
              <a:rPr sz="1300" spc="-55" dirty="0">
                <a:latin typeface="Calibri"/>
                <a:cs typeface="Calibri"/>
              </a:rPr>
              <a:t> </a:t>
            </a:r>
            <a:r>
              <a:rPr sz="1300" spc="-25" dirty="0">
                <a:latin typeface="Calibri"/>
                <a:cs typeface="Calibri"/>
              </a:rPr>
              <a:t>in </a:t>
            </a:r>
            <a:r>
              <a:rPr sz="1300" spc="-10" dirty="0">
                <a:latin typeface="Calibri"/>
                <a:cs typeface="Calibri"/>
              </a:rPr>
              <a:t>identified markets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38086" y="3437643"/>
            <a:ext cx="917575" cy="70866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 indent="40640">
              <a:lnSpc>
                <a:spcPct val="100000"/>
              </a:lnSpc>
              <a:spcBef>
                <a:spcPts val="515"/>
              </a:spcBef>
            </a:pPr>
            <a:r>
              <a:rPr sz="1300" dirty="0">
                <a:latin typeface="Calibri"/>
                <a:cs typeface="Calibri"/>
              </a:rPr>
              <a:t>Beta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testing</a:t>
            </a:r>
            <a:endParaRPr sz="1300">
              <a:latin typeface="Calibri"/>
              <a:cs typeface="Calibri"/>
            </a:endParaRPr>
          </a:p>
          <a:p>
            <a:pPr marL="200025" marR="5080" indent="-187960">
              <a:lnSpc>
                <a:spcPts val="1420"/>
              </a:lnSpc>
              <a:spcBef>
                <a:spcPts val="585"/>
              </a:spcBef>
            </a:pPr>
            <a:r>
              <a:rPr sz="1300" spc="-10" dirty="0">
                <a:latin typeface="Calibri"/>
                <a:cs typeface="Calibri"/>
              </a:rPr>
              <a:t>(Unit/System testing)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55026" y="3218221"/>
            <a:ext cx="1082675" cy="119888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 marR="5080" indent="635" algn="ctr">
              <a:lnSpc>
                <a:spcPct val="91200"/>
              </a:lnSpc>
              <a:spcBef>
                <a:spcPts val="254"/>
              </a:spcBef>
            </a:pPr>
            <a:r>
              <a:rPr sz="1300" dirty="0">
                <a:latin typeface="Calibri"/>
                <a:cs typeface="Calibri"/>
              </a:rPr>
              <a:t>Pull</a:t>
            </a:r>
            <a:r>
              <a:rPr sz="1300" spc="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stories </a:t>
            </a:r>
            <a:r>
              <a:rPr sz="1300" dirty="0">
                <a:latin typeface="Calibri"/>
                <a:cs typeface="Calibri"/>
              </a:rPr>
              <a:t>into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sprints</a:t>
            </a:r>
            <a:r>
              <a:rPr sz="1300" spc="-25" dirty="0">
                <a:latin typeface="Calibri"/>
                <a:cs typeface="Calibri"/>
              </a:rPr>
              <a:t> and </a:t>
            </a:r>
            <a:r>
              <a:rPr sz="1300" dirty="0">
                <a:latin typeface="Calibri"/>
                <a:cs typeface="Calibri"/>
              </a:rPr>
              <a:t>perform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spc="-25" dirty="0">
                <a:latin typeface="Calibri"/>
                <a:cs typeface="Calibri"/>
              </a:rPr>
              <a:t>the </a:t>
            </a:r>
            <a:r>
              <a:rPr sz="1300" spc="-10" dirty="0">
                <a:latin typeface="Calibri"/>
                <a:cs typeface="Calibri"/>
              </a:rPr>
              <a:t>initial development/</a:t>
            </a:r>
            <a:endParaRPr sz="13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09"/>
              </a:spcBef>
            </a:pPr>
            <a:r>
              <a:rPr sz="1300" spc="-25" dirty="0">
                <a:latin typeface="Calibri"/>
                <a:cs typeface="Calibri"/>
              </a:rPr>
              <a:t>QA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7260" y="3253255"/>
            <a:ext cx="1081405" cy="112903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065" marR="5080" algn="ctr">
              <a:lnSpc>
                <a:spcPct val="91100"/>
              </a:lnSpc>
              <a:spcBef>
                <a:spcPts val="254"/>
              </a:spcBef>
            </a:pPr>
            <a:r>
              <a:rPr sz="1300" spc="-10" dirty="0">
                <a:latin typeface="Calibri"/>
                <a:cs typeface="Calibri"/>
              </a:rPr>
              <a:t>Incorporating </a:t>
            </a:r>
            <a:r>
              <a:rPr sz="1300" dirty="0">
                <a:latin typeface="Calibri"/>
                <a:cs typeface="Calibri"/>
              </a:rPr>
              <a:t>the </a:t>
            </a:r>
            <a:r>
              <a:rPr sz="1300" spc="-10" dirty="0">
                <a:latin typeface="Calibri"/>
                <a:cs typeface="Calibri"/>
              </a:rPr>
              <a:t>suggested </a:t>
            </a:r>
            <a:r>
              <a:rPr sz="1300" dirty="0">
                <a:latin typeface="Calibri"/>
                <a:cs typeface="Calibri"/>
              </a:rPr>
              <a:t>features</a:t>
            </a:r>
            <a:r>
              <a:rPr sz="1300" spc="-4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in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user </a:t>
            </a:r>
            <a:r>
              <a:rPr sz="1300" dirty="0">
                <a:latin typeface="Calibri"/>
                <a:cs typeface="Calibri"/>
              </a:rPr>
              <a:t>stories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and</a:t>
            </a:r>
            <a:r>
              <a:rPr sz="1300" spc="-25" dirty="0">
                <a:latin typeface="Calibri"/>
                <a:cs typeface="Calibri"/>
              </a:rPr>
              <a:t> add </a:t>
            </a:r>
            <a:r>
              <a:rPr sz="1300" dirty="0">
                <a:latin typeface="Calibri"/>
                <a:cs typeface="Calibri"/>
              </a:rPr>
              <a:t>to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product backlog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36675" y="5340096"/>
            <a:ext cx="9360535" cy="809625"/>
          </a:xfrm>
          <a:prstGeom prst="rect">
            <a:avLst/>
          </a:prstGeom>
          <a:solidFill>
            <a:srgbClr val="FDD667"/>
          </a:solidFill>
          <a:ln w="24384">
            <a:solidFill>
              <a:srgbClr val="000000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78740" marR="337820">
              <a:lnSpc>
                <a:spcPct val="101899"/>
              </a:lnSpc>
              <a:spcBef>
                <a:spcPts val="200"/>
              </a:spcBef>
            </a:pPr>
            <a:r>
              <a:rPr sz="1550" dirty="0">
                <a:latin typeface="Calibri"/>
                <a:cs typeface="Calibri"/>
              </a:rPr>
              <a:t>The</a:t>
            </a:r>
            <a:r>
              <a:rPr sz="1550" spc="2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features</a:t>
            </a:r>
            <a:r>
              <a:rPr sz="1550" spc="3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to</a:t>
            </a:r>
            <a:r>
              <a:rPr sz="1550" spc="2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be</a:t>
            </a:r>
            <a:r>
              <a:rPr sz="1550" spc="2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incorporated</a:t>
            </a:r>
            <a:r>
              <a:rPr sz="1550" spc="3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would</a:t>
            </a:r>
            <a:r>
              <a:rPr sz="1550" spc="3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be</a:t>
            </a:r>
            <a:r>
              <a:rPr sz="1550" spc="4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better</a:t>
            </a:r>
            <a:r>
              <a:rPr sz="1550" spc="4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suited</a:t>
            </a:r>
            <a:r>
              <a:rPr sz="1550" spc="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to</a:t>
            </a:r>
            <a:r>
              <a:rPr sz="1550" spc="2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an</a:t>
            </a:r>
            <a:r>
              <a:rPr sz="1550" spc="4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AGILE</a:t>
            </a:r>
            <a:r>
              <a:rPr sz="1550" spc="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development</a:t>
            </a:r>
            <a:r>
              <a:rPr sz="1550" spc="3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framework,</a:t>
            </a:r>
            <a:r>
              <a:rPr sz="1550" spc="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where</a:t>
            </a:r>
            <a:r>
              <a:rPr sz="1550" spc="4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there</a:t>
            </a:r>
            <a:r>
              <a:rPr sz="1550" spc="25" dirty="0">
                <a:latin typeface="Calibri"/>
                <a:cs typeface="Calibri"/>
              </a:rPr>
              <a:t> </a:t>
            </a:r>
            <a:r>
              <a:rPr sz="1550" spc="-25" dirty="0">
                <a:latin typeface="Calibri"/>
                <a:cs typeface="Calibri"/>
              </a:rPr>
              <a:t>are </a:t>
            </a:r>
            <a:r>
              <a:rPr sz="1550" dirty="0">
                <a:latin typeface="Calibri"/>
                <a:cs typeface="Calibri"/>
              </a:rPr>
              <a:t>subsequent</a:t>
            </a:r>
            <a:r>
              <a:rPr sz="1550" spc="4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iterations</a:t>
            </a:r>
            <a:r>
              <a:rPr sz="1550" spc="3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of</a:t>
            </a:r>
            <a:r>
              <a:rPr sz="1550" spc="4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development</a:t>
            </a:r>
            <a:r>
              <a:rPr sz="1550" spc="3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and</a:t>
            </a:r>
            <a:r>
              <a:rPr sz="1550" spc="6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incorporation</a:t>
            </a:r>
            <a:r>
              <a:rPr sz="1550" spc="4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of</a:t>
            </a:r>
            <a:r>
              <a:rPr sz="1550" spc="2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user</a:t>
            </a:r>
            <a:r>
              <a:rPr sz="1550" spc="1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feedback</a:t>
            </a:r>
            <a:r>
              <a:rPr sz="1550" spc="5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and</a:t>
            </a:r>
            <a:r>
              <a:rPr sz="1550" spc="6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it</a:t>
            </a:r>
            <a:r>
              <a:rPr sz="1550" spc="4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will</a:t>
            </a:r>
            <a:r>
              <a:rPr sz="1550" spc="4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be</a:t>
            </a:r>
            <a:r>
              <a:rPr sz="1550" spc="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easier</a:t>
            </a:r>
            <a:r>
              <a:rPr sz="1550" spc="2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to</a:t>
            </a:r>
            <a:r>
              <a:rPr sz="1550" spc="4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add</a:t>
            </a:r>
            <a:r>
              <a:rPr sz="1550" spc="6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newer </a:t>
            </a:r>
            <a:r>
              <a:rPr sz="1550" dirty="0">
                <a:latin typeface="Calibri"/>
                <a:cs typeface="Calibri"/>
              </a:rPr>
              <a:t>features.</a:t>
            </a:r>
            <a:r>
              <a:rPr sz="1550" spc="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E.g.:</a:t>
            </a:r>
            <a:r>
              <a:rPr sz="1550" spc="2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integration</a:t>
            </a:r>
            <a:r>
              <a:rPr sz="1550" spc="3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of</a:t>
            </a:r>
            <a:r>
              <a:rPr sz="1550" spc="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PostPaid</a:t>
            </a:r>
            <a:r>
              <a:rPr sz="1550" spc="3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feature</a:t>
            </a:r>
            <a:r>
              <a:rPr sz="1550" spc="2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into</a:t>
            </a:r>
            <a:r>
              <a:rPr sz="1550" spc="4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Rapido</a:t>
            </a:r>
            <a:r>
              <a:rPr sz="1550" spc="2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Regular</a:t>
            </a:r>
            <a:r>
              <a:rPr sz="1550" spc="4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if</a:t>
            </a:r>
            <a:r>
              <a:rPr sz="1550" spc="3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</a:t>
            </a:r>
            <a:r>
              <a:rPr sz="1550" spc="4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company</a:t>
            </a:r>
            <a:r>
              <a:rPr sz="1550" spc="3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moved</a:t>
            </a:r>
            <a:r>
              <a:rPr sz="1550" spc="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towards</a:t>
            </a:r>
            <a:r>
              <a:rPr sz="1550" spc="20" dirty="0">
                <a:latin typeface="Calibri"/>
                <a:cs typeface="Calibri"/>
              </a:rPr>
              <a:t> </a:t>
            </a:r>
            <a:r>
              <a:rPr sz="1550" spc="-25" dirty="0">
                <a:latin typeface="Calibri"/>
                <a:cs typeface="Calibri"/>
              </a:rPr>
              <a:t>it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97935" y="1770888"/>
            <a:ext cx="3979545" cy="567055"/>
          </a:xfrm>
          <a:prstGeom prst="rect">
            <a:avLst/>
          </a:prstGeom>
          <a:solidFill>
            <a:srgbClr val="FDD667"/>
          </a:solidFill>
        </p:spPr>
        <p:txBody>
          <a:bodyPr vert="horz" wrap="square" lIns="0" tIns="25400" rIns="0" bIns="0" rtlCol="0">
            <a:spAutoFit/>
          </a:bodyPr>
          <a:lstStyle/>
          <a:p>
            <a:pPr marL="80645" marR="120650">
              <a:lnSpc>
                <a:spcPct val="102000"/>
              </a:lnSpc>
              <a:spcBef>
                <a:spcPts val="200"/>
              </a:spcBef>
            </a:pPr>
            <a:r>
              <a:rPr sz="1550" dirty="0">
                <a:latin typeface="Calibri"/>
                <a:cs typeface="Calibri"/>
              </a:rPr>
              <a:t>Market research</a:t>
            </a:r>
            <a:r>
              <a:rPr sz="1550" spc="2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to</a:t>
            </a:r>
            <a:r>
              <a:rPr sz="1550" spc="3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identify</a:t>
            </a:r>
            <a:r>
              <a:rPr sz="1550" spc="4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suitable</a:t>
            </a:r>
            <a:r>
              <a:rPr sz="1550" spc="5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markets </a:t>
            </a:r>
            <a:r>
              <a:rPr sz="1550" dirty="0">
                <a:latin typeface="Calibri"/>
                <a:cs typeface="Calibri"/>
              </a:rPr>
              <a:t>for</a:t>
            </a:r>
            <a:r>
              <a:rPr sz="1550" spc="4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testing</a:t>
            </a:r>
            <a:r>
              <a:rPr sz="1550" spc="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new</a:t>
            </a:r>
            <a:r>
              <a:rPr sz="1550" spc="4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features</a:t>
            </a:r>
            <a:r>
              <a:rPr sz="1550" spc="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and</a:t>
            </a:r>
            <a:r>
              <a:rPr sz="1550" spc="4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response</a:t>
            </a:r>
            <a:r>
              <a:rPr sz="1550" spc="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of</a:t>
            </a:r>
            <a:r>
              <a:rPr sz="1550" spc="3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users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227319" y="2415540"/>
            <a:ext cx="66040" cy="603885"/>
          </a:xfrm>
          <a:custGeom>
            <a:avLst/>
            <a:gdLst/>
            <a:ahLst/>
            <a:cxnLst/>
            <a:rect l="l" t="t" r="r" b="b"/>
            <a:pathLst>
              <a:path w="66039" h="603885">
                <a:moveTo>
                  <a:pt x="35052" y="547116"/>
                </a:moveTo>
                <a:lnTo>
                  <a:pt x="30480" y="547116"/>
                </a:lnTo>
                <a:lnTo>
                  <a:pt x="35052" y="0"/>
                </a:lnTo>
                <a:lnTo>
                  <a:pt x="41148" y="0"/>
                </a:lnTo>
                <a:lnTo>
                  <a:pt x="35170" y="536448"/>
                </a:lnTo>
                <a:lnTo>
                  <a:pt x="35052" y="547116"/>
                </a:lnTo>
                <a:close/>
              </a:path>
              <a:path w="66039" h="603885">
                <a:moveTo>
                  <a:pt x="32004" y="603504"/>
                </a:moveTo>
                <a:lnTo>
                  <a:pt x="0" y="536448"/>
                </a:lnTo>
                <a:lnTo>
                  <a:pt x="30569" y="536448"/>
                </a:lnTo>
                <a:lnTo>
                  <a:pt x="30480" y="547116"/>
                </a:lnTo>
                <a:lnTo>
                  <a:pt x="60198" y="547116"/>
                </a:lnTo>
                <a:lnTo>
                  <a:pt x="32004" y="603504"/>
                </a:lnTo>
                <a:close/>
              </a:path>
              <a:path w="66039" h="603885">
                <a:moveTo>
                  <a:pt x="60198" y="547116"/>
                </a:moveTo>
                <a:lnTo>
                  <a:pt x="35052" y="547116"/>
                </a:lnTo>
                <a:lnTo>
                  <a:pt x="35170" y="536448"/>
                </a:lnTo>
                <a:lnTo>
                  <a:pt x="65532" y="536448"/>
                </a:lnTo>
                <a:lnTo>
                  <a:pt x="60198" y="5471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72668"/>
            <a:ext cx="10692765" cy="6014085"/>
          </a:xfrm>
          <a:custGeom>
            <a:avLst/>
            <a:gdLst/>
            <a:ahLst/>
            <a:cxnLst/>
            <a:rect l="l" t="t" r="r" b="b"/>
            <a:pathLst>
              <a:path w="10692765" h="6014084">
                <a:moveTo>
                  <a:pt x="10692384" y="6013703"/>
                </a:moveTo>
                <a:lnTo>
                  <a:pt x="0" y="6013703"/>
                </a:lnTo>
                <a:lnTo>
                  <a:pt x="0" y="0"/>
                </a:lnTo>
                <a:lnTo>
                  <a:pt x="10692384" y="0"/>
                </a:lnTo>
                <a:lnTo>
                  <a:pt x="10692384" y="6013703"/>
                </a:lnTo>
                <a:close/>
              </a:path>
            </a:pathLst>
          </a:custGeom>
          <a:solidFill>
            <a:srgbClr val="FDD6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223914" y="2942458"/>
            <a:ext cx="2241550" cy="6146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850" b="0" dirty="0">
                <a:latin typeface="Calibri"/>
                <a:cs typeface="Calibri"/>
              </a:rPr>
              <a:t>Thank </a:t>
            </a:r>
            <a:r>
              <a:rPr sz="3850" b="0" spc="-20" dirty="0">
                <a:latin typeface="Calibri"/>
                <a:cs typeface="Calibri"/>
              </a:rPr>
              <a:t>you!</a:t>
            </a:r>
            <a:endParaRPr sz="38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62991" y="5039548"/>
            <a:ext cx="3967479" cy="11190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ctr">
              <a:lnSpc>
                <a:spcPct val="132000"/>
              </a:lnSpc>
              <a:spcBef>
                <a:spcPts val="100"/>
              </a:spcBef>
            </a:pPr>
            <a:r>
              <a:rPr lang="en-US" sz="1750" dirty="0">
                <a:latin typeface="Calibri"/>
                <a:cs typeface="Calibri"/>
              </a:rPr>
              <a:t>Mayank Kumar</a:t>
            </a:r>
          </a:p>
          <a:p>
            <a:pPr marL="12700" marR="5080" indent="-635" algn="ctr">
              <a:lnSpc>
                <a:spcPct val="132000"/>
              </a:lnSpc>
              <a:spcBef>
                <a:spcPts val="100"/>
              </a:spcBef>
            </a:pPr>
            <a:r>
              <a:rPr lang="en-IN" sz="1800" u="sng" dirty="0">
                <a:hlinkClick r:id="rId2"/>
              </a:rPr>
              <a:t>linkedin.com/in/</a:t>
            </a:r>
            <a:r>
              <a:rPr lang="en-IN" sz="1800" u="sng" dirty="0" err="1">
                <a:hlinkClick r:id="rId2"/>
              </a:rPr>
              <a:t>mayankkumar</a:t>
            </a:r>
            <a:r>
              <a:rPr lang="en-IN" sz="1800" spc="-10" dirty="0">
                <a:solidFill>
                  <a:srgbClr val="0562C1"/>
                </a:solidFill>
                <a:latin typeface="Calibri"/>
                <a:cs typeface="Calibri"/>
              </a:rPr>
              <a:t> </a:t>
            </a:r>
            <a:r>
              <a:rPr lang="en-IN" sz="1800" u="sng" dirty="0">
                <a:hlinkClick r:id="rId3"/>
              </a:rPr>
              <a:t>mayank.pm11@gmail.com</a:t>
            </a:r>
            <a:endParaRPr lang="en-US" sz="1750" dirty="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335350" y="5452452"/>
            <a:ext cx="386080" cy="706120"/>
            <a:chOff x="2727960" y="5487923"/>
            <a:chExt cx="386080" cy="70612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73680" y="5487923"/>
              <a:ext cx="294131" cy="29413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27960" y="5811012"/>
              <a:ext cx="385571" cy="3825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2077</Words>
  <Application>Microsoft Office PowerPoint</Application>
  <PresentationFormat>Custom</PresentationFormat>
  <Paragraphs>306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 MT</vt:lpstr>
      <vt:lpstr>Calibri</vt:lpstr>
      <vt:lpstr>Symbol</vt:lpstr>
      <vt:lpstr>Times New Roman</vt:lpstr>
      <vt:lpstr>Wingdings</vt:lpstr>
      <vt:lpstr>Office Theme</vt:lpstr>
      <vt:lpstr>PowerPoint Presentation</vt:lpstr>
      <vt:lpstr>Company background and problem statement</vt:lpstr>
      <vt:lpstr>Competition benchmarking</vt:lpstr>
      <vt:lpstr>User personas: Riders</vt:lpstr>
      <vt:lpstr>User personas: Drivers</vt:lpstr>
      <vt:lpstr>Possible feature additions</vt:lpstr>
      <vt:lpstr>Analysis of solutions proposed</vt:lpstr>
      <vt:lpstr>Solutions to be implemented</vt:lpstr>
      <vt:lpstr>Wireframes - Rapido Regular</vt:lpstr>
      <vt:lpstr>Wireframes - Rapido Regular</vt:lpstr>
      <vt:lpstr>Wireframes – Share live location</vt:lpstr>
      <vt:lpstr>Wireframe – Pay later option</vt:lpstr>
      <vt:lpstr>Success metrics</vt:lpstr>
      <vt:lpstr>Go-to market plan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Presentation1</dc:title>
  <dc:creator>ameya</dc:creator>
  <cp:lastModifiedBy>Mayank Kumar</cp:lastModifiedBy>
  <cp:revision>1</cp:revision>
  <dcterms:created xsi:type="dcterms:W3CDTF">2026-05-21T09:18:57Z</dcterms:created>
  <dcterms:modified xsi:type="dcterms:W3CDTF">2026-05-21T09:24:18Z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2022-07-05T00:00:00Z</vt:filetime>
  </property>
  <property fmtid="{D5CDD505-2E9C-101B-9397-08002B2CF9AE}" pid="4" name="LastSaved">
    <vt:filetime>2026-05-21T00:00:00Z</vt:filetime>
  </property>
  <property fmtid="{D5CDD505-2E9C-101B-9397-08002B2CF9AE}" pid="5" name="Producer">
    <vt:lpwstr>Microsoft: Print To PDF</vt:lpwstr>
  </property>
</Properties>
</file>