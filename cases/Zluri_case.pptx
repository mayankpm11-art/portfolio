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155" y="2785872"/>
            <a:ext cx="3607308" cy="382676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90415" y="-24256"/>
            <a:ext cx="3011169" cy="6425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4768" y="1691639"/>
            <a:ext cx="11246485" cy="3870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8234" rIns="0" bIns="0" rtlCol="0">
            <a:spAutoFit/>
          </a:bodyPr>
          <a:lstStyle/>
          <a:p>
            <a:pPr marL="1210945">
              <a:lnSpc>
                <a:spcPct val="100000"/>
              </a:lnSpc>
              <a:spcBef>
                <a:spcPts val="95"/>
              </a:spcBef>
            </a:pPr>
            <a:r>
              <a:rPr sz="2500" spc="-10" dirty="0"/>
              <a:t>Zluri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599948" y="777367"/>
            <a:ext cx="10822940" cy="2475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67765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674EA7"/>
                </a:solidFill>
                <a:latin typeface="Calibri"/>
                <a:cs typeface="Calibri"/>
              </a:rPr>
              <a:t>Problem</a:t>
            </a:r>
            <a:r>
              <a:rPr sz="1600" b="1" spc="-40" dirty="0">
                <a:solidFill>
                  <a:srgbClr val="674EA7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674EA7"/>
                </a:solidFill>
                <a:latin typeface="Calibri"/>
                <a:cs typeface="Calibri"/>
              </a:rPr>
              <a:t>statement:</a:t>
            </a:r>
            <a:r>
              <a:rPr sz="1600" b="1" spc="-55" dirty="0">
                <a:solidFill>
                  <a:srgbClr val="674EA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674EA7"/>
                </a:solidFill>
                <a:latin typeface="Calibri"/>
                <a:cs typeface="Calibri"/>
              </a:rPr>
              <a:t>Pitch</a:t>
            </a:r>
            <a:r>
              <a:rPr sz="1600" b="1" spc="-55" dirty="0">
                <a:solidFill>
                  <a:srgbClr val="674EA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674EA7"/>
                </a:solidFill>
                <a:latin typeface="Calibri"/>
                <a:cs typeface="Calibri"/>
              </a:rPr>
              <a:t>a</a:t>
            </a:r>
            <a:r>
              <a:rPr sz="1600" b="1" spc="-50" dirty="0">
                <a:solidFill>
                  <a:srgbClr val="674EA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674EA7"/>
                </a:solidFill>
                <a:latin typeface="Calibri"/>
                <a:cs typeface="Calibri"/>
              </a:rPr>
              <a:t>basic</a:t>
            </a:r>
            <a:r>
              <a:rPr sz="1600" b="1" spc="-35" dirty="0">
                <a:solidFill>
                  <a:srgbClr val="674EA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674EA7"/>
                </a:solidFill>
                <a:latin typeface="Calibri"/>
                <a:cs typeface="Calibri"/>
              </a:rPr>
              <a:t>module</a:t>
            </a:r>
            <a:r>
              <a:rPr sz="1600" b="1" spc="-35" dirty="0">
                <a:solidFill>
                  <a:srgbClr val="674EA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674EA7"/>
                </a:solidFill>
                <a:latin typeface="Calibri"/>
                <a:cs typeface="Calibri"/>
              </a:rPr>
              <a:t>of</a:t>
            </a:r>
            <a:r>
              <a:rPr sz="1600" b="1" spc="-45" dirty="0">
                <a:solidFill>
                  <a:srgbClr val="674EA7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674EA7"/>
                </a:solidFill>
                <a:latin typeface="Calibri"/>
                <a:cs typeface="Calibri"/>
              </a:rPr>
              <a:t>Employee</a:t>
            </a:r>
            <a:r>
              <a:rPr sz="1600" b="1" spc="-55" dirty="0">
                <a:solidFill>
                  <a:srgbClr val="674EA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674EA7"/>
                </a:solidFill>
                <a:latin typeface="Calibri"/>
                <a:cs typeface="Calibri"/>
              </a:rPr>
              <a:t>dashboard which</a:t>
            </a:r>
            <a:r>
              <a:rPr sz="1600" b="1" spc="-45" dirty="0">
                <a:solidFill>
                  <a:srgbClr val="674EA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674EA7"/>
                </a:solidFill>
                <a:latin typeface="Calibri"/>
                <a:cs typeface="Calibri"/>
              </a:rPr>
              <a:t>can</a:t>
            </a:r>
            <a:r>
              <a:rPr sz="1600" b="1" spc="-45" dirty="0">
                <a:solidFill>
                  <a:srgbClr val="674EA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674EA7"/>
                </a:solidFill>
                <a:latin typeface="Calibri"/>
                <a:cs typeface="Calibri"/>
              </a:rPr>
              <a:t>solve</a:t>
            </a:r>
            <a:r>
              <a:rPr sz="1600" b="1" spc="-45" dirty="0">
                <a:solidFill>
                  <a:srgbClr val="674EA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674EA7"/>
                </a:solidFill>
                <a:latin typeface="Calibri"/>
                <a:cs typeface="Calibri"/>
              </a:rPr>
              <a:t>for</a:t>
            </a:r>
            <a:r>
              <a:rPr sz="1600" b="1" spc="-10" dirty="0">
                <a:solidFill>
                  <a:srgbClr val="674EA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674EA7"/>
                </a:solidFill>
                <a:latin typeface="Calibri"/>
                <a:cs typeface="Calibri"/>
              </a:rPr>
              <a:t>employee</a:t>
            </a:r>
            <a:r>
              <a:rPr sz="1600" b="1" spc="-50" dirty="0">
                <a:solidFill>
                  <a:srgbClr val="674EA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674EA7"/>
                </a:solidFill>
                <a:latin typeface="Calibri"/>
                <a:cs typeface="Calibri"/>
              </a:rPr>
              <a:t>use</a:t>
            </a:r>
            <a:r>
              <a:rPr sz="1600" b="1" spc="-45" dirty="0">
                <a:solidFill>
                  <a:srgbClr val="674EA7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674EA7"/>
                </a:solidFill>
                <a:latin typeface="Calibri"/>
                <a:cs typeface="Calibri"/>
              </a:rPr>
              <a:t>cases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920"/>
              </a:spcBef>
            </a:pPr>
            <a:r>
              <a:rPr sz="1600" b="1" spc="-10" dirty="0">
                <a:latin typeface="Calibri"/>
                <a:cs typeface="Calibri"/>
              </a:rPr>
              <a:t>Background:</a:t>
            </a:r>
            <a:r>
              <a:rPr sz="1600" b="1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Zluri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Dashboard’s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Users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only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Admins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company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like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CEO/CTO/COO/IT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Admin/Finance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Admin/HR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Admin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since </a:t>
            </a:r>
            <a:r>
              <a:rPr sz="1600" dirty="0">
                <a:latin typeface="Calibri"/>
                <a:cs typeface="Calibri"/>
              </a:rPr>
              <a:t>Zluri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enables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visibility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whole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organisation.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case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serving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product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Employees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organisations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remains untouched.This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Zluri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launch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it’s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own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standalone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product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serve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employees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named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“Employee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Dashboard”.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600" b="1" dirty="0">
                <a:latin typeface="Calibri"/>
                <a:cs typeface="Calibri"/>
              </a:rPr>
              <a:t>Why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build</a:t>
            </a:r>
            <a:r>
              <a:rPr sz="1600" b="1" spc="-6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employee</a:t>
            </a:r>
            <a:r>
              <a:rPr sz="1600" b="1" spc="-6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dashboard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now?</a:t>
            </a:r>
            <a:endParaRPr sz="1600">
              <a:latin typeface="Calibri"/>
              <a:cs typeface="Calibri"/>
            </a:endParaRPr>
          </a:p>
          <a:p>
            <a:pPr marL="12700" marR="281940">
              <a:lnSpc>
                <a:spcPts val="1510"/>
              </a:lnSpc>
              <a:spcBef>
                <a:spcPts val="1040"/>
              </a:spcBef>
            </a:pPr>
            <a:r>
              <a:rPr sz="1400" i="1" spc="-10" dirty="0">
                <a:latin typeface="Calibri"/>
                <a:cs typeface="Calibri"/>
              </a:rPr>
              <a:t>Zluri’s</a:t>
            </a:r>
            <a:r>
              <a:rPr sz="1400" i="1" spc="-1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mission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is</a:t>
            </a:r>
            <a:r>
              <a:rPr sz="1400" i="1" spc="-1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to</a:t>
            </a:r>
            <a:r>
              <a:rPr sz="1400" i="1" spc="-15" dirty="0">
                <a:latin typeface="Calibri"/>
                <a:cs typeface="Calibri"/>
              </a:rPr>
              <a:t> </a:t>
            </a:r>
            <a:r>
              <a:rPr sz="1400" b="1" i="1" spc="-10" dirty="0">
                <a:latin typeface="Calibri"/>
                <a:cs typeface="Calibri"/>
              </a:rPr>
              <a:t>Accelerate</a:t>
            </a:r>
            <a:r>
              <a:rPr sz="1400" b="1" i="1" spc="-40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the</a:t>
            </a:r>
            <a:r>
              <a:rPr sz="1400" b="1" i="1" spc="-20" dirty="0">
                <a:latin typeface="Calibri"/>
                <a:cs typeface="Calibri"/>
              </a:rPr>
              <a:t> </a:t>
            </a:r>
            <a:r>
              <a:rPr sz="1400" b="1" i="1" spc="-10" dirty="0">
                <a:latin typeface="Calibri"/>
                <a:cs typeface="Calibri"/>
              </a:rPr>
              <a:t>world’s</a:t>
            </a:r>
            <a:r>
              <a:rPr sz="1400" b="1" i="1" spc="-50" dirty="0">
                <a:latin typeface="Calibri"/>
                <a:cs typeface="Calibri"/>
              </a:rPr>
              <a:t> </a:t>
            </a:r>
            <a:r>
              <a:rPr sz="1400" b="1" i="1" spc="-10" dirty="0">
                <a:latin typeface="Calibri"/>
                <a:cs typeface="Calibri"/>
              </a:rPr>
              <a:t>transition</a:t>
            </a:r>
            <a:r>
              <a:rPr sz="1400" b="1" i="1" spc="-50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to</a:t>
            </a:r>
            <a:r>
              <a:rPr sz="1400" b="1" i="1" spc="-30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SaaS.</a:t>
            </a:r>
            <a:r>
              <a:rPr sz="1400" b="1" i="1" spc="-2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Its</a:t>
            </a:r>
            <a:r>
              <a:rPr sz="1400" i="1" spc="-1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current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offering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serves</a:t>
            </a:r>
            <a:r>
              <a:rPr sz="1400" i="1" spc="-4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a</a:t>
            </a:r>
            <a:r>
              <a:rPr sz="1400" i="1" spc="-2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limited</a:t>
            </a:r>
            <a:r>
              <a:rPr sz="1400" i="1" spc="-2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portion</a:t>
            </a:r>
            <a:r>
              <a:rPr sz="1400" i="1" spc="-2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of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IT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employees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and</a:t>
            </a:r>
            <a:r>
              <a:rPr sz="1400" i="1" spc="-1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hence,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there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is</a:t>
            </a:r>
            <a:r>
              <a:rPr sz="1400" i="1" spc="-1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a</a:t>
            </a:r>
            <a:r>
              <a:rPr sz="1400" i="1" spc="-25" dirty="0">
                <a:latin typeface="Calibri"/>
                <a:cs typeface="Calibri"/>
              </a:rPr>
              <a:t> gap </a:t>
            </a:r>
            <a:r>
              <a:rPr sz="1400" i="1" dirty="0">
                <a:latin typeface="Calibri"/>
                <a:cs typeface="Calibri"/>
              </a:rPr>
              <a:t>to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be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filled</a:t>
            </a:r>
            <a:r>
              <a:rPr sz="1400" i="1" spc="-1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that Zluri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can</a:t>
            </a:r>
            <a:r>
              <a:rPr sz="1400" i="1" spc="-1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look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to</a:t>
            </a:r>
            <a:r>
              <a:rPr sz="1400" i="1" spc="-2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fill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using its</a:t>
            </a:r>
            <a:r>
              <a:rPr sz="1400" i="1" spc="-1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core</a:t>
            </a:r>
            <a:r>
              <a:rPr sz="1400" i="1" spc="-40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competencies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and</a:t>
            </a:r>
            <a:r>
              <a:rPr sz="1400" i="1" spc="-1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features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of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its</a:t>
            </a:r>
            <a:r>
              <a:rPr sz="1400" i="1" spc="-1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existing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product.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400" b="1" dirty="0">
                <a:latin typeface="Calibri"/>
                <a:cs typeface="Calibri"/>
              </a:rPr>
              <a:t>My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approach: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097" y="3477672"/>
            <a:ext cx="11713632" cy="144024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799444" y="3909186"/>
            <a:ext cx="854075" cy="54356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1445" marR="5080" indent="-119380">
              <a:lnSpc>
                <a:spcPts val="1320"/>
              </a:lnSpc>
              <a:spcBef>
                <a:spcPts val="240"/>
              </a:spcBef>
            </a:pPr>
            <a:r>
              <a:rPr sz="1200" dirty="0">
                <a:latin typeface="Calibri"/>
                <a:cs typeface="Calibri"/>
              </a:rPr>
              <a:t>Second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order thinking/ Summary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33738" y="3993007"/>
            <a:ext cx="846455" cy="3759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176530">
              <a:lnSpc>
                <a:spcPts val="1320"/>
              </a:lnSpc>
              <a:spcBef>
                <a:spcPts val="240"/>
              </a:spcBef>
            </a:pPr>
            <a:r>
              <a:rPr sz="1200" spc="-10" dirty="0">
                <a:latin typeface="Calibri"/>
                <a:cs typeface="Calibri"/>
              </a:rPr>
              <a:t>Metrics identification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55457" y="3993007"/>
            <a:ext cx="866775" cy="3759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82880" marR="5080" indent="-170815">
              <a:lnSpc>
                <a:spcPts val="1320"/>
              </a:lnSpc>
              <a:spcBef>
                <a:spcPts val="240"/>
              </a:spcBef>
            </a:pPr>
            <a:r>
              <a:rPr sz="1200" spc="-10" dirty="0">
                <a:latin typeface="Calibri"/>
                <a:cs typeface="Calibri"/>
              </a:rPr>
              <a:t>Go-to-market strategy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25259" y="4076141"/>
            <a:ext cx="5892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Mockups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47030" y="3909186"/>
            <a:ext cx="854710" cy="54356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065" marR="5080" indent="-635" algn="ctr">
              <a:lnSpc>
                <a:spcPts val="1320"/>
              </a:lnSpc>
              <a:spcBef>
                <a:spcPts val="240"/>
              </a:spcBef>
            </a:pPr>
            <a:r>
              <a:rPr sz="1200" spc="-10" dirty="0">
                <a:latin typeface="Calibri"/>
                <a:cs typeface="Calibri"/>
              </a:rPr>
              <a:t>Listing solutions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spc="-10" dirty="0">
                <a:latin typeface="Calibri"/>
                <a:cs typeface="Calibri"/>
              </a:rPr>
              <a:t>prioritization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57702" y="3825367"/>
            <a:ext cx="846455" cy="71183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 indent="1270" algn="ctr">
              <a:lnSpc>
                <a:spcPct val="91700"/>
              </a:lnSpc>
              <a:spcBef>
                <a:spcPts val="219"/>
              </a:spcBef>
            </a:pPr>
            <a:r>
              <a:rPr sz="1200" dirty="0">
                <a:latin typeface="Calibri"/>
                <a:cs typeface="Calibri"/>
              </a:rPr>
              <a:t>Pain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points identification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spc="-10" dirty="0">
                <a:latin typeface="Calibri"/>
                <a:cs typeface="Calibri"/>
              </a:rPr>
              <a:t>prioritization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88566" y="3825367"/>
            <a:ext cx="846455" cy="71183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 indent="635" algn="ctr">
              <a:lnSpc>
                <a:spcPct val="91700"/>
              </a:lnSpc>
              <a:spcBef>
                <a:spcPts val="219"/>
              </a:spcBef>
            </a:pPr>
            <a:r>
              <a:rPr sz="1200" spc="-10" dirty="0">
                <a:latin typeface="Calibri"/>
                <a:cs typeface="Calibri"/>
              </a:rPr>
              <a:t>Personas identification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spc="-10" dirty="0">
                <a:latin typeface="Calibri"/>
                <a:cs typeface="Calibri"/>
              </a:rPr>
              <a:t>prioritization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5881" y="3993007"/>
            <a:ext cx="837565" cy="3759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31750">
              <a:lnSpc>
                <a:spcPts val="1320"/>
              </a:lnSpc>
              <a:spcBef>
                <a:spcPts val="240"/>
              </a:spcBef>
            </a:pPr>
            <a:r>
              <a:rPr sz="1200" dirty="0">
                <a:latin typeface="Calibri"/>
                <a:cs typeface="Calibri"/>
              </a:rPr>
              <a:t>Decide</a:t>
            </a:r>
            <a:r>
              <a:rPr sz="1200" spc="-6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upon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objective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3097" y="5446014"/>
            <a:ext cx="11474450" cy="923925"/>
          </a:xfrm>
          <a:prstGeom prst="rect">
            <a:avLst/>
          </a:prstGeom>
          <a:solidFill>
            <a:srgbClr val="C5DFB4"/>
          </a:solidFill>
          <a:ln w="28575">
            <a:solidFill>
              <a:srgbClr val="538235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sz="1800" b="1" spc="-10" dirty="0">
                <a:latin typeface="Calibri"/>
                <a:cs typeface="Calibri"/>
              </a:rPr>
              <a:t>Objective</a:t>
            </a:r>
            <a:endParaRPr sz="1800">
              <a:latin typeface="Calibri"/>
              <a:cs typeface="Calibri"/>
            </a:endParaRPr>
          </a:p>
          <a:p>
            <a:pPr marL="99060" marR="98425" algn="ct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Since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offering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company,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objective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should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promote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ensure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maximum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reach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subsequent </a:t>
            </a:r>
            <a:r>
              <a:rPr sz="1800" dirty="0">
                <a:latin typeface="Calibri"/>
                <a:cs typeface="Calibri"/>
              </a:rPr>
              <a:t>adoption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product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90415" y="70230"/>
            <a:ext cx="2476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Employee</a:t>
            </a:r>
            <a:r>
              <a:rPr sz="2400" spc="-65" dirty="0"/>
              <a:t> </a:t>
            </a:r>
            <a:r>
              <a:rPr sz="2400" spc="-10" dirty="0"/>
              <a:t>Personas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373176" y="569798"/>
            <a:ext cx="11088370" cy="43243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595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typical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company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have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following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departments:</a:t>
            </a:r>
            <a:r>
              <a:rPr sz="1400" spc="-20" dirty="0">
                <a:latin typeface="Calibri"/>
                <a:cs typeface="Calibri"/>
              </a:rPr>
              <a:t> Dev,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QA,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DevOps,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HR,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Finance,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UX/UI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designers,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Product.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Each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department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may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have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their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own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595"/>
              </a:lnSpc>
            </a:pPr>
            <a:r>
              <a:rPr sz="1400" dirty="0">
                <a:latin typeface="Calibri"/>
                <a:cs typeface="Calibri"/>
              </a:rPr>
              <a:t>tools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Software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each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member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accomplish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their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daily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tasks.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7490" y="2960877"/>
            <a:ext cx="11701780" cy="1783714"/>
            <a:chOff x="237490" y="2960877"/>
            <a:chExt cx="11701780" cy="1783714"/>
          </a:xfrm>
        </p:grpSpPr>
        <p:sp>
          <p:nvSpPr>
            <p:cNvPr id="5" name="object 5"/>
            <p:cNvSpPr/>
            <p:nvPr/>
          </p:nvSpPr>
          <p:spPr>
            <a:xfrm>
              <a:off x="243840" y="2967227"/>
              <a:ext cx="11689080" cy="1771014"/>
            </a:xfrm>
            <a:custGeom>
              <a:avLst/>
              <a:gdLst/>
              <a:ahLst/>
              <a:cxnLst/>
              <a:rect l="l" t="t" r="r" b="b"/>
              <a:pathLst>
                <a:path w="11689080" h="1771014">
                  <a:moveTo>
                    <a:pt x="11393932" y="0"/>
                  </a:moveTo>
                  <a:lnTo>
                    <a:pt x="295160" y="0"/>
                  </a:lnTo>
                  <a:lnTo>
                    <a:pt x="247283" y="3864"/>
                  </a:lnTo>
                  <a:lnTo>
                    <a:pt x="201865" y="15053"/>
                  </a:lnTo>
                  <a:lnTo>
                    <a:pt x="159515" y="32956"/>
                  </a:lnTo>
                  <a:lnTo>
                    <a:pt x="120840" y="56965"/>
                  </a:lnTo>
                  <a:lnTo>
                    <a:pt x="86448" y="86471"/>
                  </a:lnTo>
                  <a:lnTo>
                    <a:pt x="56947" y="120865"/>
                  </a:lnTo>
                  <a:lnTo>
                    <a:pt x="32944" y="159539"/>
                  </a:lnTo>
                  <a:lnTo>
                    <a:pt x="15047" y="201883"/>
                  </a:lnTo>
                  <a:lnTo>
                    <a:pt x="3863" y="247289"/>
                  </a:lnTo>
                  <a:lnTo>
                    <a:pt x="0" y="295148"/>
                  </a:lnTo>
                  <a:lnTo>
                    <a:pt x="0" y="1475740"/>
                  </a:lnTo>
                  <a:lnTo>
                    <a:pt x="3863" y="1523598"/>
                  </a:lnTo>
                  <a:lnTo>
                    <a:pt x="15047" y="1569004"/>
                  </a:lnTo>
                  <a:lnTo>
                    <a:pt x="32944" y="1611348"/>
                  </a:lnTo>
                  <a:lnTo>
                    <a:pt x="56947" y="1650022"/>
                  </a:lnTo>
                  <a:lnTo>
                    <a:pt x="86448" y="1684416"/>
                  </a:lnTo>
                  <a:lnTo>
                    <a:pt x="120840" y="1713922"/>
                  </a:lnTo>
                  <a:lnTo>
                    <a:pt x="159515" y="1737931"/>
                  </a:lnTo>
                  <a:lnTo>
                    <a:pt x="201865" y="1755834"/>
                  </a:lnTo>
                  <a:lnTo>
                    <a:pt x="247283" y="1767023"/>
                  </a:lnTo>
                  <a:lnTo>
                    <a:pt x="295160" y="1770888"/>
                  </a:lnTo>
                  <a:lnTo>
                    <a:pt x="11393932" y="1770888"/>
                  </a:lnTo>
                  <a:lnTo>
                    <a:pt x="11441790" y="1767023"/>
                  </a:lnTo>
                  <a:lnTo>
                    <a:pt x="11487196" y="1755834"/>
                  </a:lnTo>
                  <a:lnTo>
                    <a:pt x="11529540" y="1737931"/>
                  </a:lnTo>
                  <a:lnTo>
                    <a:pt x="11568214" y="1713922"/>
                  </a:lnTo>
                  <a:lnTo>
                    <a:pt x="11602608" y="1684416"/>
                  </a:lnTo>
                  <a:lnTo>
                    <a:pt x="11632114" y="1650022"/>
                  </a:lnTo>
                  <a:lnTo>
                    <a:pt x="11656123" y="1611348"/>
                  </a:lnTo>
                  <a:lnTo>
                    <a:pt x="11674026" y="1569004"/>
                  </a:lnTo>
                  <a:lnTo>
                    <a:pt x="11685215" y="1523598"/>
                  </a:lnTo>
                  <a:lnTo>
                    <a:pt x="11689080" y="1475740"/>
                  </a:lnTo>
                  <a:lnTo>
                    <a:pt x="11689080" y="295148"/>
                  </a:lnTo>
                  <a:lnTo>
                    <a:pt x="11685215" y="247289"/>
                  </a:lnTo>
                  <a:lnTo>
                    <a:pt x="11674026" y="201883"/>
                  </a:lnTo>
                  <a:lnTo>
                    <a:pt x="11656123" y="159539"/>
                  </a:lnTo>
                  <a:lnTo>
                    <a:pt x="11632114" y="120865"/>
                  </a:lnTo>
                  <a:lnTo>
                    <a:pt x="11602608" y="86471"/>
                  </a:lnTo>
                  <a:lnTo>
                    <a:pt x="11568214" y="56965"/>
                  </a:lnTo>
                  <a:lnTo>
                    <a:pt x="11529540" y="32956"/>
                  </a:lnTo>
                  <a:lnTo>
                    <a:pt x="11487196" y="15053"/>
                  </a:lnTo>
                  <a:lnTo>
                    <a:pt x="11441790" y="3864"/>
                  </a:lnTo>
                  <a:lnTo>
                    <a:pt x="11393932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3840" y="2967227"/>
              <a:ext cx="11689080" cy="1771014"/>
            </a:xfrm>
            <a:custGeom>
              <a:avLst/>
              <a:gdLst/>
              <a:ahLst/>
              <a:cxnLst/>
              <a:rect l="l" t="t" r="r" b="b"/>
              <a:pathLst>
                <a:path w="11689080" h="1771014">
                  <a:moveTo>
                    <a:pt x="0" y="295148"/>
                  </a:moveTo>
                  <a:lnTo>
                    <a:pt x="3863" y="247289"/>
                  </a:lnTo>
                  <a:lnTo>
                    <a:pt x="15047" y="201883"/>
                  </a:lnTo>
                  <a:lnTo>
                    <a:pt x="32944" y="159539"/>
                  </a:lnTo>
                  <a:lnTo>
                    <a:pt x="56947" y="120865"/>
                  </a:lnTo>
                  <a:lnTo>
                    <a:pt x="86448" y="86471"/>
                  </a:lnTo>
                  <a:lnTo>
                    <a:pt x="120840" y="56965"/>
                  </a:lnTo>
                  <a:lnTo>
                    <a:pt x="159515" y="32956"/>
                  </a:lnTo>
                  <a:lnTo>
                    <a:pt x="201865" y="15053"/>
                  </a:lnTo>
                  <a:lnTo>
                    <a:pt x="247283" y="3864"/>
                  </a:lnTo>
                  <a:lnTo>
                    <a:pt x="295160" y="0"/>
                  </a:lnTo>
                  <a:lnTo>
                    <a:pt x="11393932" y="0"/>
                  </a:lnTo>
                  <a:lnTo>
                    <a:pt x="11441790" y="3864"/>
                  </a:lnTo>
                  <a:lnTo>
                    <a:pt x="11487196" y="15053"/>
                  </a:lnTo>
                  <a:lnTo>
                    <a:pt x="11529540" y="32956"/>
                  </a:lnTo>
                  <a:lnTo>
                    <a:pt x="11568214" y="56965"/>
                  </a:lnTo>
                  <a:lnTo>
                    <a:pt x="11602608" y="86471"/>
                  </a:lnTo>
                  <a:lnTo>
                    <a:pt x="11632114" y="120865"/>
                  </a:lnTo>
                  <a:lnTo>
                    <a:pt x="11656123" y="159539"/>
                  </a:lnTo>
                  <a:lnTo>
                    <a:pt x="11674026" y="201883"/>
                  </a:lnTo>
                  <a:lnTo>
                    <a:pt x="11685215" y="247289"/>
                  </a:lnTo>
                  <a:lnTo>
                    <a:pt x="11689080" y="295148"/>
                  </a:lnTo>
                  <a:lnTo>
                    <a:pt x="11689080" y="1475740"/>
                  </a:lnTo>
                  <a:lnTo>
                    <a:pt x="11685215" y="1523598"/>
                  </a:lnTo>
                  <a:lnTo>
                    <a:pt x="11674026" y="1569004"/>
                  </a:lnTo>
                  <a:lnTo>
                    <a:pt x="11656123" y="1611348"/>
                  </a:lnTo>
                  <a:lnTo>
                    <a:pt x="11632114" y="1650022"/>
                  </a:lnTo>
                  <a:lnTo>
                    <a:pt x="11602608" y="1684416"/>
                  </a:lnTo>
                  <a:lnTo>
                    <a:pt x="11568214" y="1713922"/>
                  </a:lnTo>
                  <a:lnTo>
                    <a:pt x="11529540" y="1737931"/>
                  </a:lnTo>
                  <a:lnTo>
                    <a:pt x="11487196" y="1755834"/>
                  </a:lnTo>
                  <a:lnTo>
                    <a:pt x="11441790" y="1767023"/>
                  </a:lnTo>
                  <a:lnTo>
                    <a:pt x="11393932" y="1770888"/>
                  </a:lnTo>
                  <a:lnTo>
                    <a:pt x="295160" y="1770888"/>
                  </a:lnTo>
                  <a:lnTo>
                    <a:pt x="247283" y="1767023"/>
                  </a:lnTo>
                  <a:lnTo>
                    <a:pt x="201865" y="1755834"/>
                  </a:lnTo>
                  <a:lnTo>
                    <a:pt x="159515" y="1737931"/>
                  </a:lnTo>
                  <a:lnTo>
                    <a:pt x="120840" y="1713922"/>
                  </a:lnTo>
                  <a:lnTo>
                    <a:pt x="86448" y="1684416"/>
                  </a:lnTo>
                  <a:lnTo>
                    <a:pt x="56947" y="1650022"/>
                  </a:lnTo>
                  <a:lnTo>
                    <a:pt x="32944" y="1611348"/>
                  </a:lnTo>
                  <a:lnTo>
                    <a:pt x="15047" y="1569004"/>
                  </a:lnTo>
                  <a:lnTo>
                    <a:pt x="3863" y="1523598"/>
                  </a:lnTo>
                  <a:lnTo>
                    <a:pt x="0" y="1475740"/>
                  </a:lnTo>
                  <a:lnTo>
                    <a:pt x="0" y="295148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45109" y="4919217"/>
            <a:ext cx="11701780" cy="1067435"/>
            <a:chOff x="245109" y="4919217"/>
            <a:chExt cx="11701780" cy="1067435"/>
          </a:xfrm>
        </p:grpSpPr>
        <p:sp>
          <p:nvSpPr>
            <p:cNvPr id="8" name="object 8"/>
            <p:cNvSpPr/>
            <p:nvPr/>
          </p:nvSpPr>
          <p:spPr>
            <a:xfrm>
              <a:off x="251459" y="4925567"/>
              <a:ext cx="11689080" cy="1054735"/>
            </a:xfrm>
            <a:custGeom>
              <a:avLst/>
              <a:gdLst/>
              <a:ahLst/>
              <a:cxnLst/>
              <a:rect l="l" t="t" r="r" b="b"/>
              <a:pathLst>
                <a:path w="11689080" h="1054735">
                  <a:moveTo>
                    <a:pt x="11513312" y="0"/>
                  </a:moveTo>
                  <a:lnTo>
                    <a:pt x="175768" y="0"/>
                  </a:lnTo>
                  <a:lnTo>
                    <a:pt x="129040" y="6281"/>
                  </a:lnTo>
                  <a:lnTo>
                    <a:pt x="87052" y="24007"/>
                  </a:lnTo>
                  <a:lnTo>
                    <a:pt x="51479" y="51498"/>
                  </a:lnTo>
                  <a:lnTo>
                    <a:pt x="23996" y="87074"/>
                  </a:lnTo>
                  <a:lnTo>
                    <a:pt x="6278" y="129057"/>
                  </a:lnTo>
                  <a:lnTo>
                    <a:pt x="0" y="175767"/>
                  </a:lnTo>
                  <a:lnTo>
                    <a:pt x="0" y="878839"/>
                  </a:lnTo>
                  <a:lnTo>
                    <a:pt x="6278" y="925563"/>
                  </a:lnTo>
                  <a:lnTo>
                    <a:pt x="23996" y="967549"/>
                  </a:lnTo>
                  <a:lnTo>
                    <a:pt x="51479" y="1003123"/>
                  </a:lnTo>
                  <a:lnTo>
                    <a:pt x="87052" y="1030608"/>
                  </a:lnTo>
                  <a:lnTo>
                    <a:pt x="129040" y="1048328"/>
                  </a:lnTo>
                  <a:lnTo>
                    <a:pt x="175768" y="1054607"/>
                  </a:lnTo>
                  <a:lnTo>
                    <a:pt x="11513312" y="1054607"/>
                  </a:lnTo>
                  <a:lnTo>
                    <a:pt x="11560022" y="1048328"/>
                  </a:lnTo>
                  <a:lnTo>
                    <a:pt x="11602005" y="1030608"/>
                  </a:lnTo>
                  <a:lnTo>
                    <a:pt x="11637581" y="1003123"/>
                  </a:lnTo>
                  <a:lnTo>
                    <a:pt x="11665072" y="967549"/>
                  </a:lnTo>
                  <a:lnTo>
                    <a:pt x="11682798" y="925563"/>
                  </a:lnTo>
                  <a:lnTo>
                    <a:pt x="11689080" y="878839"/>
                  </a:lnTo>
                  <a:lnTo>
                    <a:pt x="11689080" y="175767"/>
                  </a:lnTo>
                  <a:lnTo>
                    <a:pt x="11682798" y="129057"/>
                  </a:lnTo>
                  <a:lnTo>
                    <a:pt x="11665072" y="87074"/>
                  </a:lnTo>
                  <a:lnTo>
                    <a:pt x="11637581" y="51498"/>
                  </a:lnTo>
                  <a:lnTo>
                    <a:pt x="11602005" y="24007"/>
                  </a:lnTo>
                  <a:lnTo>
                    <a:pt x="11560022" y="6281"/>
                  </a:lnTo>
                  <a:lnTo>
                    <a:pt x="11513312" y="0"/>
                  </a:lnTo>
                  <a:close/>
                </a:path>
              </a:pathLst>
            </a:custGeom>
            <a:solidFill>
              <a:srgbClr val="C5DF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1459" y="4925567"/>
              <a:ext cx="11689080" cy="1054735"/>
            </a:xfrm>
            <a:custGeom>
              <a:avLst/>
              <a:gdLst/>
              <a:ahLst/>
              <a:cxnLst/>
              <a:rect l="l" t="t" r="r" b="b"/>
              <a:pathLst>
                <a:path w="11689080" h="1054735">
                  <a:moveTo>
                    <a:pt x="0" y="175767"/>
                  </a:moveTo>
                  <a:lnTo>
                    <a:pt x="6278" y="129057"/>
                  </a:lnTo>
                  <a:lnTo>
                    <a:pt x="23996" y="87074"/>
                  </a:lnTo>
                  <a:lnTo>
                    <a:pt x="51479" y="51498"/>
                  </a:lnTo>
                  <a:lnTo>
                    <a:pt x="87052" y="24007"/>
                  </a:lnTo>
                  <a:lnTo>
                    <a:pt x="129040" y="6281"/>
                  </a:lnTo>
                  <a:lnTo>
                    <a:pt x="175768" y="0"/>
                  </a:lnTo>
                  <a:lnTo>
                    <a:pt x="11513312" y="0"/>
                  </a:lnTo>
                  <a:lnTo>
                    <a:pt x="11560022" y="6281"/>
                  </a:lnTo>
                  <a:lnTo>
                    <a:pt x="11602005" y="24007"/>
                  </a:lnTo>
                  <a:lnTo>
                    <a:pt x="11637581" y="51498"/>
                  </a:lnTo>
                  <a:lnTo>
                    <a:pt x="11665072" y="87074"/>
                  </a:lnTo>
                  <a:lnTo>
                    <a:pt x="11682798" y="129057"/>
                  </a:lnTo>
                  <a:lnTo>
                    <a:pt x="11689080" y="175767"/>
                  </a:lnTo>
                  <a:lnTo>
                    <a:pt x="11689080" y="878839"/>
                  </a:lnTo>
                  <a:lnTo>
                    <a:pt x="11682798" y="925563"/>
                  </a:lnTo>
                  <a:lnTo>
                    <a:pt x="11665072" y="967549"/>
                  </a:lnTo>
                  <a:lnTo>
                    <a:pt x="11637581" y="1003123"/>
                  </a:lnTo>
                  <a:lnTo>
                    <a:pt x="11602005" y="1030608"/>
                  </a:lnTo>
                  <a:lnTo>
                    <a:pt x="11560022" y="1048328"/>
                  </a:lnTo>
                  <a:lnTo>
                    <a:pt x="11513312" y="1054607"/>
                  </a:lnTo>
                  <a:lnTo>
                    <a:pt x="175768" y="1054607"/>
                  </a:lnTo>
                  <a:lnTo>
                    <a:pt x="129040" y="1048328"/>
                  </a:lnTo>
                  <a:lnTo>
                    <a:pt x="87052" y="1030608"/>
                  </a:lnTo>
                  <a:lnTo>
                    <a:pt x="51479" y="1003123"/>
                  </a:lnTo>
                  <a:lnTo>
                    <a:pt x="23996" y="967549"/>
                  </a:lnTo>
                  <a:lnTo>
                    <a:pt x="6278" y="925563"/>
                  </a:lnTo>
                  <a:lnTo>
                    <a:pt x="0" y="878839"/>
                  </a:lnTo>
                  <a:lnTo>
                    <a:pt x="0" y="175767"/>
                  </a:lnTo>
                  <a:close/>
                </a:path>
              </a:pathLst>
            </a:custGeom>
            <a:ln w="127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81711" y="3076194"/>
            <a:ext cx="9394190" cy="28022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33197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Calibri"/>
                <a:cs typeface="Calibri"/>
              </a:rPr>
              <a:t>Raj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(Software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Developer, </a:t>
            </a:r>
            <a:r>
              <a:rPr sz="1400" b="1" dirty="0">
                <a:latin typeface="Calibri"/>
                <a:cs typeface="Calibri"/>
              </a:rPr>
              <a:t>Company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X)</a:t>
            </a:r>
            <a:endParaRPr sz="1400">
              <a:latin typeface="Calibri"/>
              <a:cs typeface="Calibri"/>
            </a:endParaRPr>
          </a:p>
          <a:p>
            <a:pPr marL="147320" indent="-107314">
              <a:lnSpc>
                <a:spcPct val="100000"/>
              </a:lnSpc>
              <a:buFont typeface="Arial MT"/>
              <a:buChar char="•"/>
              <a:tabLst>
                <a:tab pos="147320" algn="l"/>
              </a:tabLst>
            </a:pPr>
            <a:r>
              <a:rPr sz="1400" dirty="0">
                <a:latin typeface="Calibri"/>
                <a:cs typeface="Calibri"/>
              </a:rPr>
              <a:t>Android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developer;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started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career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company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X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(product-</a:t>
            </a:r>
            <a:r>
              <a:rPr sz="1400" dirty="0">
                <a:latin typeface="Calibri"/>
                <a:cs typeface="Calibri"/>
              </a:rPr>
              <a:t>based)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right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after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college;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been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working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here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years</a:t>
            </a:r>
            <a:endParaRPr sz="1400">
              <a:latin typeface="Calibri"/>
              <a:cs typeface="Calibri"/>
            </a:endParaRPr>
          </a:p>
          <a:p>
            <a:pPr marL="147320" indent="-107314">
              <a:lnSpc>
                <a:spcPct val="100000"/>
              </a:lnSpc>
              <a:buFont typeface="Arial MT"/>
              <a:buChar char="•"/>
              <a:tabLst>
                <a:tab pos="147320" algn="l"/>
              </a:tabLst>
            </a:pPr>
            <a:r>
              <a:rPr sz="1400" dirty="0">
                <a:latin typeface="Calibri"/>
                <a:cs typeface="Calibri"/>
              </a:rPr>
              <a:t>Used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different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IDE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write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code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college.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shift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different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which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standard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platform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his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team.</a:t>
            </a:r>
            <a:endParaRPr sz="1400">
              <a:latin typeface="Calibri"/>
              <a:cs typeface="Calibri"/>
            </a:endParaRPr>
          </a:p>
          <a:p>
            <a:pPr marL="146685" marR="5080" indent="-107314">
              <a:lnSpc>
                <a:spcPct val="100000"/>
              </a:lnSpc>
              <a:buFont typeface="Arial MT"/>
              <a:buChar char="•"/>
              <a:tabLst>
                <a:tab pos="147955" algn="l"/>
              </a:tabLst>
            </a:pPr>
            <a:r>
              <a:rPr sz="1400" dirty="0">
                <a:latin typeface="Calibri"/>
                <a:cs typeface="Calibri"/>
              </a:rPr>
              <a:t>Had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started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coding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Java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16;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over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years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Java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was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renewed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twice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(present: version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18)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multiple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new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features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introduced. 	</a:t>
            </a:r>
            <a:r>
              <a:rPr sz="1400" dirty="0">
                <a:latin typeface="Calibri"/>
                <a:cs typeface="Calibri"/>
              </a:rPr>
              <a:t>Only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got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know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about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through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friend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switched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jobs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startup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which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was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using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latest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version.</a:t>
            </a:r>
            <a:endParaRPr sz="1400">
              <a:latin typeface="Calibri"/>
              <a:cs typeface="Calibri"/>
            </a:endParaRPr>
          </a:p>
          <a:p>
            <a:pPr marL="147320" indent="-107314">
              <a:lnSpc>
                <a:spcPct val="100000"/>
              </a:lnSpc>
              <a:buFont typeface="Arial MT"/>
              <a:buChar char="•"/>
              <a:tabLst>
                <a:tab pos="147320" algn="l"/>
              </a:tabLst>
            </a:pPr>
            <a:r>
              <a:rPr sz="1400" dirty="0">
                <a:latin typeface="Calibri"/>
                <a:cs typeface="Calibri"/>
              </a:rPr>
              <a:t>Apart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project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related responsibilities,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Raj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company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ERP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access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his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employment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related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information</a:t>
            </a:r>
            <a:endParaRPr sz="1400">
              <a:latin typeface="Calibri"/>
              <a:cs typeface="Calibri"/>
            </a:endParaRPr>
          </a:p>
          <a:p>
            <a:pPr marL="147320" indent="-107314">
              <a:lnSpc>
                <a:spcPct val="100000"/>
              </a:lnSpc>
              <a:buFont typeface="Arial MT"/>
              <a:buChar char="•"/>
              <a:tabLst>
                <a:tab pos="147320" algn="l"/>
              </a:tabLst>
            </a:pPr>
            <a:r>
              <a:rPr sz="1400" dirty="0">
                <a:latin typeface="Calibri"/>
                <a:cs typeface="Calibri"/>
              </a:rPr>
              <a:t>He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portal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raise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tickets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regarding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any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hardware/software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issues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requests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64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4472305">
              <a:lnSpc>
                <a:spcPct val="100000"/>
              </a:lnSpc>
            </a:pPr>
            <a:r>
              <a:rPr sz="1400" b="1" spc="-10" dirty="0">
                <a:latin typeface="Calibri"/>
                <a:cs typeface="Calibri"/>
              </a:rPr>
              <a:t>Swati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(QA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Team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lead,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Company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Y)</a:t>
            </a:r>
            <a:endParaRPr sz="1400">
              <a:latin typeface="Calibri"/>
              <a:cs typeface="Calibri"/>
            </a:endParaRPr>
          </a:p>
          <a:p>
            <a:pPr marL="120014" indent="-107314">
              <a:lnSpc>
                <a:spcPct val="100000"/>
              </a:lnSpc>
              <a:buFont typeface="Arial MT"/>
              <a:buChar char="•"/>
              <a:tabLst>
                <a:tab pos="120014" algn="l"/>
              </a:tabLst>
            </a:pPr>
            <a:r>
              <a:rPr sz="1400" dirty="0">
                <a:latin typeface="Calibri"/>
                <a:cs typeface="Calibri"/>
              </a:rPr>
              <a:t>Has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been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QA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6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years,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leads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team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8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QAs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Company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(service-</a:t>
            </a:r>
            <a:r>
              <a:rPr sz="1400" dirty="0">
                <a:latin typeface="Calibri"/>
                <a:cs typeface="Calibri"/>
              </a:rPr>
              <a:t>based)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US-based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client</a:t>
            </a:r>
            <a:endParaRPr sz="1400">
              <a:latin typeface="Calibri"/>
              <a:cs typeface="Calibri"/>
            </a:endParaRPr>
          </a:p>
          <a:p>
            <a:pPr marL="120014" indent="-107314">
              <a:lnSpc>
                <a:spcPct val="100000"/>
              </a:lnSpc>
              <a:buFont typeface="Arial MT"/>
              <a:buChar char="•"/>
              <a:tabLst>
                <a:tab pos="120014" algn="l"/>
              </a:tabLst>
            </a:pPr>
            <a:r>
              <a:rPr sz="1400" dirty="0">
                <a:latin typeface="Calibri"/>
                <a:cs typeface="Calibri"/>
              </a:rPr>
              <a:t>Needs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know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if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there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new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tools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market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could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make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her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team’s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work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efficient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reduce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go-</a:t>
            </a:r>
            <a:r>
              <a:rPr sz="1400" spc="-10" dirty="0">
                <a:latin typeface="Calibri"/>
                <a:cs typeface="Calibri"/>
              </a:rPr>
              <a:t>to-market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time</a:t>
            </a:r>
            <a:endParaRPr sz="1400">
              <a:latin typeface="Calibri"/>
              <a:cs typeface="Calibri"/>
            </a:endParaRPr>
          </a:p>
          <a:p>
            <a:pPr marL="120014" indent="-107314">
              <a:lnSpc>
                <a:spcPct val="100000"/>
              </a:lnSpc>
              <a:buFont typeface="Arial MT"/>
              <a:buChar char="•"/>
              <a:tabLst>
                <a:tab pos="120014" algn="l"/>
              </a:tabLst>
            </a:pPr>
            <a:r>
              <a:rPr sz="1400" dirty="0">
                <a:latin typeface="Calibri"/>
                <a:cs typeface="Calibri"/>
              </a:rPr>
              <a:t>Needs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get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licensed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software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her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team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shortest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amount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time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possible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4893" y="6182105"/>
            <a:ext cx="11638915" cy="58547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1600" dirty="0">
                <a:latin typeface="Calibri"/>
                <a:cs typeface="Calibri"/>
              </a:rPr>
              <a:t>Since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objective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is</a:t>
            </a:r>
            <a:r>
              <a:rPr sz="1600" b="1" spc="-6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maximum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reach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for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new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employee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dashboard</a:t>
            </a:r>
            <a:r>
              <a:rPr sz="1600" dirty="0">
                <a:latin typeface="Calibri"/>
                <a:cs typeface="Calibri"/>
              </a:rPr>
              <a:t>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target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team</a:t>
            </a:r>
            <a:r>
              <a:rPr sz="1600" b="1" i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member</a:t>
            </a:r>
            <a:r>
              <a:rPr sz="1600" b="1" i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persona</a:t>
            </a:r>
            <a:r>
              <a:rPr sz="1600" b="1" i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(since</a:t>
            </a:r>
            <a:r>
              <a:rPr sz="1600" b="1" i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they</a:t>
            </a:r>
            <a:r>
              <a:rPr sz="1600" b="1" i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are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maximum</a:t>
            </a:r>
            <a:r>
              <a:rPr sz="1600" b="1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</a:t>
            </a:r>
            <a:r>
              <a:rPr sz="1600" b="1" i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number)</a:t>
            </a:r>
            <a:r>
              <a:rPr sz="1600" b="1" i="1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hence,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identify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solve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their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problems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1735" y="1065275"/>
            <a:ext cx="5782818" cy="1700022"/>
          </a:xfrm>
          <a:prstGeom prst="rect">
            <a:avLst/>
          </a:prstGeom>
        </p:spPr>
      </p:pic>
      <p:grpSp>
        <p:nvGrpSpPr>
          <p:cNvPr id="13" name="object 13" descr="There Are Four Archetypal Developer Personas — Which One Are You? - Focus"/>
          <p:cNvGrpSpPr/>
          <p:nvPr/>
        </p:nvGrpSpPr>
        <p:grpSpPr>
          <a:xfrm>
            <a:off x="10509504" y="3467100"/>
            <a:ext cx="1140460" cy="784860"/>
            <a:chOff x="10509504" y="3467100"/>
            <a:chExt cx="1140460" cy="784860"/>
          </a:xfrm>
        </p:grpSpPr>
        <p:pic>
          <p:nvPicPr>
            <p:cNvPr id="14" name="object 14" descr="There Are Four Archetypal Developer Personas — Which One Are You? - Focus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47604" y="3505200"/>
              <a:ext cx="1063752" cy="70866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0528554" y="3486150"/>
              <a:ext cx="1102360" cy="746760"/>
            </a:xfrm>
            <a:custGeom>
              <a:avLst/>
              <a:gdLst/>
              <a:ahLst/>
              <a:cxnLst/>
              <a:rect l="l" t="t" r="r" b="b"/>
              <a:pathLst>
                <a:path w="1102359" h="746760">
                  <a:moveTo>
                    <a:pt x="0" y="746760"/>
                  </a:moveTo>
                  <a:lnTo>
                    <a:pt x="1101852" y="746760"/>
                  </a:lnTo>
                  <a:lnTo>
                    <a:pt x="1101852" y="0"/>
                  </a:lnTo>
                  <a:lnTo>
                    <a:pt x="0" y="0"/>
                  </a:lnTo>
                  <a:lnTo>
                    <a:pt x="0" y="74676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 descr="B2B Buyer Personas: How to Create - the Ultimate Guide"/>
          <p:cNvGrpSpPr/>
          <p:nvPr/>
        </p:nvGrpSpPr>
        <p:grpSpPr>
          <a:xfrm>
            <a:off x="10509504" y="5059679"/>
            <a:ext cx="1140460" cy="784860"/>
            <a:chOff x="10509504" y="5059679"/>
            <a:chExt cx="1140460" cy="784860"/>
          </a:xfrm>
        </p:grpSpPr>
        <p:pic>
          <p:nvPicPr>
            <p:cNvPr id="17" name="object 17" descr="B2B Buyer Personas: How to Create - the Ultimate Guide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47604" y="5097779"/>
              <a:ext cx="1063752" cy="70866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0528554" y="5078729"/>
              <a:ext cx="1102360" cy="746760"/>
            </a:xfrm>
            <a:custGeom>
              <a:avLst/>
              <a:gdLst/>
              <a:ahLst/>
              <a:cxnLst/>
              <a:rect l="l" t="t" r="r" b="b"/>
              <a:pathLst>
                <a:path w="1102359" h="746760">
                  <a:moveTo>
                    <a:pt x="0" y="746760"/>
                  </a:moveTo>
                  <a:lnTo>
                    <a:pt x="1101852" y="746760"/>
                  </a:lnTo>
                  <a:lnTo>
                    <a:pt x="1101852" y="0"/>
                  </a:lnTo>
                  <a:lnTo>
                    <a:pt x="0" y="0"/>
                  </a:lnTo>
                  <a:lnTo>
                    <a:pt x="0" y="74676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0235" rIns="0" bIns="0" rtlCol="0">
            <a:spAutoFit/>
          </a:bodyPr>
          <a:lstStyle/>
          <a:p>
            <a:pPr marL="68770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Pain</a:t>
            </a:r>
            <a:r>
              <a:rPr sz="2800" spc="-95" dirty="0"/>
              <a:t> </a:t>
            </a:r>
            <a:r>
              <a:rPr sz="2800" spc="-10" dirty="0"/>
              <a:t>points</a:t>
            </a:r>
            <a:endParaRPr sz="28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05764" y="1012316"/>
          <a:ext cx="11115673" cy="4845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4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08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Pain</a:t>
                      </a:r>
                      <a:r>
                        <a:rPr sz="16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points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4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Frequency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4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Intensity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4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Urgency</a:t>
                      </a:r>
                      <a:r>
                        <a:rPr sz="16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solved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Details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4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770255" marR="156845" indent="-60833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Adjusting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platforms,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when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joining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team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6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12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593725" marR="360680" indent="-2260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There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need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systematic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Knowledge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Transfer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people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team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3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55600" marR="158115" indent="-19240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Awareness</a:t>
                      </a:r>
                      <a:r>
                        <a:rPr sz="16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 software/new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versions</a:t>
                      </a:r>
                      <a:r>
                        <a:rPr sz="16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existing</a:t>
                      </a:r>
                      <a:r>
                        <a:rPr sz="16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software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47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24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47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30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47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100330" marR="914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Employees</a:t>
                      </a:r>
                      <a:r>
                        <a:rPr sz="16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need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6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aware</a:t>
                      </a:r>
                      <a:r>
                        <a:rPr sz="16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software/tools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6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increase</a:t>
                      </a:r>
                      <a:r>
                        <a:rPr sz="16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efficiency.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also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need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know</a:t>
                      </a:r>
                      <a:r>
                        <a:rPr sz="16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whether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6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effort</a:t>
                      </a:r>
                      <a:r>
                        <a:rPr sz="16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in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setting</a:t>
                      </a:r>
                      <a:r>
                        <a:rPr sz="16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up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getting</a:t>
                      </a:r>
                      <a:r>
                        <a:rPr sz="16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new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software</a:t>
                      </a:r>
                      <a:r>
                        <a:rPr sz="16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6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yield</a:t>
                      </a:r>
                      <a:r>
                        <a:rPr sz="16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appropriate</a:t>
                      </a:r>
                      <a:r>
                        <a:rPr sz="16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increase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 in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efficiency/output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Getting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licensed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version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new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software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09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7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09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28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09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127635" marR="119380" indent="36195" algn="just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Once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decide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switch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software,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need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get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licensed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version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same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team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members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earliest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possible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0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Follow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up/update</a:t>
                      </a:r>
                      <a:r>
                        <a:rPr sz="1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active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tickets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different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platforms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65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6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24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66065" marR="257810" indent="-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There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could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different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active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issues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on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different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platforms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(e.g: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portal,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employee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helpdesk)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might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timely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responding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timely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them,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leading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lower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overall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efficiency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91032" y="670306"/>
            <a:ext cx="49942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Here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some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identified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pain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points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team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members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persona: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1450" y="6047994"/>
            <a:ext cx="11759565" cy="58547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1600" dirty="0">
                <a:latin typeface="Calibri"/>
                <a:cs typeface="Calibri"/>
              </a:rPr>
              <a:t>Through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above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analysis,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urgency to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solved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(Frequency</a:t>
            </a:r>
            <a:r>
              <a:rPr sz="1600" b="1" dirty="0">
                <a:latin typeface="Calibri"/>
                <a:cs typeface="Calibri"/>
              </a:rPr>
              <a:t> *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Intensity)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maximum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problem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‘awareness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new</a:t>
            </a:r>
            <a:endParaRPr sz="1600">
              <a:latin typeface="Calibri"/>
              <a:cs typeface="Calibri"/>
            </a:endParaRPr>
          </a:p>
          <a:p>
            <a:pPr marL="5080" algn="ctr">
              <a:lnSpc>
                <a:spcPct val="100000"/>
              </a:lnSpc>
            </a:pPr>
            <a:r>
              <a:rPr sz="1600" spc="-25" dirty="0">
                <a:latin typeface="Calibri"/>
                <a:cs typeface="Calibri"/>
              </a:rPr>
              <a:t>software’. </a:t>
            </a:r>
            <a:r>
              <a:rPr sz="1600" dirty="0">
                <a:latin typeface="Calibri"/>
                <a:cs typeface="Calibri"/>
              </a:rPr>
              <a:t>Hence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employee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dashboard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require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problem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solved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first.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6" name="object 6" descr="A picture containing watch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600" y="2667000"/>
            <a:ext cx="386791" cy="6155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60" y="3869435"/>
            <a:ext cx="382186" cy="617024"/>
          </a:xfrm>
          <a:prstGeom prst="rect">
            <a:avLst/>
          </a:prstGeom>
        </p:spPr>
      </p:pic>
      <p:pic>
        <p:nvPicPr>
          <p:cNvPr id="8" name="object 8" descr="Logo  Description automatically generated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1569" y="4977384"/>
            <a:ext cx="396000" cy="6400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73751" y="-558"/>
            <a:ext cx="14357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Solution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52868" y="1691639"/>
          <a:ext cx="11156950" cy="3870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1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Details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Impact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Effort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318770" marR="104139" indent="-2044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Efficiency</a:t>
                      </a:r>
                      <a:r>
                        <a:rPr sz="16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4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App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discovery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1000760" marR="340360" indent="-65278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Employees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made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aware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software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being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their organisation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even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outside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(for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similar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work)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3.3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212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App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stats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927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Feature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look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appropriate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utilization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metrics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current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software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used,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so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compare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benefits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costs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replacing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software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20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3.0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38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App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demo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1452880" marR="414655" indent="-10287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Demos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software,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so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get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hands-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on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experience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judge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comfort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1.5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0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App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categorization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131445" marR="126364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employee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applications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categorized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ease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access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better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UX.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These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categories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could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specific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apps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(used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in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specific</a:t>
                      </a:r>
                      <a:r>
                        <a:rPr sz="1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teams),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generic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apps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(used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across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organisation).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Further categorization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could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made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according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utility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app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(e.g.: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Design,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coding,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testing,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etc.)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2.5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955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11074" y="599694"/>
            <a:ext cx="11771630" cy="862965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35"/>
              </a:spcBef>
            </a:pPr>
            <a:r>
              <a:rPr sz="1800" b="1" dirty="0">
                <a:latin typeface="Calibri"/>
                <a:cs typeface="Calibri"/>
              </a:rPr>
              <a:t>Jobs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to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done:</a:t>
            </a:r>
            <a:endParaRPr sz="1800">
              <a:latin typeface="Calibri"/>
              <a:cs typeface="Calibri"/>
            </a:endParaRPr>
          </a:p>
          <a:p>
            <a:pPr marL="125730">
              <a:lnSpc>
                <a:spcPct val="100000"/>
              </a:lnSpc>
              <a:spcBef>
                <a:spcPts val="20"/>
              </a:spcBef>
            </a:pPr>
            <a:r>
              <a:rPr sz="1600" b="1" dirty="0">
                <a:latin typeface="Calibri"/>
                <a:cs typeface="Calibri"/>
              </a:rPr>
              <a:t>When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want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software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job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efficiently,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but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don’t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knowledge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about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available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software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market, </a:t>
            </a:r>
            <a:r>
              <a:rPr sz="1600" b="1" dirty="0">
                <a:latin typeface="Calibri"/>
                <a:cs typeface="Calibri"/>
              </a:rPr>
              <a:t>help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me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in</a:t>
            </a:r>
            <a:endParaRPr sz="1600">
              <a:latin typeface="Calibri"/>
              <a:cs typeface="Calibri"/>
            </a:endParaRPr>
          </a:p>
          <a:p>
            <a:pPr marL="1095375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knowing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about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choosing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appropriate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software,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so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that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spend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effort 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so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1680" y="5594400"/>
            <a:ext cx="11090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Effort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scores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have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been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given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keeping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mind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features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already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exist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flagship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offering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need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built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scratch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again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reused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employee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dashboard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7190" y="5967221"/>
            <a:ext cx="11439525" cy="58547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Efficiency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(Impact/Effort) </a:t>
            </a:r>
            <a:r>
              <a:rPr sz="1600" dirty="0">
                <a:latin typeface="Calibri"/>
                <a:cs typeface="Calibri"/>
              </a:rPr>
              <a:t>scores,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discovery, </a:t>
            </a:r>
            <a:r>
              <a:rPr sz="1600" dirty="0">
                <a:latin typeface="Calibri"/>
                <a:cs typeface="Calibri"/>
              </a:rPr>
              <a:t>App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stats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categorization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features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would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prioritize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my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employee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dashboard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7" name="object 7" descr="A picture containing watch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754" y="2392679"/>
            <a:ext cx="299923" cy="3457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02" y="3073907"/>
            <a:ext cx="297256" cy="345708"/>
          </a:xfrm>
          <a:prstGeom prst="rect">
            <a:avLst/>
          </a:prstGeom>
        </p:spPr>
      </p:pic>
      <p:pic>
        <p:nvPicPr>
          <p:cNvPr id="9" name="object 9" descr="Logo  Description automatically generated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665" y="4707635"/>
            <a:ext cx="308000" cy="3586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594" rIns="0" bIns="0" rtlCol="0">
            <a:spAutoFit/>
          </a:bodyPr>
          <a:lstStyle/>
          <a:p>
            <a:pPr marL="81026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Mockups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823" y="3589020"/>
            <a:ext cx="4370832" cy="29657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34025" y="1009015"/>
            <a:ext cx="5930900" cy="5093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Employee</a:t>
            </a:r>
            <a:r>
              <a:rPr sz="1800" b="1" spc="-8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profile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setup</a:t>
            </a:r>
            <a:endParaRPr sz="18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This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help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create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cohorts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terms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department, organization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designation</a:t>
            </a:r>
            <a:endParaRPr sz="1800">
              <a:latin typeface="Calibri"/>
              <a:cs typeface="Calibri"/>
            </a:endParaRPr>
          </a:p>
          <a:p>
            <a:pPr marL="12700" marR="715645" algn="just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Each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employee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setup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their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employee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dashboard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by </a:t>
            </a:r>
            <a:r>
              <a:rPr sz="1800" dirty="0">
                <a:latin typeface="Calibri"/>
                <a:cs typeface="Calibri"/>
              </a:rPr>
              <a:t>defining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fields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editable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only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through approval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relevant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authorities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8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App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categorization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Once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Zluri’s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algorithms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identify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software/tools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employee,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categories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created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follows:</a:t>
            </a:r>
            <a:endParaRPr sz="1800">
              <a:latin typeface="Calibri"/>
              <a:cs typeface="Calibri"/>
            </a:endParaRPr>
          </a:p>
          <a:p>
            <a:pPr marL="120650" marR="303530" indent="-108585">
              <a:lnSpc>
                <a:spcPct val="100000"/>
              </a:lnSpc>
              <a:buFont typeface="Arial MT"/>
              <a:buChar char="•"/>
              <a:tabLst>
                <a:tab pos="120650" algn="l"/>
              </a:tabLst>
            </a:pPr>
            <a:r>
              <a:rPr sz="1800" dirty="0">
                <a:latin typeface="Calibri"/>
                <a:cs typeface="Calibri"/>
              </a:rPr>
              <a:t>Most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identified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according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timeshare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total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active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time</a:t>
            </a:r>
            <a:endParaRPr sz="1800">
              <a:latin typeface="Calibri"/>
              <a:cs typeface="Calibri"/>
            </a:endParaRPr>
          </a:p>
          <a:p>
            <a:pPr marL="120650" marR="102870" indent="-108585">
              <a:lnSpc>
                <a:spcPct val="100000"/>
              </a:lnSpc>
              <a:buFont typeface="Arial MT"/>
              <a:buChar char="•"/>
              <a:tabLst>
                <a:tab pos="120650" algn="l"/>
              </a:tabLst>
            </a:pPr>
            <a:r>
              <a:rPr sz="1800" dirty="0">
                <a:latin typeface="Calibri"/>
                <a:cs typeface="Calibri"/>
              </a:rPr>
              <a:t>App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category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(defined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metadata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providers)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be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filter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display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specific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cohorts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applications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used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employee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823" y="574548"/>
            <a:ext cx="4384548" cy="269443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36776" y="4553203"/>
            <a:ext cx="3991610" cy="1205865"/>
          </a:xfrm>
          <a:custGeom>
            <a:avLst/>
            <a:gdLst/>
            <a:ahLst/>
            <a:cxnLst/>
            <a:rect l="l" t="t" r="r" b="b"/>
            <a:pathLst>
              <a:path w="3991610" h="1205864">
                <a:moveTo>
                  <a:pt x="3817747" y="448437"/>
                </a:moveTo>
                <a:lnTo>
                  <a:pt x="76454" y="31648"/>
                </a:lnTo>
                <a:lnTo>
                  <a:pt x="76606" y="30226"/>
                </a:lnTo>
                <a:lnTo>
                  <a:pt x="80010" y="0"/>
                </a:lnTo>
                <a:lnTo>
                  <a:pt x="0" y="29464"/>
                </a:lnTo>
                <a:lnTo>
                  <a:pt x="71501" y="75819"/>
                </a:lnTo>
                <a:lnTo>
                  <a:pt x="75044" y="44221"/>
                </a:lnTo>
                <a:lnTo>
                  <a:pt x="3816350" y="461137"/>
                </a:lnTo>
                <a:lnTo>
                  <a:pt x="3817747" y="448437"/>
                </a:lnTo>
                <a:close/>
              </a:path>
              <a:path w="3991610" h="1205864">
                <a:moveTo>
                  <a:pt x="3991229" y="1193025"/>
                </a:moveTo>
                <a:lnTo>
                  <a:pt x="2808998" y="1093304"/>
                </a:lnTo>
                <a:lnTo>
                  <a:pt x="2809087" y="1092225"/>
                </a:lnTo>
                <a:lnTo>
                  <a:pt x="2811653" y="1061656"/>
                </a:lnTo>
                <a:lnTo>
                  <a:pt x="2732316" y="1093304"/>
                </a:lnTo>
                <a:lnTo>
                  <a:pt x="2732659" y="1093304"/>
                </a:lnTo>
                <a:lnTo>
                  <a:pt x="2805303" y="1137589"/>
                </a:lnTo>
                <a:lnTo>
                  <a:pt x="2807944" y="1105954"/>
                </a:lnTo>
                <a:lnTo>
                  <a:pt x="3990213" y="1205674"/>
                </a:lnTo>
                <a:lnTo>
                  <a:pt x="3991229" y="11930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27982" y="3793363"/>
            <a:ext cx="683133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App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stats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Employees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browse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through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categories.</a:t>
            </a:r>
            <a:endParaRPr sz="1800">
              <a:latin typeface="Calibri"/>
              <a:cs typeface="Calibri"/>
            </a:endParaRPr>
          </a:p>
          <a:p>
            <a:pPr marL="120650" indent="-107950">
              <a:lnSpc>
                <a:spcPct val="100000"/>
              </a:lnSpc>
              <a:buFont typeface="Arial MT"/>
              <a:buChar char="•"/>
              <a:tabLst>
                <a:tab pos="120650" algn="l"/>
              </a:tabLst>
            </a:pPr>
            <a:r>
              <a:rPr sz="1800" dirty="0">
                <a:latin typeface="Calibri"/>
                <a:cs typeface="Calibri"/>
              </a:rPr>
              <a:t>They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save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would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refer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later</a:t>
            </a:r>
            <a:endParaRPr sz="1800">
              <a:latin typeface="Calibri"/>
              <a:cs typeface="Calibri"/>
            </a:endParaRPr>
          </a:p>
          <a:p>
            <a:pPr marL="12065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licenses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for.</a:t>
            </a:r>
            <a:endParaRPr sz="1800">
              <a:latin typeface="Calibri"/>
              <a:cs typeface="Calibri"/>
            </a:endParaRPr>
          </a:p>
          <a:p>
            <a:pPr marL="120650" marR="158115" indent="-108585">
              <a:lnSpc>
                <a:spcPct val="100000"/>
              </a:lnSpc>
              <a:buFont typeface="Arial MT"/>
              <a:buChar char="•"/>
              <a:tabLst>
                <a:tab pos="120650" algn="l"/>
              </a:tabLst>
            </a:pPr>
            <a:r>
              <a:rPr sz="1800" dirty="0">
                <a:latin typeface="Calibri"/>
                <a:cs typeface="Calibri"/>
              </a:rPr>
              <a:t>They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compare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their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in </a:t>
            </a:r>
            <a:r>
              <a:rPr sz="1800" dirty="0">
                <a:latin typeface="Calibri"/>
                <a:cs typeface="Calibri"/>
              </a:rPr>
              <a:t>terms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multiple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criteria.</a:t>
            </a:r>
            <a:endParaRPr sz="1800">
              <a:latin typeface="Calibri"/>
              <a:cs typeface="Calibri"/>
            </a:endParaRPr>
          </a:p>
          <a:p>
            <a:pPr marL="120650" indent="-107950">
              <a:lnSpc>
                <a:spcPct val="100000"/>
              </a:lnSpc>
              <a:buFont typeface="Arial MT"/>
              <a:buChar char="•"/>
              <a:tabLst>
                <a:tab pos="120650" algn="l"/>
              </a:tabLst>
            </a:pPr>
            <a:r>
              <a:rPr sz="1800" dirty="0">
                <a:latin typeface="Calibri"/>
                <a:cs typeface="Calibri"/>
              </a:rPr>
              <a:t>Machine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learning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algorithms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suggest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better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alternatives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user</a:t>
            </a:r>
            <a:endParaRPr sz="1800">
              <a:latin typeface="Calibri"/>
              <a:cs typeface="Calibri"/>
            </a:endParaRPr>
          </a:p>
          <a:p>
            <a:pPr marL="12065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by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performing</a:t>
            </a:r>
            <a:r>
              <a:rPr sz="1800" spc="-20" dirty="0">
                <a:latin typeface="Calibri"/>
                <a:cs typeface="Calibri"/>
              </a:rPr>
              <a:t> cost-</a:t>
            </a:r>
            <a:r>
              <a:rPr sz="1800" dirty="0">
                <a:latin typeface="Calibri"/>
                <a:cs typeface="Calibri"/>
              </a:rPr>
              <a:t>benefit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analysis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available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27982" y="218313"/>
            <a:ext cx="7099300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App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discovery</a:t>
            </a:r>
            <a:endParaRPr sz="1800">
              <a:latin typeface="Calibri"/>
              <a:cs typeface="Calibri"/>
            </a:endParaRPr>
          </a:p>
          <a:p>
            <a:pPr marL="12700" marR="23876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employee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profile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various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organizations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(shared </a:t>
            </a:r>
            <a:r>
              <a:rPr sz="1800" dirty="0">
                <a:latin typeface="Calibri"/>
                <a:cs typeface="Calibri"/>
              </a:rPr>
              <a:t>voluntarily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organisations),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cohorts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created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displayed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basis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designation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departments</a:t>
            </a:r>
            <a:endParaRPr sz="1800">
              <a:latin typeface="Calibri"/>
              <a:cs typeface="Calibri"/>
            </a:endParaRPr>
          </a:p>
          <a:p>
            <a:pPr marL="120650" marR="290195" indent="-108585">
              <a:lnSpc>
                <a:spcPct val="100000"/>
              </a:lnSpc>
              <a:buFont typeface="Arial MT"/>
              <a:buChar char="•"/>
              <a:tabLst>
                <a:tab pos="120650" algn="l"/>
              </a:tabLst>
            </a:pPr>
            <a:r>
              <a:rPr sz="1800" dirty="0">
                <a:latin typeface="Calibri"/>
                <a:cs typeface="Calibri"/>
              </a:rPr>
              <a:t>This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help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employees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generate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awareness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about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tools/apps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are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industry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specific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roles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departments.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25" dirty="0">
                <a:latin typeface="Calibri"/>
                <a:cs typeface="Calibri"/>
              </a:rPr>
              <a:t> be </a:t>
            </a:r>
            <a:r>
              <a:rPr sz="1800" spc="-10" dirty="0">
                <a:latin typeface="Calibri"/>
                <a:cs typeface="Calibri"/>
              </a:rPr>
              <a:t>categorized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utility</a:t>
            </a:r>
            <a:endParaRPr sz="1800">
              <a:latin typeface="Calibri"/>
              <a:cs typeface="Calibri"/>
            </a:endParaRPr>
          </a:p>
          <a:p>
            <a:pPr marL="120650" indent="-107950">
              <a:lnSpc>
                <a:spcPct val="100000"/>
              </a:lnSpc>
              <a:buFont typeface="Arial MT"/>
              <a:buChar char="•"/>
              <a:tabLst>
                <a:tab pos="120650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employees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choose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browse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through/search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their</a:t>
            </a:r>
            <a:endParaRPr sz="1800">
              <a:latin typeface="Calibri"/>
              <a:cs typeface="Calibri"/>
            </a:endParaRPr>
          </a:p>
          <a:p>
            <a:pPr marL="12065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organization/outside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well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projects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0331" y="201168"/>
            <a:ext cx="4125595" cy="2310130"/>
            <a:chOff x="370331" y="201168"/>
            <a:chExt cx="4125595" cy="23101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1" y="201168"/>
              <a:ext cx="3723132" cy="230733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93439" y="989076"/>
              <a:ext cx="602615" cy="1522730"/>
            </a:xfrm>
            <a:custGeom>
              <a:avLst/>
              <a:gdLst/>
              <a:ahLst/>
              <a:cxnLst/>
              <a:rect l="l" t="t" r="r" b="b"/>
              <a:pathLst>
                <a:path w="602614" h="1522730">
                  <a:moveTo>
                    <a:pt x="41420" y="68756"/>
                  </a:moveTo>
                  <a:lnTo>
                    <a:pt x="29614" y="73339"/>
                  </a:lnTo>
                  <a:lnTo>
                    <a:pt x="590423" y="1522222"/>
                  </a:lnTo>
                  <a:lnTo>
                    <a:pt x="602234" y="1517650"/>
                  </a:lnTo>
                  <a:lnTo>
                    <a:pt x="41420" y="68756"/>
                  </a:lnTo>
                  <a:close/>
                </a:path>
                <a:path w="602614" h="1522730">
                  <a:moveTo>
                    <a:pt x="8000" y="0"/>
                  </a:moveTo>
                  <a:lnTo>
                    <a:pt x="0" y="84836"/>
                  </a:lnTo>
                  <a:lnTo>
                    <a:pt x="29614" y="73339"/>
                  </a:lnTo>
                  <a:lnTo>
                    <a:pt x="25019" y="61468"/>
                  </a:lnTo>
                  <a:lnTo>
                    <a:pt x="36830" y="56896"/>
                  </a:lnTo>
                  <a:lnTo>
                    <a:pt x="70573" y="56896"/>
                  </a:lnTo>
                  <a:lnTo>
                    <a:pt x="8000" y="0"/>
                  </a:lnTo>
                  <a:close/>
                </a:path>
                <a:path w="602614" h="1522730">
                  <a:moveTo>
                    <a:pt x="36830" y="56896"/>
                  </a:moveTo>
                  <a:lnTo>
                    <a:pt x="25019" y="61468"/>
                  </a:lnTo>
                  <a:lnTo>
                    <a:pt x="29614" y="73339"/>
                  </a:lnTo>
                  <a:lnTo>
                    <a:pt x="41420" y="68756"/>
                  </a:lnTo>
                  <a:lnTo>
                    <a:pt x="36830" y="56896"/>
                  </a:lnTo>
                  <a:close/>
                </a:path>
                <a:path w="602614" h="1522730">
                  <a:moveTo>
                    <a:pt x="70573" y="56896"/>
                  </a:moveTo>
                  <a:lnTo>
                    <a:pt x="36830" y="56896"/>
                  </a:lnTo>
                  <a:lnTo>
                    <a:pt x="41420" y="68756"/>
                  </a:lnTo>
                  <a:lnTo>
                    <a:pt x="70993" y="57276"/>
                  </a:lnTo>
                  <a:lnTo>
                    <a:pt x="70573" y="568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2828544" y="3531120"/>
            <a:ext cx="1665605" cy="2804795"/>
          </a:xfrm>
          <a:custGeom>
            <a:avLst/>
            <a:gdLst/>
            <a:ahLst/>
            <a:cxnLst/>
            <a:rect l="l" t="t" r="r" b="b"/>
            <a:pathLst>
              <a:path w="1665604" h="2804795">
                <a:moveTo>
                  <a:pt x="1522603" y="2247760"/>
                </a:moveTo>
                <a:lnTo>
                  <a:pt x="1518285" y="2235822"/>
                </a:lnTo>
                <a:lnTo>
                  <a:pt x="69392" y="2762707"/>
                </a:lnTo>
                <a:lnTo>
                  <a:pt x="58547" y="2732836"/>
                </a:lnTo>
                <a:lnTo>
                  <a:pt x="0" y="2794685"/>
                </a:lnTo>
                <a:lnTo>
                  <a:pt x="84582" y="2804452"/>
                </a:lnTo>
                <a:lnTo>
                  <a:pt x="75311" y="2778950"/>
                </a:lnTo>
                <a:lnTo>
                  <a:pt x="73736" y="2774632"/>
                </a:lnTo>
                <a:lnTo>
                  <a:pt x="1522603" y="2247760"/>
                </a:lnTo>
                <a:close/>
              </a:path>
              <a:path w="1665604" h="2804795">
                <a:moveTo>
                  <a:pt x="1663446" y="1696199"/>
                </a:moveTo>
                <a:lnTo>
                  <a:pt x="1659763" y="1684007"/>
                </a:lnTo>
                <a:lnTo>
                  <a:pt x="357632" y="2076691"/>
                </a:lnTo>
                <a:lnTo>
                  <a:pt x="348488" y="2046338"/>
                </a:lnTo>
                <a:lnTo>
                  <a:pt x="286512" y="2104771"/>
                </a:lnTo>
                <a:lnTo>
                  <a:pt x="370459" y="2119249"/>
                </a:lnTo>
                <a:lnTo>
                  <a:pt x="362394" y="2092515"/>
                </a:lnTo>
                <a:lnTo>
                  <a:pt x="361289" y="2088845"/>
                </a:lnTo>
                <a:lnTo>
                  <a:pt x="1663446" y="1696199"/>
                </a:lnTo>
                <a:close/>
              </a:path>
              <a:path w="1665604" h="2804795">
                <a:moveTo>
                  <a:pt x="1665478" y="1056627"/>
                </a:moveTo>
                <a:lnTo>
                  <a:pt x="350672" y="41554"/>
                </a:lnTo>
                <a:lnTo>
                  <a:pt x="356666" y="33769"/>
                </a:lnTo>
                <a:lnTo>
                  <a:pt x="370078" y="16370"/>
                </a:lnTo>
                <a:lnTo>
                  <a:pt x="286512" y="0"/>
                </a:lnTo>
                <a:lnTo>
                  <a:pt x="323596" y="76695"/>
                </a:lnTo>
                <a:lnTo>
                  <a:pt x="342938" y="51587"/>
                </a:lnTo>
                <a:lnTo>
                  <a:pt x="1657731" y="1066660"/>
                </a:lnTo>
                <a:lnTo>
                  <a:pt x="1665478" y="10566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05221" y="-24256"/>
            <a:ext cx="17824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Go-</a:t>
            </a:r>
            <a:r>
              <a:rPr sz="2400" spc="-80" dirty="0"/>
              <a:t>To-</a:t>
            </a:r>
            <a:r>
              <a:rPr sz="2400" spc="-10" dirty="0"/>
              <a:t>Market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72236" y="475843"/>
            <a:ext cx="3513454" cy="3707129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375410">
              <a:lnSpc>
                <a:spcPct val="100000"/>
              </a:lnSpc>
              <a:spcBef>
                <a:spcPts val="400"/>
              </a:spcBef>
            </a:pPr>
            <a:r>
              <a:rPr sz="1400" b="1" dirty="0">
                <a:latin typeface="Calibri"/>
                <a:cs typeface="Calibri"/>
              </a:rPr>
              <a:t>Pre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launch</a:t>
            </a:r>
            <a:endParaRPr sz="1400">
              <a:latin typeface="Calibri"/>
              <a:cs typeface="Calibri"/>
            </a:endParaRPr>
          </a:p>
          <a:p>
            <a:pPr marL="12700" marR="20320">
              <a:lnSpc>
                <a:spcPct val="100000"/>
              </a:lnSpc>
              <a:spcBef>
                <a:spcPts val="300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Objective: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Ensure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product-market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fit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(PMF)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spc="-20" dirty="0">
                <a:latin typeface="Calibri"/>
                <a:cs typeface="Calibri"/>
              </a:rPr>
              <a:t>with </a:t>
            </a:r>
            <a:r>
              <a:rPr sz="1400" i="1" dirty="0">
                <a:latin typeface="Calibri"/>
                <a:cs typeface="Calibri"/>
              </a:rPr>
              <a:t>the</a:t>
            </a:r>
            <a:r>
              <a:rPr sz="1400" i="1" spc="-4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chosen</a:t>
            </a:r>
            <a:r>
              <a:rPr sz="1400" i="1" spc="-5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target</a:t>
            </a:r>
            <a:r>
              <a:rPr sz="1400" i="1" spc="-20" dirty="0">
                <a:latin typeface="Calibri"/>
                <a:cs typeface="Calibri"/>
              </a:rPr>
              <a:t> group</a:t>
            </a:r>
            <a:endParaRPr sz="1400">
              <a:latin typeface="Calibri"/>
              <a:cs typeface="Calibri"/>
            </a:endParaRPr>
          </a:p>
          <a:p>
            <a:pPr marL="119380" marR="180975" indent="-107314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120650" algn="l"/>
              </a:tabLst>
            </a:pPr>
            <a:r>
              <a:rPr sz="1400" b="1" spc="-20" dirty="0">
                <a:latin typeface="Calibri"/>
                <a:cs typeface="Calibri"/>
              </a:rPr>
              <a:t>Train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internal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teams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(e.g.: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customer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support 	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new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offering)</a:t>
            </a:r>
            <a:endParaRPr sz="1400">
              <a:latin typeface="Calibri"/>
              <a:cs typeface="Calibri"/>
            </a:endParaRPr>
          </a:p>
          <a:p>
            <a:pPr marL="119380" marR="200660" indent="-107314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120650" algn="l"/>
              </a:tabLst>
            </a:pPr>
            <a:r>
              <a:rPr sz="1400" b="1" dirty="0">
                <a:latin typeface="Calibri"/>
                <a:cs typeface="Calibri"/>
              </a:rPr>
              <a:t>Establish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metrics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(see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below)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would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be 	</a:t>
            </a:r>
            <a:r>
              <a:rPr sz="1400" dirty="0">
                <a:latin typeface="Calibri"/>
                <a:cs typeface="Calibri"/>
              </a:rPr>
              <a:t>under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surveillance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signal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smooth 	</a:t>
            </a:r>
            <a:r>
              <a:rPr sz="1400" dirty="0">
                <a:latin typeface="Calibri"/>
                <a:cs typeface="Calibri"/>
              </a:rPr>
              <a:t>onboarding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engagement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users.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Track 	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metrics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estimated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vs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actual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values</a:t>
            </a:r>
            <a:endParaRPr sz="1400">
              <a:latin typeface="Calibri"/>
              <a:cs typeface="Calibri"/>
            </a:endParaRPr>
          </a:p>
          <a:p>
            <a:pPr marL="119380" marR="165100" indent="-107314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120650" algn="l"/>
              </a:tabLst>
            </a:pPr>
            <a:r>
              <a:rPr sz="1400" b="1" dirty="0">
                <a:latin typeface="Calibri"/>
                <a:cs typeface="Calibri"/>
              </a:rPr>
              <a:t>Launch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beta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release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chosen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cohort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of 	</a:t>
            </a:r>
            <a:r>
              <a:rPr sz="1400" dirty="0">
                <a:latin typeface="Calibri"/>
                <a:cs typeface="Calibri"/>
              </a:rPr>
              <a:t>users.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UX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in-app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behaviour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can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be 	</a:t>
            </a:r>
            <a:r>
              <a:rPr sz="1400" b="1" spc="-10" dirty="0">
                <a:latin typeface="Calibri"/>
                <a:cs typeface="Calibri"/>
              </a:rPr>
              <a:t>tracked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using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tools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like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heatmaps.</a:t>
            </a:r>
            <a:endParaRPr sz="1400">
              <a:latin typeface="Calibri"/>
              <a:cs typeface="Calibri"/>
            </a:endParaRPr>
          </a:p>
          <a:p>
            <a:pPr marL="119380" marR="5080" indent="-107314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120650" algn="l"/>
              </a:tabLst>
            </a:pPr>
            <a:r>
              <a:rPr sz="1400" b="1" dirty="0">
                <a:latin typeface="Calibri"/>
                <a:cs typeface="Calibri"/>
              </a:rPr>
              <a:t>Monitor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user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feedback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reported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bugs</a:t>
            </a:r>
            <a:r>
              <a:rPr sz="1400" b="1" spc="1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and 	</a:t>
            </a:r>
            <a:r>
              <a:rPr sz="1400" dirty="0">
                <a:latin typeface="Calibri"/>
                <a:cs typeface="Calibri"/>
              </a:rPr>
              <a:t>inculcate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before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final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launch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	</a:t>
            </a:r>
            <a:r>
              <a:rPr sz="1400" spc="-10" dirty="0">
                <a:latin typeface="Calibri"/>
                <a:cs typeface="Calibri"/>
              </a:rPr>
              <a:t>product</a:t>
            </a:r>
            <a:endParaRPr sz="1400">
              <a:latin typeface="Calibri"/>
              <a:cs typeface="Calibri"/>
            </a:endParaRPr>
          </a:p>
          <a:p>
            <a:pPr marL="120014" indent="-107314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120014" algn="l"/>
              </a:tabLst>
            </a:pPr>
            <a:r>
              <a:rPr sz="1400" b="1" dirty="0">
                <a:latin typeface="Calibri"/>
                <a:cs typeface="Calibri"/>
              </a:rPr>
              <a:t>Conduct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PMF</a:t>
            </a:r>
            <a:r>
              <a:rPr sz="1400" b="1" spc="-10" dirty="0">
                <a:latin typeface="Calibri"/>
                <a:cs typeface="Calibri"/>
              </a:rPr>
              <a:t> surveys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42891" y="454888"/>
            <a:ext cx="3651250" cy="37071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34365" indent="1315085">
              <a:lnSpc>
                <a:spcPct val="117900"/>
              </a:lnSpc>
              <a:spcBef>
                <a:spcPts val="95"/>
              </a:spcBef>
            </a:pPr>
            <a:r>
              <a:rPr sz="1400" b="1" dirty="0">
                <a:latin typeface="Calibri"/>
                <a:cs typeface="Calibri"/>
              </a:rPr>
              <a:t>During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launch </a:t>
            </a:r>
            <a:r>
              <a:rPr sz="1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Objective: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Ensure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smooth</a:t>
            </a:r>
            <a:r>
              <a:rPr sz="1400" i="1" spc="-6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launch,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feature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i="1" spc="-10" dirty="0">
                <a:latin typeface="Calibri"/>
                <a:cs typeface="Calibri"/>
              </a:rPr>
              <a:t>discovery,</a:t>
            </a:r>
            <a:r>
              <a:rPr sz="1400" i="1" spc="-6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and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engagement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of</a:t>
            </a:r>
            <a:r>
              <a:rPr sz="1400" i="1" spc="-4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feature</a:t>
            </a:r>
            <a:r>
              <a:rPr sz="1400" i="1" spc="-4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at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scale</a:t>
            </a:r>
            <a:endParaRPr sz="1400">
              <a:latin typeface="Calibri"/>
              <a:cs typeface="Calibri"/>
            </a:endParaRPr>
          </a:p>
          <a:p>
            <a:pPr marL="119380" marR="27940" indent="-107314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120650" algn="l"/>
              </a:tabLst>
            </a:pPr>
            <a:r>
              <a:rPr sz="1400" b="1" dirty="0">
                <a:latin typeface="Calibri"/>
                <a:cs typeface="Calibri"/>
              </a:rPr>
              <a:t>Promotion:</a:t>
            </a:r>
            <a:r>
              <a:rPr sz="1400" b="1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Current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users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Zluri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pitched 	</a:t>
            </a:r>
            <a:r>
              <a:rPr sz="1400" dirty="0">
                <a:latin typeface="Calibri"/>
                <a:cs typeface="Calibri"/>
              </a:rPr>
              <a:t>demos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employee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dashboard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allowed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free 	</a:t>
            </a:r>
            <a:r>
              <a:rPr sz="1400" dirty="0">
                <a:latin typeface="Calibri"/>
                <a:cs typeface="Calibri"/>
              </a:rPr>
              <a:t>usage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limited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time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period</a:t>
            </a:r>
            <a:endParaRPr sz="1400">
              <a:latin typeface="Calibri"/>
              <a:cs typeface="Calibri"/>
            </a:endParaRPr>
          </a:p>
          <a:p>
            <a:pPr marL="119380" marR="37465" indent="-107314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120650" algn="l"/>
              </a:tabLst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identified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target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groups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should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made 	</a:t>
            </a:r>
            <a:r>
              <a:rPr sz="1400" spc="-10" dirty="0">
                <a:latin typeface="Calibri"/>
                <a:cs typeface="Calibri"/>
              </a:rPr>
              <a:t>aware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new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feature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through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about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use 	</a:t>
            </a:r>
            <a:r>
              <a:rPr sz="1400" dirty="0">
                <a:latin typeface="Calibri"/>
                <a:cs typeface="Calibri"/>
              </a:rPr>
              <a:t>cases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new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feature</a:t>
            </a:r>
            <a:endParaRPr sz="1400">
              <a:latin typeface="Calibri"/>
              <a:cs typeface="Calibri"/>
            </a:endParaRPr>
          </a:p>
          <a:p>
            <a:pPr marL="119380" marR="5080" indent="-107314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120650" algn="l"/>
              </a:tabLst>
            </a:pP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run-</a:t>
            </a:r>
            <a:r>
              <a:rPr sz="1400" dirty="0">
                <a:latin typeface="Calibri"/>
                <a:cs typeface="Calibri"/>
              </a:rPr>
              <a:t>through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steps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should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provided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in 	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form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videos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make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onboarding 	simpler</a:t>
            </a:r>
            <a:endParaRPr sz="1400">
              <a:latin typeface="Calibri"/>
              <a:cs typeface="Calibri"/>
            </a:endParaRPr>
          </a:p>
          <a:p>
            <a:pPr marL="120014" indent="-107314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120014" algn="l"/>
              </a:tabLst>
            </a:pPr>
            <a:r>
              <a:rPr sz="1400" spc="-10" dirty="0">
                <a:latin typeface="Calibri"/>
                <a:cs typeface="Calibri"/>
              </a:rPr>
              <a:t>Features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A-B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tested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can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be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tested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at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scale</a:t>
            </a:r>
            <a:endParaRPr sz="1400">
              <a:latin typeface="Calibri"/>
              <a:cs typeface="Calibri"/>
            </a:endParaRPr>
          </a:p>
          <a:p>
            <a:pPr marL="12065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and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feedback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collected</a:t>
            </a:r>
            <a:endParaRPr sz="1400">
              <a:latin typeface="Calibri"/>
              <a:cs typeface="Calibri"/>
            </a:endParaRPr>
          </a:p>
          <a:p>
            <a:pPr marL="119380" marR="269875" indent="-107314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120650" algn="l"/>
              </a:tabLst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engagement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metrics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should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be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specially 	</a:t>
            </a:r>
            <a:r>
              <a:rPr sz="1400" b="1" dirty="0">
                <a:latin typeface="Calibri"/>
                <a:cs typeface="Calibri"/>
              </a:rPr>
              <a:t>paid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attention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to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7432" y="494766"/>
            <a:ext cx="3194050" cy="328041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24280" algn="just">
              <a:lnSpc>
                <a:spcPct val="100000"/>
              </a:lnSpc>
              <a:spcBef>
                <a:spcPts val="400"/>
              </a:spcBef>
            </a:pPr>
            <a:r>
              <a:rPr sz="1400" b="1" dirty="0">
                <a:latin typeface="Calibri"/>
                <a:cs typeface="Calibri"/>
              </a:rPr>
              <a:t>Post</a:t>
            </a:r>
            <a:r>
              <a:rPr sz="1400" b="1" spc="-7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launch</a:t>
            </a:r>
            <a:endParaRPr sz="1400">
              <a:latin typeface="Calibri"/>
              <a:cs typeface="Calibri"/>
            </a:endParaRPr>
          </a:p>
          <a:p>
            <a:pPr marL="12700" marR="65405" algn="just">
              <a:lnSpc>
                <a:spcPct val="100000"/>
              </a:lnSpc>
              <a:spcBef>
                <a:spcPts val="300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Objective: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Continuous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feedback</a:t>
            </a:r>
            <a:r>
              <a:rPr sz="1400" i="1" spc="-5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from</a:t>
            </a:r>
            <a:r>
              <a:rPr sz="1400" i="1" spc="-55" dirty="0">
                <a:latin typeface="Calibri"/>
                <a:cs typeface="Calibri"/>
              </a:rPr>
              <a:t> </a:t>
            </a:r>
            <a:r>
              <a:rPr sz="1400" i="1" spc="-25" dirty="0">
                <a:latin typeface="Calibri"/>
                <a:cs typeface="Calibri"/>
              </a:rPr>
              <a:t>app </a:t>
            </a:r>
            <a:r>
              <a:rPr sz="1400" i="1" dirty="0">
                <a:latin typeface="Calibri"/>
                <a:cs typeface="Calibri"/>
              </a:rPr>
              <a:t>usage</a:t>
            </a:r>
            <a:r>
              <a:rPr sz="1400" i="1" spc="-4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through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established</a:t>
            </a:r>
            <a:r>
              <a:rPr sz="1400" i="1" spc="-4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channels.</a:t>
            </a:r>
            <a:r>
              <a:rPr sz="1400" i="1" spc="-40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Agile deployment</a:t>
            </a:r>
            <a:r>
              <a:rPr sz="1400" i="1" spc="-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of</a:t>
            </a:r>
            <a:r>
              <a:rPr sz="1400" i="1" spc="-10" dirty="0">
                <a:latin typeface="Calibri"/>
                <a:cs typeface="Calibri"/>
              </a:rPr>
              <a:t> improvements</a:t>
            </a:r>
            <a:r>
              <a:rPr sz="1400" i="1" spc="-2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and</a:t>
            </a:r>
            <a:r>
              <a:rPr sz="1400" i="1" spc="2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bug</a:t>
            </a:r>
            <a:r>
              <a:rPr sz="1400" i="1" spc="5" dirty="0">
                <a:latin typeface="Calibri"/>
                <a:cs typeface="Calibri"/>
              </a:rPr>
              <a:t> </a:t>
            </a:r>
            <a:r>
              <a:rPr sz="1400" i="1" spc="-20" dirty="0">
                <a:latin typeface="Calibri"/>
                <a:cs typeface="Calibri"/>
              </a:rPr>
              <a:t>fixes</a:t>
            </a:r>
            <a:endParaRPr sz="1400">
              <a:latin typeface="Calibri"/>
              <a:cs typeface="Calibri"/>
            </a:endParaRPr>
          </a:p>
          <a:p>
            <a:pPr marL="120014" indent="-107314" algn="just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120014" algn="l"/>
              </a:tabLst>
            </a:pPr>
            <a:r>
              <a:rPr sz="1400" dirty="0">
                <a:latin typeface="Calibri"/>
                <a:cs typeface="Calibri"/>
              </a:rPr>
              <a:t>PMF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surveys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larger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groups</a:t>
            </a:r>
            <a:endParaRPr sz="1400">
              <a:latin typeface="Calibri"/>
              <a:cs typeface="Calibri"/>
            </a:endParaRPr>
          </a:p>
          <a:p>
            <a:pPr marL="120014" indent="-107314" algn="just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120014" algn="l"/>
              </a:tabLst>
            </a:pPr>
            <a:r>
              <a:rPr sz="1400" b="1" dirty="0">
                <a:latin typeface="Calibri"/>
                <a:cs typeface="Calibri"/>
              </a:rPr>
              <a:t>NPS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scores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measured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evaluated</a:t>
            </a:r>
            <a:endParaRPr sz="1400">
              <a:latin typeface="Calibri"/>
              <a:cs typeface="Calibri"/>
            </a:endParaRPr>
          </a:p>
          <a:p>
            <a:pPr marL="119380" marR="5080" indent="-107314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120650" algn="l"/>
              </a:tabLst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retention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health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metrics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should 	</a:t>
            </a:r>
            <a:r>
              <a:rPr sz="1400" b="1" dirty="0">
                <a:latin typeface="Calibri"/>
                <a:cs typeface="Calibri"/>
              </a:rPr>
              <a:t>be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paid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attention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product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begins 	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scale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reach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critical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mass</a:t>
            </a:r>
            <a:endParaRPr sz="1400">
              <a:latin typeface="Calibri"/>
              <a:cs typeface="Calibri"/>
            </a:endParaRPr>
          </a:p>
          <a:p>
            <a:pPr marL="119380" marR="102235" indent="-107314" algn="just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120650" algn="l"/>
              </a:tabLst>
            </a:pPr>
            <a:r>
              <a:rPr sz="1400" spc="-10" dirty="0">
                <a:latin typeface="Calibri"/>
                <a:cs typeface="Calibri"/>
              </a:rPr>
              <a:t>Reported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bugs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should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fixed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 </a:t>
            </a:r>
            <a:r>
              <a:rPr sz="1400" b="1" spc="-10" dirty="0">
                <a:latin typeface="Calibri"/>
                <a:cs typeface="Calibri"/>
              </a:rPr>
              <a:t>shorter 	</a:t>
            </a:r>
            <a:r>
              <a:rPr sz="1400" b="1" dirty="0">
                <a:latin typeface="Calibri"/>
                <a:cs typeface="Calibri"/>
              </a:rPr>
              <a:t>sprint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cycles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till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stable</a:t>
            </a:r>
            <a:r>
              <a:rPr sz="1400" b="1" spc="-6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version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exists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in 	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market</a:t>
            </a:r>
            <a:endParaRPr sz="1400">
              <a:latin typeface="Calibri"/>
              <a:cs typeface="Calibri"/>
            </a:endParaRPr>
          </a:p>
          <a:p>
            <a:pPr marL="120014" indent="-107314" algn="just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120014" algn="l"/>
              </a:tabLst>
            </a:pPr>
            <a:r>
              <a:rPr sz="1400" spc="-10" dirty="0">
                <a:latin typeface="Calibri"/>
                <a:cs typeface="Calibri"/>
              </a:rPr>
              <a:t>Adequate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customer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support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should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be</a:t>
            </a:r>
            <a:endParaRPr sz="1400">
              <a:latin typeface="Calibri"/>
              <a:cs typeface="Calibri"/>
            </a:endParaRPr>
          </a:p>
          <a:p>
            <a:pPr marL="12065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available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67690" y="4767326"/>
          <a:ext cx="11544300" cy="20008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2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0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Category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Metric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Adoption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#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employee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signups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6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note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employees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successfully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signing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up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dashboard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Engagement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6654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Avg.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spent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app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discovery,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app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runs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through</a:t>
                      </a:r>
                      <a:r>
                        <a:rPr sz="14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dashboard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6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understand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employees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completing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the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intended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actions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Retention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Churn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rate,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change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(Week-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on-week)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6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note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drop-off/addition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users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Health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Correct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app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cohorts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created,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apps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added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correct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cohorts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6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check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whether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algorithms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functioning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as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expected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2567177" y="4367021"/>
            <a:ext cx="7178040" cy="340360"/>
          </a:xfrm>
          <a:custGeom>
            <a:avLst/>
            <a:gdLst/>
            <a:ahLst/>
            <a:cxnLst/>
            <a:rect l="l" t="t" r="r" b="b"/>
            <a:pathLst>
              <a:path w="7178040" h="340360">
                <a:moveTo>
                  <a:pt x="0" y="56641"/>
                </a:moveTo>
                <a:lnTo>
                  <a:pt x="4456" y="34611"/>
                </a:lnTo>
                <a:lnTo>
                  <a:pt x="16605" y="16605"/>
                </a:lnTo>
                <a:lnTo>
                  <a:pt x="34611" y="4456"/>
                </a:lnTo>
                <a:lnTo>
                  <a:pt x="56642" y="0"/>
                </a:lnTo>
                <a:lnTo>
                  <a:pt x="7121398" y="0"/>
                </a:lnTo>
                <a:lnTo>
                  <a:pt x="7143428" y="4456"/>
                </a:lnTo>
                <a:lnTo>
                  <a:pt x="7161434" y="16605"/>
                </a:lnTo>
                <a:lnTo>
                  <a:pt x="7173583" y="34611"/>
                </a:lnTo>
                <a:lnTo>
                  <a:pt x="7178040" y="56641"/>
                </a:lnTo>
                <a:lnTo>
                  <a:pt x="7178040" y="283209"/>
                </a:lnTo>
                <a:lnTo>
                  <a:pt x="7173583" y="305240"/>
                </a:lnTo>
                <a:lnTo>
                  <a:pt x="7161434" y="323246"/>
                </a:lnTo>
                <a:lnTo>
                  <a:pt x="7143428" y="335395"/>
                </a:lnTo>
                <a:lnTo>
                  <a:pt x="7121398" y="339851"/>
                </a:lnTo>
                <a:lnTo>
                  <a:pt x="56642" y="339851"/>
                </a:lnTo>
                <a:lnTo>
                  <a:pt x="34611" y="335395"/>
                </a:lnTo>
                <a:lnTo>
                  <a:pt x="16605" y="323246"/>
                </a:lnTo>
                <a:lnTo>
                  <a:pt x="4456" y="305240"/>
                </a:lnTo>
                <a:lnTo>
                  <a:pt x="0" y="283209"/>
                </a:lnTo>
                <a:lnTo>
                  <a:pt x="0" y="56641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88639" y="4376165"/>
            <a:ext cx="61328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North</a:t>
            </a:r>
            <a:r>
              <a:rPr sz="1600" b="1" spc="-6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star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metric: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Number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licenses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purchased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employee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dashboard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2118" y="4264914"/>
            <a:ext cx="11908790" cy="0"/>
          </a:xfrm>
          <a:custGeom>
            <a:avLst/>
            <a:gdLst/>
            <a:ahLst/>
            <a:cxnLst/>
            <a:rect l="l" t="t" r="r" b="b"/>
            <a:pathLst>
              <a:path w="11908790">
                <a:moveTo>
                  <a:pt x="0" y="0"/>
                </a:moveTo>
                <a:lnTo>
                  <a:pt x="11908409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3767073" y="2247645"/>
            <a:ext cx="631825" cy="467359"/>
            <a:chOff x="3767073" y="2247645"/>
            <a:chExt cx="631825" cy="467359"/>
          </a:xfrm>
        </p:grpSpPr>
        <p:sp>
          <p:nvSpPr>
            <p:cNvPr id="11" name="object 11"/>
            <p:cNvSpPr/>
            <p:nvPr/>
          </p:nvSpPr>
          <p:spPr>
            <a:xfrm>
              <a:off x="3773423" y="2253995"/>
              <a:ext cx="619125" cy="454659"/>
            </a:xfrm>
            <a:custGeom>
              <a:avLst/>
              <a:gdLst/>
              <a:ahLst/>
              <a:cxnLst/>
              <a:rect l="l" t="t" r="r" b="b"/>
              <a:pathLst>
                <a:path w="619125" h="454660">
                  <a:moveTo>
                    <a:pt x="391667" y="0"/>
                  </a:moveTo>
                  <a:lnTo>
                    <a:pt x="391667" y="113537"/>
                  </a:lnTo>
                  <a:lnTo>
                    <a:pt x="0" y="113537"/>
                  </a:lnTo>
                  <a:lnTo>
                    <a:pt x="0" y="340613"/>
                  </a:lnTo>
                  <a:lnTo>
                    <a:pt x="391667" y="340613"/>
                  </a:lnTo>
                  <a:lnTo>
                    <a:pt x="391667" y="454151"/>
                  </a:lnTo>
                  <a:lnTo>
                    <a:pt x="618743" y="227075"/>
                  </a:lnTo>
                  <a:lnTo>
                    <a:pt x="39166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73423" y="2253995"/>
              <a:ext cx="619125" cy="454659"/>
            </a:xfrm>
            <a:custGeom>
              <a:avLst/>
              <a:gdLst/>
              <a:ahLst/>
              <a:cxnLst/>
              <a:rect l="l" t="t" r="r" b="b"/>
              <a:pathLst>
                <a:path w="619125" h="454660">
                  <a:moveTo>
                    <a:pt x="0" y="113537"/>
                  </a:moveTo>
                  <a:lnTo>
                    <a:pt x="391667" y="113537"/>
                  </a:lnTo>
                  <a:lnTo>
                    <a:pt x="391667" y="0"/>
                  </a:lnTo>
                  <a:lnTo>
                    <a:pt x="618743" y="227075"/>
                  </a:lnTo>
                  <a:lnTo>
                    <a:pt x="391667" y="454151"/>
                  </a:lnTo>
                  <a:lnTo>
                    <a:pt x="391667" y="340613"/>
                  </a:lnTo>
                  <a:lnTo>
                    <a:pt x="0" y="340613"/>
                  </a:lnTo>
                  <a:lnTo>
                    <a:pt x="0" y="11353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840726" y="2224785"/>
            <a:ext cx="631825" cy="467359"/>
            <a:chOff x="7840726" y="2224785"/>
            <a:chExt cx="631825" cy="467359"/>
          </a:xfrm>
        </p:grpSpPr>
        <p:sp>
          <p:nvSpPr>
            <p:cNvPr id="14" name="object 14"/>
            <p:cNvSpPr/>
            <p:nvPr/>
          </p:nvSpPr>
          <p:spPr>
            <a:xfrm>
              <a:off x="7847076" y="2231135"/>
              <a:ext cx="619125" cy="454659"/>
            </a:xfrm>
            <a:custGeom>
              <a:avLst/>
              <a:gdLst/>
              <a:ahLst/>
              <a:cxnLst/>
              <a:rect l="l" t="t" r="r" b="b"/>
              <a:pathLst>
                <a:path w="619125" h="454660">
                  <a:moveTo>
                    <a:pt x="391668" y="0"/>
                  </a:moveTo>
                  <a:lnTo>
                    <a:pt x="391668" y="113537"/>
                  </a:lnTo>
                  <a:lnTo>
                    <a:pt x="0" y="113537"/>
                  </a:lnTo>
                  <a:lnTo>
                    <a:pt x="0" y="340613"/>
                  </a:lnTo>
                  <a:lnTo>
                    <a:pt x="391668" y="340613"/>
                  </a:lnTo>
                  <a:lnTo>
                    <a:pt x="391668" y="454151"/>
                  </a:lnTo>
                  <a:lnTo>
                    <a:pt x="618744" y="227075"/>
                  </a:lnTo>
                  <a:lnTo>
                    <a:pt x="39166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847076" y="2231135"/>
              <a:ext cx="619125" cy="454659"/>
            </a:xfrm>
            <a:custGeom>
              <a:avLst/>
              <a:gdLst/>
              <a:ahLst/>
              <a:cxnLst/>
              <a:rect l="l" t="t" r="r" b="b"/>
              <a:pathLst>
                <a:path w="619125" h="454660">
                  <a:moveTo>
                    <a:pt x="0" y="113537"/>
                  </a:moveTo>
                  <a:lnTo>
                    <a:pt x="391668" y="113537"/>
                  </a:lnTo>
                  <a:lnTo>
                    <a:pt x="391668" y="0"/>
                  </a:lnTo>
                  <a:lnTo>
                    <a:pt x="618744" y="227075"/>
                  </a:lnTo>
                  <a:lnTo>
                    <a:pt x="391668" y="454151"/>
                  </a:lnTo>
                  <a:lnTo>
                    <a:pt x="391668" y="340613"/>
                  </a:lnTo>
                  <a:lnTo>
                    <a:pt x="0" y="340613"/>
                  </a:lnTo>
                  <a:lnTo>
                    <a:pt x="0" y="11353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02357" y="72644"/>
            <a:ext cx="22002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Future</a:t>
            </a:r>
            <a:r>
              <a:rPr sz="3200" spc="-60" dirty="0"/>
              <a:t> </a:t>
            </a:r>
            <a:r>
              <a:rPr sz="3200" spc="-10" dirty="0"/>
              <a:t>scope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171184" y="642238"/>
          <a:ext cx="5726430" cy="3021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3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3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Pitfalls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36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Mitigation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92075" marR="5695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Organization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might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not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condone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visibility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applications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levels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5623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There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feature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for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admin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restrict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visibility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apps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within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organisation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within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team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only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085">
                <a:tc>
                  <a:txBody>
                    <a:bodyPr/>
                    <a:lstStyle/>
                    <a:p>
                      <a:pPr marL="92075" marR="219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App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stats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feature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might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not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generate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accurate recommendations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beginning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2255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large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sets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train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algorithms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make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better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recommendations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477250" y="82118"/>
            <a:ext cx="112839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b="1" spc="-10" dirty="0">
                <a:latin typeface="Calibri"/>
                <a:cs typeface="Calibri"/>
              </a:rPr>
              <a:t>Pitfalls</a:t>
            </a:r>
            <a:endParaRPr sz="31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9366" y="4289805"/>
            <a:ext cx="10816590" cy="2465070"/>
            <a:chOff x="769366" y="4289805"/>
            <a:chExt cx="10816590" cy="2465070"/>
          </a:xfrm>
        </p:grpSpPr>
        <p:sp>
          <p:nvSpPr>
            <p:cNvPr id="6" name="object 6"/>
            <p:cNvSpPr/>
            <p:nvPr/>
          </p:nvSpPr>
          <p:spPr>
            <a:xfrm>
              <a:off x="775716" y="4296155"/>
              <a:ext cx="10803890" cy="2452370"/>
            </a:xfrm>
            <a:custGeom>
              <a:avLst/>
              <a:gdLst/>
              <a:ahLst/>
              <a:cxnLst/>
              <a:rect l="l" t="t" r="r" b="b"/>
              <a:pathLst>
                <a:path w="10803890" h="2452370">
                  <a:moveTo>
                    <a:pt x="10394950" y="0"/>
                  </a:moveTo>
                  <a:lnTo>
                    <a:pt x="408698" y="0"/>
                  </a:lnTo>
                  <a:lnTo>
                    <a:pt x="361035" y="2749"/>
                  </a:lnTo>
                  <a:lnTo>
                    <a:pt x="314988" y="10795"/>
                  </a:lnTo>
                  <a:lnTo>
                    <a:pt x="270861" y="23829"/>
                  </a:lnTo>
                  <a:lnTo>
                    <a:pt x="228963" y="41544"/>
                  </a:lnTo>
                  <a:lnTo>
                    <a:pt x="189600" y="63635"/>
                  </a:lnTo>
                  <a:lnTo>
                    <a:pt x="153078" y="89793"/>
                  </a:lnTo>
                  <a:lnTo>
                    <a:pt x="119705" y="119713"/>
                  </a:lnTo>
                  <a:lnTo>
                    <a:pt x="89786" y="153087"/>
                  </a:lnTo>
                  <a:lnTo>
                    <a:pt x="63629" y="189608"/>
                  </a:lnTo>
                  <a:lnTo>
                    <a:pt x="41540" y="228970"/>
                  </a:lnTo>
                  <a:lnTo>
                    <a:pt x="23826" y="270865"/>
                  </a:lnTo>
                  <a:lnTo>
                    <a:pt x="10794" y="314988"/>
                  </a:lnTo>
                  <a:lnTo>
                    <a:pt x="2749" y="361030"/>
                  </a:lnTo>
                  <a:lnTo>
                    <a:pt x="0" y="408686"/>
                  </a:lnTo>
                  <a:lnTo>
                    <a:pt x="0" y="2043417"/>
                  </a:lnTo>
                  <a:lnTo>
                    <a:pt x="2749" y="2091080"/>
                  </a:lnTo>
                  <a:lnTo>
                    <a:pt x="10794" y="2137127"/>
                  </a:lnTo>
                  <a:lnTo>
                    <a:pt x="23826" y="2181254"/>
                  </a:lnTo>
                  <a:lnTo>
                    <a:pt x="41540" y="2223152"/>
                  </a:lnTo>
                  <a:lnTo>
                    <a:pt x="63629" y="2262515"/>
                  </a:lnTo>
                  <a:lnTo>
                    <a:pt x="89786" y="2299037"/>
                  </a:lnTo>
                  <a:lnTo>
                    <a:pt x="119705" y="2332410"/>
                  </a:lnTo>
                  <a:lnTo>
                    <a:pt x="153078" y="2362329"/>
                  </a:lnTo>
                  <a:lnTo>
                    <a:pt x="189600" y="2388486"/>
                  </a:lnTo>
                  <a:lnTo>
                    <a:pt x="228963" y="2410575"/>
                  </a:lnTo>
                  <a:lnTo>
                    <a:pt x="270861" y="2428289"/>
                  </a:lnTo>
                  <a:lnTo>
                    <a:pt x="314988" y="2441321"/>
                  </a:lnTo>
                  <a:lnTo>
                    <a:pt x="361035" y="2449366"/>
                  </a:lnTo>
                  <a:lnTo>
                    <a:pt x="408698" y="2452116"/>
                  </a:lnTo>
                  <a:lnTo>
                    <a:pt x="10394950" y="2452116"/>
                  </a:lnTo>
                  <a:lnTo>
                    <a:pt x="10442605" y="2449366"/>
                  </a:lnTo>
                  <a:lnTo>
                    <a:pt x="10488647" y="2441321"/>
                  </a:lnTo>
                  <a:lnTo>
                    <a:pt x="10532770" y="2428289"/>
                  </a:lnTo>
                  <a:lnTo>
                    <a:pt x="10574665" y="2410575"/>
                  </a:lnTo>
                  <a:lnTo>
                    <a:pt x="10614027" y="2388486"/>
                  </a:lnTo>
                  <a:lnTo>
                    <a:pt x="10650548" y="2362329"/>
                  </a:lnTo>
                  <a:lnTo>
                    <a:pt x="10683922" y="2332410"/>
                  </a:lnTo>
                  <a:lnTo>
                    <a:pt x="10713842" y="2299037"/>
                  </a:lnTo>
                  <a:lnTo>
                    <a:pt x="10740000" y="2262515"/>
                  </a:lnTo>
                  <a:lnTo>
                    <a:pt x="10762091" y="2223152"/>
                  </a:lnTo>
                  <a:lnTo>
                    <a:pt x="10779806" y="2181254"/>
                  </a:lnTo>
                  <a:lnTo>
                    <a:pt x="10792840" y="2137127"/>
                  </a:lnTo>
                  <a:lnTo>
                    <a:pt x="10800886" y="2091080"/>
                  </a:lnTo>
                  <a:lnTo>
                    <a:pt x="10803636" y="2043417"/>
                  </a:lnTo>
                  <a:lnTo>
                    <a:pt x="10803636" y="408686"/>
                  </a:lnTo>
                  <a:lnTo>
                    <a:pt x="10800886" y="361030"/>
                  </a:lnTo>
                  <a:lnTo>
                    <a:pt x="10792840" y="314988"/>
                  </a:lnTo>
                  <a:lnTo>
                    <a:pt x="10779806" y="270865"/>
                  </a:lnTo>
                  <a:lnTo>
                    <a:pt x="10762091" y="228970"/>
                  </a:lnTo>
                  <a:lnTo>
                    <a:pt x="10740000" y="189608"/>
                  </a:lnTo>
                  <a:lnTo>
                    <a:pt x="10713842" y="153087"/>
                  </a:lnTo>
                  <a:lnTo>
                    <a:pt x="10683922" y="119713"/>
                  </a:lnTo>
                  <a:lnTo>
                    <a:pt x="10650548" y="89793"/>
                  </a:lnTo>
                  <a:lnTo>
                    <a:pt x="10614027" y="63635"/>
                  </a:lnTo>
                  <a:lnTo>
                    <a:pt x="10574665" y="41544"/>
                  </a:lnTo>
                  <a:lnTo>
                    <a:pt x="10532770" y="23829"/>
                  </a:lnTo>
                  <a:lnTo>
                    <a:pt x="10488647" y="10795"/>
                  </a:lnTo>
                  <a:lnTo>
                    <a:pt x="10442605" y="2749"/>
                  </a:lnTo>
                  <a:lnTo>
                    <a:pt x="10394950" y="0"/>
                  </a:lnTo>
                  <a:close/>
                </a:path>
              </a:pathLst>
            </a:custGeom>
            <a:solidFill>
              <a:srgbClr val="674E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716" y="4296155"/>
              <a:ext cx="10803890" cy="2452370"/>
            </a:xfrm>
            <a:custGeom>
              <a:avLst/>
              <a:gdLst/>
              <a:ahLst/>
              <a:cxnLst/>
              <a:rect l="l" t="t" r="r" b="b"/>
              <a:pathLst>
                <a:path w="10803890" h="2452370">
                  <a:moveTo>
                    <a:pt x="0" y="408686"/>
                  </a:moveTo>
                  <a:lnTo>
                    <a:pt x="2749" y="361030"/>
                  </a:lnTo>
                  <a:lnTo>
                    <a:pt x="10794" y="314988"/>
                  </a:lnTo>
                  <a:lnTo>
                    <a:pt x="23826" y="270865"/>
                  </a:lnTo>
                  <a:lnTo>
                    <a:pt x="41540" y="228970"/>
                  </a:lnTo>
                  <a:lnTo>
                    <a:pt x="63629" y="189608"/>
                  </a:lnTo>
                  <a:lnTo>
                    <a:pt x="89786" y="153087"/>
                  </a:lnTo>
                  <a:lnTo>
                    <a:pt x="119705" y="119713"/>
                  </a:lnTo>
                  <a:lnTo>
                    <a:pt x="153078" y="89793"/>
                  </a:lnTo>
                  <a:lnTo>
                    <a:pt x="189600" y="63635"/>
                  </a:lnTo>
                  <a:lnTo>
                    <a:pt x="228963" y="41544"/>
                  </a:lnTo>
                  <a:lnTo>
                    <a:pt x="270861" y="23829"/>
                  </a:lnTo>
                  <a:lnTo>
                    <a:pt x="314988" y="10795"/>
                  </a:lnTo>
                  <a:lnTo>
                    <a:pt x="361035" y="2749"/>
                  </a:lnTo>
                  <a:lnTo>
                    <a:pt x="408698" y="0"/>
                  </a:lnTo>
                  <a:lnTo>
                    <a:pt x="10394950" y="0"/>
                  </a:lnTo>
                  <a:lnTo>
                    <a:pt x="10442605" y="2749"/>
                  </a:lnTo>
                  <a:lnTo>
                    <a:pt x="10488647" y="10795"/>
                  </a:lnTo>
                  <a:lnTo>
                    <a:pt x="10532770" y="23829"/>
                  </a:lnTo>
                  <a:lnTo>
                    <a:pt x="10574665" y="41544"/>
                  </a:lnTo>
                  <a:lnTo>
                    <a:pt x="10614027" y="63635"/>
                  </a:lnTo>
                  <a:lnTo>
                    <a:pt x="10650548" y="89793"/>
                  </a:lnTo>
                  <a:lnTo>
                    <a:pt x="10683922" y="119713"/>
                  </a:lnTo>
                  <a:lnTo>
                    <a:pt x="10713842" y="153087"/>
                  </a:lnTo>
                  <a:lnTo>
                    <a:pt x="10740000" y="189608"/>
                  </a:lnTo>
                  <a:lnTo>
                    <a:pt x="10762091" y="228970"/>
                  </a:lnTo>
                  <a:lnTo>
                    <a:pt x="10779806" y="270865"/>
                  </a:lnTo>
                  <a:lnTo>
                    <a:pt x="10792840" y="314988"/>
                  </a:lnTo>
                  <a:lnTo>
                    <a:pt x="10800886" y="361030"/>
                  </a:lnTo>
                  <a:lnTo>
                    <a:pt x="10803636" y="408686"/>
                  </a:lnTo>
                  <a:lnTo>
                    <a:pt x="10803636" y="2043417"/>
                  </a:lnTo>
                  <a:lnTo>
                    <a:pt x="10800886" y="2091080"/>
                  </a:lnTo>
                  <a:lnTo>
                    <a:pt x="10792840" y="2137127"/>
                  </a:lnTo>
                  <a:lnTo>
                    <a:pt x="10779806" y="2181254"/>
                  </a:lnTo>
                  <a:lnTo>
                    <a:pt x="10762091" y="2223152"/>
                  </a:lnTo>
                  <a:lnTo>
                    <a:pt x="10740000" y="2262515"/>
                  </a:lnTo>
                  <a:lnTo>
                    <a:pt x="10713842" y="2299037"/>
                  </a:lnTo>
                  <a:lnTo>
                    <a:pt x="10683922" y="2332410"/>
                  </a:lnTo>
                  <a:lnTo>
                    <a:pt x="10650548" y="2362329"/>
                  </a:lnTo>
                  <a:lnTo>
                    <a:pt x="10614027" y="2388486"/>
                  </a:lnTo>
                  <a:lnTo>
                    <a:pt x="10574665" y="2410575"/>
                  </a:lnTo>
                  <a:lnTo>
                    <a:pt x="10532770" y="2428289"/>
                  </a:lnTo>
                  <a:lnTo>
                    <a:pt x="10488647" y="2441321"/>
                  </a:lnTo>
                  <a:lnTo>
                    <a:pt x="10442605" y="2449366"/>
                  </a:lnTo>
                  <a:lnTo>
                    <a:pt x="10394950" y="2452116"/>
                  </a:lnTo>
                  <a:lnTo>
                    <a:pt x="408698" y="2452116"/>
                  </a:lnTo>
                  <a:lnTo>
                    <a:pt x="361035" y="2449366"/>
                  </a:lnTo>
                  <a:lnTo>
                    <a:pt x="314988" y="2441321"/>
                  </a:lnTo>
                  <a:lnTo>
                    <a:pt x="270861" y="2428289"/>
                  </a:lnTo>
                  <a:lnTo>
                    <a:pt x="228963" y="2410575"/>
                  </a:lnTo>
                  <a:lnTo>
                    <a:pt x="189600" y="2388486"/>
                  </a:lnTo>
                  <a:lnTo>
                    <a:pt x="153078" y="2362329"/>
                  </a:lnTo>
                  <a:lnTo>
                    <a:pt x="119705" y="2332410"/>
                  </a:lnTo>
                  <a:lnTo>
                    <a:pt x="89786" y="2299037"/>
                  </a:lnTo>
                  <a:lnTo>
                    <a:pt x="63629" y="2262515"/>
                  </a:lnTo>
                  <a:lnTo>
                    <a:pt x="41540" y="2223152"/>
                  </a:lnTo>
                  <a:lnTo>
                    <a:pt x="23826" y="2181254"/>
                  </a:lnTo>
                  <a:lnTo>
                    <a:pt x="10794" y="2137127"/>
                  </a:lnTo>
                  <a:lnTo>
                    <a:pt x="2749" y="2091080"/>
                  </a:lnTo>
                  <a:lnTo>
                    <a:pt x="0" y="2043417"/>
                  </a:lnTo>
                  <a:lnTo>
                    <a:pt x="0" y="40868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76783" y="639317"/>
            <a:ext cx="10706100" cy="586359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1300" marR="5819140" indent="-228600">
              <a:lnSpc>
                <a:spcPct val="90000"/>
              </a:lnSpc>
              <a:spcBef>
                <a:spcPts val="31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Creating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flow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employees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apply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software </a:t>
            </a:r>
            <a:r>
              <a:rPr sz="1800" dirty="0">
                <a:latin typeface="Calibri"/>
                <a:cs typeface="Calibri"/>
              </a:rPr>
              <a:t>licenses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through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dashboard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after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discovers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software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would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like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will </a:t>
            </a:r>
            <a:r>
              <a:rPr sz="1800" dirty="0">
                <a:latin typeface="Calibri"/>
                <a:cs typeface="Calibri"/>
              </a:rPr>
              <a:t>also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require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creating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command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backend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approvals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acquiring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new </a:t>
            </a:r>
            <a:r>
              <a:rPr sz="1800" dirty="0">
                <a:latin typeface="Calibri"/>
                <a:cs typeface="Calibri"/>
              </a:rPr>
              <a:t>licenses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reach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relevant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command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b="1" dirty="0">
                <a:latin typeface="Calibri"/>
                <a:cs typeface="Calibri"/>
              </a:rPr>
              <a:t>High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impact,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Medium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effort</a:t>
            </a:r>
            <a:r>
              <a:rPr sz="1800" spc="-1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  <a:p>
            <a:pPr marL="241300" marR="5798820" indent="-228600">
              <a:lnSpc>
                <a:spcPts val="1939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Creating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built-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platform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demo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new </a:t>
            </a:r>
            <a:r>
              <a:rPr sz="1800" dirty="0">
                <a:latin typeface="Calibri"/>
                <a:cs typeface="Calibri"/>
              </a:rPr>
              <a:t>software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establish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their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comfort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before </a:t>
            </a:r>
            <a:r>
              <a:rPr sz="1800" dirty="0">
                <a:latin typeface="Calibri"/>
                <a:cs typeface="Calibri"/>
              </a:rPr>
              <a:t>deciding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switch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b="1" dirty="0">
                <a:latin typeface="Calibri"/>
                <a:cs typeface="Calibri"/>
              </a:rPr>
              <a:t>High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impact,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High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effort</a:t>
            </a:r>
            <a:r>
              <a:rPr sz="1800" spc="-1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  <a:p>
            <a:pPr marL="241300" marR="5883910" indent="-228600" algn="just">
              <a:lnSpc>
                <a:spcPts val="1939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Options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favourite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My </a:t>
            </a:r>
            <a:r>
              <a:rPr sz="1800" dirty="0">
                <a:latin typeface="Calibri"/>
                <a:cs typeface="Calibri"/>
              </a:rPr>
              <a:t>apps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(categorization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page)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b="1" dirty="0">
                <a:latin typeface="Calibri"/>
                <a:cs typeface="Calibri"/>
              </a:rPr>
              <a:t>Medium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impact,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Low </a:t>
            </a:r>
            <a:r>
              <a:rPr sz="1800" b="1" spc="-10" dirty="0">
                <a:latin typeface="Calibri"/>
                <a:cs typeface="Calibri"/>
              </a:rPr>
              <a:t>effort</a:t>
            </a:r>
            <a:r>
              <a:rPr sz="1800" spc="-1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800">
              <a:latin typeface="Calibri"/>
              <a:cs typeface="Calibri"/>
            </a:endParaRPr>
          </a:p>
          <a:p>
            <a:pPr marL="494030" algn="ctr">
              <a:lnSpc>
                <a:spcPct val="100000"/>
              </a:lnSpc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Summary</a:t>
            </a:r>
            <a:endParaRPr sz="2800">
              <a:latin typeface="Calibri"/>
              <a:cs typeface="Calibri"/>
            </a:endParaRPr>
          </a:p>
          <a:p>
            <a:pPr marL="410209" marR="5080">
              <a:lnSpc>
                <a:spcPct val="100000"/>
              </a:lnSpc>
              <a:spcBef>
                <a:spcPts val="198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objective</a:t>
            </a:r>
            <a:r>
              <a:rPr sz="1800" i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i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ensuring maximum</a:t>
            </a:r>
            <a:r>
              <a:rPr sz="1800" i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reach</a:t>
            </a:r>
            <a:r>
              <a:rPr sz="1800" i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i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i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employee</a:t>
            </a:r>
            <a:r>
              <a:rPr sz="1800" i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offering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Zluri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SaaS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management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platform,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target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team</a:t>
            </a:r>
            <a:r>
              <a:rPr sz="180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member</a:t>
            </a:r>
            <a:r>
              <a:rPr sz="1800" i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persona’s</a:t>
            </a:r>
            <a:r>
              <a:rPr sz="1800" i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lack</a:t>
            </a:r>
            <a:r>
              <a:rPr sz="18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awareness</a:t>
            </a:r>
            <a:r>
              <a:rPr sz="18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1800" i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r>
              <a:rPr sz="1800" i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market</a:t>
            </a:r>
            <a:r>
              <a:rPr sz="1800" i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solve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it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creating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employee</a:t>
            </a:r>
            <a:r>
              <a:rPr sz="1800" b="1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dashboard</a:t>
            </a:r>
            <a:r>
              <a:rPr sz="18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would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include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app</a:t>
            </a:r>
            <a:r>
              <a:rPr sz="18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discovery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employee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comparison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apps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market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basis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designated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app</a:t>
            </a:r>
            <a:r>
              <a:rPr sz="18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stats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Employee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also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able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to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categorized</a:t>
            </a:r>
            <a:r>
              <a:rPr sz="18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view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their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apps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better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UX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1909</Words>
  <Application>Microsoft Office PowerPoint</Application>
  <PresentationFormat>Widescreen</PresentationFormat>
  <Paragraphs>192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 MT</vt:lpstr>
      <vt:lpstr>Calibri</vt:lpstr>
      <vt:lpstr>Times New Roman</vt:lpstr>
      <vt:lpstr>Office Theme</vt:lpstr>
      <vt:lpstr>Zluri</vt:lpstr>
      <vt:lpstr>Employee Personas</vt:lpstr>
      <vt:lpstr>Pain points</vt:lpstr>
      <vt:lpstr>Solution</vt:lpstr>
      <vt:lpstr>Mockups</vt:lpstr>
      <vt:lpstr>PowerPoint Presentation</vt:lpstr>
      <vt:lpstr>Go-To-Market</vt:lpstr>
      <vt:lpstr>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Mayank Kumar</dc:creator>
  <cp:lastModifiedBy>Mayank Kumar</cp:lastModifiedBy>
  <cp:revision>1</cp:revision>
  <dcterms:created xsi:type="dcterms:W3CDTF">2026-05-21T10:03:31Z</dcterms:created>
  <dcterms:modified xsi:type="dcterms:W3CDTF">2026-05-21T10:05:10Z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2023-06-02T00:00:00Z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2026-05-21T00:00:00Z</vt:filetime>
  </property>
  <property fmtid="{D5CDD505-2E9C-101B-9397-08002B2CF9AE}" pid="6" name="Producer">
    <vt:lpwstr>Microsoft® PowerPoint® 2019</vt:lpwstr>
  </property>
</Properties>
</file>