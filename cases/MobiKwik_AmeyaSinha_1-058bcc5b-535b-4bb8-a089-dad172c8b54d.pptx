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9350"/>
          </a:xfrm>
          <a:custGeom>
            <a:avLst/>
            <a:gdLst/>
            <a:ahLst/>
            <a:cxnLst/>
            <a:rect l="l" t="t" r="r" b="b"/>
            <a:pathLst>
              <a:path w="20104100" h="11309350">
                <a:moveTo>
                  <a:pt x="20104099" y="0"/>
                </a:moveTo>
                <a:lnTo>
                  <a:pt x="0" y="0"/>
                </a:lnTo>
                <a:lnTo>
                  <a:pt x="0" y="11308732"/>
                </a:lnTo>
                <a:lnTo>
                  <a:pt x="20104099" y="11308732"/>
                </a:lnTo>
                <a:lnTo>
                  <a:pt x="20104099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01460" y="422664"/>
            <a:ext cx="19300190" cy="10495915"/>
          </a:xfrm>
          <a:custGeom>
            <a:avLst/>
            <a:gdLst/>
            <a:ahLst/>
            <a:cxnLst/>
            <a:rect l="l" t="t" r="r" b="b"/>
            <a:pathLst>
              <a:path w="19300190" h="10495915">
                <a:moveTo>
                  <a:pt x="19299765" y="0"/>
                </a:moveTo>
                <a:lnTo>
                  <a:pt x="0" y="0"/>
                </a:lnTo>
                <a:lnTo>
                  <a:pt x="0" y="10495917"/>
                </a:lnTo>
                <a:lnTo>
                  <a:pt x="19299765" y="10495917"/>
                </a:lnTo>
                <a:lnTo>
                  <a:pt x="192997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75112" y="9512058"/>
            <a:ext cx="10554970" cy="0"/>
          </a:xfrm>
          <a:custGeom>
            <a:avLst/>
            <a:gdLst/>
            <a:ahLst/>
            <a:cxnLst/>
            <a:rect l="l" t="t" r="r" b="b"/>
            <a:pathLst>
              <a:path w="10554969">
                <a:moveTo>
                  <a:pt x="0" y="0"/>
                </a:moveTo>
                <a:lnTo>
                  <a:pt x="10554581" y="0"/>
                </a:lnTo>
              </a:path>
            </a:pathLst>
          </a:custGeom>
          <a:ln w="588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3899" y="74071"/>
            <a:ext cx="10033000" cy="648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1998" y="4372132"/>
            <a:ext cx="18027015" cy="5954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10.png"/><Relationship Id="rId21" Type="http://schemas.openxmlformats.org/officeDocument/2006/relationships/image" Target="../media/image27.png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9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2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hyperlink" Target="https://forms.gle/VQyPSrVHjv7Thb8q9" TargetMode="External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56665" y="8038528"/>
            <a:ext cx="12188190" cy="1481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50" dirty="0">
                <a:solidFill>
                  <a:srgbClr val="4471C4"/>
                </a:solidFill>
                <a:latin typeface="Calibri Light"/>
                <a:cs typeface="Calibri Light"/>
              </a:rPr>
              <a:t>MVP:</a:t>
            </a:r>
            <a:r>
              <a:rPr sz="9550" spc="-49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9550" spc="-75" dirty="0">
                <a:solidFill>
                  <a:srgbClr val="4471C4"/>
                </a:solidFill>
                <a:latin typeface="Calibri Light"/>
                <a:cs typeface="Calibri Light"/>
              </a:rPr>
              <a:t>Save</a:t>
            </a:r>
            <a:r>
              <a:rPr sz="9550" spc="-38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9550" spc="-130" dirty="0">
                <a:solidFill>
                  <a:srgbClr val="4471C4"/>
                </a:solidFill>
                <a:latin typeface="Calibri Light"/>
                <a:cs typeface="Calibri Light"/>
              </a:rPr>
              <a:t>n</a:t>
            </a:r>
            <a:r>
              <a:rPr sz="9550" spc="-160" dirty="0">
                <a:solidFill>
                  <a:srgbClr val="4471C4"/>
                </a:solidFill>
                <a:latin typeface="Calibri Light"/>
                <a:cs typeface="Calibri Light"/>
              </a:rPr>
              <a:t>o</a:t>
            </a:r>
            <a:r>
              <a:rPr sz="9550" spc="-1055" dirty="0">
                <a:solidFill>
                  <a:srgbClr val="4471C4"/>
                </a:solidFill>
                <a:latin typeface="Calibri Light"/>
                <a:cs typeface="Calibri Light"/>
              </a:rPr>
              <a:t>w</a:t>
            </a:r>
            <a:r>
              <a:rPr sz="9550" spc="-30" dirty="0">
                <a:solidFill>
                  <a:srgbClr val="4471C4"/>
                </a:solidFill>
                <a:latin typeface="Calibri Light"/>
                <a:cs typeface="Calibri Light"/>
              </a:rPr>
              <a:t>,</a:t>
            </a:r>
            <a:r>
              <a:rPr sz="9550" spc="-20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9550" spc="-120" dirty="0">
                <a:solidFill>
                  <a:srgbClr val="4471C4"/>
                </a:solidFill>
                <a:latin typeface="Calibri Light"/>
                <a:cs typeface="Calibri Light"/>
              </a:rPr>
              <a:t>Pay</a:t>
            </a:r>
            <a:r>
              <a:rPr sz="9550" spc="-38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9550" spc="-10" dirty="0">
                <a:solidFill>
                  <a:srgbClr val="4471C4"/>
                </a:solidFill>
                <a:latin typeface="Calibri Light"/>
                <a:cs typeface="Calibri Light"/>
              </a:rPr>
              <a:t>Later</a:t>
            </a:r>
            <a:endParaRPr sz="955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28050" y="9517970"/>
            <a:ext cx="2612161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50" dirty="0">
                <a:solidFill>
                  <a:srgbClr val="4471C4"/>
                </a:solidFill>
                <a:latin typeface="Calibri"/>
                <a:cs typeface="Calibri"/>
              </a:rPr>
              <a:t>Mayank Kumar</a:t>
            </a:r>
            <a:endParaRPr sz="32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460" y="422664"/>
            <a:ext cx="19299765" cy="6207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533" y="1670798"/>
            <a:ext cx="8206105" cy="356552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2600" b="1" spc="-10" dirty="0">
                <a:latin typeface="Calibri"/>
                <a:cs typeface="Calibri"/>
              </a:rPr>
              <a:t>Concept:</a:t>
            </a:r>
            <a:endParaRPr sz="2600">
              <a:latin typeface="Calibri"/>
              <a:cs typeface="Calibri"/>
            </a:endParaRPr>
          </a:p>
          <a:p>
            <a:pPr marL="389890" marR="388620" indent="-377825">
              <a:lnSpc>
                <a:spcPts val="2600"/>
              </a:lnSpc>
              <a:spcBef>
                <a:spcPts val="1730"/>
              </a:spcBef>
              <a:buFont typeface="Arial MT"/>
              <a:buChar char="•"/>
              <a:tabLst>
                <a:tab pos="389890" algn="l"/>
              </a:tabLst>
            </a:pPr>
            <a:r>
              <a:rPr sz="2400" dirty="0">
                <a:latin typeface="Calibri"/>
                <a:cs typeface="Calibri"/>
              </a:rPr>
              <a:t>Save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now,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(SNPL)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incentivizes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saving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high-</a:t>
            </a:r>
            <a:r>
              <a:rPr sz="2400" spc="-10" dirty="0">
                <a:latin typeface="Calibri"/>
                <a:cs typeface="Calibri"/>
              </a:rPr>
              <a:t>ticket purchases</a:t>
            </a:r>
            <a:endParaRPr sz="2400">
              <a:latin typeface="Calibri"/>
              <a:cs typeface="Calibri"/>
            </a:endParaRPr>
          </a:p>
          <a:p>
            <a:pPr marL="389890" marR="149225" indent="-377825">
              <a:lnSpc>
                <a:spcPts val="2600"/>
              </a:lnSpc>
              <a:spcBef>
                <a:spcPts val="1680"/>
              </a:spcBef>
              <a:buFont typeface="Arial MT"/>
              <a:buChar char="•"/>
              <a:tabLst>
                <a:tab pos="389890" algn="l"/>
              </a:tabLst>
            </a:pPr>
            <a:r>
              <a:rPr sz="2400" dirty="0">
                <a:latin typeface="Calibri"/>
                <a:cs typeface="Calibri"/>
              </a:rPr>
              <a:t>Involves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saving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platforms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invest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those </a:t>
            </a:r>
            <a:r>
              <a:rPr sz="2400" dirty="0">
                <a:latin typeface="Calibri"/>
                <a:cs typeface="Calibri"/>
              </a:rPr>
              <a:t>savings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instruments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low-</a:t>
            </a:r>
            <a:r>
              <a:rPr sz="2400" dirty="0">
                <a:latin typeface="Calibri"/>
                <a:cs typeface="Calibri"/>
              </a:rPr>
              <a:t>risk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mutual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funds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better </a:t>
            </a:r>
            <a:r>
              <a:rPr sz="2400" dirty="0">
                <a:latin typeface="Calibri"/>
                <a:cs typeface="Calibri"/>
              </a:rPr>
              <a:t>returns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savings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accounts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fixed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deposits</a:t>
            </a:r>
            <a:endParaRPr sz="2400">
              <a:latin typeface="Calibri"/>
              <a:cs typeface="Calibri"/>
            </a:endParaRPr>
          </a:p>
          <a:p>
            <a:pPr marL="389890" marR="5080" indent="-377825">
              <a:lnSpc>
                <a:spcPts val="2600"/>
              </a:lnSpc>
              <a:spcBef>
                <a:spcPts val="1685"/>
              </a:spcBef>
              <a:buFont typeface="Arial MT"/>
              <a:buChar char="•"/>
              <a:tabLst>
                <a:tab pos="38989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affordability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ticket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purchases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individuals </a:t>
            </a:r>
            <a:r>
              <a:rPr sz="2400" dirty="0">
                <a:latin typeface="Calibri"/>
                <a:cs typeface="Calibri"/>
              </a:rPr>
              <a:t>who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afford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purchases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payments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15630" y="848508"/>
            <a:ext cx="18673445" cy="666750"/>
            <a:chOff x="715630" y="848508"/>
            <a:chExt cx="18673445" cy="666750"/>
          </a:xfrm>
        </p:grpSpPr>
        <p:sp>
          <p:nvSpPr>
            <p:cNvPr id="4" name="object 4"/>
            <p:cNvSpPr/>
            <p:nvPr/>
          </p:nvSpPr>
          <p:spPr>
            <a:xfrm>
              <a:off x="742135" y="875013"/>
              <a:ext cx="18620105" cy="614045"/>
            </a:xfrm>
            <a:custGeom>
              <a:avLst/>
              <a:gdLst/>
              <a:ahLst/>
              <a:cxnLst/>
              <a:rect l="l" t="t" r="r" b="b"/>
              <a:pathLst>
                <a:path w="18620105" h="614044">
                  <a:moveTo>
                    <a:pt x="18517578" y="0"/>
                  </a:moveTo>
                  <a:lnTo>
                    <a:pt x="102238" y="0"/>
                  </a:lnTo>
                  <a:lnTo>
                    <a:pt x="62443" y="8041"/>
                  </a:lnTo>
                  <a:lnTo>
                    <a:pt x="29946" y="29965"/>
                  </a:lnTo>
                  <a:lnTo>
                    <a:pt x="8034" y="62468"/>
                  </a:lnTo>
                  <a:lnTo>
                    <a:pt x="0" y="102249"/>
                  </a:lnTo>
                  <a:lnTo>
                    <a:pt x="0" y="511248"/>
                  </a:lnTo>
                  <a:lnTo>
                    <a:pt x="8034" y="551030"/>
                  </a:lnTo>
                  <a:lnTo>
                    <a:pt x="29946" y="583533"/>
                  </a:lnTo>
                  <a:lnTo>
                    <a:pt x="62443" y="605457"/>
                  </a:lnTo>
                  <a:lnTo>
                    <a:pt x="102238" y="613498"/>
                  </a:lnTo>
                  <a:lnTo>
                    <a:pt x="18517578" y="613498"/>
                  </a:lnTo>
                  <a:lnTo>
                    <a:pt x="18557359" y="605457"/>
                  </a:lnTo>
                  <a:lnTo>
                    <a:pt x="18589863" y="583533"/>
                  </a:lnTo>
                  <a:lnTo>
                    <a:pt x="18611786" y="551030"/>
                  </a:lnTo>
                  <a:lnTo>
                    <a:pt x="18619828" y="511248"/>
                  </a:lnTo>
                  <a:lnTo>
                    <a:pt x="18619828" y="102249"/>
                  </a:lnTo>
                  <a:lnTo>
                    <a:pt x="18611786" y="62468"/>
                  </a:lnTo>
                  <a:lnTo>
                    <a:pt x="18589863" y="29965"/>
                  </a:lnTo>
                  <a:lnTo>
                    <a:pt x="18557359" y="8041"/>
                  </a:lnTo>
                  <a:lnTo>
                    <a:pt x="18517578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2135" y="875013"/>
              <a:ext cx="18620105" cy="614045"/>
            </a:xfrm>
            <a:custGeom>
              <a:avLst/>
              <a:gdLst/>
              <a:ahLst/>
              <a:cxnLst/>
              <a:rect l="l" t="t" r="r" b="b"/>
              <a:pathLst>
                <a:path w="18620105" h="614044">
                  <a:moveTo>
                    <a:pt x="0" y="102249"/>
                  </a:moveTo>
                  <a:lnTo>
                    <a:pt x="8034" y="62468"/>
                  </a:lnTo>
                  <a:lnTo>
                    <a:pt x="29946" y="29965"/>
                  </a:lnTo>
                  <a:lnTo>
                    <a:pt x="62443" y="8041"/>
                  </a:lnTo>
                  <a:lnTo>
                    <a:pt x="102238" y="0"/>
                  </a:lnTo>
                  <a:lnTo>
                    <a:pt x="18517578" y="0"/>
                  </a:lnTo>
                  <a:lnTo>
                    <a:pt x="18557359" y="8041"/>
                  </a:lnTo>
                  <a:lnTo>
                    <a:pt x="18589863" y="29965"/>
                  </a:lnTo>
                  <a:lnTo>
                    <a:pt x="18611786" y="62468"/>
                  </a:lnTo>
                  <a:lnTo>
                    <a:pt x="18619828" y="102249"/>
                  </a:lnTo>
                  <a:lnTo>
                    <a:pt x="18619828" y="511248"/>
                  </a:lnTo>
                  <a:lnTo>
                    <a:pt x="18611786" y="551030"/>
                  </a:lnTo>
                  <a:lnTo>
                    <a:pt x="18589863" y="583533"/>
                  </a:lnTo>
                  <a:lnTo>
                    <a:pt x="18557359" y="605457"/>
                  </a:lnTo>
                  <a:lnTo>
                    <a:pt x="18517578" y="613498"/>
                  </a:lnTo>
                  <a:lnTo>
                    <a:pt x="102238" y="613498"/>
                  </a:lnTo>
                  <a:lnTo>
                    <a:pt x="62443" y="605457"/>
                  </a:lnTo>
                  <a:lnTo>
                    <a:pt x="29946" y="583533"/>
                  </a:lnTo>
                  <a:lnTo>
                    <a:pt x="8034" y="551030"/>
                  </a:lnTo>
                  <a:lnTo>
                    <a:pt x="0" y="511248"/>
                  </a:lnTo>
                  <a:lnTo>
                    <a:pt x="0" y="102249"/>
                  </a:lnTo>
                  <a:close/>
                </a:path>
              </a:pathLst>
            </a:custGeom>
            <a:ln w="5300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532697" y="911553"/>
            <a:ext cx="3037840" cy="478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b="1" dirty="0">
                <a:solidFill>
                  <a:srgbClr val="FFFFFF"/>
                </a:solidFill>
                <a:latin typeface="Calibri"/>
                <a:cs typeface="Calibri"/>
              </a:rPr>
              <a:t>Save</a:t>
            </a:r>
            <a:r>
              <a:rPr sz="2950" b="1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50" b="1" spc="-35" dirty="0">
                <a:solidFill>
                  <a:srgbClr val="FFFFFF"/>
                </a:solidFill>
                <a:latin typeface="Calibri"/>
                <a:cs typeface="Calibri"/>
              </a:rPr>
              <a:t>now,</a:t>
            </a:r>
            <a:r>
              <a:rPr sz="295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50" b="1" dirty="0">
                <a:solidFill>
                  <a:srgbClr val="FFFFFF"/>
                </a:solidFill>
                <a:latin typeface="Calibri"/>
                <a:cs typeface="Calibri"/>
              </a:rPr>
              <a:t>Pay</a:t>
            </a:r>
            <a:r>
              <a:rPr sz="2950" b="1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50" b="1" spc="-20" dirty="0">
                <a:solidFill>
                  <a:srgbClr val="FFFFFF"/>
                </a:solidFill>
                <a:latin typeface="Calibri"/>
                <a:cs typeface="Calibri"/>
              </a:rPr>
              <a:t>later</a:t>
            </a:r>
            <a:endParaRPr sz="295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02554" y="5772401"/>
          <a:ext cx="18486119" cy="5425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6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2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575">
                <a:tc gridSpan="3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Current</a:t>
                      </a:r>
                      <a:r>
                        <a:rPr sz="295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players</a:t>
                      </a:r>
                      <a:r>
                        <a:rPr sz="295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295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295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Indian</a:t>
                      </a:r>
                      <a:r>
                        <a:rPr sz="295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market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750" b="1" spc="-10" dirty="0">
                          <a:latin typeface="Calibri"/>
                          <a:cs typeface="Calibri"/>
                        </a:rPr>
                        <a:t>Company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750" b="1" spc="-10" dirty="0">
                          <a:latin typeface="Calibri"/>
                          <a:cs typeface="Calibri"/>
                        </a:rPr>
                        <a:t>Model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750" b="1" spc="-10" dirty="0">
                          <a:latin typeface="Calibri"/>
                          <a:cs typeface="Calibri"/>
                        </a:rPr>
                        <a:t>Returns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6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Multipl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01015" marR="490855" indent="-1905" algn="ctr">
                        <a:lnSpc>
                          <a:spcPct val="100499"/>
                        </a:lnSpc>
                        <a:spcBef>
                          <a:spcPts val="18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Money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invested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low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risk,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good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returns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mutual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funds.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Gamification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challenges,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levels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milestones.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Upto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25%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6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Tortoise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28270" marR="118110" algn="ctr">
                        <a:lnSpc>
                          <a:spcPct val="100499"/>
                        </a:lnSpc>
                        <a:spcBef>
                          <a:spcPts val="18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Deposits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kept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brand/merchant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you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saving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for,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advance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payments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towards</a:t>
                      </a:r>
                      <a:r>
                        <a:rPr sz="2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purchase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10%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6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Hubble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57810" marR="247650" algn="ctr">
                        <a:lnSpc>
                          <a:spcPct val="100499"/>
                        </a:lnSpc>
                        <a:spcBef>
                          <a:spcPts val="19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Saved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money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transferred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virtual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co-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branded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cards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card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purchases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those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brands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10%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978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EasyPlan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2733675" marR="327660" indent="-2399665">
                        <a:lnSpc>
                          <a:spcPct val="100499"/>
                        </a:lnSpc>
                        <a:spcBef>
                          <a:spcPts val="19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Investment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low-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risk</a:t>
                      </a:r>
                      <a:r>
                        <a:rPr sz="2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ICICI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Prudential funds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10-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12%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788908" y="1670798"/>
            <a:ext cx="9110345" cy="377761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2600" b="1" dirty="0">
                <a:latin typeface="Calibri"/>
                <a:cs typeface="Calibri"/>
              </a:rPr>
              <a:t>How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is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it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different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from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Buy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35" dirty="0">
                <a:latin typeface="Calibri"/>
                <a:cs typeface="Calibri"/>
              </a:rPr>
              <a:t>Now,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Pay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Later</a:t>
            </a:r>
            <a:endParaRPr sz="2600">
              <a:latin typeface="Calibri"/>
              <a:cs typeface="Calibri"/>
            </a:endParaRPr>
          </a:p>
          <a:p>
            <a:pPr marL="389890" indent="-377190">
              <a:lnSpc>
                <a:spcPct val="100000"/>
              </a:lnSpc>
              <a:spcBef>
                <a:spcPts val="1410"/>
              </a:spcBef>
              <a:buFont typeface="Arial MT"/>
              <a:buChar char="•"/>
              <a:tabLst>
                <a:tab pos="389890" algn="l"/>
              </a:tabLst>
            </a:pPr>
            <a:r>
              <a:rPr sz="2400" dirty="0">
                <a:latin typeface="Calibri"/>
                <a:cs typeface="Calibri"/>
              </a:rPr>
              <a:t>Easier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dependence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credit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behaviour</a:t>
            </a:r>
            <a:endParaRPr sz="2400">
              <a:latin typeface="Calibri"/>
              <a:cs typeface="Calibri"/>
            </a:endParaRPr>
          </a:p>
          <a:p>
            <a:pPr marL="389890" marR="362585" indent="-377825">
              <a:lnSpc>
                <a:spcPts val="2600"/>
              </a:lnSpc>
              <a:spcBef>
                <a:spcPts val="1714"/>
              </a:spcBef>
              <a:buFont typeface="Arial MT"/>
              <a:buChar char="•"/>
              <a:tabLst>
                <a:tab pos="389890" algn="l"/>
              </a:tabLst>
            </a:pPr>
            <a:r>
              <a:rPr sz="2400" dirty="0">
                <a:latin typeface="Calibri"/>
                <a:cs typeface="Calibri"/>
              </a:rPr>
              <a:t>Safer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companies,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chances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customers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credit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behaviour</a:t>
            </a:r>
            <a:endParaRPr sz="2400">
              <a:latin typeface="Calibri"/>
              <a:cs typeface="Calibri"/>
            </a:endParaRPr>
          </a:p>
          <a:p>
            <a:pPr marL="389890" indent="-377190">
              <a:lnSpc>
                <a:spcPct val="100000"/>
              </a:lnSpc>
              <a:spcBef>
                <a:spcPts val="1360"/>
              </a:spcBef>
              <a:buFont typeface="Arial MT"/>
              <a:buChar char="•"/>
              <a:tabLst>
                <a:tab pos="389890" algn="l"/>
              </a:tabLst>
            </a:pPr>
            <a:r>
              <a:rPr sz="2400" dirty="0">
                <a:latin typeface="Calibri"/>
                <a:cs typeface="Calibri"/>
              </a:rPr>
              <a:t>Develops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habit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saving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instead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purchasing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credit</a:t>
            </a:r>
            <a:endParaRPr sz="2400">
              <a:latin typeface="Calibri"/>
              <a:cs typeface="Calibri"/>
            </a:endParaRPr>
          </a:p>
          <a:p>
            <a:pPr marL="389890" marR="5080" indent="-377825">
              <a:lnSpc>
                <a:spcPts val="2600"/>
              </a:lnSpc>
              <a:spcBef>
                <a:spcPts val="1714"/>
              </a:spcBef>
              <a:buFont typeface="Arial MT"/>
              <a:buChar char="•"/>
              <a:tabLst>
                <a:tab pos="389890" algn="l"/>
              </a:tabLst>
            </a:pPr>
            <a:r>
              <a:rPr sz="2400" dirty="0">
                <a:latin typeface="Calibri"/>
                <a:cs typeface="Calibri"/>
              </a:rPr>
              <a:t>Has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dependence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investment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instruments,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instruments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chosen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platforms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worry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choosing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INTRODUCTION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519" y="7209317"/>
            <a:ext cx="1195898" cy="44245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0865" y="8410870"/>
            <a:ext cx="1201552" cy="35339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1339" y="10559529"/>
            <a:ext cx="1560605" cy="36470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6469" y="9561533"/>
            <a:ext cx="1448931" cy="3830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7103" y="1361382"/>
            <a:ext cx="9855835" cy="3538220"/>
            <a:chOff x="417103" y="1361382"/>
            <a:chExt cx="9855835" cy="3538220"/>
          </a:xfrm>
        </p:grpSpPr>
        <p:sp>
          <p:nvSpPr>
            <p:cNvPr id="3" name="object 3"/>
            <p:cNvSpPr/>
            <p:nvPr/>
          </p:nvSpPr>
          <p:spPr>
            <a:xfrm>
              <a:off x="430438" y="1374717"/>
              <a:ext cx="9829165" cy="3511550"/>
            </a:xfrm>
            <a:custGeom>
              <a:avLst/>
              <a:gdLst/>
              <a:ahLst/>
              <a:cxnLst/>
              <a:rect l="l" t="t" r="r" b="b"/>
              <a:pathLst>
                <a:path w="9829165" h="3511550">
                  <a:moveTo>
                    <a:pt x="9828702" y="0"/>
                  </a:moveTo>
                  <a:lnTo>
                    <a:pt x="0" y="0"/>
                  </a:lnTo>
                  <a:lnTo>
                    <a:pt x="0" y="3511361"/>
                  </a:lnTo>
                  <a:lnTo>
                    <a:pt x="9828702" y="3511361"/>
                  </a:lnTo>
                  <a:lnTo>
                    <a:pt x="9828702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0438" y="1374717"/>
              <a:ext cx="9829165" cy="3511550"/>
            </a:xfrm>
            <a:custGeom>
              <a:avLst/>
              <a:gdLst/>
              <a:ahLst/>
              <a:cxnLst/>
              <a:rect l="l" t="t" r="r" b="b"/>
              <a:pathLst>
                <a:path w="9829165" h="3511550">
                  <a:moveTo>
                    <a:pt x="0" y="3511361"/>
                  </a:moveTo>
                  <a:lnTo>
                    <a:pt x="9828702" y="3511361"/>
                  </a:lnTo>
                  <a:lnTo>
                    <a:pt x="9828702" y="0"/>
                  </a:lnTo>
                  <a:lnTo>
                    <a:pt x="0" y="0"/>
                  </a:lnTo>
                  <a:lnTo>
                    <a:pt x="0" y="3511361"/>
                  </a:lnTo>
                  <a:close/>
                </a:path>
              </a:pathLst>
            </a:custGeom>
            <a:ln w="265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02412" y="1384824"/>
            <a:ext cx="9615170" cy="34188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b="1" dirty="0">
                <a:latin typeface="Calibri"/>
                <a:cs typeface="Calibri"/>
              </a:rPr>
              <a:t>Rishabh,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age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22,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bachelor</a:t>
            </a:r>
            <a:endParaRPr sz="2200">
              <a:latin typeface="Calibri"/>
              <a:cs typeface="Calibri"/>
            </a:endParaRPr>
          </a:p>
          <a:p>
            <a:pPr marL="179070" indent="-16637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79070" algn="l"/>
              </a:tabLst>
            </a:pPr>
            <a:r>
              <a:rPr sz="2200" dirty="0">
                <a:latin typeface="Calibri"/>
                <a:cs typeface="Calibri"/>
              </a:rPr>
              <a:t>Lives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Noida,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recently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started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working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software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engineer</a:t>
            </a:r>
            <a:endParaRPr sz="2200">
              <a:latin typeface="Calibri"/>
              <a:cs typeface="Calibri"/>
            </a:endParaRPr>
          </a:p>
          <a:p>
            <a:pPr marL="179070" marR="244475" indent="-167005">
              <a:lnSpc>
                <a:spcPct val="101200"/>
              </a:lnSpc>
              <a:buFont typeface="Arial MT"/>
              <a:buChar char="•"/>
              <a:tabLst>
                <a:tab pos="179070" algn="l"/>
              </a:tabLst>
            </a:pPr>
            <a:r>
              <a:rPr sz="2200" dirty="0">
                <a:latin typeface="Calibri"/>
                <a:cs typeface="Calibri"/>
              </a:rPr>
              <a:t>Wants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become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financially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independent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buy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things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wants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with </a:t>
            </a:r>
            <a:r>
              <a:rPr sz="2200" dirty="0">
                <a:latin typeface="Calibri"/>
                <a:cs typeface="Calibri"/>
              </a:rPr>
              <a:t>his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own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money</a:t>
            </a:r>
            <a:endParaRPr sz="2200">
              <a:latin typeface="Calibri"/>
              <a:cs typeface="Calibri"/>
            </a:endParaRPr>
          </a:p>
          <a:p>
            <a:pPr marL="179070" indent="-16637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179070" algn="l"/>
              </a:tabLst>
            </a:pP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world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investments and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limited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personal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finance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Pain</a:t>
            </a:r>
            <a:r>
              <a:rPr sz="22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points:</a:t>
            </a:r>
            <a:endParaRPr sz="2200">
              <a:latin typeface="Calibri"/>
              <a:cs typeface="Calibri"/>
            </a:endParaRPr>
          </a:p>
          <a:p>
            <a:pPr marL="179070" marR="760730" indent="-167005">
              <a:lnSpc>
                <a:spcPct val="101200"/>
              </a:lnSpc>
              <a:buFont typeface="Arial MT"/>
              <a:buChar char="•"/>
              <a:tabLst>
                <a:tab pos="179070" algn="l"/>
              </a:tabLst>
            </a:pPr>
            <a:r>
              <a:rPr sz="2200" dirty="0">
                <a:latin typeface="Calibri"/>
                <a:cs typeface="Calibri"/>
              </a:rPr>
              <a:t>Wants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motorbike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within 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year,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salary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 add up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amount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necessary</a:t>
            </a:r>
            <a:endParaRPr sz="2200">
              <a:latin typeface="Calibri"/>
              <a:cs typeface="Calibri"/>
            </a:endParaRPr>
          </a:p>
          <a:p>
            <a:pPr marL="179070" marR="593090" indent="-167005">
              <a:lnSpc>
                <a:spcPct val="101200"/>
              </a:lnSpc>
              <a:spcBef>
                <a:spcPts val="5"/>
              </a:spcBef>
              <a:buFont typeface="Arial MT"/>
              <a:buChar char="•"/>
              <a:tabLst>
                <a:tab pos="179070" algn="l"/>
              </a:tabLst>
            </a:pP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ready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 save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salary every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month,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does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invest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assured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returns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able 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afford 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motorbike.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330621" y="1369864"/>
            <a:ext cx="9357995" cy="3538220"/>
            <a:chOff x="10330621" y="1369864"/>
            <a:chExt cx="9357995" cy="3538220"/>
          </a:xfrm>
        </p:grpSpPr>
        <p:sp>
          <p:nvSpPr>
            <p:cNvPr id="7" name="object 7"/>
            <p:cNvSpPr/>
            <p:nvPr/>
          </p:nvSpPr>
          <p:spPr>
            <a:xfrm>
              <a:off x="10343956" y="1383199"/>
              <a:ext cx="9331325" cy="3511550"/>
            </a:xfrm>
            <a:custGeom>
              <a:avLst/>
              <a:gdLst/>
              <a:ahLst/>
              <a:cxnLst/>
              <a:rect l="l" t="t" r="r" b="b"/>
              <a:pathLst>
                <a:path w="9331325" h="3511550">
                  <a:moveTo>
                    <a:pt x="9331118" y="0"/>
                  </a:moveTo>
                  <a:lnTo>
                    <a:pt x="0" y="0"/>
                  </a:lnTo>
                  <a:lnTo>
                    <a:pt x="0" y="3511361"/>
                  </a:lnTo>
                  <a:lnTo>
                    <a:pt x="9331118" y="3511361"/>
                  </a:lnTo>
                  <a:lnTo>
                    <a:pt x="933111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43956" y="1383199"/>
              <a:ext cx="9331325" cy="3511550"/>
            </a:xfrm>
            <a:custGeom>
              <a:avLst/>
              <a:gdLst/>
              <a:ahLst/>
              <a:cxnLst/>
              <a:rect l="l" t="t" r="r" b="b"/>
              <a:pathLst>
                <a:path w="9331325" h="3511550">
                  <a:moveTo>
                    <a:pt x="0" y="3511361"/>
                  </a:moveTo>
                  <a:lnTo>
                    <a:pt x="9331118" y="3511361"/>
                  </a:lnTo>
                  <a:lnTo>
                    <a:pt x="9331118" y="0"/>
                  </a:lnTo>
                  <a:lnTo>
                    <a:pt x="0" y="0"/>
                  </a:lnTo>
                  <a:lnTo>
                    <a:pt x="0" y="3511361"/>
                  </a:lnTo>
                  <a:close/>
                </a:path>
              </a:pathLst>
            </a:custGeom>
            <a:ln w="265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415600" y="1393823"/>
            <a:ext cx="9161780" cy="34188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b="1" dirty="0">
                <a:latin typeface="Calibri"/>
                <a:cs typeface="Calibri"/>
              </a:rPr>
              <a:t>Irshad,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age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48,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owner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flat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Lucknow</a:t>
            </a:r>
            <a:endParaRPr sz="2200">
              <a:latin typeface="Calibri"/>
              <a:cs typeface="Calibri"/>
            </a:endParaRPr>
          </a:p>
          <a:p>
            <a:pPr marL="179070" indent="-16637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179070" algn="l"/>
              </a:tabLst>
            </a:pPr>
            <a:r>
              <a:rPr sz="2200" dirty="0">
                <a:latin typeface="Calibri"/>
                <a:cs typeface="Calibri"/>
              </a:rPr>
              <a:t>Lives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Mumbai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family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4.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business</a:t>
            </a:r>
            <a:endParaRPr sz="2200">
              <a:latin typeface="Calibri"/>
              <a:cs typeface="Calibri"/>
            </a:endParaRPr>
          </a:p>
          <a:p>
            <a:pPr marL="179070" indent="-16637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179070" algn="l"/>
              </a:tabLst>
            </a:pPr>
            <a:r>
              <a:rPr sz="2200" dirty="0">
                <a:latin typeface="Calibri"/>
                <a:cs typeface="Calibri"/>
              </a:rPr>
              <a:t>Believes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traditional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saving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doesn’t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believe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quick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returns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on</a:t>
            </a:r>
            <a:endParaRPr sz="2200">
              <a:latin typeface="Calibri"/>
              <a:cs typeface="Calibri"/>
            </a:endParaRPr>
          </a:p>
          <a:p>
            <a:pPr marL="179070">
              <a:lnSpc>
                <a:spcPct val="100000"/>
              </a:lnSpc>
              <a:spcBef>
                <a:spcPts val="35"/>
              </a:spcBef>
            </a:pPr>
            <a:r>
              <a:rPr sz="2200" dirty="0">
                <a:latin typeface="Calibri"/>
                <a:cs typeface="Calibri"/>
              </a:rPr>
              <a:t>investments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made</a:t>
            </a:r>
            <a:endParaRPr sz="2200">
              <a:latin typeface="Calibri"/>
              <a:cs typeface="Calibri"/>
            </a:endParaRPr>
          </a:p>
          <a:p>
            <a:pPr marL="179070" marR="408940" indent="-167005">
              <a:lnSpc>
                <a:spcPct val="101200"/>
              </a:lnSpc>
              <a:buFont typeface="Arial MT"/>
              <a:buChar char="•"/>
              <a:tabLst>
                <a:tab pos="179070" algn="l"/>
              </a:tabLst>
            </a:pPr>
            <a:r>
              <a:rPr sz="2200" dirty="0">
                <a:latin typeface="Calibri"/>
                <a:cs typeface="Calibri"/>
              </a:rPr>
              <a:t>Has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been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saving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daughter’s marriage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(plans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done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next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years)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 COVID,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suffering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might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additional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monetary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inputs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marriage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fund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Pain</a:t>
            </a:r>
            <a:r>
              <a:rPr sz="22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points:</a:t>
            </a:r>
            <a:endParaRPr sz="2200">
              <a:latin typeface="Calibri"/>
              <a:cs typeface="Calibri"/>
            </a:endParaRPr>
          </a:p>
          <a:p>
            <a:pPr marL="179070" indent="-16637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79070" algn="l"/>
              </a:tabLst>
            </a:pPr>
            <a:r>
              <a:rPr sz="2200" dirty="0">
                <a:latin typeface="Calibri"/>
                <a:cs typeface="Calibri"/>
              </a:rPr>
              <a:t>Doesn’t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want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break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daughter’s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savings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fund,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inject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money</a:t>
            </a:r>
            <a:endParaRPr sz="2200">
              <a:latin typeface="Calibri"/>
              <a:cs typeface="Calibri"/>
            </a:endParaRPr>
          </a:p>
          <a:p>
            <a:pPr marL="179070">
              <a:lnSpc>
                <a:spcPct val="100000"/>
              </a:lnSpc>
              <a:spcBef>
                <a:spcPts val="30"/>
              </a:spcBef>
            </a:pPr>
            <a:r>
              <a:rPr sz="2200" dirty="0">
                <a:latin typeface="Calibri"/>
                <a:cs typeface="Calibri"/>
              </a:rPr>
              <a:t>into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quickly 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save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closing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9731" y="6146296"/>
            <a:ext cx="11029315" cy="1798320"/>
          </a:xfrm>
          <a:custGeom>
            <a:avLst/>
            <a:gdLst/>
            <a:ahLst/>
            <a:cxnLst/>
            <a:rect l="l" t="t" r="r" b="b"/>
            <a:pathLst>
              <a:path w="11029315" h="1798320">
                <a:moveTo>
                  <a:pt x="11028841" y="0"/>
                </a:moveTo>
                <a:lnTo>
                  <a:pt x="0" y="0"/>
                </a:lnTo>
                <a:lnTo>
                  <a:pt x="0" y="1798088"/>
                </a:lnTo>
                <a:lnTo>
                  <a:pt x="11028841" y="1798088"/>
                </a:lnTo>
                <a:lnTo>
                  <a:pt x="11028841" y="0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02412" y="6158452"/>
            <a:ext cx="10799445" cy="172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5"/>
              </a:spcBef>
            </a:pPr>
            <a:r>
              <a:rPr sz="2200" b="1" dirty="0">
                <a:latin typeface="Calibri"/>
                <a:cs typeface="Calibri"/>
              </a:rPr>
              <a:t>Xtra: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Xtra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 a </a:t>
            </a:r>
            <a:r>
              <a:rPr sz="2200" spc="-10" dirty="0">
                <a:latin typeface="Calibri"/>
                <a:cs typeface="Calibri"/>
              </a:rPr>
              <a:t>Peer-to-</a:t>
            </a:r>
            <a:r>
              <a:rPr sz="2200" dirty="0">
                <a:latin typeface="Calibri"/>
                <a:cs typeface="Calibri"/>
              </a:rPr>
              <a:t>Peer investment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instrument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offers users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opportunity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earn </a:t>
            </a:r>
            <a:r>
              <a:rPr sz="2200" dirty="0">
                <a:latin typeface="Calibri"/>
                <a:cs typeface="Calibri"/>
              </a:rPr>
              <a:t>upto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12%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p.a.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(12.99%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Xtra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Plus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 a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3-month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lock-in)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lending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directly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creditworthy </a:t>
            </a:r>
            <a:r>
              <a:rPr sz="2200" dirty="0">
                <a:latin typeface="Calibri"/>
                <a:cs typeface="Calibri"/>
              </a:rPr>
              <a:t>borrowers.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done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RBI-regulated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peer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peer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investing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platform,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Lendbox</a:t>
            </a:r>
            <a:endParaRPr sz="2200">
              <a:latin typeface="Calibri"/>
              <a:cs typeface="Calibri"/>
            </a:endParaRPr>
          </a:p>
          <a:p>
            <a:pPr marL="12700" marR="1129030">
              <a:lnSpc>
                <a:spcPts val="2670"/>
              </a:lnSpc>
              <a:spcBef>
                <a:spcPts val="95"/>
              </a:spcBef>
            </a:pPr>
            <a:r>
              <a:rPr sz="2200" spc="-80" dirty="0">
                <a:latin typeface="Calibri"/>
                <a:cs typeface="Calibri"/>
              </a:rPr>
              <a:t>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mitigate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risk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diversify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investments, money 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split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smaller chunks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distributed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different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borrowers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varying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creditworthiness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4916" y="767367"/>
            <a:ext cx="6652259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dirty="0">
                <a:latin typeface="Calibri"/>
                <a:cs typeface="Calibri"/>
              </a:rPr>
              <a:t>Following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prominent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personas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relevant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us: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54916" y="134078"/>
            <a:ext cx="1394460" cy="64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USERS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394392" y="5028145"/>
            <a:ext cx="19362420" cy="577215"/>
            <a:chOff x="394392" y="5028145"/>
            <a:chExt cx="19362420" cy="577215"/>
          </a:xfrm>
        </p:grpSpPr>
        <p:sp>
          <p:nvSpPr>
            <p:cNvPr id="15" name="object 15"/>
            <p:cNvSpPr/>
            <p:nvPr/>
          </p:nvSpPr>
          <p:spPr>
            <a:xfrm>
              <a:off x="429731" y="5063485"/>
              <a:ext cx="19291300" cy="506095"/>
            </a:xfrm>
            <a:custGeom>
              <a:avLst/>
              <a:gdLst/>
              <a:ahLst/>
              <a:cxnLst/>
              <a:rect l="l" t="t" r="r" b="b"/>
              <a:pathLst>
                <a:path w="19291300" h="506095">
                  <a:moveTo>
                    <a:pt x="19206940" y="0"/>
                  </a:moveTo>
                  <a:lnTo>
                    <a:pt x="84344" y="0"/>
                  </a:lnTo>
                  <a:lnTo>
                    <a:pt x="51515" y="6635"/>
                  </a:lnTo>
                  <a:lnTo>
                    <a:pt x="24705" y="24723"/>
                  </a:lnTo>
                  <a:lnTo>
                    <a:pt x="6628" y="51535"/>
                  </a:lnTo>
                  <a:lnTo>
                    <a:pt x="0" y="84344"/>
                  </a:lnTo>
                  <a:lnTo>
                    <a:pt x="0" y="421721"/>
                  </a:lnTo>
                  <a:lnTo>
                    <a:pt x="6628" y="454530"/>
                  </a:lnTo>
                  <a:lnTo>
                    <a:pt x="24705" y="481342"/>
                  </a:lnTo>
                  <a:lnTo>
                    <a:pt x="51515" y="499430"/>
                  </a:lnTo>
                  <a:lnTo>
                    <a:pt x="84344" y="506065"/>
                  </a:lnTo>
                  <a:lnTo>
                    <a:pt x="19206940" y="506065"/>
                  </a:lnTo>
                  <a:lnTo>
                    <a:pt x="19239749" y="499430"/>
                  </a:lnTo>
                  <a:lnTo>
                    <a:pt x="19266561" y="481342"/>
                  </a:lnTo>
                  <a:lnTo>
                    <a:pt x="19284648" y="454530"/>
                  </a:lnTo>
                  <a:lnTo>
                    <a:pt x="19291284" y="421721"/>
                  </a:lnTo>
                  <a:lnTo>
                    <a:pt x="19291284" y="84344"/>
                  </a:lnTo>
                  <a:lnTo>
                    <a:pt x="19284648" y="51535"/>
                  </a:lnTo>
                  <a:lnTo>
                    <a:pt x="19266561" y="24723"/>
                  </a:lnTo>
                  <a:lnTo>
                    <a:pt x="19239749" y="6635"/>
                  </a:lnTo>
                  <a:lnTo>
                    <a:pt x="1920694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9731" y="5063485"/>
              <a:ext cx="19291300" cy="506095"/>
            </a:xfrm>
            <a:custGeom>
              <a:avLst/>
              <a:gdLst/>
              <a:ahLst/>
              <a:cxnLst/>
              <a:rect l="l" t="t" r="r" b="b"/>
              <a:pathLst>
                <a:path w="19291300" h="506095">
                  <a:moveTo>
                    <a:pt x="0" y="84344"/>
                  </a:moveTo>
                  <a:lnTo>
                    <a:pt x="6628" y="51535"/>
                  </a:lnTo>
                  <a:lnTo>
                    <a:pt x="24705" y="24723"/>
                  </a:lnTo>
                  <a:lnTo>
                    <a:pt x="51515" y="6635"/>
                  </a:lnTo>
                  <a:lnTo>
                    <a:pt x="84344" y="0"/>
                  </a:lnTo>
                  <a:lnTo>
                    <a:pt x="19206940" y="0"/>
                  </a:lnTo>
                  <a:lnTo>
                    <a:pt x="19239749" y="6635"/>
                  </a:lnTo>
                  <a:lnTo>
                    <a:pt x="19266561" y="24723"/>
                  </a:lnTo>
                  <a:lnTo>
                    <a:pt x="19284648" y="51535"/>
                  </a:lnTo>
                  <a:lnTo>
                    <a:pt x="19291284" y="84344"/>
                  </a:lnTo>
                  <a:lnTo>
                    <a:pt x="19291284" y="421721"/>
                  </a:lnTo>
                  <a:lnTo>
                    <a:pt x="19284648" y="454530"/>
                  </a:lnTo>
                  <a:lnTo>
                    <a:pt x="19266561" y="481342"/>
                  </a:lnTo>
                  <a:lnTo>
                    <a:pt x="19239749" y="499430"/>
                  </a:lnTo>
                  <a:lnTo>
                    <a:pt x="19206940" y="506065"/>
                  </a:lnTo>
                  <a:lnTo>
                    <a:pt x="84344" y="506065"/>
                  </a:lnTo>
                  <a:lnTo>
                    <a:pt x="51515" y="499430"/>
                  </a:lnTo>
                  <a:lnTo>
                    <a:pt x="24705" y="481342"/>
                  </a:lnTo>
                  <a:lnTo>
                    <a:pt x="6628" y="454530"/>
                  </a:lnTo>
                  <a:lnTo>
                    <a:pt x="0" y="421721"/>
                  </a:lnTo>
                  <a:lnTo>
                    <a:pt x="0" y="84344"/>
                  </a:lnTo>
                  <a:close/>
                </a:path>
              </a:pathLst>
            </a:custGeom>
            <a:ln w="7067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4916" y="5099082"/>
            <a:ext cx="18647410" cy="960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08965">
              <a:lnSpc>
                <a:spcPct val="100000"/>
              </a:lnSpc>
              <a:spcBef>
                <a:spcPts val="114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unmet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educate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possibilities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goal-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savings</a:t>
            </a:r>
            <a:r>
              <a:rPr sz="2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investment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low-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risk,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good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instruments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200" b="1" dirty="0">
                <a:latin typeface="Calibri"/>
                <a:cs typeface="Calibri"/>
              </a:rPr>
              <a:t>Analysis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10" dirty="0">
                <a:latin typeface="Calibri"/>
                <a:cs typeface="Calibri"/>
              </a:rPr>
              <a:t> MobiKwik’s</a:t>
            </a:r>
            <a:r>
              <a:rPr sz="2200" b="1" dirty="0">
                <a:latin typeface="Calibri"/>
                <a:cs typeface="Calibri"/>
              </a:rPr>
              <a:t> current</a:t>
            </a:r>
            <a:r>
              <a:rPr sz="2200" b="1" spc="-10" dirty="0">
                <a:latin typeface="Calibri"/>
                <a:cs typeface="Calibri"/>
              </a:rPr>
              <a:t> offerings: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2858" y="489102"/>
            <a:ext cx="1784659" cy="163481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79835" y="544232"/>
            <a:ext cx="1675812" cy="1579688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11458573" y="6146296"/>
            <a:ext cx="8262620" cy="1798320"/>
          </a:xfrm>
          <a:custGeom>
            <a:avLst/>
            <a:gdLst/>
            <a:ahLst/>
            <a:cxnLst/>
            <a:rect l="l" t="t" r="r" b="b"/>
            <a:pathLst>
              <a:path w="8262619" h="1798320">
                <a:moveTo>
                  <a:pt x="8262442" y="0"/>
                </a:moveTo>
                <a:lnTo>
                  <a:pt x="0" y="0"/>
                </a:lnTo>
                <a:lnTo>
                  <a:pt x="0" y="1798088"/>
                </a:lnTo>
                <a:lnTo>
                  <a:pt x="8262442" y="1798088"/>
                </a:lnTo>
                <a:lnTo>
                  <a:pt x="8262442" y="0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1532102" y="6158452"/>
            <a:ext cx="8110855" cy="172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52425">
              <a:lnSpc>
                <a:spcPct val="101200"/>
              </a:lnSpc>
              <a:spcBef>
                <a:spcPts val="95"/>
              </a:spcBef>
            </a:pPr>
            <a:r>
              <a:rPr sz="2200" b="1" dirty="0">
                <a:latin typeface="Calibri"/>
                <a:cs typeface="Calibri"/>
              </a:rPr>
              <a:t>Zip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EMI: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 feature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unlocked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ZIP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BNPL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shows </a:t>
            </a:r>
            <a:r>
              <a:rPr sz="2200" dirty="0">
                <a:latin typeface="Calibri"/>
                <a:cs typeface="Calibri"/>
              </a:rPr>
              <a:t>good credit behaviour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 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MobiKwik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platform.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pre- </a:t>
            </a:r>
            <a:r>
              <a:rPr sz="2200" dirty="0">
                <a:latin typeface="Calibri"/>
                <a:cs typeface="Calibri"/>
              </a:rPr>
              <a:t>approved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loans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pay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back in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easy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EMIs.</a:t>
            </a:r>
            <a:endParaRPr sz="2200">
              <a:latin typeface="Calibri"/>
              <a:cs typeface="Calibri"/>
            </a:endParaRPr>
          </a:p>
          <a:p>
            <a:pPr marL="12700" marR="5080">
              <a:lnSpc>
                <a:spcPts val="267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loan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limits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big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those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provided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through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banks,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still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finance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big ticket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purchases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2,00,000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4916" y="7992186"/>
            <a:ext cx="6671309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b="1" dirty="0">
                <a:latin typeface="Calibri"/>
                <a:cs typeface="Calibri"/>
              </a:rPr>
              <a:t>User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journey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for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general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big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ticket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(&gt;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₹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1 lakh)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purchases: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2799" y="8443381"/>
            <a:ext cx="16604046" cy="27607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USER</a:t>
            </a:r>
            <a:r>
              <a:rPr spc="15" dirty="0"/>
              <a:t> </a:t>
            </a:r>
            <a:r>
              <a:rPr dirty="0"/>
              <a:t>RESEARCH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DEFINING</a:t>
            </a:r>
            <a:r>
              <a:rPr spc="4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10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2504" y="9630799"/>
            <a:ext cx="19187160" cy="1522730"/>
            <a:chOff x="572504" y="9630799"/>
            <a:chExt cx="19187160" cy="1522730"/>
          </a:xfrm>
        </p:grpSpPr>
        <p:sp>
          <p:nvSpPr>
            <p:cNvPr id="4" name="object 4"/>
            <p:cNvSpPr/>
            <p:nvPr/>
          </p:nvSpPr>
          <p:spPr>
            <a:xfrm>
              <a:off x="607844" y="9666139"/>
              <a:ext cx="19116040" cy="1452245"/>
            </a:xfrm>
            <a:custGeom>
              <a:avLst/>
              <a:gdLst/>
              <a:ahLst/>
              <a:cxnLst/>
              <a:rect l="l" t="t" r="r" b="b"/>
              <a:pathLst>
                <a:path w="19116040" h="1452245">
                  <a:moveTo>
                    <a:pt x="18874039" y="0"/>
                  </a:moveTo>
                  <a:lnTo>
                    <a:pt x="241959" y="0"/>
                  </a:lnTo>
                  <a:lnTo>
                    <a:pt x="193196" y="4917"/>
                  </a:lnTo>
                  <a:lnTo>
                    <a:pt x="147777" y="19020"/>
                  </a:lnTo>
                  <a:lnTo>
                    <a:pt x="106677" y="41335"/>
                  </a:lnTo>
                  <a:lnTo>
                    <a:pt x="70868" y="70885"/>
                  </a:lnTo>
                  <a:lnTo>
                    <a:pt x="41322" y="106698"/>
                  </a:lnTo>
                  <a:lnTo>
                    <a:pt x="19014" y="147797"/>
                  </a:lnTo>
                  <a:lnTo>
                    <a:pt x="4915" y="193209"/>
                  </a:lnTo>
                  <a:lnTo>
                    <a:pt x="0" y="241959"/>
                  </a:lnTo>
                  <a:lnTo>
                    <a:pt x="0" y="1209798"/>
                  </a:lnTo>
                  <a:lnTo>
                    <a:pt x="4915" y="1258562"/>
                  </a:lnTo>
                  <a:lnTo>
                    <a:pt x="19014" y="1303980"/>
                  </a:lnTo>
                  <a:lnTo>
                    <a:pt x="41322" y="1345081"/>
                  </a:lnTo>
                  <a:lnTo>
                    <a:pt x="70868" y="1380890"/>
                  </a:lnTo>
                  <a:lnTo>
                    <a:pt x="106677" y="1410435"/>
                  </a:lnTo>
                  <a:lnTo>
                    <a:pt x="147777" y="1432744"/>
                  </a:lnTo>
                  <a:lnTo>
                    <a:pt x="193196" y="1446842"/>
                  </a:lnTo>
                  <a:lnTo>
                    <a:pt x="241959" y="1451758"/>
                  </a:lnTo>
                  <a:lnTo>
                    <a:pt x="18874039" y="1451758"/>
                  </a:lnTo>
                  <a:lnTo>
                    <a:pt x="18922789" y="1446842"/>
                  </a:lnTo>
                  <a:lnTo>
                    <a:pt x="18968201" y="1432744"/>
                  </a:lnTo>
                  <a:lnTo>
                    <a:pt x="19009300" y="1410435"/>
                  </a:lnTo>
                  <a:lnTo>
                    <a:pt x="19045113" y="1380890"/>
                  </a:lnTo>
                  <a:lnTo>
                    <a:pt x="19074663" y="1345081"/>
                  </a:lnTo>
                  <a:lnTo>
                    <a:pt x="19096978" y="1303980"/>
                  </a:lnTo>
                  <a:lnTo>
                    <a:pt x="19111081" y="1258562"/>
                  </a:lnTo>
                  <a:lnTo>
                    <a:pt x="19115999" y="1209798"/>
                  </a:lnTo>
                  <a:lnTo>
                    <a:pt x="19115999" y="241959"/>
                  </a:lnTo>
                  <a:lnTo>
                    <a:pt x="19111081" y="193209"/>
                  </a:lnTo>
                  <a:lnTo>
                    <a:pt x="19096978" y="147797"/>
                  </a:lnTo>
                  <a:lnTo>
                    <a:pt x="19074663" y="106698"/>
                  </a:lnTo>
                  <a:lnTo>
                    <a:pt x="19045113" y="70885"/>
                  </a:lnTo>
                  <a:lnTo>
                    <a:pt x="19009300" y="41335"/>
                  </a:lnTo>
                  <a:lnTo>
                    <a:pt x="18968201" y="19020"/>
                  </a:lnTo>
                  <a:lnTo>
                    <a:pt x="18922789" y="4917"/>
                  </a:lnTo>
                  <a:lnTo>
                    <a:pt x="18874039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7844" y="9666139"/>
              <a:ext cx="19116040" cy="1452245"/>
            </a:xfrm>
            <a:custGeom>
              <a:avLst/>
              <a:gdLst/>
              <a:ahLst/>
              <a:cxnLst/>
              <a:rect l="l" t="t" r="r" b="b"/>
              <a:pathLst>
                <a:path w="19116040" h="1452245">
                  <a:moveTo>
                    <a:pt x="0" y="241959"/>
                  </a:moveTo>
                  <a:lnTo>
                    <a:pt x="4915" y="193209"/>
                  </a:lnTo>
                  <a:lnTo>
                    <a:pt x="19014" y="147797"/>
                  </a:lnTo>
                  <a:lnTo>
                    <a:pt x="41322" y="106698"/>
                  </a:lnTo>
                  <a:lnTo>
                    <a:pt x="70868" y="70885"/>
                  </a:lnTo>
                  <a:lnTo>
                    <a:pt x="106677" y="41335"/>
                  </a:lnTo>
                  <a:lnTo>
                    <a:pt x="147777" y="19020"/>
                  </a:lnTo>
                  <a:lnTo>
                    <a:pt x="193196" y="4917"/>
                  </a:lnTo>
                  <a:lnTo>
                    <a:pt x="241959" y="0"/>
                  </a:lnTo>
                  <a:lnTo>
                    <a:pt x="18874039" y="0"/>
                  </a:lnTo>
                  <a:lnTo>
                    <a:pt x="18922789" y="4917"/>
                  </a:lnTo>
                  <a:lnTo>
                    <a:pt x="18968201" y="19020"/>
                  </a:lnTo>
                  <a:lnTo>
                    <a:pt x="19009300" y="41335"/>
                  </a:lnTo>
                  <a:lnTo>
                    <a:pt x="19045113" y="70885"/>
                  </a:lnTo>
                  <a:lnTo>
                    <a:pt x="19074663" y="106698"/>
                  </a:lnTo>
                  <a:lnTo>
                    <a:pt x="19096978" y="147797"/>
                  </a:lnTo>
                  <a:lnTo>
                    <a:pt x="19111081" y="193209"/>
                  </a:lnTo>
                  <a:lnTo>
                    <a:pt x="19115999" y="241959"/>
                  </a:lnTo>
                  <a:lnTo>
                    <a:pt x="19115999" y="1209798"/>
                  </a:lnTo>
                  <a:lnTo>
                    <a:pt x="19111081" y="1258562"/>
                  </a:lnTo>
                  <a:lnTo>
                    <a:pt x="19096978" y="1303980"/>
                  </a:lnTo>
                  <a:lnTo>
                    <a:pt x="19074663" y="1345081"/>
                  </a:lnTo>
                  <a:lnTo>
                    <a:pt x="19045113" y="1380890"/>
                  </a:lnTo>
                  <a:lnTo>
                    <a:pt x="19009300" y="1410435"/>
                  </a:lnTo>
                  <a:lnTo>
                    <a:pt x="18968201" y="1432744"/>
                  </a:lnTo>
                  <a:lnTo>
                    <a:pt x="18922789" y="1446842"/>
                  </a:lnTo>
                  <a:lnTo>
                    <a:pt x="18874039" y="1451758"/>
                  </a:lnTo>
                  <a:lnTo>
                    <a:pt x="241959" y="1451758"/>
                  </a:lnTo>
                  <a:lnTo>
                    <a:pt x="193196" y="1446842"/>
                  </a:lnTo>
                  <a:lnTo>
                    <a:pt x="147777" y="1432744"/>
                  </a:lnTo>
                  <a:lnTo>
                    <a:pt x="106677" y="1410435"/>
                  </a:lnTo>
                  <a:lnTo>
                    <a:pt x="70868" y="1380890"/>
                  </a:lnTo>
                  <a:lnTo>
                    <a:pt x="41322" y="1345081"/>
                  </a:lnTo>
                  <a:lnTo>
                    <a:pt x="19014" y="1303980"/>
                  </a:lnTo>
                  <a:lnTo>
                    <a:pt x="4915" y="1258562"/>
                  </a:lnTo>
                  <a:lnTo>
                    <a:pt x="0" y="1209798"/>
                  </a:lnTo>
                  <a:lnTo>
                    <a:pt x="0" y="241959"/>
                  </a:lnTo>
                  <a:close/>
                </a:path>
              </a:pathLst>
            </a:custGeom>
            <a:ln w="7067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7510" y="900715"/>
            <a:ext cx="14445615" cy="7918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latin typeface="Calibri"/>
                <a:cs typeface="Calibri"/>
              </a:rPr>
              <a:t>Pretext: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 established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gap in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understanding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investment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instruments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low risk,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good </a:t>
            </a:r>
            <a:r>
              <a:rPr sz="2200" spc="-10" dirty="0">
                <a:latin typeface="Calibri"/>
                <a:cs typeface="Calibri"/>
              </a:rPr>
              <a:t>returns</a:t>
            </a:r>
            <a:endParaRPr sz="220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spcBef>
                <a:spcPts val="375"/>
              </a:spcBef>
            </a:pPr>
            <a:r>
              <a:rPr sz="2200" b="1" dirty="0">
                <a:latin typeface="Calibri"/>
                <a:cs typeface="Calibri"/>
              </a:rPr>
              <a:t>Hypotheses: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(in context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big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ticket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purchases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exceeding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₹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 </a:t>
            </a:r>
            <a:r>
              <a:rPr sz="2200" spc="-10" dirty="0">
                <a:latin typeface="Calibri"/>
                <a:cs typeface="Calibri"/>
              </a:rPr>
              <a:t>lakh)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525372" y="3785244"/>
          <a:ext cx="12280900" cy="5604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5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Observation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Insight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1795">
                <a:tc>
                  <a:txBody>
                    <a:bodyPr/>
                    <a:lstStyle/>
                    <a:p>
                      <a:pPr marL="735965" marR="441325" indent="-284480">
                        <a:lnSpc>
                          <a:spcPct val="1012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22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income</a:t>
                      </a:r>
                      <a:r>
                        <a:rPr sz="22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bracket</a:t>
                      </a:r>
                      <a:r>
                        <a:rPr sz="22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0-50000,</a:t>
                      </a:r>
                      <a:r>
                        <a:rPr sz="22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2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money</a:t>
                      </a:r>
                      <a:r>
                        <a:rPr sz="2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big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ticket</a:t>
                      </a:r>
                      <a:r>
                        <a:rPr sz="2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purchases: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981710" indent="-318135">
                        <a:lnSpc>
                          <a:spcPct val="100000"/>
                        </a:lnSpc>
                        <a:spcBef>
                          <a:spcPts val="30"/>
                        </a:spcBef>
                        <a:buFont typeface="Arial MT"/>
                        <a:buChar char="•"/>
                        <a:tabLst>
                          <a:tab pos="981710" algn="l"/>
                        </a:tabLst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67%</a:t>
                      </a:r>
                      <a:r>
                        <a:rPr sz="22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22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22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2200" b="1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12-18</a:t>
                      </a:r>
                      <a:r>
                        <a:rPr sz="22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spc="-10" dirty="0">
                          <a:latin typeface="Calibri"/>
                          <a:cs typeface="Calibri"/>
                        </a:rPr>
                        <a:t>months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981710" indent="-318135">
                        <a:lnSpc>
                          <a:spcPct val="100000"/>
                        </a:lnSpc>
                        <a:spcBef>
                          <a:spcPts val="30"/>
                        </a:spcBef>
                        <a:buFont typeface="Arial MT"/>
                        <a:buChar char="•"/>
                        <a:tabLst>
                          <a:tab pos="981710" algn="l"/>
                        </a:tabLst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33%</a:t>
                      </a:r>
                      <a:r>
                        <a:rPr sz="22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22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22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2200" b="1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18-24</a:t>
                      </a:r>
                      <a:r>
                        <a:rPr sz="22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spc="-10" dirty="0">
                          <a:latin typeface="Calibri"/>
                          <a:cs typeface="Calibri"/>
                        </a:rPr>
                        <a:t>months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18110" marR="110489" algn="ctr">
                        <a:lnSpc>
                          <a:spcPct val="101200"/>
                        </a:lnSpc>
                        <a:spcBef>
                          <a:spcPts val="2390"/>
                        </a:spcBef>
                      </a:pPr>
                      <a:r>
                        <a:rPr sz="2200" b="1" i="1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200" b="1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huge</a:t>
                      </a:r>
                      <a:r>
                        <a:rPr sz="2200" b="1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scope</a:t>
                      </a:r>
                      <a:r>
                        <a:rPr sz="2200" b="1" i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b="1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reducing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timeline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big ticket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purchases</a:t>
                      </a:r>
                      <a:r>
                        <a:rPr sz="2200" b="1" i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spc="-10" dirty="0">
                          <a:latin typeface="Calibri"/>
                          <a:cs typeface="Calibri"/>
                        </a:rPr>
                        <a:t>appropriate investments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3035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1795">
                <a:tc>
                  <a:txBody>
                    <a:bodyPr/>
                    <a:lstStyle/>
                    <a:p>
                      <a:pPr marL="437515" marR="99060" indent="-329565">
                        <a:lnSpc>
                          <a:spcPct val="1012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2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2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income</a:t>
                      </a:r>
                      <a:r>
                        <a:rPr sz="22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bracket</a:t>
                      </a:r>
                      <a:r>
                        <a:rPr sz="22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0-50000,</a:t>
                      </a:r>
                      <a:r>
                        <a:rPr sz="2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spc="5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make </a:t>
                      </a:r>
                      <a:r>
                        <a:rPr sz="220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200" spc="1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big-ticket</a:t>
                      </a:r>
                      <a:r>
                        <a:rPr sz="2200" spc="-3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purchase</a:t>
                      </a:r>
                      <a:r>
                        <a:rPr sz="2200" spc="2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2200" spc="2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1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solidFill>
                            <a:srgbClr val="1F2023"/>
                          </a:solidFill>
                          <a:latin typeface="Calibri"/>
                          <a:cs typeface="Calibri"/>
                        </a:rPr>
                        <a:t>next </a:t>
                      </a:r>
                      <a:r>
                        <a:rPr sz="2200" b="1" i="1" u="sng" dirty="0">
                          <a:solidFill>
                            <a:srgbClr val="1F2023"/>
                          </a:solidFill>
                          <a:uFill>
                            <a:solidFill>
                              <a:srgbClr val="1F2023"/>
                            </a:solidFill>
                          </a:uFill>
                          <a:latin typeface="Calibri"/>
                          <a:cs typeface="Calibri"/>
                        </a:rPr>
                        <a:t>3-12</a:t>
                      </a:r>
                      <a:r>
                        <a:rPr sz="2200" b="1" i="1" u="sng" spc="15" dirty="0">
                          <a:solidFill>
                            <a:srgbClr val="1F2023"/>
                          </a:solidFill>
                          <a:uFill>
                            <a:solidFill>
                              <a:srgbClr val="1F2023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u="sng" spc="-10" dirty="0">
                          <a:solidFill>
                            <a:srgbClr val="1F2023"/>
                          </a:solidFill>
                          <a:uFill>
                            <a:solidFill>
                              <a:srgbClr val="1F2023"/>
                            </a:solidFill>
                          </a:uFill>
                          <a:latin typeface="Calibri"/>
                          <a:cs typeface="Calibri"/>
                        </a:rPr>
                        <a:t>months</a:t>
                      </a:r>
                      <a:r>
                        <a:rPr sz="2200" b="1" spc="-10" dirty="0">
                          <a:latin typeface="Calibri"/>
                          <a:cs typeface="Calibri"/>
                        </a:rPr>
                        <a:t>: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932180" indent="-318135">
                        <a:lnSpc>
                          <a:spcPct val="100000"/>
                        </a:lnSpc>
                        <a:spcBef>
                          <a:spcPts val="30"/>
                        </a:spcBef>
                        <a:buFont typeface="Arial MT"/>
                        <a:buChar char="•"/>
                        <a:tabLst>
                          <a:tab pos="932180" algn="l"/>
                        </a:tabLst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50%</a:t>
                      </a:r>
                      <a:r>
                        <a:rPr sz="22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would opt for</a:t>
                      </a:r>
                      <a:r>
                        <a:rPr sz="2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FDs/saving</a:t>
                      </a:r>
                      <a:r>
                        <a:rPr sz="22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spc="-10" dirty="0">
                          <a:latin typeface="Calibri"/>
                          <a:cs typeface="Calibri"/>
                        </a:rPr>
                        <a:t>accounts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1807210" lvl="1" indent="-318135">
                        <a:lnSpc>
                          <a:spcPct val="100000"/>
                        </a:lnSpc>
                        <a:spcBef>
                          <a:spcPts val="30"/>
                        </a:spcBef>
                        <a:buFont typeface="Arial MT"/>
                        <a:buChar char="•"/>
                        <a:tabLst>
                          <a:tab pos="1807210" algn="l"/>
                        </a:tabLst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33%</a:t>
                      </a:r>
                      <a:r>
                        <a:rPr sz="22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2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opt for</a:t>
                      </a:r>
                      <a:r>
                        <a:rPr sz="2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spc="-10" dirty="0">
                          <a:latin typeface="Calibri"/>
                          <a:cs typeface="Calibri"/>
                        </a:rPr>
                        <a:t>loans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b="1" i="1" dirty="0">
                          <a:latin typeface="Calibri"/>
                          <a:cs typeface="Calibri"/>
                        </a:rPr>
                        <a:t>Interest</a:t>
                      </a:r>
                      <a:r>
                        <a:rPr sz="2200" b="1" i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additions</a:t>
                      </a:r>
                      <a:r>
                        <a:rPr sz="2200" b="1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b="1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b="1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2200" b="1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amount spent </a:t>
                      </a:r>
                      <a:r>
                        <a:rPr sz="2200" b="1" i="1" spc="-25" dirty="0">
                          <a:latin typeface="Calibri"/>
                          <a:cs typeface="Calibri"/>
                        </a:rPr>
                        <a:t>can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200" b="1" i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200" b="1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spc="-10" dirty="0">
                          <a:latin typeface="Calibri"/>
                          <a:cs typeface="Calibri"/>
                        </a:rPr>
                        <a:t>reduced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1795">
                <a:tc>
                  <a:txBody>
                    <a:bodyPr/>
                    <a:lstStyle/>
                    <a:p>
                      <a:pPr marL="177800" marR="172085" indent="1905" algn="ctr">
                        <a:lnSpc>
                          <a:spcPct val="1012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22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upper</a:t>
                      </a:r>
                      <a:r>
                        <a:rPr sz="22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salary</a:t>
                      </a:r>
                      <a:r>
                        <a:rPr sz="22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brackets,</a:t>
                      </a:r>
                      <a:r>
                        <a:rPr sz="22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100%</a:t>
                      </a:r>
                      <a:r>
                        <a:rPr sz="22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spc="-10" dirty="0">
                          <a:latin typeface="Calibri"/>
                          <a:cs typeface="Calibri"/>
                        </a:rPr>
                        <a:t>would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2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dirty="0">
                          <a:latin typeface="Calibri"/>
                          <a:cs typeface="Calibri"/>
                        </a:rPr>
                        <a:t>willing</a:t>
                      </a:r>
                      <a:r>
                        <a:rPr sz="22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opt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financing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that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would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result in lower/no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interest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payments</a:t>
                      </a:r>
                      <a:r>
                        <a:rPr sz="2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and a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shorter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purchase</a:t>
                      </a:r>
                      <a:r>
                        <a:rPr sz="2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timeline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18110" marR="110489" algn="ctr">
                        <a:lnSpc>
                          <a:spcPct val="101200"/>
                        </a:lnSpc>
                        <a:spcBef>
                          <a:spcPts val="1060"/>
                        </a:spcBef>
                      </a:pPr>
                      <a:r>
                        <a:rPr sz="2200" b="1" i="1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200" b="1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huge</a:t>
                      </a:r>
                      <a:r>
                        <a:rPr sz="2200" b="1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scope</a:t>
                      </a:r>
                      <a:r>
                        <a:rPr sz="2200" b="1" i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b="1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reducing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timeline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big ticket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purchases</a:t>
                      </a:r>
                      <a:r>
                        <a:rPr sz="2200" b="1" i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spc="-10" dirty="0">
                          <a:latin typeface="Calibri"/>
                          <a:cs typeface="Calibri"/>
                        </a:rPr>
                        <a:t>appropriate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investments.</a:t>
                      </a:r>
                      <a:r>
                        <a:rPr sz="2200" b="1" i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Interest</a:t>
                      </a:r>
                      <a:r>
                        <a:rPr sz="2200" b="1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additions</a:t>
                      </a:r>
                      <a:r>
                        <a:rPr sz="2200" b="1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b="1" i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200" b="1" i="1" spc="-10" dirty="0">
                          <a:latin typeface="Calibri"/>
                          <a:cs typeface="Calibri"/>
                        </a:rPr>
                        <a:t>total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amount spent</a:t>
                      </a:r>
                      <a:r>
                        <a:rPr sz="2200" b="1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200" b="1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2200" b="1" i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200" b="1" i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b="1" i="1" spc="-10" dirty="0">
                          <a:latin typeface="Calibri"/>
                          <a:cs typeface="Calibri"/>
                        </a:rPr>
                        <a:t>reduced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134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19153" y="1912589"/>
            <a:ext cx="18936970" cy="1114425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27305" rIns="0" bIns="0" rtlCol="0">
            <a:spAutoFit/>
          </a:bodyPr>
          <a:lstStyle/>
          <a:p>
            <a:pPr marL="508000" indent="-42418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508000" algn="l"/>
              </a:tabLst>
            </a:pPr>
            <a:r>
              <a:rPr sz="2200" dirty="0">
                <a:latin typeface="Calibri"/>
                <a:cs typeface="Calibri"/>
              </a:rPr>
              <a:t>For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immediate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purchases, people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prefer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down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payments/loans</a:t>
            </a:r>
            <a:endParaRPr sz="2200">
              <a:latin typeface="Calibri"/>
              <a:cs typeface="Calibri"/>
            </a:endParaRPr>
          </a:p>
          <a:p>
            <a:pPr marL="508000" indent="-424180">
              <a:lnSpc>
                <a:spcPct val="100000"/>
              </a:lnSpc>
              <a:spcBef>
                <a:spcPts val="30"/>
              </a:spcBef>
              <a:buAutoNum type="arabicPeriod"/>
              <a:tabLst>
                <a:tab pos="508000" algn="l"/>
              </a:tabLst>
            </a:pPr>
            <a:r>
              <a:rPr sz="2200" dirty="0">
                <a:latin typeface="Calibri"/>
                <a:cs typeface="Calibri"/>
              </a:rPr>
              <a:t>For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 terms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purchases,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people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prefer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saving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instruments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low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risk,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yield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low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returns</a:t>
            </a:r>
            <a:endParaRPr sz="2200">
              <a:latin typeface="Calibri"/>
              <a:cs typeface="Calibri"/>
            </a:endParaRPr>
          </a:p>
          <a:p>
            <a:pPr marL="508000" indent="-42418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508000" algn="l"/>
              </a:tabLst>
            </a:pPr>
            <a:r>
              <a:rPr sz="2200" dirty="0">
                <a:latin typeface="Calibri"/>
                <a:cs typeface="Calibri"/>
              </a:rPr>
              <a:t>People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lower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income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brackets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larger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timeline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traditional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saving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money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make big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ticket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purchases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7844" y="3791252"/>
            <a:ext cx="6513830" cy="2874010"/>
            <a:chOff x="607844" y="3791252"/>
            <a:chExt cx="6513830" cy="287401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844" y="3791252"/>
              <a:ext cx="6513830" cy="28738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8060" y="4322763"/>
              <a:ext cx="952772" cy="16355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6973" y="5168090"/>
              <a:ext cx="1444690" cy="9527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1319" y="4394844"/>
              <a:ext cx="952772" cy="96832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44557" y="4322751"/>
              <a:ext cx="449557" cy="95135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97038" y="4359516"/>
              <a:ext cx="1692422" cy="169234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038653" y="4825788"/>
            <a:ext cx="168910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b="1" spc="-50" dirty="0">
                <a:latin typeface="Calibri"/>
                <a:cs typeface="Calibri"/>
              </a:rPr>
              <a:t>6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10194" y="5474344"/>
            <a:ext cx="168910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b="1" spc="-50" dirty="0"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08639" y="4630123"/>
            <a:ext cx="168910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b="1" spc="-5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92799" y="3789839"/>
            <a:ext cx="3941800" cy="64530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23899" y="3138784"/>
            <a:ext cx="9288145" cy="1588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dirty="0">
                <a:latin typeface="Calibri"/>
                <a:cs typeface="Calibri"/>
              </a:rPr>
              <a:t>Survey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results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[15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total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respondents,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4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user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interviews]: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Survey</a:t>
            </a:r>
            <a:r>
              <a:rPr sz="2600" b="1" u="sng" spc="-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2600" b="1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Link</a:t>
            </a:r>
            <a:endParaRPr sz="2600">
              <a:latin typeface="Calibri"/>
              <a:cs typeface="Calibri"/>
            </a:endParaRPr>
          </a:p>
          <a:p>
            <a:pPr marL="1564640">
              <a:lnSpc>
                <a:spcPct val="100000"/>
              </a:lnSpc>
              <a:spcBef>
                <a:spcPts val="2540"/>
              </a:spcBef>
            </a:pPr>
            <a:r>
              <a:rPr sz="2200" b="1" spc="75" dirty="0">
                <a:solidFill>
                  <a:srgbClr val="F1F1F1"/>
                </a:solidFill>
                <a:latin typeface="Calibri"/>
                <a:cs typeface="Calibri"/>
              </a:rPr>
              <a:t>Income</a:t>
            </a:r>
            <a:r>
              <a:rPr sz="2200" b="1" spc="21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200" b="1" spc="60" dirty="0">
                <a:solidFill>
                  <a:srgbClr val="F1F1F1"/>
                </a:solidFill>
                <a:latin typeface="Calibri"/>
                <a:cs typeface="Calibri"/>
              </a:rPr>
              <a:t>bracket</a:t>
            </a:r>
            <a:r>
              <a:rPr sz="2200" b="1" spc="19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200" b="1" spc="70" dirty="0">
                <a:solidFill>
                  <a:srgbClr val="F1F1F1"/>
                </a:solidFill>
                <a:latin typeface="Calibri"/>
                <a:cs typeface="Calibri"/>
              </a:rPr>
              <a:t>distribution</a:t>
            </a:r>
            <a:endParaRPr sz="2200">
              <a:latin typeface="Calibri"/>
              <a:cs typeface="Calibri"/>
            </a:endParaRPr>
          </a:p>
          <a:p>
            <a:pPr marL="3011805">
              <a:lnSpc>
                <a:spcPct val="100000"/>
              </a:lnSpc>
              <a:spcBef>
                <a:spcPts val="1370"/>
              </a:spcBef>
            </a:pPr>
            <a:r>
              <a:rPr sz="2200" b="1" spc="-50" dirty="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7844" y="6393674"/>
            <a:ext cx="6513830" cy="3145790"/>
            <a:chOff x="607844" y="6393674"/>
            <a:chExt cx="6513830" cy="314579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7681" y="6393674"/>
              <a:ext cx="128636" cy="1300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74103" y="6393674"/>
              <a:ext cx="130050" cy="1300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17062" y="6393674"/>
              <a:ext cx="130050" cy="1300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80175" y="6393674"/>
              <a:ext cx="130050" cy="1300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7844" y="6665084"/>
              <a:ext cx="6513830" cy="28738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88060" y="7196583"/>
              <a:ext cx="735055" cy="95135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55820" y="7476485"/>
              <a:ext cx="1685001" cy="151819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41319" y="7476474"/>
              <a:ext cx="952772" cy="109554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59012" y="7196583"/>
              <a:ext cx="735055" cy="95135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96996" y="7233466"/>
              <a:ext cx="1692236" cy="1692211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204638" y="6278607"/>
            <a:ext cx="814069" cy="309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solidFill>
                  <a:srgbClr val="D9D9D9"/>
                </a:solidFill>
                <a:latin typeface="Calibri"/>
                <a:cs typeface="Calibri"/>
              </a:rPr>
              <a:t>0-</a:t>
            </a:r>
            <a:r>
              <a:rPr sz="1850" spc="-10" dirty="0">
                <a:solidFill>
                  <a:srgbClr val="D9D9D9"/>
                </a:solidFill>
                <a:latin typeface="Calibri"/>
                <a:cs typeface="Calibri"/>
              </a:rPr>
              <a:t>50000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58075" y="6278607"/>
            <a:ext cx="859155" cy="309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10" dirty="0">
                <a:solidFill>
                  <a:srgbClr val="D9D9D9"/>
                </a:solidFill>
                <a:latin typeface="Calibri"/>
                <a:cs typeface="Calibri"/>
              </a:rPr>
              <a:t>&gt;150000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29714" y="7871724"/>
            <a:ext cx="927735" cy="702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b="1" spc="-50" dirty="0"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  <a:p>
            <a:pPr marL="771525">
              <a:lnSpc>
                <a:spcPct val="100000"/>
              </a:lnSpc>
              <a:spcBef>
                <a:spcPts val="25"/>
              </a:spcBef>
            </a:pPr>
            <a:r>
              <a:rPr sz="2200" b="1" spc="-50" dirty="0">
                <a:latin typeface="Calibri"/>
                <a:cs typeface="Calibri"/>
              </a:rPr>
              <a:t>8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636348" y="6663670"/>
            <a:ext cx="2454701" cy="645304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2351414" y="6140486"/>
            <a:ext cx="3274695" cy="156527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  <a:tabLst>
                <a:tab pos="1755775" algn="l"/>
              </a:tabLst>
            </a:pPr>
            <a:r>
              <a:rPr sz="1850" spc="-10" dirty="0">
                <a:solidFill>
                  <a:srgbClr val="D9D9D9"/>
                </a:solidFill>
                <a:latin typeface="Calibri"/>
                <a:cs typeface="Calibri"/>
              </a:rPr>
              <a:t>50001-100000</a:t>
            </a:r>
            <a:r>
              <a:rPr sz="1850" dirty="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sz="1850" spc="-10" dirty="0">
                <a:solidFill>
                  <a:srgbClr val="D9D9D9"/>
                </a:solidFill>
                <a:latin typeface="Calibri"/>
                <a:cs typeface="Calibri"/>
              </a:rPr>
              <a:t>100001-150000</a:t>
            </a:r>
            <a:endParaRPr sz="1850">
              <a:latin typeface="Calibri"/>
              <a:cs typeface="Calibri"/>
            </a:endParaRPr>
          </a:p>
          <a:p>
            <a:pPr marL="480695">
              <a:lnSpc>
                <a:spcPct val="100000"/>
              </a:lnSpc>
              <a:spcBef>
                <a:spcPts val="1330"/>
              </a:spcBef>
            </a:pPr>
            <a:r>
              <a:rPr sz="2200" b="1" spc="50" dirty="0">
                <a:solidFill>
                  <a:srgbClr val="F1F1F1"/>
                </a:solidFill>
                <a:latin typeface="Calibri"/>
                <a:cs typeface="Calibri"/>
              </a:rPr>
              <a:t>Age</a:t>
            </a:r>
            <a:r>
              <a:rPr sz="2200" b="1" spc="19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200" b="1" spc="70" dirty="0">
                <a:solidFill>
                  <a:srgbClr val="F1F1F1"/>
                </a:solidFill>
                <a:latin typeface="Calibri"/>
                <a:cs typeface="Calibri"/>
              </a:rPr>
              <a:t>distribution</a:t>
            </a:r>
            <a:endParaRPr sz="2200">
              <a:latin typeface="Calibri"/>
              <a:cs typeface="Calibri"/>
            </a:endParaRPr>
          </a:p>
          <a:p>
            <a:pPr marL="1132840">
              <a:lnSpc>
                <a:spcPct val="100000"/>
              </a:lnSpc>
              <a:spcBef>
                <a:spcPts val="2190"/>
              </a:spcBef>
              <a:tabLst>
                <a:tab pos="1592580" algn="l"/>
              </a:tabLst>
            </a:pPr>
            <a:r>
              <a:rPr sz="2200" b="1" spc="-50" dirty="0">
                <a:latin typeface="Calibri"/>
                <a:cs typeface="Calibri"/>
              </a:rPr>
              <a:t>2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3300" b="1" spc="-75" baseline="2525" dirty="0">
                <a:latin typeface="Calibri"/>
                <a:cs typeface="Calibri"/>
              </a:rPr>
              <a:t>2</a:t>
            </a:r>
            <a:endParaRPr sz="3300" baseline="2525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294849" y="9267506"/>
            <a:ext cx="4826000" cy="130175"/>
            <a:chOff x="1294849" y="9267506"/>
            <a:chExt cx="4826000" cy="130175"/>
          </a:xfrm>
        </p:grpSpPr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94849" y="9267506"/>
              <a:ext cx="128636" cy="1300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68130" y="9267506"/>
              <a:ext cx="130050" cy="13005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642825" y="9267506"/>
              <a:ext cx="130050" cy="1300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17520" y="9267506"/>
              <a:ext cx="128636" cy="13005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992214" y="9267506"/>
              <a:ext cx="128636" cy="13005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750922" y="9152792"/>
            <a:ext cx="18047970" cy="18376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2790">
              <a:lnSpc>
                <a:spcPct val="100000"/>
              </a:lnSpc>
              <a:spcBef>
                <a:spcPts val="105"/>
              </a:spcBef>
              <a:tabLst>
                <a:tab pos="1906905" algn="l"/>
                <a:tab pos="3081655" algn="l"/>
                <a:tab pos="4255770" algn="l"/>
                <a:tab pos="5430520" algn="l"/>
              </a:tabLst>
            </a:pPr>
            <a:r>
              <a:rPr sz="1850" spc="-10" dirty="0">
                <a:solidFill>
                  <a:srgbClr val="D9D9D9"/>
                </a:solidFill>
                <a:latin typeface="Calibri"/>
                <a:cs typeface="Calibri"/>
              </a:rPr>
              <a:t>18-</a:t>
            </a:r>
            <a:r>
              <a:rPr sz="1850" spc="-25" dirty="0">
                <a:solidFill>
                  <a:srgbClr val="D9D9D9"/>
                </a:solidFill>
                <a:latin typeface="Calibri"/>
                <a:cs typeface="Calibri"/>
              </a:rPr>
              <a:t>24</a:t>
            </a:r>
            <a:r>
              <a:rPr sz="1850" dirty="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sz="1850" spc="-10" dirty="0">
                <a:solidFill>
                  <a:srgbClr val="D9D9D9"/>
                </a:solidFill>
                <a:latin typeface="Calibri"/>
                <a:cs typeface="Calibri"/>
              </a:rPr>
              <a:t>25-</a:t>
            </a:r>
            <a:r>
              <a:rPr sz="1850" spc="-25" dirty="0">
                <a:solidFill>
                  <a:srgbClr val="D9D9D9"/>
                </a:solidFill>
                <a:latin typeface="Calibri"/>
                <a:cs typeface="Calibri"/>
              </a:rPr>
              <a:t>34</a:t>
            </a:r>
            <a:r>
              <a:rPr sz="1850" dirty="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sz="1850" spc="-10" dirty="0">
                <a:solidFill>
                  <a:srgbClr val="D9D9D9"/>
                </a:solidFill>
                <a:latin typeface="Calibri"/>
                <a:cs typeface="Calibri"/>
              </a:rPr>
              <a:t>35-</a:t>
            </a:r>
            <a:r>
              <a:rPr sz="1850" spc="-25" dirty="0">
                <a:solidFill>
                  <a:srgbClr val="D9D9D9"/>
                </a:solidFill>
                <a:latin typeface="Calibri"/>
                <a:cs typeface="Calibri"/>
              </a:rPr>
              <a:t>44</a:t>
            </a:r>
            <a:r>
              <a:rPr sz="1850" dirty="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sz="1850" spc="-10" dirty="0">
                <a:solidFill>
                  <a:srgbClr val="D9D9D9"/>
                </a:solidFill>
                <a:latin typeface="Calibri"/>
                <a:cs typeface="Calibri"/>
              </a:rPr>
              <a:t>45-</a:t>
            </a:r>
            <a:r>
              <a:rPr sz="1850" spc="-25" dirty="0">
                <a:solidFill>
                  <a:srgbClr val="D9D9D9"/>
                </a:solidFill>
                <a:latin typeface="Calibri"/>
                <a:cs typeface="Calibri"/>
              </a:rPr>
              <a:t>60</a:t>
            </a:r>
            <a:r>
              <a:rPr sz="1850" dirty="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sz="1850" spc="-25" dirty="0">
                <a:solidFill>
                  <a:srgbClr val="D9D9D9"/>
                </a:solidFill>
                <a:latin typeface="Calibri"/>
                <a:cs typeface="Calibri"/>
              </a:rPr>
              <a:t>&gt;60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solidFill>
                  <a:srgbClr val="FFFFFF"/>
                </a:solidFill>
                <a:latin typeface="Calibri"/>
                <a:cs typeface="Calibri"/>
              </a:rPr>
              <a:t>JOBS</a:t>
            </a:r>
            <a:r>
              <a:rPr sz="26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6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6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Calibri"/>
                <a:cs typeface="Calibri"/>
              </a:rPr>
              <a:t>DONE: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200" b="1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2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22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2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make a</a:t>
            </a:r>
            <a:r>
              <a:rPr sz="22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2200" b="1" i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ticket</a:t>
            </a:r>
            <a:r>
              <a:rPr sz="2200" b="1" i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purchase</a:t>
            </a:r>
            <a:r>
              <a:rPr sz="2200" b="1" i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200" b="1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mid-term</a:t>
            </a:r>
            <a:r>
              <a:rPr sz="2200" b="1" i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timeframe (3</a:t>
            </a:r>
            <a:r>
              <a:rPr sz="22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200" b="1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r>
              <a:rPr sz="22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months),</a:t>
            </a:r>
            <a:r>
              <a:rPr sz="2200" b="1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22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am</a:t>
            </a:r>
            <a:r>
              <a:rPr sz="22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2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sure</a:t>
            </a:r>
            <a:r>
              <a:rPr sz="22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200" b="1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2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finance</a:t>
            </a:r>
            <a:r>
              <a:rPr sz="22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it,</a:t>
            </a:r>
            <a:r>
              <a:rPr sz="2200" b="1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help</a:t>
            </a:r>
            <a:r>
              <a:rPr sz="22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me find</a:t>
            </a:r>
            <a:r>
              <a:rPr sz="2200" b="1" i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sz="2200" b="1" i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200" b="1" i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generate</a:t>
            </a:r>
            <a:r>
              <a:rPr sz="2200" b="1" i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required</a:t>
            </a:r>
            <a:r>
              <a:rPr sz="22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amount,</a:t>
            </a:r>
            <a:r>
              <a:rPr sz="22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200" b="1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200" b="1" i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2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don’t</a:t>
            </a:r>
            <a:r>
              <a:rPr sz="22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exceed my spending</a:t>
            </a:r>
            <a:r>
              <a:rPr sz="2200" b="1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capacity,</a:t>
            </a:r>
            <a:r>
              <a:rPr sz="2200" b="1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2200" b="1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am</a:t>
            </a:r>
            <a:r>
              <a:rPr sz="2200" b="1" i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still</a:t>
            </a:r>
            <a:r>
              <a:rPr sz="22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able</a:t>
            </a:r>
            <a:r>
              <a:rPr sz="2200" b="1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200" b="1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complete</a:t>
            </a:r>
            <a:r>
              <a:rPr sz="22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2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purchase </a:t>
            </a:r>
            <a:r>
              <a:rPr sz="2200" b="1" i="1" spc="-10" dirty="0">
                <a:solidFill>
                  <a:srgbClr val="FFFFFF"/>
                </a:solidFill>
                <a:latin typeface="Calibri"/>
                <a:cs typeface="Calibri"/>
              </a:rPr>
              <a:t>successfully.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/>
              <a:t>SOLUTION:</a:t>
            </a:r>
            <a:r>
              <a:rPr spc="-20" dirty="0"/>
              <a:t> </a:t>
            </a:r>
            <a:r>
              <a:rPr dirty="0"/>
              <a:t>MVP</a:t>
            </a:r>
            <a:r>
              <a:rPr spc="-3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Zip</a:t>
            </a:r>
            <a:r>
              <a:rPr spc="-20" dirty="0"/>
              <a:t> SNPL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3654" y="968332"/>
            <a:ext cx="13104494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b="1" dirty="0">
                <a:latin typeface="Calibri"/>
                <a:cs typeface="Calibri"/>
              </a:rPr>
              <a:t>Assumption: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required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permissions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SEBI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other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financial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regulators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already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taken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approved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27540" y="1468015"/>
          <a:ext cx="19180175" cy="956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6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01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Problem</a:t>
                      </a:r>
                      <a:r>
                        <a:rPr sz="295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295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solve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4471C4"/>
                      </a:solidFill>
                      <a:prstDash val="solid"/>
                    </a:lnL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Suggested</a:t>
                      </a:r>
                      <a:r>
                        <a:rPr sz="2950" b="1" spc="-1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T="66675" marB="0">
                    <a:lnR w="12700">
                      <a:solidFill>
                        <a:srgbClr val="4471C4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758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sz="2600" b="1" spc="-35" dirty="0">
                          <a:latin typeface="Calibri"/>
                          <a:cs typeface="Calibri"/>
                        </a:rPr>
                        <a:t>Pop-</a:t>
                      </a:r>
                      <a:r>
                        <a:rPr sz="2600" b="1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26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dirty="0">
                          <a:latin typeface="Calibri"/>
                          <a:cs typeface="Calibri"/>
                        </a:rPr>
                        <a:t>home</a:t>
                      </a:r>
                      <a:r>
                        <a:rPr sz="2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spc="-20" dirty="0">
                          <a:latin typeface="Calibri"/>
                          <a:cs typeface="Calibri"/>
                        </a:rPr>
                        <a:t>page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56540" marB="0">
                    <a:lnL w="12700">
                      <a:solidFill>
                        <a:srgbClr val="4471C4"/>
                      </a:solidFill>
                      <a:prstDash val="solid"/>
                    </a:lnL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179695" marR="495300" indent="-464566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Every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opens</a:t>
                      </a:r>
                      <a:r>
                        <a:rPr sz="2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app,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aware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introduction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SNPL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enable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discovery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promote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usage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R w="12700">
                      <a:solidFill>
                        <a:srgbClr val="4471C4"/>
                      </a:solidFill>
                      <a:prstDash val="solid"/>
                    </a:lnR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3294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sz="2600" b="1" dirty="0">
                          <a:latin typeface="Calibri"/>
                          <a:cs typeface="Calibri"/>
                        </a:rPr>
                        <a:t>Goal</a:t>
                      </a:r>
                      <a:r>
                        <a:rPr sz="26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dirty="0">
                          <a:latin typeface="Calibri"/>
                          <a:cs typeface="Calibri"/>
                        </a:rPr>
                        <a:t>setting</a:t>
                      </a:r>
                      <a:r>
                        <a:rPr sz="26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6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spc="-10" dirty="0">
                          <a:latin typeface="Calibri"/>
                          <a:cs typeface="Calibri"/>
                        </a:rPr>
                        <a:t>tracking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62255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start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naming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goals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give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meaning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able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track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it.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62255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3294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sz="2600" b="1" dirty="0">
                          <a:latin typeface="Calibri"/>
                          <a:cs typeface="Calibri"/>
                        </a:rPr>
                        <a:t>Money</a:t>
                      </a:r>
                      <a:r>
                        <a:rPr sz="2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6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spc="-10" dirty="0">
                          <a:latin typeface="Calibri"/>
                          <a:cs typeface="Calibri"/>
                        </a:rPr>
                        <a:t>generated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62255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142355" marR="292735" indent="-58261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known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parameter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user.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given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enter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amount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want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goal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819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105"/>
                        </a:spcBef>
                      </a:pPr>
                      <a:r>
                        <a:rPr sz="2600" b="1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2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spc="-10" dirty="0">
                          <a:latin typeface="Calibri"/>
                          <a:cs typeface="Calibri"/>
                        </a:rPr>
                        <a:t>window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67335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18585" marR="185420" indent="-37096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value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feel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comfortable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with.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adjustment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window,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month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investment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required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26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accordingly.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2819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105"/>
                        </a:spcBef>
                      </a:pPr>
                      <a:r>
                        <a:rPr sz="2600" b="1" dirty="0"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2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6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spc="-10" dirty="0">
                          <a:latin typeface="Calibri"/>
                          <a:cs typeface="Calibri"/>
                        </a:rPr>
                        <a:t>investment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67335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445385" marR="340995" indent="-20840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given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establish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SIP,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suit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ability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invest.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help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investment</a:t>
                      </a:r>
                      <a:r>
                        <a:rPr sz="2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period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feel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comfortable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with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158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600" b="1" spc="-10" dirty="0">
                          <a:latin typeface="Calibri"/>
                          <a:cs typeface="Calibri"/>
                        </a:rPr>
                        <a:t>Investment</a:t>
                      </a:r>
                      <a:r>
                        <a:rPr sz="2600" b="1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spc="-10" dirty="0">
                          <a:latin typeface="Calibri"/>
                          <a:cs typeface="Calibri"/>
                        </a:rPr>
                        <a:t>calculation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24400" marR="293370" indent="-440563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capital</a:t>
                      </a:r>
                      <a:r>
                        <a:rPr sz="26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generation</a:t>
                      </a:r>
                      <a:r>
                        <a:rPr sz="2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existing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instruments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provided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MobiKwik: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EXra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Zip</a:t>
                      </a:r>
                      <a:r>
                        <a:rPr sz="26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EMI.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per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month</a:t>
                      </a:r>
                      <a:r>
                        <a:rPr sz="26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investment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required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6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depend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on:</a:t>
                      </a:r>
                      <a:endParaRPr sz="2600">
                        <a:latin typeface="Calibri"/>
                        <a:cs typeface="Calibri"/>
                      </a:endParaRPr>
                    </a:p>
                    <a:p>
                      <a:pPr marL="4763770" indent="-424180">
                        <a:lnSpc>
                          <a:spcPts val="3115"/>
                        </a:lnSpc>
                        <a:buAutoNum type="arabicPeriod"/>
                        <a:tabLst>
                          <a:tab pos="4763770" algn="l"/>
                        </a:tabLst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credit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limit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allotted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ZIP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EMI</a:t>
                      </a:r>
                      <a:endParaRPr sz="2600">
                        <a:latin typeface="Calibri"/>
                        <a:cs typeface="Calibri"/>
                      </a:endParaRPr>
                    </a:p>
                    <a:p>
                      <a:pPr marL="3115310" indent="-424180">
                        <a:lnSpc>
                          <a:spcPts val="3115"/>
                        </a:lnSpc>
                        <a:buAutoNum type="arabicPeriod"/>
                        <a:tabLst>
                          <a:tab pos="3115310" algn="l"/>
                        </a:tabLst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percentage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credit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limit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consumption</a:t>
                      </a:r>
                      <a:r>
                        <a:rPr sz="2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ready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do</a:t>
                      </a:r>
                      <a:endParaRPr sz="2600">
                        <a:latin typeface="Calibri"/>
                        <a:cs typeface="Calibri"/>
                      </a:endParaRPr>
                    </a:p>
                    <a:p>
                      <a:pPr marL="3837940" indent="-424180">
                        <a:lnSpc>
                          <a:spcPts val="3115"/>
                        </a:lnSpc>
                        <a:buAutoNum type="arabicPeriod"/>
                        <a:tabLst>
                          <a:tab pos="3837940" algn="l"/>
                        </a:tabLst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investment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opted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Xtra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(Flexi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Plus)</a:t>
                      </a:r>
                      <a:endParaRPr sz="2600">
                        <a:latin typeface="Calibri"/>
                        <a:cs typeface="Calibri"/>
                      </a:endParaRPr>
                    </a:p>
                    <a:p>
                      <a:pPr marL="3228340" indent="-424180">
                        <a:lnSpc>
                          <a:spcPts val="3115"/>
                        </a:lnSpc>
                        <a:buAutoNum type="arabicPeriod"/>
                        <a:tabLst>
                          <a:tab pos="3228340" algn="l"/>
                        </a:tabLst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defined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window</a:t>
                      </a:r>
                      <a:r>
                        <a:rPr sz="2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capital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generated</a:t>
                      </a:r>
                      <a:endParaRPr sz="2600">
                        <a:latin typeface="Calibri"/>
                        <a:cs typeface="Calibri"/>
                      </a:endParaRPr>
                    </a:p>
                    <a:p>
                      <a:pPr marL="4090670" indent="-424180">
                        <a:lnSpc>
                          <a:spcPts val="3120"/>
                        </a:lnSpc>
                        <a:buAutoNum type="arabicPeriod"/>
                        <a:tabLst>
                          <a:tab pos="4090670" algn="l"/>
                        </a:tabLst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2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comfortable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invest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1735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930"/>
                        </a:spcBef>
                      </a:pPr>
                      <a:r>
                        <a:rPr sz="2600" b="1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26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spc="-20" dirty="0">
                          <a:latin typeface="Calibri"/>
                          <a:cs typeface="Calibri"/>
                        </a:rPr>
                        <a:t>goals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72110" marB="0">
                    <a:lnL w="12700">
                      <a:solidFill>
                        <a:srgbClr val="4471C4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207895" marR="516255" indent="-165862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26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track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goals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amount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accumulated</a:t>
                      </a:r>
                      <a:r>
                        <a:rPr sz="2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till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date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those.</a:t>
                      </a:r>
                      <a:r>
                        <a:rPr sz="2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2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cancel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goal</a:t>
                      </a:r>
                      <a:r>
                        <a:rPr sz="2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get</a:t>
                      </a:r>
                      <a:r>
                        <a:rPr sz="2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accumulated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money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back</a:t>
                      </a:r>
                      <a:r>
                        <a:rPr sz="2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account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74625" marB="0"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0450" y="226197"/>
            <a:ext cx="7247255" cy="64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USER</a:t>
            </a:r>
            <a:r>
              <a:rPr spc="-25" dirty="0"/>
              <a:t> </a:t>
            </a:r>
            <a:r>
              <a:rPr dirty="0"/>
              <a:t>FLOW</a:t>
            </a:r>
            <a:r>
              <a:rPr spc="-25" dirty="0"/>
              <a:t> </a:t>
            </a:r>
            <a:r>
              <a:rPr dirty="0"/>
              <a:t>DESIGN</a:t>
            </a:r>
            <a:r>
              <a:rPr spc="-2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Zip</a:t>
            </a:r>
            <a:r>
              <a:rPr spc="-25" dirty="0"/>
              <a:t> </a:t>
            </a:r>
            <a:r>
              <a:rPr spc="-20" dirty="0"/>
              <a:t>SNPL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81927" y="9015909"/>
            <a:ext cx="9538335" cy="16084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120"/>
              </a:lnSpc>
              <a:spcBef>
                <a:spcPts val="90"/>
              </a:spcBef>
            </a:pPr>
            <a:r>
              <a:rPr sz="2600" b="1" dirty="0">
                <a:latin typeface="Calibri"/>
                <a:cs typeface="Calibri"/>
              </a:rPr>
              <a:t>Why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will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user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opt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for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SNPL,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instead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just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Xtra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or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just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Zip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EMI?</a:t>
            </a:r>
            <a:endParaRPr sz="2600">
              <a:latin typeface="Calibri"/>
              <a:cs typeface="Calibri"/>
            </a:endParaRPr>
          </a:p>
          <a:p>
            <a:pPr marL="436880" indent="-424180">
              <a:lnSpc>
                <a:spcPts val="3115"/>
              </a:lnSpc>
              <a:buAutoNum type="arabicPeriod"/>
              <a:tabLst>
                <a:tab pos="436880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requires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amount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greater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Zip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EMI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credit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limit</a:t>
            </a:r>
            <a:endParaRPr sz="2600">
              <a:latin typeface="Calibri"/>
              <a:cs typeface="Calibri"/>
            </a:endParaRPr>
          </a:p>
          <a:p>
            <a:pPr marL="436880" marR="141605" indent="-424815">
              <a:lnSpc>
                <a:spcPts val="3120"/>
              </a:lnSpc>
              <a:spcBef>
                <a:spcPts val="95"/>
              </a:spcBef>
              <a:buAutoNum type="arabicPeriod"/>
              <a:tabLst>
                <a:tab pos="436880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wants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save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up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credit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purchases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can </a:t>
            </a:r>
            <a:r>
              <a:rPr sz="2600" dirty="0">
                <a:latin typeface="Calibri"/>
                <a:cs typeface="Calibri"/>
              </a:rPr>
              <a:t>wait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longer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period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make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purchase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44291" y="1248201"/>
            <a:ext cx="12463780" cy="7308850"/>
            <a:chOff x="7144291" y="1248201"/>
            <a:chExt cx="12463780" cy="7308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4971" y="1318881"/>
              <a:ext cx="12322277" cy="71669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179631" y="1283541"/>
              <a:ext cx="12393295" cy="7237730"/>
            </a:xfrm>
            <a:custGeom>
              <a:avLst/>
              <a:gdLst/>
              <a:ahLst/>
              <a:cxnLst/>
              <a:rect l="l" t="t" r="r" b="b"/>
              <a:pathLst>
                <a:path w="12393294" h="7237730">
                  <a:moveTo>
                    <a:pt x="0" y="7237588"/>
                  </a:moveTo>
                  <a:lnTo>
                    <a:pt x="12392957" y="7237588"/>
                  </a:lnTo>
                  <a:lnTo>
                    <a:pt x="12392957" y="0"/>
                  </a:lnTo>
                  <a:lnTo>
                    <a:pt x="0" y="0"/>
                  </a:lnTo>
                  <a:lnTo>
                    <a:pt x="0" y="7237588"/>
                  </a:lnTo>
                  <a:close/>
                </a:path>
              </a:pathLst>
            </a:custGeom>
            <a:ln w="70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66850" y="614912"/>
            <a:ext cx="6461760" cy="10266045"/>
            <a:chOff x="566850" y="614912"/>
            <a:chExt cx="6461760" cy="1026604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850" y="614912"/>
              <a:ext cx="4681815" cy="102655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312868" y="1318881"/>
              <a:ext cx="2689225" cy="7167245"/>
            </a:xfrm>
            <a:custGeom>
              <a:avLst/>
              <a:gdLst/>
              <a:ahLst/>
              <a:cxnLst/>
              <a:rect l="l" t="t" r="r" b="b"/>
              <a:pathLst>
                <a:path w="2689225" h="7167245">
                  <a:moveTo>
                    <a:pt x="0" y="3914824"/>
                  </a:moveTo>
                  <a:lnTo>
                    <a:pt x="2688886" y="0"/>
                  </a:lnTo>
                </a:path>
                <a:path w="2689225" h="7167245">
                  <a:moveTo>
                    <a:pt x="0" y="4906576"/>
                  </a:moveTo>
                  <a:lnTo>
                    <a:pt x="2688886" y="7166673"/>
                  </a:lnTo>
                </a:path>
              </a:pathLst>
            </a:custGeom>
            <a:ln w="5300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593" y="250464"/>
            <a:ext cx="2971165" cy="64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WIREFRAMES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51121"/>
            <a:ext cx="20104099" cy="72064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8304" y="372386"/>
            <a:ext cx="1940560" cy="64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7209" y="951347"/>
            <a:ext cx="11905615" cy="542925"/>
          </a:xfrm>
          <a:prstGeom prst="rect">
            <a:avLst/>
          </a:prstGeom>
          <a:ln w="53009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714375">
              <a:lnSpc>
                <a:spcPct val="100000"/>
              </a:lnSpc>
              <a:spcBef>
                <a:spcPts val="165"/>
              </a:spcBef>
            </a:pPr>
            <a:r>
              <a:rPr sz="2950" b="1" dirty="0">
                <a:latin typeface="Calibri"/>
                <a:cs typeface="Calibri"/>
              </a:rPr>
              <a:t>North</a:t>
            </a:r>
            <a:r>
              <a:rPr sz="2950" b="1" spc="-60" dirty="0">
                <a:latin typeface="Calibri"/>
                <a:cs typeface="Calibri"/>
              </a:rPr>
              <a:t> </a:t>
            </a:r>
            <a:r>
              <a:rPr sz="2950" b="1" dirty="0">
                <a:latin typeface="Calibri"/>
                <a:cs typeface="Calibri"/>
              </a:rPr>
              <a:t>Star</a:t>
            </a:r>
            <a:r>
              <a:rPr sz="2950" b="1" spc="-30" dirty="0">
                <a:latin typeface="Calibri"/>
                <a:cs typeface="Calibri"/>
              </a:rPr>
              <a:t> </a:t>
            </a:r>
            <a:r>
              <a:rPr sz="2950" b="1" dirty="0">
                <a:latin typeface="Calibri"/>
                <a:cs typeface="Calibri"/>
              </a:rPr>
              <a:t>metric:</a:t>
            </a:r>
            <a:r>
              <a:rPr sz="2950" b="1" spc="-30" dirty="0">
                <a:latin typeface="Calibri"/>
                <a:cs typeface="Calibri"/>
              </a:rPr>
              <a:t> </a:t>
            </a:r>
            <a:r>
              <a:rPr sz="2950" b="1" spc="-40" dirty="0">
                <a:latin typeface="Calibri"/>
                <a:cs typeface="Calibri"/>
              </a:rPr>
              <a:t>Total</a:t>
            </a:r>
            <a:r>
              <a:rPr sz="2950" b="1" spc="-30" dirty="0">
                <a:latin typeface="Calibri"/>
                <a:cs typeface="Calibri"/>
              </a:rPr>
              <a:t> </a:t>
            </a:r>
            <a:r>
              <a:rPr sz="2950" b="1" spc="-10" dirty="0">
                <a:latin typeface="Calibri"/>
                <a:cs typeface="Calibri"/>
              </a:rPr>
              <a:t>investment</a:t>
            </a:r>
            <a:r>
              <a:rPr sz="2950" b="1" spc="-60" dirty="0">
                <a:latin typeface="Calibri"/>
                <a:cs typeface="Calibri"/>
              </a:rPr>
              <a:t> </a:t>
            </a:r>
            <a:r>
              <a:rPr sz="2950" b="1" dirty="0">
                <a:latin typeface="Calibri"/>
                <a:cs typeface="Calibri"/>
              </a:rPr>
              <a:t>amount</a:t>
            </a:r>
            <a:r>
              <a:rPr sz="2950" b="1" spc="-50" dirty="0">
                <a:latin typeface="Calibri"/>
                <a:cs typeface="Calibri"/>
              </a:rPr>
              <a:t> </a:t>
            </a:r>
            <a:r>
              <a:rPr sz="2950" b="1" dirty="0">
                <a:latin typeface="Calibri"/>
                <a:cs typeface="Calibri"/>
              </a:rPr>
              <a:t>done</a:t>
            </a:r>
            <a:r>
              <a:rPr sz="2950" b="1" spc="-45" dirty="0">
                <a:latin typeface="Calibri"/>
                <a:cs typeface="Calibri"/>
              </a:rPr>
              <a:t> </a:t>
            </a:r>
            <a:r>
              <a:rPr sz="2950" b="1" dirty="0">
                <a:latin typeface="Calibri"/>
                <a:cs typeface="Calibri"/>
              </a:rPr>
              <a:t>through</a:t>
            </a:r>
            <a:r>
              <a:rPr sz="2950" b="1" spc="-55" dirty="0">
                <a:latin typeface="Calibri"/>
                <a:cs typeface="Calibri"/>
              </a:rPr>
              <a:t> </a:t>
            </a:r>
            <a:r>
              <a:rPr sz="2950" b="1" dirty="0">
                <a:latin typeface="Calibri"/>
                <a:cs typeface="Calibri"/>
              </a:rPr>
              <a:t>Zip</a:t>
            </a:r>
            <a:r>
              <a:rPr sz="2950" b="1" spc="-40" dirty="0">
                <a:latin typeface="Calibri"/>
                <a:cs typeface="Calibri"/>
              </a:rPr>
              <a:t> </a:t>
            </a:r>
            <a:r>
              <a:rPr sz="2950" b="1" spc="-20" dirty="0">
                <a:latin typeface="Calibri"/>
                <a:cs typeface="Calibri"/>
              </a:rPr>
              <a:t>SNPL</a:t>
            </a:r>
            <a:endParaRPr sz="29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7040" y="1655198"/>
          <a:ext cx="19426555" cy="8253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7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4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2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3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2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Primary</a:t>
                      </a:r>
                      <a:r>
                        <a:rPr sz="26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98755" marR="189230" indent="2216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Desired </a:t>
                      </a:r>
                      <a:r>
                        <a:rPr sz="2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movement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2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Remarks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360">
                <a:tc>
                  <a:txBody>
                    <a:bodyPr/>
                    <a:lstStyle/>
                    <a:p>
                      <a:pPr marL="329565" marR="227329" indent="-9525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600" b="1" spc="-10" dirty="0">
                          <a:latin typeface="Calibri"/>
                          <a:cs typeface="Calibri"/>
                        </a:rPr>
                        <a:t>Discovery/ Adoption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CTR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SNPL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present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home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0" dirty="0">
                          <a:latin typeface="Calibri"/>
                          <a:cs typeface="Calibri"/>
                        </a:rPr>
                        <a:t>page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SNPL goals set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every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0" dirty="0">
                          <a:latin typeface="Calibri"/>
                          <a:cs typeface="Calibri"/>
                        </a:rPr>
                        <a:t>week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denote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ease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discovery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interest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offering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Will denote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adoption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Zip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0" dirty="0">
                          <a:latin typeface="Calibri"/>
                          <a:cs typeface="Calibri"/>
                        </a:rPr>
                        <a:t>SNPL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7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b="1" spc="-10" dirty="0">
                          <a:latin typeface="Calibri"/>
                          <a:cs typeface="Calibri"/>
                        </a:rPr>
                        <a:t>Engagement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DAU,</a:t>
                      </a:r>
                      <a:r>
                        <a:rPr sz="2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5" dirty="0">
                          <a:latin typeface="Calibri"/>
                          <a:cs typeface="Calibri"/>
                        </a:rPr>
                        <a:t>MAU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Avg. number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goals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set per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0" dirty="0">
                          <a:latin typeface="Calibri"/>
                          <a:cs typeface="Calibri"/>
                        </a:rPr>
                        <a:t>user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Avg.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monthly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investment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amount per </a:t>
                      </a:r>
                      <a:r>
                        <a:rPr sz="2200" spc="-20" dirty="0">
                          <a:latin typeface="Calibri"/>
                          <a:cs typeface="Calibri"/>
                        </a:rPr>
                        <a:t>user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denote</a:t>
                      </a:r>
                      <a:r>
                        <a:rPr sz="2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traction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2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offering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Will denote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trust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ability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offering</a:t>
                      </a:r>
                      <a:r>
                        <a:rPr sz="2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reach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goals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denote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trust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money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invested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platform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3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b="1" spc="-10" dirty="0">
                          <a:latin typeface="Calibri"/>
                          <a:cs typeface="Calibri"/>
                        </a:rPr>
                        <a:t>Retention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92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2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making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repeated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SNPL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goals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37795" marR="131445" algn="ctr">
                        <a:lnSpc>
                          <a:spcPct val="101200"/>
                        </a:lnSpc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SNPL</a:t>
                      </a:r>
                      <a:r>
                        <a:rPr sz="2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subscribers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cancelling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goals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before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declared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investment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period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356870">
                        <a:lnSpc>
                          <a:spcPct val="101200"/>
                        </a:lnSpc>
                        <a:spcBef>
                          <a:spcPts val="19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denote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customer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had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satisfactory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experience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wants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continue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association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85090" marR="747395">
                        <a:lnSpc>
                          <a:spcPct val="101200"/>
                        </a:lnSpc>
                        <a:spcBef>
                          <a:spcPts val="111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denote</a:t>
                      </a:r>
                      <a:r>
                        <a:rPr sz="2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customers cancelling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goal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2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reasons: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cohorts</a:t>
                      </a:r>
                      <a:r>
                        <a:rPr sz="2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25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 find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out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what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cancellation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dissatisfied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customers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3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600" b="1" spc="-10" dirty="0">
                          <a:latin typeface="Calibri"/>
                          <a:cs typeface="Calibri"/>
                        </a:rPr>
                        <a:t>Health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Avg.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load time of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available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options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Lower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load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result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lower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bounce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rates due</a:t>
                      </a:r>
                      <a:r>
                        <a:rPr sz="2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 bad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experience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3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b="1" spc="-10" dirty="0">
                          <a:latin typeface="Calibri"/>
                          <a:cs typeface="Calibri"/>
                        </a:rPr>
                        <a:t>Satisfaction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430530" marR="424180" algn="ctr">
                        <a:lnSpc>
                          <a:spcPct val="101200"/>
                        </a:lnSpc>
                        <a:spcBef>
                          <a:spcPts val="19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SNPL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customers</a:t>
                      </a:r>
                      <a:r>
                        <a:rPr sz="2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complaints monthly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48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NPS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score of SNPL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customers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denote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complaints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rate,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hence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improvements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offerings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denote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satisfaction</a:t>
                      </a:r>
                      <a:r>
                        <a:rPr sz="2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SNPL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customers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1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600" b="1" spc="-10" dirty="0">
                          <a:latin typeface="Calibri"/>
                          <a:cs typeface="Calibri"/>
                        </a:rPr>
                        <a:t>Revenue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Profit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generated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through SNPL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business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07010">
                        <a:lnSpc>
                          <a:spcPct val="100000"/>
                        </a:lnSpc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Avg.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commission</a:t>
                      </a:r>
                      <a:r>
                        <a:rPr sz="2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rate per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lending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partner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denote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profit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we are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able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achieve as</a:t>
                      </a:r>
                      <a:r>
                        <a:rPr sz="2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function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revenue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generated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from the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SNPL</a:t>
                      </a:r>
                      <a:r>
                        <a:rPr sz="2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business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denote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relative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profitability we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draw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from our</a:t>
                      </a:r>
                      <a:r>
                        <a:rPr sz="2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2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dirty="0">
                          <a:latin typeface="Calibri"/>
                          <a:cs typeface="Calibri"/>
                        </a:rPr>
                        <a:t>lending</a:t>
                      </a:r>
                      <a:r>
                        <a:rPr sz="2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partners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4683" y="1010718"/>
            <a:ext cx="298267" cy="4226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8517" y="9377767"/>
            <a:ext cx="323712" cy="4000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7207" y="2591113"/>
            <a:ext cx="353397" cy="4367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139" y="3145241"/>
            <a:ext cx="353397" cy="4367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7207" y="3703609"/>
            <a:ext cx="353397" cy="4367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6004" y="5279764"/>
            <a:ext cx="342089" cy="4367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6004" y="6200013"/>
            <a:ext cx="354811" cy="4367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6004" y="7340781"/>
            <a:ext cx="357638" cy="46365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96004" y="6758381"/>
            <a:ext cx="367533" cy="46083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6004" y="8061713"/>
            <a:ext cx="305335" cy="41135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5689" y="8707724"/>
            <a:ext cx="325125" cy="400046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8201658" y="4201194"/>
            <a:ext cx="370840" cy="917575"/>
            <a:chOff x="8201658" y="4201194"/>
            <a:chExt cx="370840" cy="91757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17207" y="4201194"/>
              <a:ext cx="354811" cy="4367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1658" y="4681815"/>
              <a:ext cx="354811" cy="4367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72691" y="10108050"/>
            <a:ext cx="18555970" cy="816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76420" marR="5080" indent="-4364355">
              <a:lnSpc>
                <a:spcPct val="100000"/>
              </a:lnSpc>
              <a:spcBef>
                <a:spcPts val="90"/>
              </a:spcBef>
            </a:pPr>
            <a:r>
              <a:rPr sz="2600" b="1" i="1" spc="-20" dirty="0">
                <a:latin typeface="Calibri"/>
                <a:cs typeface="Calibri"/>
              </a:rPr>
              <a:t>Additionally,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will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track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some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secondary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metrics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like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cannibalism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of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Xtra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and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Zip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EMI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customers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by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Zip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SNPL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(%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of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regular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users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of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either </a:t>
            </a:r>
            <a:r>
              <a:rPr sz="2600" b="1" i="1" dirty="0">
                <a:latin typeface="Calibri"/>
                <a:cs typeface="Calibri"/>
              </a:rPr>
              <a:t>of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these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offerings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moving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to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SNPL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and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stopping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the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use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of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Xtra/Zip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EMI)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883" y="4630926"/>
            <a:ext cx="18272125" cy="6141085"/>
          </a:xfrm>
          <a:custGeom>
            <a:avLst/>
            <a:gdLst/>
            <a:ahLst/>
            <a:cxnLst/>
            <a:rect l="l" t="t" r="r" b="b"/>
            <a:pathLst>
              <a:path w="18272125" h="6141084">
                <a:moveTo>
                  <a:pt x="18272084" y="0"/>
                </a:moveTo>
                <a:lnTo>
                  <a:pt x="0" y="0"/>
                </a:lnTo>
                <a:lnTo>
                  <a:pt x="0" y="6140641"/>
                </a:lnTo>
                <a:lnTo>
                  <a:pt x="18272084" y="6140641"/>
                </a:lnTo>
                <a:lnTo>
                  <a:pt x="18272084" y="0"/>
                </a:lnTo>
                <a:close/>
              </a:path>
            </a:pathLst>
          </a:custGeom>
          <a:solidFill>
            <a:srgbClr val="005C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3050" rIns="0" bIns="0" rtlCol="0">
            <a:spAutoFit/>
          </a:bodyPr>
          <a:lstStyle/>
          <a:p>
            <a:pPr marL="97155" algn="ctr">
              <a:lnSpc>
                <a:spcPct val="100000"/>
              </a:lnSpc>
              <a:spcBef>
                <a:spcPts val="2150"/>
              </a:spcBef>
            </a:pPr>
            <a:r>
              <a:rPr dirty="0"/>
              <a:t>Future</a:t>
            </a:r>
            <a:r>
              <a:rPr spc="-50" dirty="0"/>
              <a:t> </a:t>
            </a:r>
            <a:r>
              <a:rPr spc="-10" dirty="0"/>
              <a:t>scope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600" u="sng" dirty="0">
                <a:uFill>
                  <a:solidFill>
                    <a:srgbClr val="FFFFFF"/>
                  </a:solidFill>
                </a:uFill>
              </a:rPr>
              <a:t>Tie</a:t>
            </a:r>
            <a:r>
              <a:rPr sz="2600" u="sng" spc="-7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up</a:t>
            </a:r>
            <a:r>
              <a:rPr sz="2600" u="sng" spc="-8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with</a:t>
            </a:r>
            <a:r>
              <a:rPr sz="2600" u="sng" spc="-6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brands</a:t>
            </a:r>
            <a:r>
              <a:rPr sz="2600" u="sng" spc="-9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for</a:t>
            </a:r>
            <a:r>
              <a:rPr sz="2600" u="sng" spc="-7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extra</a:t>
            </a:r>
            <a:r>
              <a:rPr sz="2600" u="sng" spc="-4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spc="-10" dirty="0">
                <a:uFill>
                  <a:solidFill>
                    <a:srgbClr val="FFFFFF"/>
                  </a:solidFill>
                </a:uFill>
              </a:rPr>
              <a:t>discounts</a:t>
            </a:r>
            <a:r>
              <a:rPr sz="2600" u="sng" spc="-8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[Impact:</a:t>
            </a:r>
            <a:r>
              <a:rPr sz="2600" u="sng" spc="-5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High,</a:t>
            </a:r>
            <a:r>
              <a:rPr sz="2600" u="sng" spc="-7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Risks:</a:t>
            </a:r>
            <a:r>
              <a:rPr sz="2600" u="sng" spc="-8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spc="-10" dirty="0">
                <a:uFill>
                  <a:solidFill>
                    <a:srgbClr val="FFFFFF"/>
                  </a:solidFill>
                </a:uFill>
              </a:rPr>
              <a:t>Medium]</a:t>
            </a:r>
            <a:endParaRPr sz="2600"/>
          </a:p>
          <a:p>
            <a:pPr marL="12700" marR="5080">
              <a:lnSpc>
                <a:spcPct val="101200"/>
              </a:lnSpc>
              <a:spcBef>
                <a:spcPts val="20"/>
              </a:spcBef>
            </a:pPr>
            <a:r>
              <a:rPr sz="2200" b="0" dirty="0">
                <a:latin typeface="Calibri"/>
                <a:cs typeface="Calibri"/>
              </a:rPr>
              <a:t>A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given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percentage</a:t>
            </a:r>
            <a:r>
              <a:rPr sz="2200" b="0" spc="-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of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amount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can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be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spc="-10" dirty="0">
                <a:latin typeface="Calibri"/>
                <a:cs typeface="Calibri"/>
              </a:rPr>
              <a:t>co-</a:t>
            </a:r>
            <a:r>
              <a:rPr sz="2200" b="0" dirty="0">
                <a:latin typeface="Calibri"/>
                <a:cs typeface="Calibri"/>
              </a:rPr>
              <a:t>invested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by the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company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that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user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decides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to</a:t>
            </a:r>
            <a:r>
              <a:rPr sz="2200" b="0" spc="-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set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up a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goal</a:t>
            </a:r>
            <a:r>
              <a:rPr sz="2200" b="0" spc="-10" dirty="0">
                <a:latin typeface="Calibri"/>
                <a:cs typeface="Calibri"/>
              </a:rPr>
              <a:t> </a:t>
            </a:r>
            <a:r>
              <a:rPr sz="2200" b="0" spc="-50" dirty="0">
                <a:latin typeface="Calibri"/>
                <a:cs typeface="Calibri"/>
              </a:rPr>
              <a:t>for.</a:t>
            </a:r>
            <a:r>
              <a:rPr sz="2200" b="0" dirty="0">
                <a:latin typeface="Calibri"/>
                <a:cs typeface="Calibri"/>
              </a:rPr>
              <a:t> The</a:t>
            </a:r>
            <a:r>
              <a:rPr sz="2200" b="0" spc="2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capital</a:t>
            </a:r>
            <a:r>
              <a:rPr sz="2200" b="0" spc="-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generated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at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end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of </a:t>
            </a:r>
            <a:r>
              <a:rPr sz="2200" b="0" spc="-25" dirty="0">
                <a:latin typeface="Calibri"/>
                <a:cs typeface="Calibri"/>
              </a:rPr>
              <a:t>the </a:t>
            </a:r>
            <a:r>
              <a:rPr sz="2200" b="0" dirty="0">
                <a:latin typeface="Calibri"/>
                <a:cs typeface="Calibri"/>
              </a:rPr>
              <a:t>investment period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can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be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given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to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user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in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form of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virtual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cards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that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works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only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for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that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platform.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Another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way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to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ensure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that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user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uses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spc="-20" dirty="0">
                <a:latin typeface="Calibri"/>
                <a:cs typeface="Calibri"/>
              </a:rPr>
              <a:t>money </a:t>
            </a:r>
            <a:r>
              <a:rPr sz="2200" b="0" dirty="0">
                <a:latin typeface="Calibri"/>
                <a:cs typeface="Calibri"/>
              </a:rPr>
              <a:t>on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platform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that he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spc="-10" dirty="0">
                <a:latin typeface="Calibri"/>
                <a:cs typeface="Calibri"/>
              </a:rPr>
              <a:t>co-</a:t>
            </a:r>
            <a:r>
              <a:rPr sz="2200" b="0" dirty="0">
                <a:latin typeface="Calibri"/>
                <a:cs typeface="Calibri"/>
              </a:rPr>
              <a:t>invested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with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is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to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give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cashbacks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or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additional offers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when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user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actually makes the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purchase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on the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platform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that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he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spc="-25" dirty="0">
                <a:latin typeface="Calibri"/>
                <a:cs typeface="Calibri"/>
              </a:rPr>
              <a:t>co- </a:t>
            </a:r>
            <a:r>
              <a:rPr sz="2200" b="0" dirty="0">
                <a:latin typeface="Calibri"/>
                <a:cs typeface="Calibri"/>
              </a:rPr>
              <a:t>invested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with. This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spc="-10" dirty="0">
                <a:latin typeface="Calibri"/>
                <a:cs typeface="Calibri"/>
              </a:rPr>
              <a:t>co-</a:t>
            </a:r>
            <a:r>
              <a:rPr sz="2200" b="0" dirty="0">
                <a:latin typeface="Calibri"/>
                <a:cs typeface="Calibri"/>
              </a:rPr>
              <a:t>investment method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will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give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user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more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incentive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to use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SNPL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to finance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their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spc="-10" dirty="0">
                <a:latin typeface="Calibri"/>
                <a:cs typeface="Calibri"/>
              </a:rPr>
              <a:t>purchases.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0"/>
              </a:spcBef>
            </a:pPr>
            <a:r>
              <a:rPr sz="2600" u="sng" spc="-10" dirty="0">
                <a:uFill>
                  <a:solidFill>
                    <a:srgbClr val="FFFFFF"/>
                  </a:solidFill>
                </a:uFill>
              </a:rPr>
              <a:t>Diversification</a:t>
            </a:r>
            <a:r>
              <a:rPr sz="2600" u="sng" spc="-7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of</a:t>
            </a:r>
            <a:r>
              <a:rPr sz="2600" u="sng" spc="-9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spc="-10" dirty="0">
                <a:uFill>
                  <a:solidFill>
                    <a:srgbClr val="FFFFFF"/>
                  </a:solidFill>
                </a:uFill>
              </a:rPr>
              <a:t>investment</a:t>
            </a:r>
            <a:r>
              <a:rPr sz="2600" u="sng" spc="-7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spc="-10" dirty="0">
                <a:uFill>
                  <a:solidFill>
                    <a:srgbClr val="FFFFFF"/>
                  </a:solidFill>
                </a:uFill>
              </a:rPr>
              <a:t>instruments</a:t>
            </a:r>
            <a:r>
              <a:rPr sz="2600" u="sng" spc="-7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[Impact:</a:t>
            </a:r>
            <a:r>
              <a:rPr sz="2600" u="sng" spc="-8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High,</a:t>
            </a:r>
            <a:r>
              <a:rPr sz="2600" u="sng" spc="-8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Risks:</a:t>
            </a:r>
            <a:r>
              <a:rPr sz="2600" u="sng" spc="-8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spc="-10" dirty="0">
                <a:uFill>
                  <a:solidFill>
                    <a:srgbClr val="FFFFFF"/>
                  </a:solidFill>
                </a:uFill>
              </a:rPr>
              <a:t>High]</a:t>
            </a:r>
            <a:endParaRPr sz="2600"/>
          </a:p>
          <a:p>
            <a:pPr marL="12700" marR="15875">
              <a:lnSpc>
                <a:spcPct val="101200"/>
              </a:lnSpc>
              <a:spcBef>
                <a:spcPts val="20"/>
              </a:spcBef>
            </a:pPr>
            <a:r>
              <a:rPr sz="2200" b="0" spc="-60" dirty="0">
                <a:latin typeface="Calibri"/>
                <a:cs typeface="Calibri"/>
              </a:rPr>
              <a:t>To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generate</a:t>
            </a:r>
            <a:r>
              <a:rPr sz="2200" b="0" spc="-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capital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at</a:t>
            </a:r>
            <a:r>
              <a:rPr sz="2200" b="0" spc="-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varying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rates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of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return,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investment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instruments</a:t>
            </a:r>
            <a:r>
              <a:rPr sz="2200" b="0" spc="-2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can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be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expanded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from Xtra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and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Zip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EMI loan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to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include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mutual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funds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and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spc="-10" dirty="0">
                <a:latin typeface="Calibri"/>
                <a:cs typeface="Calibri"/>
              </a:rPr>
              <a:t>other </a:t>
            </a:r>
            <a:r>
              <a:rPr sz="2200" b="0" dirty="0">
                <a:latin typeface="Calibri"/>
                <a:cs typeface="Calibri"/>
              </a:rPr>
              <a:t>suitable funds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that could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provide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higher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rate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of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return.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caveat is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that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risks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could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increase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too.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Hence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lot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of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research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will go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into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which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spc="-10" dirty="0">
                <a:latin typeface="Calibri"/>
                <a:cs typeface="Calibri"/>
              </a:rPr>
              <a:t>instruments </a:t>
            </a:r>
            <a:r>
              <a:rPr sz="2200" b="0" dirty="0">
                <a:latin typeface="Calibri"/>
                <a:cs typeface="Calibri"/>
              </a:rPr>
              <a:t>should</a:t>
            </a:r>
            <a:r>
              <a:rPr sz="2200" b="0" spc="3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be</a:t>
            </a:r>
            <a:r>
              <a:rPr sz="2200" b="0" spc="30" dirty="0">
                <a:latin typeface="Calibri"/>
                <a:cs typeface="Calibri"/>
              </a:rPr>
              <a:t> </a:t>
            </a:r>
            <a:r>
              <a:rPr sz="2200" b="0" spc="-10" dirty="0">
                <a:latin typeface="Calibri"/>
                <a:cs typeface="Calibri"/>
              </a:rPr>
              <a:t>chosen.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45"/>
              </a:spcBef>
            </a:pPr>
            <a:r>
              <a:rPr sz="2600" u="sng" dirty="0">
                <a:uFill>
                  <a:solidFill>
                    <a:srgbClr val="FFFFFF"/>
                  </a:solidFill>
                </a:uFill>
              </a:rPr>
              <a:t>Display</a:t>
            </a:r>
            <a:r>
              <a:rPr sz="2600" u="sng" spc="-9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user</a:t>
            </a:r>
            <a:r>
              <a:rPr sz="2600" u="sng" spc="-9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metrics</a:t>
            </a:r>
            <a:r>
              <a:rPr sz="2600" u="sng" spc="-8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related</a:t>
            </a:r>
            <a:r>
              <a:rPr sz="2600" u="sng" spc="-6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to</a:t>
            </a:r>
            <a:r>
              <a:rPr sz="2600" u="sng" spc="-8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their</a:t>
            </a:r>
            <a:r>
              <a:rPr sz="2600" u="sng" spc="-7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Goals</a:t>
            </a:r>
            <a:r>
              <a:rPr sz="2600" u="sng" spc="-9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[Impact:</a:t>
            </a:r>
            <a:r>
              <a:rPr sz="2600" u="sng" spc="-8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Medium,</a:t>
            </a:r>
            <a:r>
              <a:rPr sz="2600" u="sng" spc="-8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dirty="0">
                <a:uFill>
                  <a:solidFill>
                    <a:srgbClr val="FFFFFF"/>
                  </a:solidFill>
                </a:uFill>
              </a:rPr>
              <a:t>Risks:</a:t>
            </a:r>
            <a:r>
              <a:rPr sz="2600" u="sng" spc="-9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600" u="sng" spc="-20" dirty="0">
                <a:uFill>
                  <a:solidFill>
                    <a:srgbClr val="FFFFFF"/>
                  </a:solidFill>
                </a:uFill>
              </a:rPr>
              <a:t>Low]</a:t>
            </a:r>
            <a:endParaRPr sz="2600"/>
          </a:p>
          <a:p>
            <a:pPr marL="12700" marR="319405">
              <a:lnSpc>
                <a:spcPct val="101200"/>
              </a:lnSpc>
              <a:spcBef>
                <a:spcPts val="20"/>
              </a:spcBef>
            </a:pPr>
            <a:r>
              <a:rPr sz="2200" b="0" dirty="0">
                <a:latin typeface="Calibri"/>
                <a:cs typeface="Calibri"/>
              </a:rPr>
              <a:t>User</a:t>
            </a:r>
            <a:r>
              <a:rPr sz="2200" b="0" spc="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can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track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multiple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aggregate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metrics</a:t>
            </a:r>
            <a:r>
              <a:rPr sz="2200" b="0" spc="-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related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to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completed and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uncompleted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goals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like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amount left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to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be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generated,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monthly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milestones, ROI,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spc="-10" dirty="0">
                <a:latin typeface="Calibri"/>
                <a:cs typeface="Calibri"/>
              </a:rPr>
              <a:t>savings, </a:t>
            </a:r>
            <a:r>
              <a:rPr sz="2200" b="0" dirty="0">
                <a:latin typeface="Calibri"/>
                <a:cs typeface="Calibri"/>
              </a:rPr>
              <a:t>average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investment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amount,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etc.</a:t>
            </a:r>
            <a:r>
              <a:rPr sz="2200" b="0" spc="-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Users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can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be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allotted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badges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on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the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basis</a:t>
            </a:r>
            <a:r>
              <a:rPr sz="2200" b="0" spc="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of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achievements</a:t>
            </a:r>
            <a:r>
              <a:rPr sz="2200" b="0" spc="-1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on these</a:t>
            </a:r>
            <a:r>
              <a:rPr sz="2200" b="0" spc="1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statistics,</a:t>
            </a:r>
            <a:r>
              <a:rPr sz="2200" b="0" spc="-20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which</a:t>
            </a:r>
            <a:r>
              <a:rPr sz="2200" b="0" spc="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can</a:t>
            </a:r>
            <a:r>
              <a:rPr sz="2200" b="0" spc="-5" dirty="0">
                <a:latin typeface="Calibri"/>
                <a:cs typeface="Calibri"/>
              </a:rPr>
              <a:t> </a:t>
            </a:r>
            <a:r>
              <a:rPr sz="2200" b="0" dirty="0">
                <a:latin typeface="Calibri"/>
                <a:cs typeface="Calibri"/>
              </a:rPr>
              <a:t>increase </a:t>
            </a:r>
            <a:r>
              <a:rPr sz="2200" b="0" spc="-10" dirty="0">
                <a:latin typeface="Calibri"/>
                <a:cs typeface="Calibri"/>
              </a:rPr>
              <a:t>engagement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14028" y="1406170"/>
          <a:ext cx="18359755" cy="2826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01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0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Pitfalls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Mitigation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9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09220" marR="99695" indent="-5080" algn="ctr">
                        <a:lnSpc>
                          <a:spcPct val="100499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Periodic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investment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requirements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cases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turn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out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much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higher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spending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capacity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individual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might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default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few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initial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rounds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investment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56210" marR="149860" indent="1270" algn="ctr">
                        <a:lnSpc>
                          <a:spcPct val="100499"/>
                        </a:lnSpc>
                        <a:spcBef>
                          <a:spcPts val="18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Zip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EMI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credit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limit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generated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basis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credit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behaviour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analysis.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analysis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decide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periodic investment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requirement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individual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opting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Zip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SNPL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much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higher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than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spending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capacity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might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throw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warning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window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decrease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amount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generated.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still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decides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original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parameters,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such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cases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tracked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internally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1998" y="203814"/>
            <a:ext cx="10157460" cy="64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SECOND</a:t>
            </a:r>
            <a:r>
              <a:rPr spc="25" dirty="0"/>
              <a:t> </a:t>
            </a:r>
            <a:r>
              <a:rPr dirty="0"/>
              <a:t>ORDER</a:t>
            </a:r>
            <a:r>
              <a:rPr spc="20" dirty="0"/>
              <a:t> </a:t>
            </a:r>
            <a:r>
              <a:rPr dirty="0"/>
              <a:t>THINKING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FUTURE</a:t>
            </a:r>
            <a:r>
              <a:rPr spc="20" dirty="0"/>
              <a:t> </a:t>
            </a:r>
            <a:r>
              <a:rPr spc="-10" dirty="0"/>
              <a:t>SCOPE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80620" y="8038528"/>
            <a:ext cx="5340985" cy="1481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50" spc="-40" dirty="0">
                <a:solidFill>
                  <a:srgbClr val="4471C4"/>
                </a:solidFill>
                <a:latin typeface="Calibri Light"/>
                <a:cs typeface="Calibri Light"/>
              </a:rPr>
              <a:t>Thank</a:t>
            </a:r>
            <a:r>
              <a:rPr sz="9550" spc="-46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9550" spc="-35" dirty="0">
                <a:solidFill>
                  <a:srgbClr val="4471C4"/>
                </a:solidFill>
                <a:latin typeface="Calibri Light"/>
                <a:cs typeface="Calibri Light"/>
              </a:rPr>
              <a:t>you!</a:t>
            </a:r>
            <a:endParaRPr sz="955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460" y="422664"/>
            <a:ext cx="19299765" cy="6207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2078</Words>
  <Application>Microsoft Office PowerPoint</Application>
  <PresentationFormat>Custom</PresentationFormat>
  <Paragraphs>189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Calibri Light</vt:lpstr>
      <vt:lpstr>Times New Roman</vt:lpstr>
      <vt:lpstr>Office Theme</vt:lpstr>
      <vt:lpstr>PowerPoint Presentation</vt:lpstr>
      <vt:lpstr>INTRODUCTION</vt:lpstr>
      <vt:lpstr>USERS</vt:lpstr>
      <vt:lpstr>USER RESEARCH AND DEFINING THE PROBLEM</vt:lpstr>
      <vt:lpstr>SOLUTION: MVP for Zip SNPL</vt:lpstr>
      <vt:lpstr>USER FLOW DESIGN FOR Zip SNPL</vt:lpstr>
      <vt:lpstr>WIREFRAMES</vt:lpstr>
      <vt:lpstr>METRICS</vt:lpstr>
      <vt:lpstr>SECOND ORDER THINKING AND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Mayank Kumar</dc:creator>
  <cp:lastModifiedBy>Mayank Kumar</cp:lastModifiedBy>
  <cp:revision>1</cp:revision>
  <dcterms:created xsi:type="dcterms:W3CDTF">2026-05-21T09:49:31Z</dcterms:created>
  <dcterms:modified xsi:type="dcterms:W3CDTF">2026-05-21T09:53:47Z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2023-01-04T00:00:00Z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2026-05-21T00:00:00Z</vt:filetime>
  </property>
  <property fmtid="{D5CDD505-2E9C-101B-9397-08002B2CF9AE}" pid="5" name="Producer">
    <vt:lpwstr>Microsoft® PowerPoint® for Microsoft 365</vt:lpwstr>
  </property>
</Properties>
</file>