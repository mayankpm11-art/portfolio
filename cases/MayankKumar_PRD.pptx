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himsical.com/nxtwave-67JjRTJ1aJVYjtwxZc3xKc" TargetMode="External"/><Relationship Id="rId2" Type="http://schemas.openxmlformats.org/officeDocument/2006/relationships/hyperlink" Target="https://whimsical.com/nxtwave-R4u8wZNi2b3Z6bXtqN28QP" TargetMode="Externa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2095" y="889761"/>
            <a:ext cx="2190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NxtWave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Sales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Buddy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1.0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076" y="1396238"/>
            <a:ext cx="6558280" cy="1150620"/>
          </a:xfrm>
          <a:prstGeom prst="rect">
            <a:avLst/>
          </a:prstGeom>
          <a:ln w="18288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Author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Manager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latin typeface="Arial"/>
                <a:cs typeface="Arial"/>
              </a:rPr>
              <a:t>Teams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Design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latin typeface="Arial"/>
                <a:cs typeface="Arial"/>
              </a:rPr>
              <a:t>Date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publishing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7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November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2022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00" b="1" dirty="0">
                <a:latin typeface="Arial"/>
                <a:cs typeface="Arial"/>
              </a:rPr>
              <a:t>Version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1.0</a:t>
            </a:r>
            <a:endParaRPr sz="110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latin typeface="Arial"/>
                <a:cs typeface="Arial"/>
              </a:rPr>
              <a:t>Platform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PC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00" b="1" dirty="0">
                <a:latin typeface="Arial"/>
                <a:cs typeface="Arial"/>
              </a:rPr>
              <a:t>Classification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Internal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2733801"/>
            <a:ext cx="6424295" cy="582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Background: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580"/>
              </a:lnSpc>
              <a:spcBef>
                <a:spcPts val="75"/>
              </a:spcBef>
            </a:pPr>
            <a:r>
              <a:rPr sz="1200" dirty="0">
                <a:latin typeface="Arial MT"/>
                <a:cs typeface="Arial MT"/>
              </a:rPr>
              <a:t>Consider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you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build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scratch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team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b="1" dirty="0">
                <a:latin typeface="Arial"/>
                <a:cs typeface="Arial"/>
              </a:rPr>
              <a:t>1000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sales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associates.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You</a:t>
            </a:r>
            <a:r>
              <a:rPr sz="1200" spc="-20" dirty="0">
                <a:latin typeface="Arial MT"/>
                <a:cs typeface="Arial MT"/>
              </a:rPr>
              <a:t> have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Lac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leads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various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states.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daily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basis,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make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leads </a:t>
            </a:r>
            <a:r>
              <a:rPr sz="1200" dirty="0">
                <a:latin typeface="Arial MT"/>
                <a:cs typeface="Arial MT"/>
              </a:rPr>
              <a:t>across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India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create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awareness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about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4.0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Technologies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webinar.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Arial MT"/>
              <a:cs typeface="Arial MT"/>
            </a:endParaRPr>
          </a:p>
          <a:p>
            <a:pPr marL="469900" marR="349250" indent="-228600">
              <a:lnSpc>
                <a:spcPct val="1108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We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Lac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following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details: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Phone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parent.</a:t>
            </a:r>
            <a:endParaRPr sz="1200">
              <a:latin typeface="Arial MT"/>
              <a:cs typeface="Arial MT"/>
            </a:endParaRPr>
          </a:p>
          <a:p>
            <a:pPr marL="469900" marR="79375" indent="-228600">
              <a:lnSpc>
                <a:spcPct val="11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Our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make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Parents,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helpful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collect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student's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mobile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numbers.</a:t>
            </a:r>
            <a:endParaRPr sz="1200">
              <a:latin typeface="Arial MT"/>
              <a:cs typeface="Arial MT"/>
            </a:endParaRPr>
          </a:p>
          <a:p>
            <a:pPr marL="469900" marR="695960" indent="-228600">
              <a:lnSpc>
                <a:spcPts val="1600"/>
              </a:lnSpc>
              <a:spcBef>
                <a:spcPts val="6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about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webinar </a:t>
            </a:r>
            <a:r>
              <a:rPr sz="1200" dirty="0">
                <a:latin typeface="Arial MT"/>
                <a:cs typeface="Arial MT"/>
              </a:rPr>
              <a:t>registration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interested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WhatsApp</a:t>
            </a: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interested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choosing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slot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their</a:t>
            </a:r>
            <a:endParaRPr sz="1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200" spc="-10" dirty="0">
                <a:latin typeface="Arial MT"/>
                <a:cs typeface="Arial MT"/>
              </a:rPr>
              <a:t>choice.</a:t>
            </a:r>
            <a:endParaRPr sz="1200">
              <a:latin typeface="Arial MT"/>
              <a:cs typeface="Arial MT"/>
            </a:endParaRPr>
          </a:p>
          <a:p>
            <a:pPr marL="469900" marR="142875" indent="-228600">
              <a:lnSpc>
                <a:spcPts val="1600"/>
              </a:lnSpc>
              <a:spcBef>
                <a:spcPts val="65"/>
              </a:spcBef>
              <a:buAutoNum type="arabicPeriod" startAt="5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Finally,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watches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chosen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slot.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watch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pre-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duration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considered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qualified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lead.</a:t>
            </a: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AutoNum type="arabicPeriod" startAt="5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Qualified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receive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Career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Experts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&amp;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interested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among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qualified</a:t>
            </a:r>
            <a:endParaRPr sz="1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enroll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CCBP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4.0 </a:t>
            </a:r>
            <a:r>
              <a:rPr sz="1200" spc="-10" dirty="0">
                <a:latin typeface="Arial MT"/>
                <a:cs typeface="Arial MT"/>
              </a:rPr>
              <a:t>Program.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Objective:</a:t>
            </a:r>
            <a:endParaRPr sz="1100">
              <a:latin typeface="Arial"/>
              <a:cs typeface="Arial"/>
            </a:endParaRPr>
          </a:p>
          <a:p>
            <a:pPr marL="12700" marR="88265">
              <a:lnSpc>
                <a:spcPts val="1580"/>
              </a:lnSpc>
              <a:spcBef>
                <a:spcPts val="65"/>
              </a:spcBef>
            </a:pP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build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leak-</a:t>
            </a:r>
            <a:r>
              <a:rPr sz="1200" dirty="0">
                <a:latin typeface="Arial MT"/>
                <a:cs typeface="Arial MT"/>
              </a:rPr>
              <a:t>proof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track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history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between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&amp;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as </a:t>
            </a:r>
            <a:r>
              <a:rPr sz="1200" dirty="0">
                <a:latin typeface="Arial MT"/>
                <a:cs typeface="Arial MT"/>
              </a:rPr>
              <a:t>well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conversion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funnel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first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conversion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(defined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latin typeface="Arial MT"/>
                <a:cs typeface="Arial MT"/>
              </a:rPr>
              <a:t>who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watch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pre-fixed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duration)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Arial MT"/>
              <a:cs typeface="Arial MT"/>
            </a:endParaRPr>
          </a:p>
          <a:p>
            <a:pPr marL="469900" marR="409575" indent="-228600">
              <a:lnSpc>
                <a:spcPct val="11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Productivity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should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major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metric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improved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on </a:t>
            </a:r>
            <a:r>
              <a:rPr sz="1200" spc="-10" dirty="0">
                <a:latin typeface="Arial MT"/>
                <a:cs typeface="Arial MT"/>
              </a:rPr>
              <a:t>implementation</a:t>
            </a: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should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equipped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handle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minimum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base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100000</a:t>
            </a: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Should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updates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each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separately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89761"/>
            <a:ext cx="6409055" cy="529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marL="12700" marR="20955">
              <a:lnSpc>
                <a:spcPct val="11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Primary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user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profile: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NxtWave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savvy,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know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way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around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computer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basic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understanding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purpose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CRMs.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Needs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being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fulfilled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users: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central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keep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track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10" dirty="0">
                <a:latin typeface="Arial MT"/>
                <a:cs typeface="Arial MT"/>
              </a:rPr>
              <a:t> interactions</a:t>
            </a:r>
            <a:endParaRPr sz="1200">
              <a:latin typeface="Arial MT"/>
              <a:cs typeface="Arial MT"/>
            </a:endParaRPr>
          </a:p>
          <a:p>
            <a:pPr marL="469900" marR="5080" indent="-228600">
              <a:lnSpc>
                <a:spcPct val="11000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Standardized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parameters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(like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contact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details,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contacted,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time </a:t>
            </a:r>
            <a:r>
              <a:rPr sz="1200" dirty="0">
                <a:latin typeface="Arial MT"/>
                <a:cs typeface="Arial MT"/>
              </a:rPr>
              <a:t>contacted,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etc.)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understood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access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user </a:t>
            </a:r>
            <a:r>
              <a:rPr sz="1200" spc="-10" dirty="0">
                <a:latin typeface="Arial MT"/>
                <a:cs typeface="Arial MT"/>
              </a:rPr>
              <a:t>profile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Arial MT"/>
              <a:buAutoNum type="arabicPeriod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Assumptions: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Arial"/>
              <a:cs typeface="Arial"/>
            </a:endParaRPr>
          </a:p>
          <a:p>
            <a:pPr marL="468630" marR="182245" lvl="1" indent="-227329">
              <a:lnSpc>
                <a:spcPct val="110000"/>
              </a:lnSpc>
              <a:buFont typeface="Segoe UI Symbol"/>
              <a:buChar char="➢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numbers,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reported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as 	</a:t>
            </a:r>
            <a:r>
              <a:rPr sz="1200" dirty="0">
                <a:latin typeface="Arial MT"/>
                <a:cs typeface="Arial MT"/>
              </a:rPr>
              <a:t>business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spam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like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Truecaller,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could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future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picking 	</a:t>
            </a:r>
            <a:r>
              <a:rPr sz="1200" dirty="0">
                <a:latin typeface="Arial MT"/>
                <a:cs typeface="Arial MT"/>
              </a:rPr>
              <a:t>up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calls</a:t>
            </a:r>
            <a:endParaRPr sz="1200">
              <a:latin typeface="Arial MT"/>
              <a:cs typeface="Arial MT"/>
            </a:endParaRPr>
          </a:p>
          <a:p>
            <a:pPr marL="468630" marR="65405" lvl="1" indent="-227329">
              <a:lnSpc>
                <a:spcPct val="110800"/>
              </a:lnSpc>
              <a:spcBef>
                <a:spcPts val="160"/>
              </a:spcBef>
              <a:buFont typeface="Segoe UI Symbol"/>
              <a:buChar char="➢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1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Lac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initially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distributed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equally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among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1000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leading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to 	</a:t>
            </a:r>
            <a:r>
              <a:rPr sz="1200" dirty="0">
                <a:latin typeface="Arial MT"/>
                <a:cs typeface="Arial MT"/>
              </a:rPr>
              <a:t>100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0" dirty="0">
                <a:latin typeface="Arial MT"/>
                <a:cs typeface="Arial MT"/>
              </a:rPr>
              <a:t> associate</a:t>
            </a:r>
            <a:endParaRPr sz="1200">
              <a:latin typeface="Arial MT"/>
              <a:cs typeface="Arial MT"/>
            </a:endParaRPr>
          </a:p>
          <a:p>
            <a:pPr marL="468630" lvl="1" indent="-227329">
              <a:lnSpc>
                <a:spcPct val="100000"/>
              </a:lnSpc>
              <a:spcBef>
                <a:spcPts val="310"/>
              </a:spcBef>
              <a:buFont typeface="Segoe UI Symbol"/>
              <a:buChar char="➢"/>
              <a:tabLst>
                <a:tab pos="468630" algn="l"/>
              </a:tabLst>
            </a:pP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fluent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least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Hindi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English</a:t>
            </a:r>
            <a:endParaRPr sz="1200">
              <a:latin typeface="Arial MT"/>
              <a:cs typeface="Arial MT"/>
            </a:endParaRPr>
          </a:p>
          <a:p>
            <a:pPr marL="468630" marR="292100" lvl="1" indent="-227329">
              <a:lnSpc>
                <a:spcPct val="110800"/>
              </a:lnSpc>
              <a:spcBef>
                <a:spcPts val="160"/>
              </a:spcBef>
              <a:buFont typeface="Segoe UI Symbol"/>
              <a:buChar char="➢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default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language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talk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English.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modified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sales 	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applicable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10" dirty="0">
                <a:latin typeface="Arial MT"/>
                <a:cs typeface="Arial MT"/>
              </a:rPr>
              <a:t> profiles</a:t>
            </a:r>
            <a:endParaRPr sz="1200">
              <a:latin typeface="Arial MT"/>
              <a:cs typeface="Arial MT"/>
            </a:endParaRPr>
          </a:p>
          <a:p>
            <a:pPr marL="468630" marR="567690" lvl="1" indent="-227329">
              <a:lnSpc>
                <a:spcPct val="110000"/>
              </a:lnSpc>
              <a:spcBef>
                <a:spcPts val="165"/>
              </a:spcBef>
              <a:buFont typeface="Segoe UI Symbol"/>
              <a:buChar char="➢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We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only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student’s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	</a:t>
            </a:r>
            <a:r>
              <a:rPr sz="1200" dirty="0">
                <a:latin typeface="Arial MT"/>
                <a:cs typeface="Arial MT"/>
              </a:rPr>
              <a:t>beginning,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other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information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about</a:t>
            </a:r>
            <a:r>
              <a:rPr sz="1200" spc="-20" dirty="0">
                <a:latin typeface="Arial MT"/>
                <a:cs typeface="Arial MT"/>
              </a:rPr>
              <a:t> leads</a:t>
            </a:r>
            <a:endParaRPr sz="1200">
              <a:latin typeface="Arial MT"/>
              <a:cs typeface="Arial MT"/>
            </a:endParaRPr>
          </a:p>
          <a:p>
            <a:pPr marL="468630" lvl="1" indent="-227329">
              <a:lnSpc>
                <a:spcPct val="100000"/>
              </a:lnSpc>
              <a:spcBef>
                <a:spcPts val="325"/>
              </a:spcBef>
              <a:buFont typeface="Segoe UI Symbol"/>
              <a:buChar char="➢"/>
              <a:tabLst>
                <a:tab pos="468630" algn="l"/>
              </a:tabLst>
            </a:pPr>
            <a:r>
              <a:rPr sz="1200" dirty="0">
                <a:latin typeface="Arial MT"/>
                <a:cs typeface="Arial MT"/>
              </a:rPr>
              <a:t>Webinars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keep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happening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regular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intervals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772790"/>
            <a:ext cx="6398895" cy="504126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10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journey</a:t>
            </a:r>
            <a:endParaRPr sz="1400">
              <a:latin typeface="Arial"/>
              <a:cs typeface="Arial"/>
            </a:endParaRPr>
          </a:p>
          <a:p>
            <a:pPr marL="27940" algn="ctr">
              <a:lnSpc>
                <a:spcPct val="100000"/>
              </a:lnSpc>
              <a:spcBef>
                <a:spcPts val="785"/>
              </a:spcBef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shown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here:</a:t>
            </a:r>
            <a:endParaRPr sz="1200">
              <a:latin typeface="Arial MT"/>
              <a:cs typeface="Arial MT"/>
            </a:endParaRPr>
          </a:p>
          <a:p>
            <a:pPr marL="26670" algn="ctr">
              <a:lnSpc>
                <a:spcPct val="100000"/>
              </a:lnSpc>
              <a:spcBef>
                <a:spcPts val="540"/>
              </a:spcBef>
            </a:pPr>
            <a:r>
              <a:rPr sz="1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https://whimsical.com/nxtwave-R4u8wZNi2b3Z6bXtqN28QP</a:t>
            </a:r>
            <a:endParaRPr sz="1200">
              <a:latin typeface="Arial"/>
              <a:cs typeface="Arial"/>
            </a:endParaRPr>
          </a:p>
          <a:p>
            <a:pPr marL="59690" marR="27305" algn="ctr">
              <a:lnSpc>
                <a:spcPts val="1380"/>
              </a:lnSpc>
              <a:spcBef>
                <a:spcPts val="640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journey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should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fully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implemented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first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Go-</a:t>
            </a:r>
            <a:r>
              <a:rPr sz="1200" dirty="0">
                <a:latin typeface="Arial MT"/>
                <a:cs typeface="Arial MT"/>
              </a:rPr>
              <a:t>Live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hence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included</a:t>
            </a:r>
            <a:r>
              <a:rPr sz="1200" spc="-25" dirty="0">
                <a:latin typeface="Arial MT"/>
                <a:cs typeface="Arial MT"/>
              </a:rPr>
              <a:t> in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P1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stories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first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200">
              <a:latin typeface="Arial MT"/>
              <a:cs typeface="Arial MT"/>
            </a:endParaRPr>
          </a:p>
          <a:p>
            <a:pPr marL="29845" algn="ctr">
              <a:lnSpc>
                <a:spcPct val="100000"/>
              </a:lnSpc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Wireframes</a:t>
            </a:r>
            <a:endParaRPr sz="1400">
              <a:latin typeface="Arial"/>
              <a:cs typeface="Arial"/>
            </a:endParaRPr>
          </a:p>
          <a:p>
            <a:pPr marL="24130" algn="ctr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wireframes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represented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credentials:</a:t>
            </a:r>
            <a:endParaRPr sz="1200">
              <a:latin typeface="Arial MT"/>
              <a:cs typeface="Arial MT"/>
            </a:endParaRPr>
          </a:p>
          <a:p>
            <a:pPr marL="26670" algn="ctr">
              <a:lnSpc>
                <a:spcPct val="100000"/>
              </a:lnSpc>
              <a:spcBef>
                <a:spcPts val="540"/>
              </a:spcBef>
            </a:pPr>
            <a:r>
              <a:rPr sz="1200" b="1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/>
              </a:rPr>
              <a:t>https://whimsical.com/nxtwave-67JjRTJ1aJVYjtwxZc3xKc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Rules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follow: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10000"/>
              </a:lnSpc>
              <a:buChar char="●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history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chronology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bottom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top,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latest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status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visible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row</a:t>
            </a:r>
            <a:endParaRPr sz="1200">
              <a:latin typeface="Arial MT"/>
              <a:cs typeface="Arial MT"/>
            </a:endParaRPr>
          </a:p>
          <a:p>
            <a:pPr marL="469900" marR="137795" indent="-228600">
              <a:lnSpc>
                <a:spcPct val="110000"/>
              </a:lnSpc>
              <a:buChar char="●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If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been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registered,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edited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interaction </a:t>
            </a:r>
            <a:r>
              <a:rPr sz="1200" dirty="0">
                <a:latin typeface="Arial MT"/>
                <a:cs typeface="Arial MT"/>
              </a:rPr>
              <a:t>registered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above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  <a:p>
            <a:pPr marL="469900" marR="187960" indent="-228600">
              <a:lnSpc>
                <a:spcPct val="110000"/>
              </a:lnSpc>
              <a:spcBef>
                <a:spcPts val="15"/>
              </a:spcBef>
              <a:buChar char="●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If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doesn’t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personal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WhatsApp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invitation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for </a:t>
            </a:r>
            <a:r>
              <a:rPr sz="1200" dirty="0">
                <a:latin typeface="Arial MT"/>
                <a:cs typeface="Arial MT"/>
              </a:rPr>
              <a:t>attending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parent’s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done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clicking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checkbox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parent’s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call</a:t>
            </a: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45"/>
              </a:spcBef>
              <a:buChar char="●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3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case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repeat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failure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re-</a:t>
            </a:r>
            <a:r>
              <a:rPr sz="1200" spc="-10" dirty="0">
                <a:latin typeface="Arial MT"/>
                <a:cs typeface="Arial MT"/>
              </a:rPr>
              <a:t>assignment</a:t>
            </a:r>
            <a:endParaRPr sz="1200">
              <a:latin typeface="Arial MT"/>
              <a:cs typeface="Arial MT"/>
            </a:endParaRPr>
          </a:p>
          <a:p>
            <a:pPr marL="469900" marR="15875">
              <a:lnSpc>
                <a:spcPct val="11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logic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(if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applicable),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kick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further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information,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“</a:t>
            </a:r>
            <a:r>
              <a:rPr sz="1200" b="1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Re-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assignment</a:t>
            </a:r>
            <a:r>
              <a:rPr sz="1200" b="1" u="sng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logic</a:t>
            </a:r>
            <a:r>
              <a:rPr sz="1200" b="1" spc="-10" dirty="0">
                <a:solidFill>
                  <a:srgbClr val="800080"/>
                </a:solid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for</a:t>
            </a:r>
            <a:r>
              <a:rPr sz="1200" b="1" u="sng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failed</a:t>
            </a:r>
            <a:r>
              <a:rPr sz="1200" b="1" u="sng" spc="-2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b="1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4" action="ppaction://hlinksldjump"/>
              </a:rPr>
              <a:t>calls</a:t>
            </a:r>
            <a:r>
              <a:rPr sz="1200" b="1" spc="-10" dirty="0"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91285"/>
            <a:ext cx="6422390" cy="824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Features</a:t>
            </a:r>
            <a:r>
              <a:rPr sz="14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description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Broad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flows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defined: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Login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698500" marR="11430" lvl="1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credentials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portal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Sales</a:t>
            </a:r>
            <a:r>
              <a:rPr sz="1200" spc="50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Buddy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portal,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access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list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along with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interaction history</a:t>
            </a:r>
            <a:endParaRPr sz="1200">
              <a:latin typeface="Arial MT"/>
              <a:cs typeface="Arial MT"/>
            </a:endParaRPr>
          </a:p>
          <a:p>
            <a:pPr marL="698500" marR="73025" lvl="1" indent="-228600">
              <a:lnSpc>
                <a:spcPct val="110200"/>
              </a:lnSpc>
              <a:spcBef>
                <a:spcPts val="80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feature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login,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exclusive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features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like, </a:t>
            </a:r>
            <a:r>
              <a:rPr sz="1200" dirty="0">
                <a:latin typeface="Arial MT"/>
                <a:cs typeface="Arial MT"/>
              </a:rPr>
              <a:t>Modifying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Reassigning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leads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50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Search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Arial MT"/>
                <a:cs typeface="Arial MT"/>
              </a:rPr>
              <a:t>Scope: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two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options</a:t>
            </a:r>
            <a:endParaRPr sz="1200">
              <a:latin typeface="Arial MT"/>
              <a:cs typeface="Arial MT"/>
            </a:endParaRPr>
          </a:p>
          <a:p>
            <a:pPr marL="698500" marR="249554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One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search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parameter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defined</a:t>
            </a:r>
            <a:r>
              <a:rPr sz="1200" spc="-25" dirty="0">
                <a:latin typeface="Arial MT"/>
                <a:cs typeface="Arial MT"/>
              </a:rPr>
              <a:t> for </a:t>
            </a:r>
            <a:r>
              <a:rPr sz="1200" dirty="0">
                <a:latin typeface="Arial MT"/>
                <a:cs typeface="Arial MT"/>
              </a:rPr>
              <a:t>every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(Name,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preferred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language)</a:t>
            </a:r>
            <a:endParaRPr sz="1200">
              <a:latin typeface="Arial MT"/>
              <a:cs typeface="Arial MT"/>
            </a:endParaRPr>
          </a:p>
          <a:p>
            <a:pPr marL="698500" marR="394970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Another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accessing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master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list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assigned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opening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desired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profile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9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Lead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profile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698500" marR="95250" lvl="1" indent="-228600">
              <a:lnSpc>
                <a:spcPct val="110000"/>
              </a:lnSpc>
              <a:spcBef>
                <a:spcPts val="90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Define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parameters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like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(first,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middle,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last),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number, </a:t>
            </a:r>
            <a:r>
              <a:rPr sz="1200" dirty="0">
                <a:latin typeface="Arial MT"/>
                <a:cs typeface="Arial MT"/>
              </a:rPr>
              <a:t>Student’s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Preferred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language(s),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various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logical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(active,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invite, </a:t>
            </a:r>
            <a:r>
              <a:rPr sz="1200" dirty="0">
                <a:latin typeface="Arial MT"/>
                <a:cs typeface="Arial MT"/>
              </a:rPr>
              <a:t>webinar,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eligible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flags)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each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profile</a:t>
            </a:r>
            <a:endParaRPr sz="1200">
              <a:latin typeface="Arial MT"/>
              <a:cs typeface="Arial MT"/>
            </a:endParaRPr>
          </a:p>
          <a:p>
            <a:pPr marL="698500" marR="29845" lvl="1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active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denote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active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qualified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yet.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Default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value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will </a:t>
            </a:r>
            <a:r>
              <a:rPr sz="1200" dirty="0">
                <a:latin typeface="Arial MT"/>
                <a:cs typeface="Arial MT"/>
              </a:rPr>
              <a:t>be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L="698500" marR="10160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phone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list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uploaded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portal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10" dirty="0">
                <a:latin typeface="Arial MT"/>
                <a:cs typeface="Arial MT"/>
              </a:rPr>
              <a:t> admin, </a:t>
            </a:r>
            <a:r>
              <a:rPr sz="1200" dirty="0">
                <a:latin typeface="Arial MT"/>
                <a:cs typeface="Arial MT"/>
              </a:rPr>
              <a:t>after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equal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allotted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each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associate. </a:t>
            </a:r>
            <a:r>
              <a:rPr sz="1200" dirty="0">
                <a:latin typeface="Arial MT"/>
                <a:cs typeface="Arial MT"/>
              </a:rPr>
              <a:t>Reassignments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take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place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end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language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barrier</a:t>
            </a:r>
            <a:r>
              <a:rPr sz="1200" spc="50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issues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batches.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automated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future</a:t>
            </a:r>
            <a:r>
              <a:rPr sz="1200" spc="-10" dirty="0">
                <a:latin typeface="Arial MT"/>
                <a:cs typeface="Arial MT"/>
              </a:rPr>
              <a:t> scope</a:t>
            </a:r>
            <a:endParaRPr sz="1200">
              <a:latin typeface="Arial MT"/>
              <a:cs typeface="Arial MT"/>
            </a:endParaRPr>
          </a:p>
          <a:p>
            <a:pPr marL="698500" marR="5080" lvl="1" indent="-228600">
              <a:lnSpc>
                <a:spcPct val="110200"/>
              </a:lnSpc>
              <a:spcBef>
                <a:spcPts val="80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also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display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history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between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table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populated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further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flows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buAutoNum type="arabicPeriod" startAt="4"/>
              <a:tabLst>
                <a:tab pos="4699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Register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call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698500" marR="409575" lvl="1" indent="-228600">
              <a:lnSpc>
                <a:spcPct val="110000"/>
              </a:lnSpc>
              <a:spcBef>
                <a:spcPts val="80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CTP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(call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parent)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parameter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each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profile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incremented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registered by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associates</a:t>
            </a:r>
            <a:endParaRPr sz="1200">
              <a:latin typeface="Arial MT"/>
              <a:cs typeface="Arial MT"/>
            </a:endParaRPr>
          </a:p>
          <a:p>
            <a:pPr marL="698500" marR="21590" lvl="1" indent="-228600">
              <a:lnSpc>
                <a:spcPct val="110000"/>
              </a:lnSpc>
              <a:spcBef>
                <a:spcPts val="100"/>
              </a:spcBef>
              <a:buFont typeface="Symbol"/>
              <a:buChar char=""/>
              <a:tabLst>
                <a:tab pos="6985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parent’s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(CTP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1,2,3)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non-</a:t>
            </a:r>
            <a:r>
              <a:rPr sz="1200" dirty="0">
                <a:latin typeface="Arial MT"/>
                <a:cs typeface="Arial MT"/>
              </a:rPr>
              <a:t>editable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fields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window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(check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wireframe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popup).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0" dirty="0">
                <a:latin typeface="Arial MT"/>
                <a:cs typeface="Arial MT"/>
              </a:rPr>
              <a:t> associates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status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“success”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“failure”.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mapped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4521"/>
            <a:ext cx="6194425" cy="819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31775">
              <a:lnSpc>
                <a:spcPct val="11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particular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status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given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visible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respective </a:t>
            </a:r>
            <a:r>
              <a:rPr sz="1200" dirty="0">
                <a:latin typeface="Arial MT"/>
                <a:cs typeface="Arial MT"/>
              </a:rPr>
              <a:t>dropdown.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mapping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 </a:t>
            </a:r>
            <a:r>
              <a:rPr sz="1200" i="1" dirty="0">
                <a:latin typeface="Arial"/>
                <a:cs typeface="Arial"/>
              </a:rPr>
              <a:t>Modify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reason code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flow.</a:t>
            </a:r>
            <a:endParaRPr sz="1200">
              <a:latin typeface="Arial"/>
              <a:cs typeface="Arial"/>
            </a:endParaRPr>
          </a:p>
          <a:p>
            <a:pPr marL="469265" marR="353060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parameter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updated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as </a:t>
            </a:r>
            <a:r>
              <a:rPr sz="1200" dirty="0">
                <a:latin typeface="Arial MT"/>
                <a:cs typeface="Arial MT"/>
              </a:rPr>
              <a:t>success,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invite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413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Send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invitation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link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469265" marR="64135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enable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registration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button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to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WhatsApp</a:t>
            </a:r>
            <a:endParaRPr sz="1200">
              <a:latin typeface="Arial MT"/>
              <a:cs typeface="Arial MT"/>
            </a:endParaRPr>
          </a:p>
          <a:p>
            <a:pPr marL="469265" marR="5080" lvl="1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If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response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success,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invite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set </a:t>
            </a:r>
            <a:r>
              <a:rPr sz="1200" dirty="0">
                <a:latin typeface="Arial MT"/>
                <a:cs typeface="Arial MT"/>
              </a:rPr>
              <a:t>to </a:t>
            </a:r>
            <a:r>
              <a:rPr sz="1200" spc="-50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  <a:p>
            <a:pPr marL="469265" marR="72390" lvl="1" indent="-228600">
              <a:lnSpc>
                <a:spcPct val="110000"/>
              </a:lnSpc>
              <a:spcBef>
                <a:spcPts val="90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future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scope,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Run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batches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live,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whose</a:t>
            </a:r>
            <a:r>
              <a:rPr sz="1200" spc="-10" dirty="0">
                <a:latin typeface="Arial MT"/>
                <a:cs typeface="Arial MT"/>
              </a:rPr>
              <a:t> invite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invitation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10" dirty="0">
                <a:latin typeface="Arial MT"/>
                <a:cs typeface="Arial MT"/>
              </a:rPr>
              <a:t> together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4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Arial"/>
              <a:buAutoNum type="arabicPeriod" startAt="6"/>
              <a:tabLst>
                <a:tab pos="2413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Slot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booking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469265" marR="22860" lvl="1" indent="-228600">
              <a:lnSpc>
                <a:spcPct val="1101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WhatsApp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present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options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multiple </a:t>
            </a:r>
            <a:r>
              <a:rPr sz="1200" dirty="0">
                <a:latin typeface="Arial MT"/>
                <a:cs typeface="Arial MT"/>
              </a:rPr>
              <a:t>webinars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applicable.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fields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name,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mobile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r>
              <a:rPr sz="1200" i="1" spc="500" dirty="0"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which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they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received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200" i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registration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link,</a:t>
            </a: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mobile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which</a:t>
            </a: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they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will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</a:t>
            </a: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access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2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webinar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other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details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applicable.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value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entered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latter </a:t>
            </a:r>
            <a:r>
              <a:rPr sz="1200" dirty="0">
                <a:latin typeface="Arial MT"/>
                <a:cs typeface="Arial MT"/>
              </a:rPr>
              <a:t>field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against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 slot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visible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5" dirty="0">
                <a:latin typeface="Arial MT"/>
                <a:cs typeface="Arial MT"/>
              </a:rPr>
              <a:t> the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history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(check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wireframe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page).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20" dirty="0">
                <a:latin typeface="Arial MT"/>
                <a:cs typeface="Arial MT"/>
              </a:rPr>
              <a:t> will </a:t>
            </a:r>
            <a:r>
              <a:rPr sz="1200" dirty="0">
                <a:latin typeface="Arial MT"/>
                <a:cs typeface="Arial MT"/>
              </a:rPr>
              <a:t>ensure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different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invitation link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registration, </a:t>
            </a: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duplication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leads</a:t>
            </a:r>
            <a:endParaRPr sz="1200">
              <a:latin typeface="Arial MT"/>
              <a:cs typeface="Arial MT"/>
            </a:endParaRPr>
          </a:p>
          <a:p>
            <a:pPr marL="469265" marR="81280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slot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take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place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window,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else</a:t>
            </a:r>
            <a:r>
              <a:rPr sz="1200" spc="-10" dirty="0">
                <a:latin typeface="Arial MT"/>
                <a:cs typeface="Arial MT"/>
              </a:rPr>
              <a:t> reminder </a:t>
            </a:r>
            <a:r>
              <a:rPr sz="1200" dirty="0">
                <a:latin typeface="Arial MT"/>
                <a:cs typeface="Arial MT"/>
              </a:rPr>
              <a:t>messages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 have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student</a:t>
            </a:r>
            <a:endParaRPr sz="1200">
              <a:latin typeface="Arial MT"/>
              <a:cs typeface="Arial MT"/>
            </a:endParaRPr>
          </a:p>
          <a:p>
            <a:pPr marL="469265" marR="62865" lvl="1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slot,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appears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history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45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2413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Send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webinar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link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469265" marR="158115" lvl="1" indent="-228600">
              <a:lnSpc>
                <a:spcPct val="11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activated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they</a:t>
            </a:r>
            <a:r>
              <a:rPr sz="1200" spc="-10" dirty="0">
                <a:latin typeface="Arial MT"/>
                <a:cs typeface="Arial MT"/>
              </a:rPr>
              <a:t> provided </a:t>
            </a:r>
            <a:r>
              <a:rPr sz="1200" dirty="0">
                <a:latin typeface="Arial MT"/>
                <a:cs typeface="Arial MT"/>
              </a:rPr>
              <a:t>during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register</a:t>
            </a:r>
            <a:endParaRPr sz="1200">
              <a:latin typeface="Arial MT"/>
              <a:cs typeface="Arial MT"/>
            </a:endParaRPr>
          </a:p>
          <a:p>
            <a:pPr marL="469265" marR="71755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If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response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 success,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is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  <a:p>
            <a:pPr marL="469265" marR="471805" lvl="1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future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scope,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Run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batches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 is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live,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0" dirty="0">
                <a:latin typeface="Arial MT"/>
                <a:cs typeface="Arial MT"/>
              </a:rPr>
              <a:t> whose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one,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together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Symbol"/>
              <a:buChar char=""/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AutoNum type="arabicPeriod" startAt="8"/>
              <a:tabLst>
                <a:tab pos="2413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Lead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conversion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3853"/>
            <a:ext cx="6108700" cy="413956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25"/>
              </a:spcBef>
            </a:pPr>
            <a:r>
              <a:rPr sz="1200" spc="-10" dirty="0">
                <a:latin typeface="Arial MT"/>
                <a:cs typeface="Arial MT"/>
              </a:rPr>
              <a:t>Scope:</a:t>
            </a:r>
            <a:endParaRPr sz="1200">
              <a:latin typeface="Arial MT"/>
              <a:cs typeface="Arial MT"/>
            </a:endParaRPr>
          </a:p>
          <a:p>
            <a:pPr marL="469265" marR="107950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student’s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viewing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activity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tracked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here.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webinar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authenticated through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mobile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provided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during registration</a:t>
            </a:r>
            <a:endParaRPr sz="1200">
              <a:latin typeface="Arial MT"/>
              <a:cs typeface="Arial MT"/>
            </a:endParaRPr>
          </a:p>
          <a:p>
            <a:pPr marL="469265" marR="147320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If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view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threshold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amount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minutes,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eligible flag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profile 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L="469265" marR="396240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active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0,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denote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converted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now </a:t>
            </a:r>
            <a:r>
              <a:rPr sz="1200" dirty="0">
                <a:latin typeface="Arial MT"/>
                <a:cs typeface="Arial MT"/>
              </a:rPr>
              <a:t>qualified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counselling</a:t>
            </a:r>
            <a:endParaRPr sz="1200">
              <a:latin typeface="Arial MT"/>
              <a:cs typeface="Arial MT"/>
            </a:endParaRPr>
          </a:p>
          <a:p>
            <a:pPr marL="469265" marR="5080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additional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measure,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roll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out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feedback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both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who </a:t>
            </a:r>
            <a:r>
              <a:rPr sz="1200" dirty="0">
                <a:latin typeface="Arial MT"/>
                <a:cs typeface="Arial MT"/>
              </a:rPr>
              <a:t>qualified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qualify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converted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(after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watching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threshold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amount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minutes)</a:t>
            </a:r>
            <a:endParaRPr sz="1200">
              <a:latin typeface="Arial MT"/>
              <a:cs typeface="Arial MT"/>
            </a:endParaRPr>
          </a:p>
          <a:p>
            <a:pPr marL="469265" marR="165735" indent="-228600">
              <a:lnSpc>
                <a:spcPct val="11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Students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could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attend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interest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attending </a:t>
            </a:r>
            <a:r>
              <a:rPr sz="1200" dirty="0">
                <a:latin typeface="Arial MT"/>
                <a:cs typeface="Arial MT"/>
              </a:rPr>
              <a:t>again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given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chance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so.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AutoNum type="arabicPeriod" startAt="9"/>
              <a:tabLst>
                <a:tab pos="2413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Modify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reason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code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flow: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latin typeface="Arial MT"/>
                <a:cs typeface="Arial MT"/>
              </a:rPr>
              <a:t>Scope: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Applicable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only</a:t>
            </a:r>
            <a:endParaRPr sz="1200">
              <a:latin typeface="Arial MT"/>
              <a:cs typeface="Arial MT"/>
            </a:endParaRPr>
          </a:p>
          <a:p>
            <a:pPr marL="469265" marR="436245" lvl="1" indent="-228600">
              <a:lnSpc>
                <a:spcPct val="109200"/>
              </a:lnSpc>
              <a:spcBef>
                <a:spcPts val="110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admin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add,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modify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delete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codes</a:t>
            </a:r>
            <a:r>
              <a:rPr sz="1200" spc="-10" dirty="0">
                <a:latin typeface="Arial MT"/>
                <a:cs typeface="Arial MT"/>
              </a:rPr>
              <a:t> defined </a:t>
            </a:r>
            <a:r>
              <a:rPr sz="1200" dirty="0">
                <a:latin typeface="Arial MT"/>
                <a:cs typeface="Arial MT"/>
              </a:rPr>
              <a:t>against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status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codes.</a:t>
            </a:r>
            <a:endParaRPr sz="1200">
              <a:latin typeface="Arial MT"/>
              <a:cs typeface="Arial MT"/>
            </a:endParaRPr>
          </a:p>
          <a:p>
            <a:pPr marL="469265" marR="113030" lvl="1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They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also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particular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affect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logical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flags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 </a:t>
            </a:r>
            <a:r>
              <a:rPr sz="1200" dirty="0">
                <a:latin typeface="Arial MT"/>
                <a:cs typeface="Arial MT"/>
              </a:rPr>
              <a:t>particular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profile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9170" y="889761"/>
            <a:ext cx="17348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Development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cycles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330197"/>
            <a:ext cx="641286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Present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scenarios: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1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Following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(User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stories)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created: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our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product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backlog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look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like, </a:t>
            </a:r>
            <a:r>
              <a:rPr sz="1200" dirty="0">
                <a:latin typeface="Arial MT"/>
                <a:cs typeface="Arial MT"/>
              </a:rPr>
              <a:t>along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priority.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P1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issues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create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 first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Live.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5647" y="2359405"/>
          <a:ext cx="6101080" cy="6718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S.no.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Title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Priority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Owner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Admin</a:t>
                      </a:r>
                      <a:r>
                        <a:rPr sz="1100" b="1" u="sng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functionalities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Modify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reason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flow: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Modify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reason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flow: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Modify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Modify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reason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flow: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Reassign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leads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Sales</a:t>
                      </a:r>
                      <a:r>
                        <a:rPr sz="1100" b="1" u="sng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associate</a:t>
                      </a:r>
                      <a:r>
                        <a:rPr sz="1100" b="1" u="sng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functionalities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CRM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UI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design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Forgot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password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associate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profile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profile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6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Search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leads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criteria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Search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leads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master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list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8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9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interaction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Send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flows: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invitation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Send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flows: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webinar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Slot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booking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batch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flows: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invitation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batch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flows: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webinar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conversion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flow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P1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team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92809"/>
            <a:ext cx="6122670" cy="286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Future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scenarios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Arial"/>
              <a:cs typeface="Arial"/>
            </a:endParaRPr>
          </a:p>
          <a:p>
            <a:pPr marL="469900" marR="27305" indent="-228600" algn="just">
              <a:lnSpc>
                <a:spcPct val="110800"/>
              </a:lnSpc>
              <a:buFont typeface="Arial MT"/>
              <a:buAutoNum type="arabicPeriod"/>
              <a:tabLst>
                <a:tab pos="469900" algn="l"/>
              </a:tabLst>
            </a:pPr>
            <a:r>
              <a:rPr sz="1200" b="1" dirty="0">
                <a:latin typeface="Arial"/>
                <a:cs typeface="Arial"/>
              </a:rPr>
              <a:t>Establish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cron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jobs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run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batch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flows: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help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business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scales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5" dirty="0">
                <a:latin typeface="Arial MT"/>
                <a:cs typeface="Arial MT"/>
              </a:rPr>
              <a:t> run </a:t>
            </a:r>
            <a:r>
              <a:rPr sz="1200" dirty="0">
                <a:latin typeface="Arial MT"/>
                <a:cs typeface="Arial MT"/>
              </a:rPr>
              <a:t>batches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predefined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intervals</a:t>
            </a:r>
            <a:endParaRPr sz="1200">
              <a:latin typeface="Arial MT"/>
              <a:cs typeface="Arial MT"/>
            </a:endParaRPr>
          </a:p>
          <a:p>
            <a:pPr marL="469900" marR="5080" indent="-228600" algn="just">
              <a:lnSpc>
                <a:spcPct val="110000"/>
              </a:lnSpc>
              <a:buFont typeface="Arial MT"/>
              <a:buAutoNum type="arabicPeriod"/>
              <a:tabLst>
                <a:tab pos="469900" algn="l"/>
              </a:tabLst>
            </a:pPr>
            <a:r>
              <a:rPr sz="1200" b="1" dirty="0">
                <a:latin typeface="Arial"/>
                <a:cs typeface="Arial"/>
              </a:rPr>
              <a:t>Infographics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show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consolidated </a:t>
            </a:r>
            <a:r>
              <a:rPr sz="1200" b="1" dirty="0">
                <a:latin typeface="Arial"/>
                <a:cs typeface="Arial"/>
              </a:rPr>
              <a:t>data/stats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leads,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at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territorial,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state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or </a:t>
            </a:r>
            <a:r>
              <a:rPr sz="1200" b="1" dirty="0">
                <a:latin typeface="Arial"/>
                <a:cs typeface="Arial"/>
              </a:rPr>
              <a:t>national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level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reveal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big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picture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concentrate 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regional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efficiencies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spc="-10" dirty="0">
                <a:latin typeface="Arial MT"/>
                <a:cs typeface="Arial MT"/>
              </a:rPr>
              <a:t>breakdowns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 MT"/>
              <a:cs typeface="Arial MT"/>
            </a:endParaRPr>
          </a:p>
          <a:p>
            <a:pPr marL="304165" algn="ctr">
              <a:lnSpc>
                <a:spcPct val="100000"/>
              </a:lnSpc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Metrics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Arial"/>
              <a:cs typeface="Arial"/>
            </a:endParaRPr>
          </a:p>
          <a:p>
            <a:pPr marL="301625"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North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metric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Daily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average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associate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Arial MT"/>
              <a:cs typeface="Arial MT"/>
            </a:endParaRPr>
          </a:p>
          <a:p>
            <a:pPr marL="12700" marR="62865">
              <a:lnSpc>
                <a:spcPct val="110000"/>
              </a:lnSpc>
            </a:pPr>
            <a:r>
              <a:rPr sz="1200" b="1" dirty="0">
                <a:latin typeface="Arial"/>
                <a:cs typeface="Arial"/>
              </a:rPr>
              <a:t>Logic: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Here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objective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build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aid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sales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keeping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track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of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interaction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productivity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tracked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5800" y="3972178"/>
          <a:ext cx="6445250" cy="249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Category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Metric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Logic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Productivity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leading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metrics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4935">
                        <a:lnSpc>
                          <a:spcPts val="138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conversion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taken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converted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traverse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funnel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first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call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webinar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viewing)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1280">
                        <a:lnSpc>
                          <a:spcPts val="138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directly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indicate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how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much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conversion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impacted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due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CRM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225">
                <a:tc>
                  <a:txBody>
                    <a:bodyPr/>
                    <a:lstStyle/>
                    <a:p>
                      <a:pPr marL="64135" marR="167005">
                        <a:lnSpc>
                          <a:spcPts val="138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associate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productivity metrics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4135">
                        <a:lnSpc>
                          <a:spcPts val="138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conversion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rate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associate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Total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qualified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leads/Total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calls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made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associate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23825">
                        <a:lnSpc>
                          <a:spcPts val="138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keep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eye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on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individual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associate’s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productivity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provide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there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any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need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training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33698" y="6859905"/>
            <a:ext cx="90614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Reviewers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8024" y="7320660"/>
          <a:ext cx="6234430" cy="1628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Role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Function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marL="3975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Action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Date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head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Management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Approved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Nov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2022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manager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Product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Approved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Nov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2022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Engineering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Lead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Engineering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Reviewed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Nov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2022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Lead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UI/UX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Reviewed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Nov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2022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9761"/>
            <a:ext cx="5880735" cy="266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0680" algn="ctr">
              <a:lnSpc>
                <a:spcPct val="100000"/>
              </a:lnSpc>
              <a:spcBef>
                <a:spcPts val="100"/>
              </a:spcBef>
            </a:pP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FAQs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marL="12700" marR="17780" indent="194945">
              <a:lnSpc>
                <a:spcPct val="110000"/>
              </a:lnSpc>
              <a:spcBef>
                <a:spcPts val="5"/>
              </a:spcBef>
              <a:buAutoNum type="alphaUcParenR"/>
              <a:tabLst>
                <a:tab pos="207645" algn="l"/>
              </a:tabLst>
            </a:pPr>
            <a:r>
              <a:rPr sz="1200" dirty="0">
                <a:latin typeface="Arial MT"/>
                <a:cs typeface="Arial MT"/>
              </a:rPr>
              <a:t>Consider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out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lakh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only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30k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answer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are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answered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multiple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reasons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like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answering,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busy,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reachable, </a:t>
            </a:r>
            <a:r>
              <a:rPr sz="1200" dirty="0">
                <a:latin typeface="Arial MT"/>
                <a:cs typeface="Arial MT"/>
              </a:rPr>
              <a:t>Switch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off,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rejected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etc.,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assign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again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associates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to </a:t>
            </a:r>
            <a:r>
              <a:rPr sz="1200" dirty="0">
                <a:latin typeface="Arial MT"/>
                <a:cs typeface="Arial MT"/>
              </a:rPr>
              <a:t>ensure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maximum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answer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rate?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dirty="0">
                <a:latin typeface="Arial MT"/>
                <a:cs typeface="Arial MT"/>
              </a:rPr>
              <a:t>Refer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b="1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Re-assignment</a:t>
            </a:r>
            <a:r>
              <a:rPr sz="1200" b="1" u="sng" spc="-3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logic</a:t>
            </a:r>
            <a:r>
              <a:rPr sz="1200" b="1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for</a:t>
            </a:r>
            <a:r>
              <a:rPr sz="1200" b="1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failed</a:t>
            </a:r>
            <a:r>
              <a:rPr sz="1200" b="1" u="sng" spc="-2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 action="ppaction://hlinksldjump"/>
              </a:rPr>
              <a:t>calls</a:t>
            </a:r>
            <a:r>
              <a:rPr sz="1200" b="1" spc="-5" dirty="0">
                <a:solidFill>
                  <a:srgbClr val="800080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section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Features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description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header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Arial MT"/>
              <a:cs typeface="Arial MT"/>
            </a:endParaRPr>
          </a:p>
          <a:p>
            <a:pPr marL="12700" marR="90805" indent="194945">
              <a:lnSpc>
                <a:spcPct val="110000"/>
              </a:lnSpc>
              <a:spcBef>
                <a:spcPts val="5"/>
              </a:spcBef>
              <a:buAutoNum type="alphaUcParenR" startAt="2"/>
              <a:tabLst>
                <a:tab pos="207645" algn="l"/>
              </a:tabLst>
            </a:pP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cases,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Mobile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Number-</a:t>
            </a:r>
            <a:r>
              <a:rPr sz="1200" dirty="0">
                <a:latin typeface="Arial MT"/>
                <a:cs typeface="Arial MT"/>
              </a:rPr>
              <a:t>1.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he/she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registers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our </a:t>
            </a:r>
            <a:r>
              <a:rPr sz="1200" dirty="0">
                <a:latin typeface="Arial MT"/>
                <a:cs typeface="Arial MT"/>
              </a:rPr>
              <a:t>webinar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session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Mobile</a:t>
            </a:r>
            <a:r>
              <a:rPr sz="1200" spc="-10" dirty="0">
                <a:latin typeface="Arial MT"/>
                <a:cs typeface="Arial MT"/>
              </a:rPr>
              <a:t> Number-</a:t>
            </a:r>
            <a:r>
              <a:rPr sz="1200" dirty="0">
                <a:latin typeface="Arial MT"/>
                <a:cs typeface="Arial MT"/>
              </a:rPr>
              <a:t>2.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How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ensure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duplication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of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CRM?</a:t>
            </a:r>
            <a:endParaRPr sz="1200">
              <a:latin typeface="Arial MT"/>
              <a:cs typeface="Arial MT"/>
            </a:endParaRPr>
          </a:p>
          <a:p>
            <a:pPr marL="12700" marR="409575">
              <a:lnSpc>
                <a:spcPct val="110000"/>
              </a:lnSpc>
              <a:spcBef>
                <a:spcPts val="15"/>
              </a:spcBef>
            </a:pPr>
            <a:r>
              <a:rPr sz="1200" dirty="0">
                <a:latin typeface="Arial MT"/>
                <a:cs typeface="Arial MT"/>
              </a:rPr>
              <a:t>Refer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 action="ppaction://hlinksldjump"/>
              </a:rPr>
              <a:t>Slot</a:t>
            </a:r>
            <a:r>
              <a:rPr sz="1200" b="1" u="sng" spc="-2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 action="ppaction://hlinksldjump"/>
              </a:rPr>
              <a:t>booking</a:t>
            </a:r>
            <a:r>
              <a:rPr sz="1200" b="1" u="sng" spc="-2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b="1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 action="ppaction://hlinksldjump"/>
              </a:rPr>
              <a:t>flow</a:t>
            </a:r>
            <a:r>
              <a:rPr sz="1200" b="1" spc="-15" dirty="0">
                <a:solidFill>
                  <a:srgbClr val="800080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section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Broad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definition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Features </a:t>
            </a:r>
            <a:r>
              <a:rPr sz="1200" dirty="0">
                <a:latin typeface="Arial MT"/>
                <a:cs typeface="Arial MT"/>
              </a:rPr>
              <a:t>description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header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92809"/>
            <a:ext cx="4623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Appendix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1: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Reason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code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list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failure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various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interactions: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5800" y="1316989"/>
          <a:ext cx="6326505" cy="4044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275590" marR="93980" indent="-175260">
                        <a:lnSpc>
                          <a:spcPct val="110000"/>
                        </a:lnSpc>
                        <a:spcBef>
                          <a:spcPts val="10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Interaction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code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Status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code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Reason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codes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00" b="1" spc="-20" dirty="0">
                          <a:latin typeface="Arial"/>
                          <a:cs typeface="Arial"/>
                        </a:rPr>
                        <a:t>Logic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F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62255" marR="255270" algn="just">
                        <a:lnSpc>
                          <a:spcPct val="110500"/>
                        </a:lnSpc>
                      </a:pPr>
                      <a:r>
                        <a:rPr sz="1000" b="1" i="1" spc="-20" dirty="0">
                          <a:latin typeface="Arial"/>
                          <a:cs typeface="Arial"/>
                        </a:rPr>
                        <a:t>CTP1 CTP2 CTP3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23875" marR="22225" indent="-497205">
                        <a:lnSpc>
                          <a:spcPct val="111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track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1st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2nd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/ 3rd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call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parent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Failure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marR="27940" algn="ctr">
                        <a:lnSpc>
                          <a:spcPct val="110200"/>
                        </a:lnSpc>
                        <a:spcBef>
                          <a:spcPts val="90"/>
                        </a:spcBef>
                      </a:pPr>
                      <a:r>
                        <a:rPr sz="1000" i="1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answering,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 Not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reachable,</a:t>
                      </a:r>
                      <a:r>
                        <a:rPr sz="10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Language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issue,</a:t>
                      </a:r>
                      <a:r>
                        <a:rPr sz="10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1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does</a:t>
                      </a:r>
                      <a:r>
                        <a:rPr sz="10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exist,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Switch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off,</a:t>
                      </a:r>
                      <a:r>
                        <a:rPr sz="10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Currently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busy,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Told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talk</a:t>
                      </a:r>
                      <a:r>
                        <a:rPr sz="10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later,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Wrong</a:t>
                      </a:r>
                      <a:r>
                        <a:rPr sz="10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number,</a:t>
                      </a:r>
                      <a:r>
                        <a:rPr sz="1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interested,</a:t>
                      </a:r>
                      <a:r>
                        <a:rPr sz="1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Call</a:t>
                      </a:r>
                      <a:r>
                        <a:rPr sz="1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rejected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applicable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7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3690" marR="135890" indent="-172720">
                        <a:lnSpc>
                          <a:spcPct val="111000"/>
                        </a:lnSpc>
                      </a:pPr>
                      <a:r>
                        <a:rPr sz="1000" b="1" i="1" spc="-10" dirty="0">
                          <a:latin typeface="Arial"/>
                          <a:cs typeface="Arial"/>
                        </a:rPr>
                        <a:t>Invitation </a:t>
                      </a:r>
                      <a:r>
                        <a:rPr sz="1000" b="1" i="1" spc="-20" dirty="0">
                          <a:latin typeface="Arial"/>
                          <a:cs typeface="Arial"/>
                        </a:rPr>
                        <a:t>link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3670" marR="73025" indent="-78105">
                        <a:lnSpc>
                          <a:spcPct val="111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track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student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received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invitation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link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Failure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i="1" spc="-10" dirty="0">
                          <a:latin typeface="Arial"/>
                          <a:cs typeface="Arial"/>
                        </a:rPr>
                        <a:t>Error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marR="61594" algn="ctr">
                        <a:lnSpc>
                          <a:spcPct val="1102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Negative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response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received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against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API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call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send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link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which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will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denote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non-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receipt</a:t>
                      </a:r>
                      <a:r>
                        <a:rPr sz="1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message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intended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receiver's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device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000" b="1" i="1" dirty="0">
                          <a:latin typeface="Arial"/>
                          <a:cs typeface="Arial"/>
                        </a:rPr>
                        <a:t>Slot</a:t>
                      </a:r>
                      <a:r>
                        <a:rPr sz="10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latin typeface="Arial"/>
                          <a:cs typeface="Arial"/>
                        </a:rPr>
                        <a:t>booked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20955" indent="-3810" algn="ctr">
                        <a:lnSpc>
                          <a:spcPct val="110500"/>
                        </a:lnSpc>
                        <a:spcBef>
                          <a:spcPts val="8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track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student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booked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slot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attending webinar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Failure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i="1" dirty="0">
                          <a:latin typeface="Arial"/>
                          <a:cs typeface="Arial"/>
                        </a:rPr>
                        <a:t>Deadline</a:t>
                      </a:r>
                      <a:r>
                        <a:rPr sz="10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error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 marR="120650" algn="ctr">
                        <a:lnSpc>
                          <a:spcPct val="110500"/>
                        </a:lnSpc>
                        <a:spcBef>
                          <a:spcPts val="8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Student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did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book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preferred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slot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defined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deadline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0815" marR="163195" indent="2540">
                        <a:lnSpc>
                          <a:spcPct val="110000"/>
                        </a:lnSpc>
                        <a:spcBef>
                          <a:spcPts val="5"/>
                        </a:spcBef>
                      </a:pPr>
                      <a:r>
                        <a:rPr sz="1000" b="1" i="1" spc="-10" dirty="0">
                          <a:latin typeface="Arial"/>
                          <a:cs typeface="Arial"/>
                        </a:rPr>
                        <a:t>Webinar watched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2390" indent="-635" algn="ctr">
                        <a:lnSpc>
                          <a:spcPct val="1101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track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student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ended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watching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webinar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threshold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amount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time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Failure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3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4629" marR="132715" indent="-78105">
                        <a:lnSpc>
                          <a:spcPct val="110000"/>
                        </a:lnSpc>
                        <a:spcBef>
                          <a:spcPts val="5"/>
                        </a:spcBef>
                      </a:pPr>
                      <a:r>
                        <a:rPr sz="1000" i="1" dirty="0">
                          <a:latin typeface="Arial"/>
                          <a:cs typeface="Arial"/>
                        </a:rPr>
                        <a:t>Threshold</a:t>
                      </a:r>
                      <a:r>
                        <a:rPr sz="10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minutes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reached,</a:t>
                      </a:r>
                      <a:r>
                        <a:rPr sz="10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latin typeface="Arial"/>
                          <a:cs typeface="Arial"/>
                        </a:rPr>
                        <a:t>joined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applicable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3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5543169"/>
            <a:ext cx="632333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Note: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“Success”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status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interactions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will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have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only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success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reason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code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mapped </a:t>
            </a:r>
            <a:r>
              <a:rPr sz="1200" b="1" dirty="0">
                <a:latin typeface="Arial"/>
                <a:cs typeface="Arial"/>
              </a:rPr>
              <a:t>against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them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92809"/>
            <a:ext cx="35483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Appendix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2: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Re-</a:t>
            </a:r>
            <a:r>
              <a:rPr sz="1200" b="1" dirty="0">
                <a:latin typeface="Arial"/>
                <a:cs typeface="Arial"/>
              </a:rPr>
              <a:t>assignment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logic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failed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calls: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5800" y="1141730"/>
          <a:ext cx="6488430" cy="6091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28600" marR="142240" indent="-81280">
                        <a:lnSpc>
                          <a:spcPts val="1150"/>
                        </a:lnSpc>
                        <a:spcBef>
                          <a:spcPts val="244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Reason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code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Applicable</a:t>
                      </a:r>
                      <a:r>
                        <a:rPr sz="10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cases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>
                  <a:txBody>
                    <a:bodyPr/>
                    <a:lstStyle/>
                    <a:p>
                      <a:pPr marL="437515" marR="125095" indent="-308610">
                        <a:lnSpc>
                          <a:spcPts val="1150"/>
                        </a:lnSpc>
                        <a:spcBef>
                          <a:spcPts val="244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Re-assignment logic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Additional</a:t>
                      </a:r>
                      <a:r>
                        <a:rPr sz="10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steps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2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0495" marR="144145" indent="116839">
                        <a:lnSpc>
                          <a:spcPts val="115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Call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rejected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situation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talk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5090" marR="80010" algn="ctr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registered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code,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there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reassignment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associate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 marR="185420" algn="ctr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got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Truecaller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notification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being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business/spam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41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6995" marR="81915" indent="19177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answering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206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8615" marR="229870" indent="-113030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situation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talk/away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phone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1435" marR="47625" indent="635" algn="ctr">
                        <a:lnSpc>
                          <a:spcPct val="95800"/>
                        </a:lnSpc>
                        <a:spcBef>
                          <a:spcPts val="35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registered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code,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there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reassignment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associate,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further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call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attempts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made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different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times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first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attempts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 marR="185420" algn="ctr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got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Truecaller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notification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being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business/spam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7155" marR="92710" indent="180975">
                        <a:lnSpc>
                          <a:spcPts val="11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reachable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96925" marR="66675" indent="-72771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area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low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network reception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5405" indent="635" algn="ctr">
                        <a:lnSpc>
                          <a:spcPct val="957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registered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code,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further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attempted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cooling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off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period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(assumption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will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move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better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reception area)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8600" marR="88265" indent="-134620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Language issue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 marR="72390" algn="ctr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picked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said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(s)he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was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comfortable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language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associate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versed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language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marR="78740" algn="ctr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Reassign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sales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associate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expertise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that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language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133985" marR="126364" indent="-2540" algn="ctr">
                        <a:lnSpc>
                          <a:spcPct val="955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exist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Inactive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details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39370" algn="ctr">
                        <a:lnSpc>
                          <a:spcPct val="955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possible,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alternate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contact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else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master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list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223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Switch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off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21995" marR="285750" indent="-43434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phone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discharged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switched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off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marR="26034" indent="635" algn="ctr">
                        <a:lnSpc>
                          <a:spcPct val="961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registered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reason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code,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possible,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alternate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contact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lead,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else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master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list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241935" marR="113664" indent="-121920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Currently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busy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person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time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252729" marR="60325" indent="-186055">
                        <a:lnSpc>
                          <a:spcPts val="1150"/>
                        </a:lnSpc>
                        <a:spcBef>
                          <a:spcPts val="7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Told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talk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later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 marR="112395" algn="ctr">
                        <a:lnSpc>
                          <a:spcPct val="955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picked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was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occupied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calling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requested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later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60325" algn="ctr">
                        <a:lnSpc>
                          <a:spcPct val="955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comfortable,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details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mentioned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remarks</a:t>
                      </a:r>
                      <a:r>
                        <a:rPr sz="1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parameter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161290" marR="155575" indent="28575">
                        <a:lnSpc>
                          <a:spcPts val="1150"/>
                        </a:lnSpc>
                        <a:spcBef>
                          <a:spcPts val="7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Wrong number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0" marR="146050" indent="-421005">
                        <a:lnSpc>
                          <a:spcPts val="1150"/>
                        </a:lnSpc>
                        <a:spcBef>
                          <a:spcPts val="77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picked,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intended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receiver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39370" algn="ctr">
                        <a:lnSpc>
                          <a:spcPct val="955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possible,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alternate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contact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else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delete from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master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list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7155" marR="92710" indent="180975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interested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 marR="93345" indent="-73660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picked,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was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interested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proposition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reassign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76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7461351"/>
            <a:ext cx="6309995" cy="1560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50495">
              <a:lnSpc>
                <a:spcPct val="1105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Another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would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require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reassignment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unavailability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assigned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sales </a:t>
            </a:r>
            <a:r>
              <a:rPr sz="1100" dirty="0">
                <a:latin typeface="Arial MT"/>
                <a:cs typeface="Arial MT"/>
              </a:rPr>
              <a:t>associate.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cases,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admin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has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manually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reassign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leads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another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sales associate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0600"/>
              </a:lnSpc>
            </a:pPr>
            <a:r>
              <a:rPr sz="1100" b="1" dirty="0">
                <a:latin typeface="Arial"/>
                <a:cs typeface="Arial"/>
              </a:rPr>
              <a:t>Note: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keep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track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that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some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sales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associates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are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not </a:t>
            </a:r>
            <a:r>
              <a:rPr sz="1100" b="1" spc="-10" dirty="0">
                <a:latin typeface="Arial"/>
                <a:cs typeface="Arial"/>
              </a:rPr>
              <a:t>overburdened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with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overwhelming </a:t>
            </a:r>
            <a:r>
              <a:rPr sz="1100" b="1" dirty="0">
                <a:latin typeface="Arial"/>
                <a:cs typeface="Arial"/>
              </a:rPr>
              <a:t>number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leads,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each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active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lead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will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denoted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by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active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flag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1.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number</a:t>
            </a:r>
            <a:r>
              <a:rPr sz="1100" b="1" spc="-25" dirty="0">
                <a:latin typeface="Arial"/>
                <a:cs typeface="Arial"/>
              </a:rPr>
              <a:t> of </a:t>
            </a:r>
            <a:r>
              <a:rPr sz="1100" b="1" dirty="0">
                <a:latin typeface="Arial"/>
                <a:cs typeface="Arial"/>
              </a:rPr>
              <a:t>active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leads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assigned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each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sales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associate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will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hence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tracked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visible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sales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admin, </a:t>
            </a:r>
            <a:r>
              <a:rPr sz="1100" b="1" dirty="0">
                <a:latin typeface="Arial"/>
                <a:cs typeface="Arial"/>
              </a:rPr>
              <a:t>who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can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make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decision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reassign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required.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38145"/>
                </a:moveTo>
                <a:lnTo>
                  <a:pt x="7152132" y="9438145"/>
                </a:lnTo>
                <a:lnTo>
                  <a:pt x="12192" y="9438145"/>
                </a:lnTo>
                <a:lnTo>
                  <a:pt x="0" y="9438145"/>
                </a:lnTo>
                <a:lnTo>
                  <a:pt x="0" y="9450324"/>
                </a:lnTo>
                <a:lnTo>
                  <a:pt x="12192" y="9450324"/>
                </a:lnTo>
                <a:lnTo>
                  <a:pt x="7152132" y="9450324"/>
                </a:lnTo>
                <a:lnTo>
                  <a:pt x="7164311" y="9450324"/>
                </a:lnTo>
                <a:lnTo>
                  <a:pt x="7164311" y="9438145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2132" y="0"/>
                </a:ln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9438132"/>
                </a:lnTo>
                <a:lnTo>
                  <a:pt x="12192" y="9438132"/>
                </a:lnTo>
                <a:lnTo>
                  <a:pt x="12192" y="12192"/>
                </a:lnTo>
                <a:lnTo>
                  <a:pt x="7152132" y="12192"/>
                </a:lnTo>
                <a:lnTo>
                  <a:pt x="7152132" y="9438132"/>
                </a:lnTo>
                <a:lnTo>
                  <a:pt x="7164311" y="9438132"/>
                </a:lnTo>
                <a:lnTo>
                  <a:pt x="7164311" y="12192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2870</Words>
  <Application>Microsoft Office PowerPoint</Application>
  <PresentationFormat>Custom</PresentationFormat>
  <Paragraphs>373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Segoe UI Symbol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Mayank Kumar</dc:creator>
  <cp:lastModifiedBy>Mayank Kumar</cp:lastModifiedBy>
  <cp:revision>1</cp:revision>
  <dcterms:created xsi:type="dcterms:W3CDTF">2026-05-21T10:18:09Z</dcterms:created>
  <dcterms:modified xsi:type="dcterms:W3CDTF">2026-05-21T10:19:58Z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2022-11-08T00:00:00Z</vt:filetime>
  </property>
  <property fmtid="{D5CDD505-2E9C-101B-9397-08002B2CF9AE}" pid="4" name="Creator">
    <vt:lpwstr>Microsoft® Word 2019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Word 2019</vt:lpwstr>
  </property>
</Properties>
</file>