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7106" y="-5715"/>
            <a:ext cx="10304627" cy="10132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3290" y="1057783"/>
            <a:ext cx="11413490" cy="2150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ayank.pm11@gmail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linkedin.com/in/mayankkumarpm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mayankkumarpm" TargetMode="External"/><Relationship Id="rId2" Type="http://schemas.openxmlformats.org/officeDocument/2006/relationships/hyperlink" Target="mailto:mayank.pm11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8059" y="2848090"/>
            <a:ext cx="9271635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700" b="1" spc="-165" dirty="0">
                <a:latin typeface="Verdana"/>
                <a:cs typeface="Verdana"/>
              </a:rPr>
              <a:t>Social</a:t>
            </a:r>
            <a:r>
              <a:rPr sz="3700" b="1" spc="-170" dirty="0">
                <a:latin typeface="Verdana"/>
                <a:cs typeface="Verdana"/>
              </a:rPr>
              <a:t> </a:t>
            </a:r>
            <a:r>
              <a:rPr sz="3700" b="1" spc="-90" dirty="0">
                <a:latin typeface="Verdana"/>
                <a:cs typeface="Verdana"/>
              </a:rPr>
              <a:t>Engagement</a:t>
            </a:r>
            <a:r>
              <a:rPr sz="3700" b="1" spc="-140" dirty="0">
                <a:latin typeface="Verdana"/>
                <a:cs typeface="Verdana"/>
              </a:rPr>
              <a:t> </a:t>
            </a:r>
            <a:r>
              <a:rPr sz="3700" b="1" spc="-155" dirty="0">
                <a:latin typeface="Verdana"/>
                <a:cs typeface="Verdana"/>
              </a:rPr>
              <a:t>feature</a:t>
            </a:r>
            <a:r>
              <a:rPr sz="3700" b="1" spc="-135" dirty="0">
                <a:latin typeface="Verdana"/>
                <a:cs typeface="Verdana"/>
              </a:rPr>
              <a:t> </a:t>
            </a:r>
            <a:r>
              <a:rPr sz="3700" b="1" spc="-185" dirty="0">
                <a:latin typeface="Verdana"/>
                <a:cs typeface="Verdana"/>
              </a:rPr>
              <a:t>for</a:t>
            </a:r>
            <a:r>
              <a:rPr sz="3700" b="1" spc="-204" dirty="0">
                <a:latin typeface="Verdana"/>
                <a:cs typeface="Verdana"/>
              </a:rPr>
              <a:t> </a:t>
            </a:r>
            <a:r>
              <a:rPr sz="3700" b="1" spc="-30" dirty="0">
                <a:latin typeface="Verdana"/>
                <a:cs typeface="Verdana"/>
              </a:rPr>
              <a:t>Zupee</a:t>
            </a:r>
            <a:endParaRPr sz="3700" dirty="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18046" y="1447800"/>
            <a:ext cx="2351663" cy="714250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B56ECE7C-71C2-76C5-B4D8-EBC7149B58ED}"/>
              </a:ext>
            </a:extLst>
          </p:cNvPr>
          <p:cNvSpPr txBox="1"/>
          <p:nvPr/>
        </p:nvSpPr>
        <p:spPr>
          <a:xfrm>
            <a:off x="3833177" y="4700683"/>
            <a:ext cx="4525645" cy="11544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05" algn="ctr">
              <a:lnSpc>
                <a:spcPct val="131500"/>
              </a:lnSpc>
              <a:spcBef>
                <a:spcPts val="100"/>
              </a:spcBef>
            </a:pPr>
            <a:r>
              <a:rPr lang="en-IN" sz="1800" u="sng" dirty="0">
                <a:hlinkClick r:id="rId3"/>
              </a:rPr>
              <a:t>mayank.pm11@gmail.com</a:t>
            </a:r>
            <a:r>
              <a:rPr lang="en-IN" sz="1800" dirty="0"/>
              <a:t>  </a:t>
            </a:r>
            <a:r>
              <a:rPr lang="en-IN" sz="1800" u="sng" dirty="0">
                <a:hlinkClick r:id="rId4"/>
              </a:rPr>
              <a:t>linkedin.com/in/</a:t>
            </a:r>
            <a:r>
              <a:rPr lang="en-IN" sz="1800" u="sng" dirty="0" err="1">
                <a:hlinkClick r:id="rId4"/>
              </a:rPr>
              <a:t>mayankkumar</a:t>
            </a:r>
            <a:endParaRPr sz="2000" dirty="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  <a:spcBef>
                <a:spcPts val="765"/>
              </a:spcBef>
            </a:pPr>
            <a:r>
              <a:rPr sz="2000" spc="-10" dirty="0">
                <a:latin typeface="Calibri"/>
                <a:cs typeface="Calibri"/>
              </a:rPr>
              <a:t>+91-</a:t>
            </a:r>
            <a:r>
              <a:rPr lang="en-US" sz="2000" spc="-10" dirty="0">
                <a:latin typeface="Calibri"/>
                <a:cs typeface="Calibri"/>
              </a:rPr>
              <a:t>9121717703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78CE3B0-B618-25CD-D769-AD1CD2BF3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4" rIns="0" bIns="0" rtlCol="0">
            <a:spAutoFit/>
          </a:bodyPr>
          <a:lstStyle/>
          <a:p>
            <a:pPr marL="218567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Problem</a:t>
            </a:r>
            <a:r>
              <a:rPr sz="4000" spc="-145" dirty="0"/>
              <a:t> </a:t>
            </a:r>
            <a:r>
              <a:rPr sz="4000" spc="-25" dirty="0"/>
              <a:t>statement</a:t>
            </a:r>
            <a:r>
              <a:rPr sz="4000" spc="-145" dirty="0"/>
              <a:t> </a:t>
            </a:r>
            <a:r>
              <a:rPr sz="4000" dirty="0"/>
              <a:t>and</a:t>
            </a:r>
            <a:r>
              <a:rPr sz="4000" spc="-155" dirty="0"/>
              <a:t> </a:t>
            </a:r>
            <a:r>
              <a:rPr sz="4000" spc="-10" dirty="0"/>
              <a:t>Objectives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1923262" y="2477892"/>
            <a:ext cx="8249920" cy="1529080"/>
            <a:chOff x="1923262" y="2477892"/>
            <a:chExt cx="8249920" cy="15290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3262" y="2477892"/>
              <a:ext cx="8249462" cy="152883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052065" y="2606801"/>
              <a:ext cx="7996555" cy="1275715"/>
            </a:xfrm>
            <a:custGeom>
              <a:avLst/>
              <a:gdLst/>
              <a:ahLst/>
              <a:cxnLst/>
              <a:rect l="l" t="t" r="r" b="b"/>
              <a:pathLst>
                <a:path w="7996555" h="1275714">
                  <a:moveTo>
                    <a:pt x="0" y="1275588"/>
                  </a:moveTo>
                  <a:lnTo>
                    <a:pt x="7996428" y="1275588"/>
                  </a:lnTo>
                  <a:lnTo>
                    <a:pt x="7996428" y="0"/>
                  </a:lnTo>
                  <a:lnTo>
                    <a:pt x="0" y="0"/>
                  </a:lnTo>
                  <a:lnTo>
                    <a:pt x="0" y="1275588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12749" y="2496667"/>
            <a:ext cx="8380730" cy="191262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596640">
              <a:lnSpc>
                <a:spcPct val="100000"/>
              </a:lnSpc>
              <a:spcBef>
                <a:spcPts val="855"/>
              </a:spcBef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objectives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hence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identified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are:</a:t>
            </a:r>
            <a:endParaRPr sz="2000">
              <a:latin typeface="Calibri"/>
              <a:cs typeface="Calibri"/>
            </a:endParaRPr>
          </a:p>
          <a:p>
            <a:pPr marL="2964180" indent="-457200">
              <a:lnSpc>
                <a:spcPct val="100000"/>
              </a:lnSpc>
              <a:spcBef>
                <a:spcPts val="755"/>
              </a:spcBef>
              <a:buAutoNum type="arabicPeriod"/>
              <a:tabLst>
                <a:tab pos="2964180" algn="l"/>
              </a:tabLst>
            </a:pPr>
            <a:r>
              <a:rPr sz="2000" b="1" i="1" dirty="0">
                <a:latin typeface="Calibri"/>
                <a:cs typeface="Calibri"/>
              </a:rPr>
              <a:t>Introduce</a:t>
            </a:r>
            <a:r>
              <a:rPr sz="2000" b="1" i="1" spc="-5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a</a:t>
            </a:r>
            <a:r>
              <a:rPr sz="2000" b="1" i="1" spc="-2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social</a:t>
            </a:r>
            <a:r>
              <a:rPr sz="2000" b="1" i="1" spc="-50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engagement</a:t>
            </a:r>
            <a:r>
              <a:rPr sz="2000" b="1" i="1" spc="-3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platform</a:t>
            </a:r>
            <a:r>
              <a:rPr sz="2000" b="1" i="1" spc="-5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on</a:t>
            </a:r>
            <a:r>
              <a:rPr sz="2000" b="1" i="1" spc="-4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the</a:t>
            </a:r>
            <a:r>
              <a:rPr sz="2000" b="1" i="1" spc="-25" dirty="0">
                <a:latin typeface="Calibri"/>
                <a:cs typeface="Calibri"/>
              </a:rPr>
              <a:t> app</a:t>
            </a:r>
            <a:endParaRPr sz="2000">
              <a:latin typeface="Calibri"/>
              <a:cs typeface="Calibri"/>
            </a:endParaRPr>
          </a:p>
          <a:p>
            <a:pPr marL="3521710" indent="-457200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3521710" algn="l"/>
              </a:tabLst>
            </a:pPr>
            <a:r>
              <a:rPr sz="2000" b="1" i="1" dirty="0">
                <a:latin typeface="Calibri"/>
                <a:cs typeface="Calibri"/>
              </a:rPr>
              <a:t>Drive</a:t>
            </a:r>
            <a:r>
              <a:rPr sz="2000" b="1" i="1" spc="-3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usage</a:t>
            </a:r>
            <a:r>
              <a:rPr sz="2000" b="1" i="1" spc="-4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of</a:t>
            </a:r>
            <a:r>
              <a:rPr sz="2000" b="1" i="1" spc="-2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the</a:t>
            </a:r>
            <a:r>
              <a:rPr sz="2000" b="1" i="1" spc="-3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engagement</a:t>
            </a:r>
            <a:r>
              <a:rPr sz="2000" b="1" i="1" spc="-40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platform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User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journey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stages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0258" y="1053846"/>
            <a:ext cx="11174095" cy="120142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03505" marR="97790" algn="ctr">
              <a:lnSpc>
                <a:spcPct val="100000"/>
              </a:lnSpc>
              <a:spcBef>
                <a:spcPts val="235"/>
              </a:spcBef>
            </a:pPr>
            <a:r>
              <a:rPr sz="1800" spc="-10" dirty="0">
                <a:latin typeface="Calibri"/>
                <a:cs typeface="Calibri"/>
              </a:rPr>
              <a:t>“You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realised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understanding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your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users’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online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behaviour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gamers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love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interact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other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gamers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on </a:t>
            </a:r>
            <a:r>
              <a:rPr sz="1800" spc="-10" dirty="0">
                <a:latin typeface="Calibri"/>
                <a:cs typeface="Calibri"/>
              </a:rPr>
              <a:t>platforms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like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Reddit,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40" dirty="0">
                <a:latin typeface="Calibri"/>
                <a:cs typeface="Calibri"/>
              </a:rPr>
              <a:t>Tumblr, </a:t>
            </a:r>
            <a:r>
              <a:rPr sz="1800" dirty="0">
                <a:latin typeface="Calibri"/>
                <a:cs typeface="Calibri"/>
              </a:rPr>
              <a:t>Discord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share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their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experiences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people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similar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interests.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You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want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to </a:t>
            </a:r>
            <a:r>
              <a:rPr sz="1800" spc="-10" dirty="0">
                <a:latin typeface="Calibri"/>
                <a:cs typeface="Calibri"/>
              </a:rPr>
              <a:t>leverage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behaviour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create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social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engagement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feature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own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platform,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could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an</a:t>
            </a:r>
            <a:endParaRPr sz="1800">
              <a:latin typeface="Calibri"/>
              <a:cs typeface="Calibri"/>
            </a:endParaRPr>
          </a:p>
          <a:p>
            <a:pPr marL="8890" algn="ctr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extension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current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games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platform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also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help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moving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needle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engagement.”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6344" y="4578096"/>
            <a:ext cx="2147570" cy="368935"/>
          </a:xfrm>
          <a:custGeom>
            <a:avLst/>
            <a:gdLst/>
            <a:ahLst/>
            <a:cxnLst/>
            <a:rect l="l" t="t" r="r" b="b"/>
            <a:pathLst>
              <a:path w="2147570" h="368935">
                <a:moveTo>
                  <a:pt x="2110486" y="0"/>
                </a:moveTo>
                <a:lnTo>
                  <a:pt x="36880" y="0"/>
                </a:lnTo>
                <a:lnTo>
                  <a:pt x="22524" y="2897"/>
                </a:lnTo>
                <a:lnTo>
                  <a:pt x="10801" y="10794"/>
                </a:lnTo>
                <a:lnTo>
                  <a:pt x="2897" y="22502"/>
                </a:lnTo>
                <a:lnTo>
                  <a:pt x="0" y="36829"/>
                </a:lnTo>
                <a:lnTo>
                  <a:pt x="0" y="331977"/>
                </a:lnTo>
                <a:lnTo>
                  <a:pt x="2897" y="346305"/>
                </a:lnTo>
                <a:lnTo>
                  <a:pt x="10801" y="358012"/>
                </a:lnTo>
                <a:lnTo>
                  <a:pt x="22524" y="365910"/>
                </a:lnTo>
                <a:lnTo>
                  <a:pt x="36880" y="368807"/>
                </a:lnTo>
                <a:lnTo>
                  <a:pt x="2110486" y="368807"/>
                </a:lnTo>
                <a:lnTo>
                  <a:pt x="2124813" y="365910"/>
                </a:lnTo>
                <a:lnTo>
                  <a:pt x="2136521" y="358013"/>
                </a:lnTo>
                <a:lnTo>
                  <a:pt x="2144418" y="346305"/>
                </a:lnTo>
                <a:lnTo>
                  <a:pt x="2147316" y="331977"/>
                </a:lnTo>
                <a:lnTo>
                  <a:pt x="2147316" y="36829"/>
                </a:lnTo>
                <a:lnTo>
                  <a:pt x="2144418" y="22502"/>
                </a:lnTo>
                <a:lnTo>
                  <a:pt x="2136521" y="10794"/>
                </a:lnTo>
                <a:lnTo>
                  <a:pt x="2124813" y="2897"/>
                </a:lnTo>
                <a:lnTo>
                  <a:pt x="2110486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68730" y="4605909"/>
            <a:ext cx="9436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Awareness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828544" y="4578096"/>
            <a:ext cx="455930" cy="368935"/>
          </a:xfrm>
          <a:custGeom>
            <a:avLst/>
            <a:gdLst/>
            <a:ahLst/>
            <a:cxnLst/>
            <a:rect l="l" t="t" r="r" b="b"/>
            <a:pathLst>
              <a:path w="455929" h="368935">
                <a:moveTo>
                  <a:pt x="271272" y="0"/>
                </a:moveTo>
                <a:lnTo>
                  <a:pt x="271272" y="73786"/>
                </a:lnTo>
                <a:lnTo>
                  <a:pt x="0" y="73786"/>
                </a:lnTo>
                <a:lnTo>
                  <a:pt x="0" y="295020"/>
                </a:lnTo>
                <a:lnTo>
                  <a:pt x="271272" y="295020"/>
                </a:lnTo>
                <a:lnTo>
                  <a:pt x="271272" y="368807"/>
                </a:lnTo>
                <a:lnTo>
                  <a:pt x="455676" y="184403"/>
                </a:lnTo>
                <a:lnTo>
                  <a:pt x="271272" y="0"/>
                </a:lnTo>
                <a:close/>
              </a:path>
            </a:pathLst>
          </a:custGeom>
          <a:solidFill>
            <a:srgbClr val="AFBB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73196" y="4578096"/>
            <a:ext cx="2147570" cy="368935"/>
          </a:xfrm>
          <a:custGeom>
            <a:avLst/>
            <a:gdLst/>
            <a:ahLst/>
            <a:cxnLst/>
            <a:rect l="l" t="t" r="r" b="b"/>
            <a:pathLst>
              <a:path w="2147570" h="368935">
                <a:moveTo>
                  <a:pt x="2110486" y="0"/>
                </a:moveTo>
                <a:lnTo>
                  <a:pt x="36829" y="0"/>
                </a:lnTo>
                <a:lnTo>
                  <a:pt x="22502" y="2897"/>
                </a:lnTo>
                <a:lnTo>
                  <a:pt x="10794" y="10794"/>
                </a:lnTo>
                <a:lnTo>
                  <a:pt x="2897" y="22502"/>
                </a:lnTo>
                <a:lnTo>
                  <a:pt x="0" y="36829"/>
                </a:lnTo>
                <a:lnTo>
                  <a:pt x="0" y="331977"/>
                </a:lnTo>
                <a:lnTo>
                  <a:pt x="2897" y="346305"/>
                </a:lnTo>
                <a:lnTo>
                  <a:pt x="10794" y="358012"/>
                </a:lnTo>
                <a:lnTo>
                  <a:pt x="22502" y="365910"/>
                </a:lnTo>
                <a:lnTo>
                  <a:pt x="36829" y="368807"/>
                </a:lnTo>
                <a:lnTo>
                  <a:pt x="2110486" y="368807"/>
                </a:lnTo>
                <a:lnTo>
                  <a:pt x="2124813" y="365910"/>
                </a:lnTo>
                <a:lnTo>
                  <a:pt x="2136521" y="358013"/>
                </a:lnTo>
                <a:lnTo>
                  <a:pt x="2144418" y="346305"/>
                </a:lnTo>
                <a:lnTo>
                  <a:pt x="2147316" y="331977"/>
                </a:lnTo>
                <a:lnTo>
                  <a:pt x="2147316" y="36829"/>
                </a:lnTo>
                <a:lnTo>
                  <a:pt x="2144418" y="22502"/>
                </a:lnTo>
                <a:lnTo>
                  <a:pt x="2136520" y="10794"/>
                </a:lnTo>
                <a:lnTo>
                  <a:pt x="2124813" y="2897"/>
                </a:lnTo>
                <a:lnTo>
                  <a:pt x="2110486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209034" y="4605909"/>
            <a:ext cx="6769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Interest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835396" y="4578096"/>
            <a:ext cx="454659" cy="368935"/>
          </a:xfrm>
          <a:custGeom>
            <a:avLst/>
            <a:gdLst/>
            <a:ahLst/>
            <a:cxnLst/>
            <a:rect l="l" t="t" r="r" b="b"/>
            <a:pathLst>
              <a:path w="454660" h="368935">
                <a:moveTo>
                  <a:pt x="269748" y="0"/>
                </a:moveTo>
                <a:lnTo>
                  <a:pt x="269748" y="73786"/>
                </a:lnTo>
                <a:lnTo>
                  <a:pt x="0" y="73786"/>
                </a:lnTo>
                <a:lnTo>
                  <a:pt x="0" y="295020"/>
                </a:lnTo>
                <a:lnTo>
                  <a:pt x="269748" y="295020"/>
                </a:lnTo>
                <a:lnTo>
                  <a:pt x="269748" y="368807"/>
                </a:lnTo>
                <a:lnTo>
                  <a:pt x="454151" y="184403"/>
                </a:lnTo>
                <a:lnTo>
                  <a:pt x="269748" y="0"/>
                </a:lnTo>
                <a:close/>
              </a:path>
            </a:pathLst>
          </a:custGeom>
          <a:solidFill>
            <a:srgbClr val="AFBB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478523" y="4578096"/>
            <a:ext cx="2147570" cy="368935"/>
          </a:xfrm>
          <a:custGeom>
            <a:avLst/>
            <a:gdLst/>
            <a:ahLst/>
            <a:cxnLst/>
            <a:rect l="l" t="t" r="r" b="b"/>
            <a:pathLst>
              <a:path w="2147570" h="368935">
                <a:moveTo>
                  <a:pt x="2110485" y="0"/>
                </a:moveTo>
                <a:lnTo>
                  <a:pt x="36829" y="0"/>
                </a:lnTo>
                <a:lnTo>
                  <a:pt x="22502" y="2897"/>
                </a:lnTo>
                <a:lnTo>
                  <a:pt x="10794" y="10794"/>
                </a:lnTo>
                <a:lnTo>
                  <a:pt x="2897" y="22502"/>
                </a:lnTo>
                <a:lnTo>
                  <a:pt x="0" y="36829"/>
                </a:lnTo>
                <a:lnTo>
                  <a:pt x="0" y="331977"/>
                </a:lnTo>
                <a:lnTo>
                  <a:pt x="2897" y="346305"/>
                </a:lnTo>
                <a:lnTo>
                  <a:pt x="10795" y="358012"/>
                </a:lnTo>
                <a:lnTo>
                  <a:pt x="22502" y="365910"/>
                </a:lnTo>
                <a:lnTo>
                  <a:pt x="36829" y="368807"/>
                </a:lnTo>
                <a:lnTo>
                  <a:pt x="2110485" y="368807"/>
                </a:lnTo>
                <a:lnTo>
                  <a:pt x="2124813" y="365910"/>
                </a:lnTo>
                <a:lnTo>
                  <a:pt x="2136521" y="358013"/>
                </a:lnTo>
                <a:lnTo>
                  <a:pt x="2144418" y="346305"/>
                </a:lnTo>
                <a:lnTo>
                  <a:pt x="2147316" y="331977"/>
                </a:lnTo>
                <a:lnTo>
                  <a:pt x="2147316" y="36829"/>
                </a:lnTo>
                <a:lnTo>
                  <a:pt x="2144418" y="22502"/>
                </a:lnTo>
                <a:lnTo>
                  <a:pt x="2136521" y="10794"/>
                </a:lnTo>
                <a:lnTo>
                  <a:pt x="2124813" y="2897"/>
                </a:lnTo>
                <a:lnTo>
                  <a:pt x="2110485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273543" y="4605909"/>
            <a:ext cx="5594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Desire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840723" y="4578096"/>
            <a:ext cx="455930" cy="368935"/>
          </a:xfrm>
          <a:custGeom>
            <a:avLst/>
            <a:gdLst/>
            <a:ahLst/>
            <a:cxnLst/>
            <a:rect l="l" t="t" r="r" b="b"/>
            <a:pathLst>
              <a:path w="455929" h="368935">
                <a:moveTo>
                  <a:pt x="271272" y="0"/>
                </a:moveTo>
                <a:lnTo>
                  <a:pt x="271272" y="73786"/>
                </a:lnTo>
                <a:lnTo>
                  <a:pt x="0" y="73786"/>
                </a:lnTo>
                <a:lnTo>
                  <a:pt x="0" y="295020"/>
                </a:lnTo>
                <a:lnTo>
                  <a:pt x="271272" y="295020"/>
                </a:lnTo>
                <a:lnTo>
                  <a:pt x="271272" y="368807"/>
                </a:lnTo>
                <a:lnTo>
                  <a:pt x="455675" y="184403"/>
                </a:lnTo>
                <a:lnTo>
                  <a:pt x="271272" y="0"/>
                </a:lnTo>
                <a:close/>
              </a:path>
            </a:pathLst>
          </a:custGeom>
          <a:solidFill>
            <a:srgbClr val="AFBB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485376" y="4578096"/>
            <a:ext cx="2147570" cy="368935"/>
          </a:xfrm>
          <a:custGeom>
            <a:avLst/>
            <a:gdLst/>
            <a:ahLst/>
            <a:cxnLst/>
            <a:rect l="l" t="t" r="r" b="b"/>
            <a:pathLst>
              <a:path w="2147570" h="368935">
                <a:moveTo>
                  <a:pt x="2110485" y="0"/>
                </a:moveTo>
                <a:lnTo>
                  <a:pt x="36829" y="0"/>
                </a:lnTo>
                <a:lnTo>
                  <a:pt x="22502" y="2897"/>
                </a:lnTo>
                <a:lnTo>
                  <a:pt x="10794" y="10794"/>
                </a:lnTo>
                <a:lnTo>
                  <a:pt x="2897" y="22502"/>
                </a:lnTo>
                <a:lnTo>
                  <a:pt x="0" y="36829"/>
                </a:lnTo>
                <a:lnTo>
                  <a:pt x="0" y="331977"/>
                </a:lnTo>
                <a:lnTo>
                  <a:pt x="2897" y="346305"/>
                </a:lnTo>
                <a:lnTo>
                  <a:pt x="10795" y="358012"/>
                </a:lnTo>
                <a:lnTo>
                  <a:pt x="22502" y="365910"/>
                </a:lnTo>
                <a:lnTo>
                  <a:pt x="36829" y="368807"/>
                </a:lnTo>
                <a:lnTo>
                  <a:pt x="2110485" y="368807"/>
                </a:lnTo>
                <a:lnTo>
                  <a:pt x="2124813" y="365910"/>
                </a:lnTo>
                <a:lnTo>
                  <a:pt x="2136521" y="358013"/>
                </a:lnTo>
                <a:lnTo>
                  <a:pt x="2144418" y="346305"/>
                </a:lnTo>
                <a:lnTo>
                  <a:pt x="2147316" y="331977"/>
                </a:lnTo>
                <a:lnTo>
                  <a:pt x="2147316" y="36829"/>
                </a:lnTo>
                <a:lnTo>
                  <a:pt x="2144418" y="22502"/>
                </a:lnTo>
                <a:lnTo>
                  <a:pt x="2136521" y="10794"/>
                </a:lnTo>
                <a:lnTo>
                  <a:pt x="2124813" y="2897"/>
                </a:lnTo>
                <a:lnTo>
                  <a:pt x="2110485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0273665" y="4605909"/>
            <a:ext cx="5727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46912" y="5087492"/>
            <a:ext cx="201612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first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step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journey </a:t>
            </a:r>
            <a:r>
              <a:rPr sz="1400" dirty="0">
                <a:latin typeface="Calibri"/>
                <a:cs typeface="Calibri"/>
              </a:rPr>
              <a:t>would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users </a:t>
            </a:r>
            <a:r>
              <a:rPr sz="1400" b="1" dirty="0">
                <a:latin typeface="Calibri"/>
                <a:cs typeface="Calibri"/>
              </a:rPr>
              <a:t>knowing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about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new </a:t>
            </a:r>
            <a:r>
              <a:rPr sz="1400" dirty="0">
                <a:latin typeface="Calibri"/>
                <a:cs typeface="Calibri"/>
              </a:rPr>
              <a:t>social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platform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92829" y="5087492"/>
            <a:ext cx="1908175" cy="1306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270"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They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need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find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some </a:t>
            </a:r>
            <a:r>
              <a:rPr sz="1400" b="1" dirty="0">
                <a:latin typeface="Calibri"/>
                <a:cs typeface="Calibri"/>
              </a:rPr>
              <a:t>value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develop interest.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This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will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depend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how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promote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the </a:t>
            </a:r>
            <a:r>
              <a:rPr sz="1400" spc="-10" dirty="0">
                <a:latin typeface="Calibri"/>
                <a:cs typeface="Calibri"/>
              </a:rPr>
              <a:t>platform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 UI/UX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of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platform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itself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42023" y="5087492"/>
            <a:ext cx="1995170" cy="1520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1270"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desire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the </a:t>
            </a:r>
            <a:r>
              <a:rPr sz="1400" spc="-10" dirty="0">
                <a:latin typeface="Calibri"/>
                <a:cs typeface="Calibri"/>
              </a:rPr>
              <a:t>platform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will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generated </a:t>
            </a:r>
            <a:r>
              <a:rPr sz="1400" dirty="0">
                <a:latin typeface="Calibri"/>
                <a:cs typeface="Calibri"/>
              </a:rPr>
              <a:t>if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0" dirty="0">
                <a:latin typeface="Calibri"/>
                <a:cs typeface="Calibri"/>
              </a:rPr>
              <a:t> platform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has</a:t>
            </a:r>
            <a:r>
              <a:rPr sz="1400" spc="-10" dirty="0">
                <a:latin typeface="Calibri"/>
                <a:cs typeface="Calibri"/>
              </a:rPr>
              <a:t> features </a:t>
            </a:r>
            <a:r>
              <a:rPr sz="1400" dirty="0">
                <a:latin typeface="Calibri"/>
                <a:cs typeface="Calibri"/>
              </a:rPr>
              <a:t>that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directly</a:t>
            </a:r>
            <a:r>
              <a:rPr sz="1400" b="1" spc="-7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addresses</a:t>
            </a:r>
            <a:r>
              <a:rPr sz="1400" b="1" spc="-75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any </a:t>
            </a:r>
            <a:r>
              <a:rPr sz="1400" b="1" spc="-10" dirty="0">
                <a:latin typeface="Calibri"/>
                <a:cs typeface="Calibri"/>
              </a:rPr>
              <a:t>existing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problem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or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unmet </a:t>
            </a:r>
            <a:r>
              <a:rPr sz="1400" b="1" dirty="0">
                <a:latin typeface="Calibri"/>
                <a:cs typeface="Calibri"/>
              </a:rPr>
              <a:t>need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users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the </a:t>
            </a:r>
            <a:r>
              <a:rPr sz="1400" spc="-10" dirty="0">
                <a:latin typeface="Calibri"/>
                <a:cs typeface="Calibri"/>
              </a:rPr>
              <a:t>platform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564751" y="5087492"/>
            <a:ext cx="193357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call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action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needs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to </a:t>
            </a:r>
            <a:r>
              <a:rPr sz="1400" b="1" dirty="0">
                <a:latin typeface="Calibri"/>
                <a:cs typeface="Calibri"/>
              </a:rPr>
              <a:t>simple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that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user </a:t>
            </a:r>
            <a:r>
              <a:rPr sz="1400" dirty="0">
                <a:latin typeface="Calibri"/>
                <a:cs typeface="Calibri"/>
              </a:rPr>
              <a:t>actually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engages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with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the </a:t>
            </a:r>
            <a:r>
              <a:rPr sz="1400" dirty="0">
                <a:latin typeface="Calibri"/>
                <a:cs typeface="Calibri"/>
              </a:rPr>
              <a:t>new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platform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106" y="-5715"/>
            <a:ext cx="373189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/>
              <a:t>User</a:t>
            </a:r>
            <a:r>
              <a:rPr sz="2900" spc="-60" dirty="0"/>
              <a:t> </a:t>
            </a:r>
            <a:r>
              <a:rPr sz="2900" spc="-10" dirty="0"/>
              <a:t>Personas</a:t>
            </a:r>
            <a:r>
              <a:rPr sz="2900" spc="-75" dirty="0"/>
              <a:t> </a:t>
            </a:r>
            <a:r>
              <a:rPr sz="2900" dirty="0"/>
              <a:t>for</a:t>
            </a:r>
            <a:r>
              <a:rPr sz="2900" spc="-65" dirty="0"/>
              <a:t> </a:t>
            </a:r>
            <a:r>
              <a:rPr sz="2900" spc="-20" dirty="0"/>
              <a:t>Zupee</a:t>
            </a:r>
            <a:endParaRPr sz="2900"/>
          </a:p>
        </p:txBody>
      </p:sp>
      <p:sp>
        <p:nvSpPr>
          <p:cNvPr id="3" name="object 3"/>
          <p:cNvSpPr/>
          <p:nvPr/>
        </p:nvSpPr>
        <p:spPr>
          <a:xfrm>
            <a:off x="222504" y="917447"/>
            <a:ext cx="3657600" cy="2867025"/>
          </a:xfrm>
          <a:custGeom>
            <a:avLst/>
            <a:gdLst/>
            <a:ahLst/>
            <a:cxnLst/>
            <a:rect l="l" t="t" r="r" b="b"/>
            <a:pathLst>
              <a:path w="3657600" h="2867025">
                <a:moveTo>
                  <a:pt x="0" y="2866644"/>
                </a:moveTo>
                <a:lnTo>
                  <a:pt x="3657600" y="2866644"/>
                </a:lnTo>
                <a:lnTo>
                  <a:pt x="3657600" y="0"/>
                </a:lnTo>
                <a:lnTo>
                  <a:pt x="0" y="0"/>
                </a:lnTo>
                <a:lnTo>
                  <a:pt x="0" y="286664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0634" y="894715"/>
            <a:ext cx="7734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Ayush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0634" y="1374470"/>
            <a:ext cx="3479165" cy="23501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ts val="1595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dirty="0">
                <a:latin typeface="Calibri"/>
                <a:cs typeface="Calibri"/>
              </a:rPr>
              <a:t>30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years,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runs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his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general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store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urban</a:t>
            </a:r>
            <a:endParaRPr sz="1400">
              <a:latin typeface="Calibri"/>
              <a:cs typeface="Calibri"/>
            </a:endParaRPr>
          </a:p>
          <a:p>
            <a:pPr marL="240665">
              <a:lnSpc>
                <a:spcPts val="1595"/>
              </a:lnSpc>
            </a:pPr>
            <a:r>
              <a:rPr sz="1400" spc="-10" dirty="0">
                <a:latin typeface="Calibri"/>
                <a:cs typeface="Calibri"/>
              </a:rPr>
              <a:t>locality</a:t>
            </a:r>
            <a:endParaRPr sz="1400">
              <a:latin typeface="Calibri"/>
              <a:cs typeface="Calibri"/>
            </a:endParaRPr>
          </a:p>
          <a:p>
            <a:pPr marL="240665" marR="5080" indent="-228600">
              <a:lnSpc>
                <a:spcPts val="1510"/>
              </a:lnSpc>
              <a:spcBef>
                <a:spcPts val="1019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b="1" dirty="0">
                <a:latin typeface="Calibri"/>
                <a:cs typeface="Calibri"/>
              </a:rPr>
              <a:t>Daily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average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time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spent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gaming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apps: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3- </a:t>
            </a:r>
            <a:r>
              <a:rPr sz="1400" b="1" dirty="0">
                <a:latin typeface="Calibri"/>
                <a:cs typeface="Calibri"/>
              </a:rPr>
              <a:t>4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hours</a:t>
            </a:r>
            <a:endParaRPr sz="1400">
              <a:latin typeface="Calibri"/>
              <a:cs typeface="Calibri"/>
            </a:endParaRPr>
          </a:p>
          <a:p>
            <a:pPr marL="240665" marR="41275" indent="-228600">
              <a:lnSpc>
                <a:spcPct val="90000"/>
              </a:lnSpc>
              <a:spcBef>
                <a:spcPts val="975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dirty="0">
                <a:latin typeface="Calibri"/>
                <a:cs typeface="Calibri"/>
              </a:rPr>
              <a:t>Uses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Zupee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exclusively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make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small </a:t>
            </a:r>
            <a:r>
              <a:rPr sz="1400" dirty="0">
                <a:latin typeface="Calibri"/>
                <a:cs typeface="Calibri"/>
              </a:rPr>
              <a:t>amounts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money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daily.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Finds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Zupee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games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simple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enough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play,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but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does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not </a:t>
            </a:r>
            <a:r>
              <a:rPr sz="1400" dirty="0">
                <a:latin typeface="Calibri"/>
                <a:cs typeface="Calibri"/>
              </a:rPr>
              <a:t>find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return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his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time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investment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into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app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proportionate</a:t>
            </a:r>
            <a:endParaRPr sz="1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b="1" dirty="0">
                <a:latin typeface="Calibri"/>
                <a:cs typeface="Calibri"/>
              </a:rPr>
              <a:t>App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engagement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with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Zupee: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HIGH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234171" y="928116"/>
            <a:ext cx="3657600" cy="2865120"/>
          </a:xfrm>
          <a:custGeom>
            <a:avLst/>
            <a:gdLst/>
            <a:ahLst/>
            <a:cxnLst/>
            <a:rect l="l" t="t" r="r" b="b"/>
            <a:pathLst>
              <a:path w="3657600" h="2865120">
                <a:moveTo>
                  <a:pt x="0" y="2865119"/>
                </a:moveTo>
                <a:lnTo>
                  <a:pt x="3657600" y="2865119"/>
                </a:lnTo>
                <a:lnTo>
                  <a:pt x="3657600" y="0"/>
                </a:lnTo>
                <a:lnTo>
                  <a:pt x="0" y="0"/>
                </a:lnTo>
                <a:lnTo>
                  <a:pt x="0" y="286511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313801" y="941070"/>
            <a:ext cx="701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Divya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13801" y="1402841"/>
            <a:ext cx="3444875" cy="232791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493395" indent="-228600">
              <a:lnSpc>
                <a:spcPts val="134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sz="1400" dirty="0">
                <a:latin typeface="Calibri"/>
                <a:cs typeface="Calibri"/>
              </a:rPr>
              <a:t>35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years,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runs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local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bakery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from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the </a:t>
            </a:r>
            <a:r>
              <a:rPr sz="1400" dirty="0">
                <a:latin typeface="Calibri"/>
                <a:cs typeface="Calibri"/>
              </a:rPr>
              <a:t>premises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her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home</a:t>
            </a:r>
            <a:endParaRPr sz="1400">
              <a:latin typeface="Calibri"/>
              <a:cs typeface="Calibri"/>
            </a:endParaRPr>
          </a:p>
          <a:p>
            <a:pPr marL="240665" indent="-227965">
              <a:lnSpc>
                <a:spcPts val="1515"/>
              </a:lnSpc>
              <a:spcBef>
                <a:spcPts val="690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b="1" dirty="0">
                <a:latin typeface="Calibri"/>
                <a:cs typeface="Calibri"/>
              </a:rPr>
              <a:t>Daily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average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time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spent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gaming</a:t>
            </a:r>
            <a:r>
              <a:rPr sz="1400" spc="-20" dirty="0">
                <a:latin typeface="Calibri"/>
                <a:cs typeface="Calibri"/>
              </a:rPr>
              <a:t> apps:</a:t>
            </a:r>
            <a:endParaRPr sz="1400">
              <a:latin typeface="Calibri"/>
              <a:cs typeface="Calibri"/>
            </a:endParaRPr>
          </a:p>
          <a:p>
            <a:pPr marL="241300">
              <a:lnSpc>
                <a:spcPts val="1515"/>
              </a:lnSpc>
            </a:pPr>
            <a:r>
              <a:rPr sz="1400" b="1" spc="-10" dirty="0">
                <a:latin typeface="Calibri"/>
                <a:cs typeface="Calibri"/>
              </a:rPr>
              <a:t>0.5-</a:t>
            </a:r>
            <a:r>
              <a:rPr sz="1400" b="1" dirty="0">
                <a:latin typeface="Calibri"/>
                <a:cs typeface="Calibri"/>
              </a:rPr>
              <a:t>1 </a:t>
            </a:r>
            <a:r>
              <a:rPr sz="1400" b="1" spc="-20" dirty="0">
                <a:latin typeface="Calibri"/>
                <a:cs typeface="Calibri"/>
              </a:rPr>
              <a:t>hour</a:t>
            </a:r>
            <a:endParaRPr sz="1400">
              <a:latin typeface="Calibri"/>
              <a:cs typeface="Calibri"/>
            </a:endParaRPr>
          </a:p>
          <a:p>
            <a:pPr marL="242570" marR="5080" indent="-230504">
              <a:lnSpc>
                <a:spcPct val="80000"/>
              </a:lnSpc>
              <a:spcBef>
                <a:spcPts val="994"/>
              </a:spcBef>
              <a:buFont typeface="Arial MT"/>
              <a:buChar char="•"/>
              <a:tabLst>
                <a:tab pos="242570" algn="l"/>
              </a:tabLst>
            </a:pPr>
            <a:r>
              <a:rPr sz="1400" spc="-30" dirty="0">
                <a:latin typeface="Calibri"/>
                <a:cs typeface="Calibri"/>
              </a:rPr>
              <a:t>Takes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breaks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from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her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daily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routine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play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a </a:t>
            </a:r>
            <a:r>
              <a:rPr sz="1400" dirty="0">
                <a:latin typeface="Calibri"/>
                <a:cs typeface="Calibri"/>
              </a:rPr>
              <a:t>couple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rounds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her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favourite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games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and </a:t>
            </a:r>
            <a:r>
              <a:rPr sz="1400" dirty="0">
                <a:latin typeface="Calibri"/>
                <a:cs typeface="Calibri"/>
              </a:rPr>
              <a:t>then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returns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her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work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at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hand.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Likes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to </a:t>
            </a:r>
            <a:r>
              <a:rPr sz="1400" dirty="0">
                <a:latin typeface="Calibri"/>
                <a:cs typeface="Calibri"/>
              </a:rPr>
              <a:t>play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multi-</a:t>
            </a:r>
            <a:r>
              <a:rPr sz="1400" dirty="0">
                <a:latin typeface="Calibri"/>
                <a:cs typeface="Calibri"/>
              </a:rPr>
              <a:t>player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games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with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her </a:t>
            </a:r>
            <a:r>
              <a:rPr sz="1400" spc="-10" dirty="0">
                <a:latin typeface="Calibri"/>
                <a:cs typeface="Calibri"/>
              </a:rPr>
              <a:t>neighbourhood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friends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from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society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in </a:t>
            </a:r>
            <a:r>
              <a:rPr sz="1400" dirty="0">
                <a:latin typeface="Calibri"/>
                <a:cs typeface="Calibri"/>
              </a:rPr>
              <a:t>which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lives.</a:t>
            </a:r>
            <a:endParaRPr sz="1400">
              <a:latin typeface="Calibri"/>
              <a:cs typeface="Calibri"/>
            </a:endParaRPr>
          </a:p>
          <a:p>
            <a:pPr marL="242570" indent="-22987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2570" algn="l"/>
              </a:tabLst>
            </a:pPr>
            <a:r>
              <a:rPr sz="1400" b="1" dirty="0">
                <a:latin typeface="Calibri"/>
                <a:cs typeface="Calibri"/>
              </a:rPr>
              <a:t>App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engagement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with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Zupee: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LOW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574353" y="504761"/>
            <a:ext cx="1471930" cy="904875"/>
            <a:chOff x="2574353" y="504761"/>
            <a:chExt cx="1471930" cy="90487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02992" y="533399"/>
              <a:ext cx="1414271" cy="84734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588641" y="519048"/>
              <a:ext cx="1443355" cy="876300"/>
            </a:xfrm>
            <a:custGeom>
              <a:avLst/>
              <a:gdLst/>
              <a:ahLst/>
              <a:cxnLst/>
              <a:rect l="l" t="t" r="r" b="b"/>
              <a:pathLst>
                <a:path w="1443354" h="876300">
                  <a:moveTo>
                    <a:pt x="0" y="875918"/>
                  </a:moveTo>
                  <a:lnTo>
                    <a:pt x="1442846" y="875918"/>
                  </a:lnTo>
                  <a:lnTo>
                    <a:pt x="1442846" y="0"/>
                  </a:lnTo>
                  <a:lnTo>
                    <a:pt x="0" y="0"/>
                  </a:lnTo>
                  <a:lnTo>
                    <a:pt x="0" y="875918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10599737" y="504761"/>
            <a:ext cx="1471930" cy="904875"/>
            <a:chOff x="10599737" y="504761"/>
            <a:chExt cx="1471930" cy="90487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28376" y="533399"/>
              <a:ext cx="1414272" cy="84734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0614025" y="519048"/>
              <a:ext cx="1443355" cy="876300"/>
            </a:xfrm>
            <a:custGeom>
              <a:avLst/>
              <a:gdLst/>
              <a:ahLst/>
              <a:cxnLst/>
              <a:rect l="l" t="t" r="r" b="b"/>
              <a:pathLst>
                <a:path w="1443354" h="876300">
                  <a:moveTo>
                    <a:pt x="0" y="875918"/>
                  </a:moveTo>
                  <a:lnTo>
                    <a:pt x="1442847" y="875918"/>
                  </a:lnTo>
                  <a:lnTo>
                    <a:pt x="1442847" y="0"/>
                  </a:lnTo>
                  <a:lnTo>
                    <a:pt x="0" y="0"/>
                  </a:lnTo>
                  <a:lnTo>
                    <a:pt x="0" y="875918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4248911" y="928116"/>
            <a:ext cx="3657600" cy="2865120"/>
          </a:xfrm>
          <a:custGeom>
            <a:avLst/>
            <a:gdLst/>
            <a:ahLst/>
            <a:cxnLst/>
            <a:rect l="l" t="t" r="r" b="b"/>
            <a:pathLst>
              <a:path w="3657600" h="2865120">
                <a:moveTo>
                  <a:pt x="0" y="2865119"/>
                </a:moveTo>
                <a:lnTo>
                  <a:pt x="3657599" y="2865119"/>
                </a:lnTo>
                <a:lnTo>
                  <a:pt x="3657599" y="0"/>
                </a:lnTo>
                <a:lnTo>
                  <a:pt x="0" y="0"/>
                </a:lnTo>
                <a:lnTo>
                  <a:pt x="0" y="286511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328540" y="910590"/>
            <a:ext cx="9226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Calibri"/>
                <a:cs typeface="Calibri"/>
              </a:rPr>
              <a:t>Rishabh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28540" y="1360169"/>
            <a:ext cx="3484879" cy="208153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241300" marR="485140" indent="-228600">
              <a:lnSpc>
                <a:spcPts val="1400"/>
              </a:lnSpc>
              <a:spcBef>
                <a:spcPts val="275"/>
              </a:spcBef>
              <a:buFont typeface="Arial MT"/>
              <a:buChar char="•"/>
              <a:tabLst>
                <a:tab pos="241300" algn="l"/>
              </a:tabLst>
            </a:pPr>
            <a:r>
              <a:rPr sz="1300" dirty="0">
                <a:latin typeface="Calibri"/>
                <a:cs typeface="Calibri"/>
              </a:rPr>
              <a:t>21</a:t>
            </a:r>
            <a:r>
              <a:rPr sz="1300" spc="-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years,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engineering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student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lives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in</a:t>
            </a:r>
            <a:r>
              <a:rPr sz="1300" spc="-45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the </a:t>
            </a:r>
            <a:r>
              <a:rPr sz="1300" dirty="0">
                <a:latin typeface="Calibri"/>
                <a:cs typeface="Calibri"/>
              </a:rPr>
              <a:t>college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hostel</a:t>
            </a:r>
            <a:endParaRPr sz="1300">
              <a:latin typeface="Calibri"/>
              <a:cs typeface="Calibri"/>
            </a:endParaRPr>
          </a:p>
          <a:p>
            <a:pPr marL="240665" indent="-227965">
              <a:lnSpc>
                <a:spcPts val="1480"/>
              </a:lnSpc>
              <a:spcBef>
                <a:spcPts val="825"/>
              </a:spcBef>
              <a:buFont typeface="Arial MT"/>
              <a:buChar char="•"/>
              <a:tabLst>
                <a:tab pos="240665" algn="l"/>
              </a:tabLst>
            </a:pPr>
            <a:r>
              <a:rPr sz="1300" b="1" dirty="0">
                <a:latin typeface="Calibri"/>
                <a:cs typeface="Calibri"/>
              </a:rPr>
              <a:t>Daily</a:t>
            </a:r>
            <a:r>
              <a:rPr sz="1300" b="1" spc="-30" dirty="0">
                <a:latin typeface="Calibri"/>
                <a:cs typeface="Calibri"/>
              </a:rPr>
              <a:t> </a:t>
            </a:r>
            <a:r>
              <a:rPr sz="1300" b="1" spc="-10" dirty="0">
                <a:latin typeface="Calibri"/>
                <a:cs typeface="Calibri"/>
              </a:rPr>
              <a:t>average</a:t>
            </a:r>
            <a:r>
              <a:rPr sz="1300" b="1" spc="-3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time</a:t>
            </a:r>
            <a:r>
              <a:rPr sz="1300" b="1" spc="-2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spent</a:t>
            </a:r>
            <a:r>
              <a:rPr sz="1300" b="1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on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gaming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apps: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b="1" spc="-10" dirty="0">
                <a:latin typeface="Calibri"/>
                <a:cs typeface="Calibri"/>
              </a:rPr>
              <a:t>1-</a:t>
            </a:r>
            <a:r>
              <a:rPr sz="1300" b="1" spc="-50" dirty="0">
                <a:latin typeface="Calibri"/>
                <a:cs typeface="Calibri"/>
              </a:rPr>
              <a:t>3</a:t>
            </a:r>
            <a:endParaRPr sz="1300">
              <a:latin typeface="Calibri"/>
              <a:cs typeface="Calibri"/>
            </a:endParaRPr>
          </a:p>
          <a:p>
            <a:pPr marL="241300">
              <a:lnSpc>
                <a:spcPts val="1480"/>
              </a:lnSpc>
            </a:pPr>
            <a:r>
              <a:rPr sz="1300" b="1" spc="-10" dirty="0">
                <a:latin typeface="Calibri"/>
                <a:cs typeface="Calibri"/>
              </a:rPr>
              <a:t>hours</a:t>
            </a:r>
            <a:endParaRPr sz="1300">
              <a:latin typeface="Calibri"/>
              <a:cs typeface="Calibri"/>
            </a:endParaRPr>
          </a:p>
          <a:p>
            <a:pPr marL="241300" marR="5080" indent="-228600">
              <a:lnSpc>
                <a:spcPts val="1400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</a:tabLst>
            </a:pPr>
            <a:r>
              <a:rPr sz="1300" dirty="0">
                <a:latin typeface="Calibri"/>
                <a:cs typeface="Calibri"/>
              </a:rPr>
              <a:t>Rishabh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plays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different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games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on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different</a:t>
            </a:r>
            <a:r>
              <a:rPr sz="1300" spc="-20" dirty="0">
                <a:latin typeface="Calibri"/>
                <a:cs typeface="Calibri"/>
              </a:rPr>
              <a:t> apps, </a:t>
            </a:r>
            <a:r>
              <a:rPr sz="1300" dirty="0">
                <a:latin typeface="Calibri"/>
                <a:cs typeface="Calibri"/>
              </a:rPr>
              <a:t>but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prefers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ones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in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which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he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can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build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up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keep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track</a:t>
            </a:r>
            <a:r>
              <a:rPr sz="1300" spc="-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of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his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progress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as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proxy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his </a:t>
            </a:r>
            <a:r>
              <a:rPr sz="1300" dirty="0">
                <a:latin typeface="Calibri"/>
                <a:cs typeface="Calibri"/>
              </a:rPr>
              <a:t>expertise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in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game.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At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same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time,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he</a:t>
            </a:r>
            <a:r>
              <a:rPr sz="1300" spc="50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likes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track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progress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of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players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who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are </a:t>
            </a:r>
            <a:r>
              <a:rPr sz="1300" dirty="0">
                <a:latin typeface="Calibri"/>
                <a:cs typeface="Calibri"/>
              </a:rPr>
              <a:t>better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than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him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in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the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games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he</a:t>
            </a:r>
            <a:r>
              <a:rPr sz="1300" spc="-20" dirty="0">
                <a:latin typeface="Calibri"/>
                <a:cs typeface="Calibri"/>
              </a:rPr>
              <a:t> plays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28540" y="3524758"/>
            <a:ext cx="291909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sz="1300" b="1" dirty="0">
                <a:latin typeface="Calibri"/>
                <a:cs typeface="Calibri"/>
              </a:rPr>
              <a:t>App</a:t>
            </a:r>
            <a:r>
              <a:rPr sz="1300" b="1" spc="-25" dirty="0">
                <a:latin typeface="Calibri"/>
                <a:cs typeface="Calibri"/>
              </a:rPr>
              <a:t> </a:t>
            </a:r>
            <a:r>
              <a:rPr sz="1300" b="1" spc="-10" dirty="0">
                <a:latin typeface="Calibri"/>
                <a:cs typeface="Calibri"/>
              </a:rPr>
              <a:t>engagement</a:t>
            </a:r>
            <a:r>
              <a:rPr sz="1300" b="1" spc="-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with</a:t>
            </a:r>
            <a:r>
              <a:rPr sz="1300" b="1" spc="-15" dirty="0">
                <a:latin typeface="Calibri"/>
                <a:cs typeface="Calibri"/>
              </a:rPr>
              <a:t> </a:t>
            </a:r>
            <a:r>
              <a:rPr sz="1300" b="1" dirty="0">
                <a:latin typeface="Calibri"/>
                <a:cs typeface="Calibri"/>
              </a:rPr>
              <a:t>Zupee:</a:t>
            </a:r>
            <a:r>
              <a:rPr sz="1300" b="1" spc="-2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MEDIUM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641909" y="504761"/>
            <a:ext cx="1471930" cy="904875"/>
            <a:chOff x="6641909" y="504761"/>
            <a:chExt cx="1471930" cy="904875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70547" y="533399"/>
              <a:ext cx="1414272" cy="84734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656196" y="519048"/>
              <a:ext cx="1443355" cy="876300"/>
            </a:xfrm>
            <a:custGeom>
              <a:avLst/>
              <a:gdLst/>
              <a:ahLst/>
              <a:cxnLst/>
              <a:rect l="l" t="t" r="r" b="b"/>
              <a:pathLst>
                <a:path w="1443354" h="876300">
                  <a:moveTo>
                    <a:pt x="0" y="875918"/>
                  </a:moveTo>
                  <a:lnTo>
                    <a:pt x="1442847" y="875918"/>
                  </a:lnTo>
                  <a:lnTo>
                    <a:pt x="1442847" y="0"/>
                  </a:lnTo>
                  <a:lnTo>
                    <a:pt x="0" y="0"/>
                  </a:lnTo>
                  <a:lnTo>
                    <a:pt x="0" y="875918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215544" y="3860672"/>
          <a:ext cx="11758930" cy="2233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6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9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1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28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13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370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316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Problem</a:t>
                      </a:r>
                      <a:r>
                        <a:rPr sz="12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area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8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E9000"/>
                    </a:solidFill>
                  </a:tcPr>
                </a:tc>
                <a:tc>
                  <a:txBody>
                    <a:bodyPr/>
                    <a:lstStyle/>
                    <a:p>
                      <a:pPr marL="452120" marR="251460" indent="-1936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Intensity</a:t>
                      </a:r>
                      <a:r>
                        <a:rPr sz="1200" b="1" spc="-7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Ayush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377190" marR="237490" indent="-1327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Intensity</a:t>
                      </a:r>
                      <a:r>
                        <a:rPr sz="1200" b="1" spc="-7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Rishabh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450850" marR="233045" indent="-21082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Intensity</a:t>
                      </a:r>
                      <a:r>
                        <a:rPr sz="1200" b="1" spc="-7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Divya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Frequency</a:t>
                      </a:r>
                      <a:r>
                        <a:rPr sz="12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sz="12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Ayush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8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38235"/>
                    </a:solidFill>
                  </a:tcPr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Frequency</a:t>
                      </a:r>
                      <a:r>
                        <a:rPr sz="12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sz="12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Rishabh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8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38235"/>
                    </a:solidFill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Frequency</a:t>
                      </a:r>
                      <a:r>
                        <a:rPr sz="12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sz="12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Divya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28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3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Cannot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play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friends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exclusive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games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79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interaction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other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players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during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after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gameplay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1243965" marR="364490" indent="-8718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recognition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gameplay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earnings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long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term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game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progress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tracking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79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78708" y="4415028"/>
            <a:ext cx="178308" cy="178307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54267" y="5390388"/>
            <a:ext cx="178308" cy="178308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81344" y="5390388"/>
            <a:ext cx="178308" cy="178308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49696" y="4881371"/>
            <a:ext cx="178308" cy="178307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78296" y="4881371"/>
            <a:ext cx="178308" cy="178307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81755" y="5830823"/>
            <a:ext cx="178308" cy="178307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08832" y="5830823"/>
            <a:ext cx="178308" cy="178307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27007" y="5803391"/>
            <a:ext cx="178307" cy="178307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54083" y="5803391"/>
            <a:ext cx="179831" cy="178307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512552" y="4863084"/>
            <a:ext cx="178307" cy="179831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739628" y="4863084"/>
            <a:ext cx="178307" cy="179831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93891" y="4415028"/>
            <a:ext cx="178308" cy="178307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20967" y="4415028"/>
            <a:ext cx="178308" cy="178307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15255" y="5830823"/>
            <a:ext cx="178308" cy="179831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42332" y="5830823"/>
            <a:ext cx="178308" cy="179831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63383" y="5817108"/>
            <a:ext cx="178307" cy="178308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90459" y="5817108"/>
            <a:ext cx="179831" cy="178308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19059" y="5817108"/>
            <a:ext cx="178307" cy="178308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840723" y="5399532"/>
            <a:ext cx="178307" cy="178308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67800" y="5399532"/>
            <a:ext cx="178307" cy="178308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94876" y="5399532"/>
            <a:ext cx="179831" cy="178308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18303" y="5391911"/>
            <a:ext cx="178308" cy="178307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45379" y="5391911"/>
            <a:ext cx="178308" cy="178307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72455" y="5391911"/>
            <a:ext cx="178308" cy="178307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401055" y="5391911"/>
            <a:ext cx="178308" cy="178307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93947" y="4890515"/>
            <a:ext cx="178308" cy="178307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39000" y="4855464"/>
            <a:ext cx="179831" cy="178307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504931" y="5398008"/>
            <a:ext cx="178307" cy="178308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504931" y="4404359"/>
            <a:ext cx="178307" cy="179831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43571" y="5437632"/>
            <a:ext cx="178307" cy="178308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70647" y="5437632"/>
            <a:ext cx="178307" cy="178308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97723" y="5437632"/>
            <a:ext cx="179831" cy="178308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26323" y="5437632"/>
            <a:ext cx="178307" cy="178308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29856" y="4404359"/>
            <a:ext cx="178307" cy="179831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153400" y="5445252"/>
            <a:ext cx="178307" cy="178308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512552" y="5841491"/>
            <a:ext cx="178307" cy="178307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828531" y="4853940"/>
            <a:ext cx="178307" cy="178307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55607" y="4853940"/>
            <a:ext cx="178307" cy="178307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82683" y="4853940"/>
            <a:ext cx="179831" cy="178307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11283" y="4853940"/>
            <a:ext cx="178307" cy="178307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738359" y="4863084"/>
            <a:ext cx="178307" cy="178307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810243" y="4396740"/>
            <a:ext cx="178307" cy="178307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738104" y="4415028"/>
            <a:ext cx="178307" cy="178307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966704" y="4415028"/>
            <a:ext cx="178307" cy="178307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193780" y="4415028"/>
            <a:ext cx="178307" cy="178307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420856" y="4422647"/>
            <a:ext cx="178307" cy="178307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83223" y="5826252"/>
            <a:ext cx="193548" cy="193547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21352" y="4873752"/>
            <a:ext cx="178308" cy="178307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48428" y="4873752"/>
            <a:ext cx="178308" cy="178307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77028" y="4873752"/>
            <a:ext cx="178308" cy="178307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404103" y="4873752"/>
            <a:ext cx="178308" cy="178307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631179" y="4881371"/>
            <a:ext cx="178308" cy="178307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18303" y="4396740"/>
            <a:ext cx="178308" cy="178307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45379" y="4396740"/>
            <a:ext cx="179832" cy="178307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617464" y="5833871"/>
            <a:ext cx="178308" cy="178307"/>
          </a:xfrm>
          <a:prstGeom prst="rect">
            <a:avLst/>
          </a:prstGeom>
        </p:spPr>
      </p:pic>
      <p:grpSp>
        <p:nvGrpSpPr>
          <p:cNvPr id="78" name="object 78"/>
          <p:cNvGrpSpPr/>
          <p:nvPr/>
        </p:nvGrpSpPr>
        <p:grpSpPr>
          <a:xfrm>
            <a:off x="6448044" y="4404359"/>
            <a:ext cx="391795" cy="189230"/>
            <a:chOff x="6448044" y="4404359"/>
            <a:chExt cx="391795" cy="189230"/>
          </a:xfrm>
        </p:grpSpPr>
        <p:pic>
          <p:nvPicPr>
            <p:cNvPr id="79" name="object 7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48044" y="4415027"/>
              <a:ext cx="178307" cy="178307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61404" y="4404359"/>
              <a:ext cx="178307" cy="179831"/>
            </a:xfrm>
            <a:prstGeom prst="rect">
              <a:avLst/>
            </a:prstGeom>
          </p:spPr>
        </p:pic>
      </p:grpSp>
      <p:pic>
        <p:nvPicPr>
          <p:cNvPr id="81" name="object 8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88480" y="4413503"/>
            <a:ext cx="178307" cy="178307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93947" y="5399532"/>
            <a:ext cx="178308" cy="178308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622547" y="5399532"/>
            <a:ext cx="178308" cy="178308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49623" y="5399532"/>
            <a:ext cx="178308" cy="178308"/>
          </a:xfrm>
          <a:prstGeom prst="rect">
            <a:avLst/>
          </a:prstGeom>
        </p:spPr>
      </p:pic>
      <p:pic>
        <p:nvPicPr>
          <p:cNvPr id="85" name="object 8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76700" y="5399532"/>
            <a:ext cx="179832" cy="178308"/>
          </a:xfrm>
          <a:prstGeom prst="rect">
            <a:avLst/>
          </a:prstGeom>
        </p:spPr>
      </p:pic>
      <p:pic>
        <p:nvPicPr>
          <p:cNvPr id="86" name="object 8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05300" y="5407152"/>
            <a:ext cx="178308" cy="178308"/>
          </a:xfrm>
          <a:prstGeom prst="rect">
            <a:avLst/>
          </a:prstGeom>
        </p:spPr>
      </p:pic>
      <p:grpSp>
        <p:nvGrpSpPr>
          <p:cNvPr id="87" name="object 87"/>
          <p:cNvGrpSpPr/>
          <p:nvPr/>
        </p:nvGrpSpPr>
        <p:grpSpPr>
          <a:xfrm>
            <a:off x="5169408" y="5830823"/>
            <a:ext cx="391795" cy="189230"/>
            <a:chOff x="5169408" y="5830823"/>
            <a:chExt cx="391795" cy="189230"/>
          </a:xfrm>
        </p:grpSpPr>
        <p:pic>
          <p:nvPicPr>
            <p:cNvPr id="88" name="object 8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69408" y="5830823"/>
              <a:ext cx="178308" cy="179831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82768" y="5841491"/>
              <a:ext cx="178308" cy="178307"/>
            </a:xfrm>
            <a:prstGeom prst="rect">
              <a:avLst/>
            </a:prstGeom>
          </p:spPr>
        </p:pic>
      </p:grpSp>
      <p:sp>
        <p:nvSpPr>
          <p:cNvPr id="90" name="object 90"/>
          <p:cNvSpPr txBox="1"/>
          <p:nvPr/>
        </p:nvSpPr>
        <p:spPr>
          <a:xfrm>
            <a:off x="300990" y="6212585"/>
            <a:ext cx="11591925" cy="52451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75"/>
              </a:spcBef>
            </a:pPr>
            <a:r>
              <a:rPr sz="1400" b="1" i="1" dirty="0">
                <a:latin typeface="Calibri"/>
                <a:cs typeface="Calibri"/>
              </a:rPr>
              <a:t>Players</a:t>
            </a:r>
            <a:r>
              <a:rPr sz="1400" b="1" i="1" spc="-30" dirty="0">
                <a:latin typeface="Calibri"/>
                <a:cs typeface="Calibri"/>
              </a:rPr>
              <a:t> </a:t>
            </a:r>
            <a:r>
              <a:rPr sz="1400" b="1" i="1" dirty="0">
                <a:latin typeface="Calibri"/>
                <a:cs typeface="Calibri"/>
              </a:rPr>
              <a:t>like</a:t>
            </a:r>
            <a:r>
              <a:rPr sz="1400" b="1" i="1" spc="-20" dirty="0">
                <a:latin typeface="Calibri"/>
                <a:cs typeface="Calibri"/>
              </a:rPr>
              <a:t> </a:t>
            </a:r>
            <a:r>
              <a:rPr sz="1400" b="1" i="1" dirty="0">
                <a:latin typeface="Calibri"/>
                <a:cs typeface="Calibri"/>
              </a:rPr>
              <a:t>Rishabh</a:t>
            </a:r>
            <a:r>
              <a:rPr sz="1400" b="1" i="1" spc="-55" dirty="0">
                <a:latin typeface="Calibri"/>
                <a:cs typeface="Calibri"/>
              </a:rPr>
              <a:t> </a:t>
            </a:r>
            <a:r>
              <a:rPr sz="1400" b="1" i="1" dirty="0">
                <a:latin typeface="Calibri"/>
                <a:cs typeface="Calibri"/>
              </a:rPr>
              <a:t>will</a:t>
            </a:r>
            <a:r>
              <a:rPr sz="1400" b="1" i="1" spc="-20" dirty="0">
                <a:latin typeface="Calibri"/>
                <a:cs typeface="Calibri"/>
              </a:rPr>
              <a:t> </a:t>
            </a:r>
            <a:r>
              <a:rPr sz="1400" b="1" i="1" dirty="0">
                <a:latin typeface="Calibri"/>
                <a:cs typeface="Calibri"/>
              </a:rPr>
              <a:t>have</a:t>
            </a:r>
            <a:r>
              <a:rPr sz="1400" b="1" i="1" spc="-25" dirty="0">
                <a:latin typeface="Calibri"/>
                <a:cs typeface="Calibri"/>
              </a:rPr>
              <a:t> </a:t>
            </a:r>
            <a:r>
              <a:rPr sz="1400" b="1" i="1" dirty="0">
                <a:latin typeface="Calibri"/>
                <a:cs typeface="Calibri"/>
              </a:rPr>
              <a:t>the</a:t>
            </a:r>
            <a:r>
              <a:rPr sz="1400" b="1" i="1" spc="-40" dirty="0">
                <a:latin typeface="Calibri"/>
                <a:cs typeface="Calibri"/>
              </a:rPr>
              <a:t> </a:t>
            </a:r>
            <a:r>
              <a:rPr sz="1400" b="1" i="1" dirty="0">
                <a:latin typeface="Calibri"/>
                <a:cs typeface="Calibri"/>
              </a:rPr>
              <a:t>highest</a:t>
            </a:r>
            <a:r>
              <a:rPr sz="1400" b="1" i="1" spc="-45" dirty="0">
                <a:latin typeface="Calibri"/>
                <a:cs typeface="Calibri"/>
              </a:rPr>
              <a:t> </a:t>
            </a:r>
            <a:r>
              <a:rPr sz="1400" b="1" i="1" dirty="0">
                <a:latin typeface="Calibri"/>
                <a:cs typeface="Calibri"/>
              </a:rPr>
              <a:t>number</a:t>
            </a:r>
            <a:r>
              <a:rPr sz="1400" b="1" i="1" spc="-50" dirty="0">
                <a:latin typeface="Calibri"/>
                <a:cs typeface="Calibri"/>
              </a:rPr>
              <a:t> </a:t>
            </a:r>
            <a:r>
              <a:rPr sz="1400" b="1" i="1" dirty="0">
                <a:latin typeface="Calibri"/>
                <a:cs typeface="Calibri"/>
              </a:rPr>
              <a:t>of</a:t>
            </a:r>
            <a:r>
              <a:rPr sz="1400" b="1" i="1" spc="-35" dirty="0">
                <a:latin typeface="Calibri"/>
                <a:cs typeface="Calibri"/>
              </a:rPr>
              <a:t> </a:t>
            </a:r>
            <a:r>
              <a:rPr sz="1400" b="1" i="1" dirty="0">
                <a:latin typeface="Calibri"/>
                <a:cs typeface="Calibri"/>
              </a:rPr>
              <a:t>power</a:t>
            </a:r>
            <a:r>
              <a:rPr sz="1400" b="1" i="1" spc="-50" dirty="0">
                <a:latin typeface="Calibri"/>
                <a:cs typeface="Calibri"/>
              </a:rPr>
              <a:t> </a:t>
            </a:r>
            <a:r>
              <a:rPr sz="1400" b="1" i="1" dirty="0">
                <a:latin typeface="Calibri"/>
                <a:cs typeface="Calibri"/>
              </a:rPr>
              <a:t>users</a:t>
            </a:r>
            <a:r>
              <a:rPr sz="1400" b="1" i="1" spc="-35" dirty="0">
                <a:latin typeface="Calibri"/>
                <a:cs typeface="Calibri"/>
              </a:rPr>
              <a:t> </a:t>
            </a:r>
            <a:r>
              <a:rPr sz="1400" b="1" i="1" dirty="0">
                <a:latin typeface="Calibri"/>
                <a:cs typeface="Calibri"/>
              </a:rPr>
              <a:t>and</a:t>
            </a:r>
            <a:r>
              <a:rPr sz="1400" b="1" i="1" spc="-50" dirty="0">
                <a:latin typeface="Calibri"/>
                <a:cs typeface="Calibri"/>
              </a:rPr>
              <a:t> </a:t>
            </a:r>
            <a:r>
              <a:rPr sz="1400" b="1" i="1" dirty="0">
                <a:latin typeface="Calibri"/>
                <a:cs typeface="Calibri"/>
              </a:rPr>
              <a:t>largest</a:t>
            </a:r>
            <a:r>
              <a:rPr sz="1400" b="1" i="1" spc="-30" dirty="0">
                <a:latin typeface="Calibri"/>
                <a:cs typeface="Calibri"/>
              </a:rPr>
              <a:t> </a:t>
            </a:r>
            <a:r>
              <a:rPr sz="1400" b="1" i="1" dirty="0">
                <a:latin typeface="Calibri"/>
                <a:cs typeface="Calibri"/>
              </a:rPr>
              <a:t>total</a:t>
            </a:r>
            <a:r>
              <a:rPr sz="1400" b="1" i="1" spc="-55" dirty="0">
                <a:latin typeface="Calibri"/>
                <a:cs typeface="Calibri"/>
              </a:rPr>
              <a:t> </a:t>
            </a:r>
            <a:r>
              <a:rPr sz="1400" b="1" i="1" dirty="0">
                <a:latin typeface="Calibri"/>
                <a:cs typeface="Calibri"/>
              </a:rPr>
              <a:t>addressable</a:t>
            </a:r>
            <a:r>
              <a:rPr sz="1400" b="1" i="1" spc="-55" dirty="0">
                <a:latin typeface="Calibri"/>
                <a:cs typeface="Calibri"/>
              </a:rPr>
              <a:t> </a:t>
            </a:r>
            <a:r>
              <a:rPr sz="1400" b="1" i="1" spc="-10" dirty="0">
                <a:latin typeface="Calibri"/>
                <a:cs typeface="Calibri"/>
              </a:rPr>
              <a:t>market</a:t>
            </a:r>
            <a:r>
              <a:rPr sz="1400" b="1" i="1" spc="-30" dirty="0">
                <a:latin typeface="Calibri"/>
                <a:cs typeface="Calibri"/>
              </a:rPr>
              <a:t> </a:t>
            </a:r>
            <a:r>
              <a:rPr sz="1400" b="1" i="1" dirty="0">
                <a:latin typeface="Calibri"/>
                <a:cs typeface="Calibri"/>
              </a:rPr>
              <a:t>in</a:t>
            </a:r>
            <a:r>
              <a:rPr sz="1400" b="1" i="1" spc="-35" dirty="0">
                <a:latin typeface="Calibri"/>
                <a:cs typeface="Calibri"/>
              </a:rPr>
              <a:t> </a:t>
            </a:r>
            <a:r>
              <a:rPr sz="1400" b="1" i="1" dirty="0">
                <a:latin typeface="Calibri"/>
                <a:cs typeface="Calibri"/>
              </a:rPr>
              <a:t>the</a:t>
            </a:r>
            <a:r>
              <a:rPr sz="1400" b="1" i="1" spc="-25" dirty="0">
                <a:latin typeface="Calibri"/>
                <a:cs typeface="Calibri"/>
              </a:rPr>
              <a:t> </a:t>
            </a:r>
            <a:r>
              <a:rPr sz="1400" b="1" i="1" dirty="0">
                <a:latin typeface="Calibri"/>
                <a:cs typeface="Calibri"/>
              </a:rPr>
              <a:t>user</a:t>
            </a:r>
            <a:r>
              <a:rPr sz="1400" b="1" i="1" spc="-40" dirty="0">
                <a:latin typeface="Calibri"/>
                <a:cs typeface="Calibri"/>
              </a:rPr>
              <a:t> </a:t>
            </a:r>
            <a:r>
              <a:rPr sz="1400" b="1" i="1" dirty="0">
                <a:latin typeface="Calibri"/>
                <a:cs typeface="Calibri"/>
              </a:rPr>
              <a:t>cohorts</a:t>
            </a:r>
            <a:r>
              <a:rPr sz="1400" b="1" i="1" spc="-65" dirty="0">
                <a:latin typeface="Calibri"/>
                <a:cs typeface="Calibri"/>
              </a:rPr>
              <a:t> </a:t>
            </a:r>
            <a:r>
              <a:rPr sz="1400" b="1" i="1" dirty="0">
                <a:latin typeface="Calibri"/>
                <a:cs typeface="Calibri"/>
              </a:rPr>
              <a:t>for Zupee</a:t>
            </a:r>
            <a:r>
              <a:rPr sz="1400" b="1" i="1" spc="-40" dirty="0">
                <a:latin typeface="Calibri"/>
                <a:cs typeface="Calibri"/>
              </a:rPr>
              <a:t> </a:t>
            </a:r>
            <a:r>
              <a:rPr sz="1400" b="1" i="1" dirty="0">
                <a:latin typeface="Calibri"/>
                <a:cs typeface="Calibri"/>
              </a:rPr>
              <a:t>and</a:t>
            </a:r>
            <a:r>
              <a:rPr sz="1400" b="1" i="1" spc="-45" dirty="0">
                <a:latin typeface="Calibri"/>
                <a:cs typeface="Calibri"/>
              </a:rPr>
              <a:t> </a:t>
            </a:r>
            <a:r>
              <a:rPr sz="1400" b="1" i="1" dirty="0">
                <a:latin typeface="Calibri"/>
                <a:cs typeface="Calibri"/>
              </a:rPr>
              <a:t>hence</a:t>
            </a:r>
            <a:r>
              <a:rPr sz="1400" b="1" i="1" spc="-35" dirty="0">
                <a:latin typeface="Calibri"/>
                <a:cs typeface="Calibri"/>
              </a:rPr>
              <a:t> </a:t>
            </a:r>
            <a:r>
              <a:rPr sz="1400" b="1" i="1" dirty="0">
                <a:latin typeface="Calibri"/>
                <a:cs typeface="Calibri"/>
              </a:rPr>
              <a:t>should</a:t>
            </a:r>
            <a:r>
              <a:rPr sz="1400" b="1" i="1" spc="-45" dirty="0">
                <a:latin typeface="Calibri"/>
                <a:cs typeface="Calibri"/>
              </a:rPr>
              <a:t> </a:t>
            </a:r>
            <a:r>
              <a:rPr sz="1400" b="1" i="1" spc="-25" dirty="0">
                <a:latin typeface="Calibri"/>
                <a:cs typeface="Calibri"/>
              </a:rPr>
              <a:t>be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400" b="1" i="1" spc="-10" dirty="0">
                <a:latin typeface="Calibri"/>
                <a:cs typeface="Calibri"/>
              </a:rPr>
              <a:t>targeted</a:t>
            </a:r>
            <a:r>
              <a:rPr sz="1400" b="1" i="1" spc="-15" dirty="0">
                <a:latin typeface="Calibri"/>
                <a:cs typeface="Calibri"/>
              </a:rPr>
              <a:t> </a:t>
            </a:r>
            <a:r>
              <a:rPr sz="1400" b="1" i="1" spc="-10" dirty="0">
                <a:latin typeface="Calibri"/>
                <a:cs typeface="Calibri"/>
              </a:rPr>
              <a:t>first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9287256" y="5803391"/>
            <a:ext cx="394970" cy="178435"/>
            <a:chOff x="9287256" y="5803391"/>
            <a:chExt cx="394970" cy="178435"/>
          </a:xfrm>
        </p:grpSpPr>
        <p:pic>
          <p:nvPicPr>
            <p:cNvPr id="92" name="object 9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87256" y="5803391"/>
              <a:ext cx="178307" cy="178307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02140" y="5803391"/>
              <a:ext cx="179831" cy="178307"/>
            </a:xfrm>
            <a:prstGeom prst="rect">
              <a:avLst/>
            </a:prstGeom>
          </p:spPr>
        </p:pic>
      </p:grpSp>
      <p:pic>
        <p:nvPicPr>
          <p:cNvPr id="94" name="object 9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730740" y="5803391"/>
            <a:ext cx="178307" cy="178307"/>
          </a:xfrm>
          <a:prstGeom prst="rect">
            <a:avLst/>
          </a:prstGeom>
        </p:spPr>
      </p:pic>
      <p:pic>
        <p:nvPicPr>
          <p:cNvPr id="95" name="object 9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20428" y="5388864"/>
            <a:ext cx="178307" cy="1783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3831" y="3810"/>
            <a:ext cx="60191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Possible</a:t>
            </a:r>
            <a:r>
              <a:rPr sz="2800" spc="-80" dirty="0"/>
              <a:t> </a:t>
            </a:r>
            <a:r>
              <a:rPr sz="2800" dirty="0"/>
              <a:t>solutions</a:t>
            </a:r>
            <a:r>
              <a:rPr sz="2800" spc="-95" dirty="0"/>
              <a:t> </a:t>
            </a:r>
            <a:r>
              <a:rPr sz="2800" dirty="0"/>
              <a:t>to</a:t>
            </a:r>
            <a:r>
              <a:rPr sz="2800" spc="-80" dirty="0"/>
              <a:t> </a:t>
            </a:r>
            <a:r>
              <a:rPr sz="2800" dirty="0"/>
              <a:t>identified</a:t>
            </a:r>
            <a:r>
              <a:rPr sz="2800" spc="-70" dirty="0"/>
              <a:t> </a:t>
            </a:r>
            <a:r>
              <a:rPr sz="2800" spc="-10" dirty="0"/>
              <a:t>problems</a:t>
            </a:r>
            <a:endParaRPr sz="28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69696" y="1930526"/>
          <a:ext cx="11359515" cy="45224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4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7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7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Features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Details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451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Problems</a:t>
                      </a:r>
                      <a:r>
                        <a:rPr sz="1800" b="1" spc="-9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targeted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634365" marR="276860" indent="-3505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Creating</a:t>
                      </a:r>
                      <a:r>
                        <a:rPr sz="14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private games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Option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users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create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private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game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shareable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link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forwarded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friends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1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862330" marR="193040" indent="-6616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interaction</a:t>
                      </a:r>
                      <a:r>
                        <a:rPr sz="1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other players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9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Friends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search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other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Zupee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users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send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request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add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them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their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friend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lists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862330" marR="193040" indent="-66167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interaction</a:t>
                      </a:r>
                      <a:r>
                        <a:rPr sz="1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other players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08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Calibri"/>
                          <a:cs typeface="Calibri"/>
                        </a:rPr>
                        <a:t>Zupee</a:t>
                      </a:r>
                      <a:r>
                        <a:rPr sz="1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Rich</a:t>
                      </a:r>
                      <a:r>
                        <a:rPr sz="1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0" dirty="0">
                          <a:latin typeface="Calibri"/>
                          <a:cs typeface="Calibri"/>
                        </a:rPr>
                        <a:t>clubs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54635" marR="238125" indent="-107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Since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USP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platform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earning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actual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money,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would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give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boost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players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by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providing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them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exclusivity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basis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money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they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have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earned.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exclusivity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be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coupled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profile</a:t>
                      </a:r>
                      <a:r>
                        <a:rPr sz="1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badges,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access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special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games,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etc.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54050" marR="85725" indent="-559435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recognition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gameplay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earnings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1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Create</a:t>
                      </a:r>
                      <a:r>
                        <a:rPr sz="14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tournaments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16205" marR="11112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feature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made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available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users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who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members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defined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exclusive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clubs.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They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define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entry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amount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date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holding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such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tournaments.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These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tournaments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be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open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made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exclusive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according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profile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tournament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creator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54050" marR="85725" indent="-559435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recognition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gameplay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earnings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1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Posts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08585" marR="10160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Each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game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have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dedicated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post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section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where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people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share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their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experiences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or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achievements.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example,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Snakes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Ladders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community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have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users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post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their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experiences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while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other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players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interact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through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likes/comments,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etc.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830580" marR="88265" indent="-734695"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long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term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game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progress tracking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1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B0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56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Leaderboards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762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Leaderboard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updates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tournaments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weekly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challenges.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These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categorised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game-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wise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73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830580" marR="88265" indent="-734695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long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term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game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progress tracking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73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B0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703445" y="589279"/>
            <a:ext cx="2781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Problem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areas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to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be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targeted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0559" y="1319783"/>
            <a:ext cx="3215640" cy="340360"/>
          </a:xfrm>
          <a:prstGeom prst="rect">
            <a:avLst/>
          </a:prstGeom>
          <a:solidFill>
            <a:srgbClr val="A9D18E"/>
          </a:solidFill>
        </p:spPr>
        <p:txBody>
          <a:bodyPr vert="horz" wrap="square" lIns="0" tIns="33655" rIns="0" bIns="0" rtlCol="0">
            <a:spAutoFit/>
          </a:bodyPr>
          <a:lstStyle/>
          <a:p>
            <a:pPr marL="243840">
              <a:lnSpc>
                <a:spcPct val="100000"/>
              </a:lnSpc>
              <a:spcBef>
                <a:spcPts val="265"/>
              </a:spcBef>
            </a:pPr>
            <a:r>
              <a:rPr sz="1600" dirty="0">
                <a:latin typeface="Calibri"/>
                <a:cs typeface="Calibri"/>
              </a:rPr>
              <a:t>No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interaction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other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players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4820" y="1306067"/>
            <a:ext cx="3706495" cy="338455"/>
          </a:xfrm>
          <a:prstGeom prst="rect">
            <a:avLst/>
          </a:prstGeom>
          <a:solidFill>
            <a:srgbClr val="9DC3E6"/>
          </a:solidFill>
        </p:spPr>
        <p:txBody>
          <a:bodyPr vert="horz" wrap="square" lIns="0" tIns="33655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265"/>
              </a:spcBef>
            </a:pPr>
            <a:r>
              <a:rPr sz="1600" dirty="0">
                <a:latin typeface="Calibri"/>
                <a:cs typeface="Calibri"/>
              </a:rPr>
              <a:t>No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recognition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gameplay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earnings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05800" y="1306067"/>
            <a:ext cx="3441700" cy="338455"/>
          </a:xfrm>
          <a:prstGeom prst="rect">
            <a:avLst/>
          </a:prstGeom>
          <a:solidFill>
            <a:srgbClr val="F4B083"/>
          </a:solidFill>
        </p:spPr>
        <p:txBody>
          <a:bodyPr vert="horz" wrap="square" lIns="0" tIns="33655" rIns="0" bIns="0" rtlCol="0">
            <a:spAutoFit/>
          </a:bodyPr>
          <a:lstStyle/>
          <a:p>
            <a:pPr marL="199390">
              <a:lnSpc>
                <a:spcPct val="100000"/>
              </a:lnSpc>
              <a:spcBef>
                <a:spcPts val="265"/>
              </a:spcBef>
            </a:pPr>
            <a:r>
              <a:rPr sz="1600" dirty="0">
                <a:latin typeface="Calibri"/>
                <a:cs typeface="Calibri"/>
              </a:rPr>
              <a:t>No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term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game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progress tracking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76727" y="969010"/>
            <a:ext cx="1866264" cy="291465"/>
          </a:xfrm>
          <a:custGeom>
            <a:avLst/>
            <a:gdLst/>
            <a:ahLst/>
            <a:cxnLst/>
            <a:rect l="l" t="t" r="r" b="b"/>
            <a:pathLst>
              <a:path w="1866264" h="291465">
                <a:moveTo>
                  <a:pt x="70231" y="215773"/>
                </a:moveTo>
                <a:lnTo>
                  <a:pt x="0" y="264032"/>
                </a:lnTo>
                <a:lnTo>
                  <a:pt x="80645" y="291338"/>
                </a:lnTo>
                <a:lnTo>
                  <a:pt x="76549" y="261619"/>
                </a:lnTo>
                <a:lnTo>
                  <a:pt x="63754" y="261619"/>
                </a:lnTo>
                <a:lnTo>
                  <a:pt x="61976" y="249047"/>
                </a:lnTo>
                <a:lnTo>
                  <a:pt x="74576" y="247305"/>
                </a:lnTo>
                <a:lnTo>
                  <a:pt x="70231" y="215773"/>
                </a:lnTo>
                <a:close/>
              </a:path>
              <a:path w="1866264" h="291465">
                <a:moveTo>
                  <a:pt x="74576" y="247305"/>
                </a:moveTo>
                <a:lnTo>
                  <a:pt x="61976" y="249047"/>
                </a:lnTo>
                <a:lnTo>
                  <a:pt x="63754" y="261619"/>
                </a:lnTo>
                <a:lnTo>
                  <a:pt x="76310" y="259886"/>
                </a:lnTo>
                <a:lnTo>
                  <a:pt x="74576" y="247305"/>
                </a:lnTo>
                <a:close/>
              </a:path>
              <a:path w="1866264" h="291465">
                <a:moveTo>
                  <a:pt x="76310" y="259886"/>
                </a:moveTo>
                <a:lnTo>
                  <a:pt x="63754" y="261619"/>
                </a:lnTo>
                <a:lnTo>
                  <a:pt x="76549" y="261619"/>
                </a:lnTo>
                <a:lnTo>
                  <a:pt x="76310" y="259886"/>
                </a:lnTo>
                <a:close/>
              </a:path>
              <a:path w="1866264" h="291465">
                <a:moveTo>
                  <a:pt x="1864487" y="0"/>
                </a:moveTo>
                <a:lnTo>
                  <a:pt x="74576" y="247305"/>
                </a:lnTo>
                <a:lnTo>
                  <a:pt x="76310" y="259886"/>
                </a:lnTo>
                <a:lnTo>
                  <a:pt x="1866264" y="12700"/>
                </a:lnTo>
                <a:lnTo>
                  <a:pt x="1864487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79106" y="934085"/>
            <a:ext cx="1452245" cy="334010"/>
          </a:xfrm>
          <a:custGeom>
            <a:avLst/>
            <a:gdLst/>
            <a:ahLst/>
            <a:cxnLst/>
            <a:rect l="l" t="t" r="r" b="b"/>
            <a:pathLst>
              <a:path w="1452245" h="334009">
                <a:moveTo>
                  <a:pt x="1376255" y="302574"/>
                </a:moveTo>
                <a:lnTo>
                  <a:pt x="1369695" y="333628"/>
                </a:lnTo>
                <a:lnTo>
                  <a:pt x="1452118" y="312165"/>
                </a:lnTo>
                <a:lnTo>
                  <a:pt x="1443344" y="305180"/>
                </a:lnTo>
                <a:lnTo>
                  <a:pt x="1388618" y="305180"/>
                </a:lnTo>
                <a:lnTo>
                  <a:pt x="1376255" y="302574"/>
                </a:lnTo>
                <a:close/>
              </a:path>
              <a:path w="1452245" h="334009">
                <a:moveTo>
                  <a:pt x="1378860" y="290241"/>
                </a:moveTo>
                <a:lnTo>
                  <a:pt x="1376255" y="302574"/>
                </a:lnTo>
                <a:lnTo>
                  <a:pt x="1388618" y="305180"/>
                </a:lnTo>
                <a:lnTo>
                  <a:pt x="1391285" y="292862"/>
                </a:lnTo>
                <a:lnTo>
                  <a:pt x="1378860" y="290241"/>
                </a:lnTo>
                <a:close/>
              </a:path>
              <a:path w="1452245" h="334009">
                <a:moveTo>
                  <a:pt x="1385443" y="259079"/>
                </a:moveTo>
                <a:lnTo>
                  <a:pt x="1378860" y="290241"/>
                </a:lnTo>
                <a:lnTo>
                  <a:pt x="1391285" y="292862"/>
                </a:lnTo>
                <a:lnTo>
                  <a:pt x="1388618" y="305180"/>
                </a:lnTo>
                <a:lnTo>
                  <a:pt x="1443344" y="305180"/>
                </a:lnTo>
                <a:lnTo>
                  <a:pt x="1385443" y="259079"/>
                </a:lnTo>
                <a:close/>
              </a:path>
              <a:path w="1452245" h="334009">
                <a:moveTo>
                  <a:pt x="2540" y="0"/>
                </a:moveTo>
                <a:lnTo>
                  <a:pt x="0" y="12445"/>
                </a:lnTo>
                <a:lnTo>
                  <a:pt x="1376255" y="302574"/>
                </a:lnTo>
                <a:lnTo>
                  <a:pt x="1378860" y="290241"/>
                </a:lnTo>
                <a:lnTo>
                  <a:pt x="2540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067044" y="880872"/>
            <a:ext cx="76200" cy="365760"/>
          </a:xfrm>
          <a:custGeom>
            <a:avLst/>
            <a:gdLst/>
            <a:ahLst/>
            <a:cxnLst/>
            <a:rect l="l" t="t" r="r" b="b"/>
            <a:pathLst>
              <a:path w="76200" h="365759">
                <a:moveTo>
                  <a:pt x="31750" y="289305"/>
                </a:moveTo>
                <a:lnTo>
                  <a:pt x="0" y="289305"/>
                </a:lnTo>
                <a:lnTo>
                  <a:pt x="38100" y="365505"/>
                </a:lnTo>
                <a:lnTo>
                  <a:pt x="69850" y="302005"/>
                </a:lnTo>
                <a:lnTo>
                  <a:pt x="31750" y="302005"/>
                </a:lnTo>
                <a:lnTo>
                  <a:pt x="31750" y="289305"/>
                </a:lnTo>
                <a:close/>
              </a:path>
              <a:path w="76200" h="365759">
                <a:moveTo>
                  <a:pt x="44450" y="0"/>
                </a:moveTo>
                <a:lnTo>
                  <a:pt x="31750" y="0"/>
                </a:lnTo>
                <a:lnTo>
                  <a:pt x="31750" y="302005"/>
                </a:lnTo>
                <a:lnTo>
                  <a:pt x="44450" y="302005"/>
                </a:lnTo>
                <a:lnTo>
                  <a:pt x="44450" y="0"/>
                </a:lnTo>
                <a:close/>
              </a:path>
              <a:path w="76200" h="365759">
                <a:moveTo>
                  <a:pt x="76200" y="289305"/>
                </a:moveTo>
                <a:lnTo>
                  <a:pt x="44450" y="289305"/>
                </a:lnTo>
                <a:lnTo>
                  <a:pt x="44450" y="302005"/>
                </a:lnTo>
                <a:lnTo>
                  <a:pt x="69850" y="302005"/>
                </a:lnTo>
                <a:lnTo>
                  <a:pt x="76200" y="289305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775" y="195198"/>
            <a:ext cx="56413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Analysis</a:t>
            </a:r>
            <a:r>
              <a:rPr spc="-125" dirty="0"/>
              <a:t> </a:t>
            </a:r>
            <a:r>
              <a:rPr dirty="0"/>
              <a:t>of</a:t>
            </a:r>
            <a:r>
              <a:rPr spc="-125" dirty="0"/>
              <a:t> </a:t>
            </a:r>
            <a:r>
              <a:rPr dirty="0"/>
              <a:t>proposed</a:t>
            </a:r>
            <a:r>
              <a:rPr spc="-114" dirty="0"/>
              <a:t> </a:t>
            </a:r>
            <a:r>
              <a:rPr spc="-10" dirty="0"/>
              <a:t>features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61390" y="1057783"/>
          <a:ext cx="11413490" cy="21507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7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41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14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1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83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11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9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69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Feature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89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>
                      <a:pPr marL="4076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Reach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414020">
                        <a:lnSpc>
                          <a:spcPct val="100000"/>
                        </a:lnSpc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(0-</a:t>
                      </a:r>
                      <a:r>
                        <a:rPr sz="2000" b="1" spc="-25" dirty="0">
                          <a:latin typeface="Calibri"/>
                          <a:cs typeface="Calibri"/>
                        </a:rPr>
                        <a:t>10)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>
                      <a:pPr marL="31432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Impact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433705">
                        <a:lnSpc>
                          <a:spcPct val="100000"/>
                        </a:lnSpc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(1-</a:t>
                      </a:r>
                      <a:r>
                        <a:rPr sz="2000" b="1" spc="-25" dirty="0">
                          <a:latin typeface="Calibri"/>
                          <a:cs typeface="Calibri"/>
                        </a:rPr>
                        <a:t>5)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Confidence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(1-</a:t>
                      </a:r>
                      <a:r>
                        <a:rPr sz="2000" b="1" spc="-25" dirty="0">
                          <a:latin typeface="Calibri"/>
                          <a:cs typeface="Calibri"/>
                        </a:rPr>
                        <a:t>5)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>
                      <a:pPr marL="2292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Effort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276860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(1-</a:t>
                      </a:r>
                      <a:r>
                        <a:rPr sz="2000" b="1" spc="-25" dirty="0">
                          <a:latin typeface="Calibri"/>
                          <a:cs typeface="Calibri"/>
                        </a:rPr>
                        <a:t>5)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Final</a:t>
                      </a:r>
                      <a:r>
                        <a:rPr sz="2000" b="1" spc="-20" dirty="0">
                          <a:latin typeface="Calibri"/>
                          <a:cs typeface="Calibri"/>
                        </a:rPr>
                        <a:t> score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898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Feature</a:t>
                      </a:r>
                      <a:r>
                        <a:rPr sz="20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specific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263525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Success</a:t>
                      </a:r>
                      <a:r>
                        <a:rPr sz="2000" b="1" spc="-7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metrics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2D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915">
                <a:tc>
                  <a:txBody>
                    <a:bodyPr/>
                    <a:lstStyle/>
                    <a:p>
                      <a:pPr marL="753110" marR="355600" indent="-39052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Creating</a:t>
                      </a:r>
                      <a:r>
                        <a:rPr sz="16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private games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2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6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2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6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2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6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62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6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24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9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3435" marR="27305" indent="-775970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Number</a:t>
                      </a:r>
                      <a:r>
                        <a:rPr sz="16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private</a:t>
                      </a:r>
                      <a:r>
                        <a:rPr sz="1600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games played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2D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91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64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Friends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24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3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7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3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7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3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7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63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7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100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9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marL="102235" marR="90805" indent="251460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Number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friend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requests</a:t>
                      </a:r>
                      <a:r>
                        <a:rPr sz="1600" b="1" spc="-8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sent/accepted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2D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837933" y="147066"/>
            <a:ext cx="50558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445" algn="ctr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Calibri"/>
                <a:cs typeface="Calibri"/>
              </a:rPr>
              <a:t>Ideally</a:t>
            </a:r>
            <a:r>
              <a:rPr sz="1200" i="1" spc="-2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the</a:t>
            </a:r>
            <a:r>
              <a:rPr sz="1200" i="1" spc="-2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number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of</a:t>
            </a:r>
            <a:r>
              <a:rPr sz="1200" i="1" spc="-2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features</a:t>
            </a:r>
            <a:r>
              <a:rPr sz="1200" i="1" spc="-2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of</a:t>
            </a:r>
            <a:r>
              <a:rPr sz="1200" i="1" spc="-25" dirty="0">
                <a:latin typeface="Calibri"/>
                <a:cs typeface="Calibri"/>
              </a:rPr>
              <a:t> </a:t>
            </a:r>
            <a:r>
              <a:rPr sz="1200" i="1" spc="-10" dirty="0">
                <a:latin typeface="Calibri"/>
                <a:cs typeface="Calibri"/>
              </a:rPr>
              <a:t>picked</a:t>
            </a:r>
            <a:r>
              <a:rPr sz="1200" i="1" spc="-2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would</a:t>
            </a:r>
            <a:r>
              <a:rPr sz="1200" i="1" spc="-1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depend</a:t>
            </a:r>
            <a:r>
              <a:rPr sz="1200" i="1" spc="-2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on</a:t>
            </a:r>
            <a:r>
              <a:rPr sz="1200" i="1" spc="-2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the</a:t>
            </a:r>
            <a:r>
              <a:rPr sz="1200" i="1" spc="-2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deadline</a:t>
            </a:r>
            <a:r>
              <a:rPr sz="1200" i="1" spc="-10" dirty="0">
                <a:latin typeface="Calibri"/>
                <a:cs typeface="Calibri"/>
              </a:rPr>
              <a:t> </a:t>
            </a:r>
            <a:r>
              <a:rPr sz="1200" i="1" spc="-25" dirty="0">
                <a:latin typeface="Calibri"/>
                <a:cs typeface="Calibri"/>
              </a:rPr>
              <a:t>vs</a:t>
            </a:r>
            <a:r>
              <a:rPr sz="1200" i="1" spc="50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available</a:t>
            </a:r>
            <a:r>
              <a:rPr sz="1200" i="1" spc="-2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resources</a:t>
            </a:r>
            <a:r>
              <a:rPr sz="1200" i="1" spc="-3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evaluation.</a:t>
            </a:r>
            <a:r>
              <a:rPr sz="1200" i="1" spc="-3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Since</a:t>
            </a:r>
            <a:r>
              <a:rPr sz="1200" i="1" spc="-3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those</a:t>
            </a:r>
            <a:r>
              <a:rPr sz="1200" i="1" spc="-3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are</a:t>
            </a:r>
            <a:r>
              <a:rPr sz="1200" i="1" spc="-3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not</a:t>
            </a:r>
            <a:r>
              <a:rPr sz="1200" i="1" spc="-2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mentioned,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b="1" i="1" dirty="0">
                <a:latin typeface="Calibri"/>
                <a:cs typeface="Calibri"/>
              </a:rPr>
              <a:t>I</a:t>
            </a:r>
            <a:r>
              <a:rPr sz="1200" b="1" i="1" spc="-25" dirty="0">
                <a:latin typeface="Calibri"/>
                <a:cs typeface="Calibri"/>
              </a:rPr>
              <a:t> </a:t>
            </a:r>
            <a:r>
              <a:rPr sz="1200" b="1" i="1" dirty="0">
                <a:latin typeface="Calibri"/>
                <a:cs typeface="Calibri"/>
              </a:rPr>
              <a:t>will</a:t>
            </a:r>
            <a:r>
              <a:rPr sz="1200" b="1" i="1" spc="-20" dirty="0">
                <a:latin typeface="Calibri"/>
                <a:cs typeface="Calibri"/>
              </a:rPr>
              <a:t> </a:t>
            </a:r>
            <a:r>
              <a:rPr sz="1200" b="1" i="1" dirty="0">
                <a:latin typeface="Calibri"/>
                <a:cs typeface="Calibri"/>
              </a:rPr>
              <a:t>pick</a:t>
            </a:r>
            <a:r>
              <a:rPr sz="1200" b="1" i="1" spc="-20" dirty="0">
                <a:latin typeface="Calibri"/>
                <a:cs typeface="Calibri"/>
              </a:rPr>
              <a:t> </a:t>
            </a:r>
            <a:r>
              <a:rPr sz="1200" b="1" i="1" dirty="0">
                <a:latin typeface="Calibri"/>
                <a:cs typeface="Calibri"/>
              </a:rPr>
              <a:t>the</a:t>
            </a:r>
            <a:r>
              <a:rPr sz="1200" b="1" i="1" spc="-35" dirty="0">
                <a:latin typeface="Calibri"/>
                <a:cs typeface="Calibri"/>
              </a:rPr>
              <a:t> </a:t>
            </a:r>
            <a:r>
              <a:rPr sz="1200" b="1" i="1" spc="-20" dirty="0">
                <a:latin typeface="Calibri"/>
                <a:cs typeface="Calibri"/>
              </a:rPr>
              <a:t>best </a:t>
            </a:r>
            <a:r>
              <a:rPr sz="1200" b="1" i="1" dirty="0">
                <a:latin typeface="Calibri"/>
                <a:cs typeface="Calibri"/>
              </a:rPr>
              <a:t>solution</a:t>
            </a:r>
            <a:r>
              <a:rPr sz="1200" b="1" i="1" spc="-35" dirty="0">
                <a:latin typeface="Calibri"/>
                <a:cs typeface="Calibri"/>
              </a:rPr>
              <a:t> </a:t>
            </a:r>
            <a:r>
              <a:rPr sz="1200" b="1" i="1" dirty="0">
                <a:latin typeface="Calibri"/>
                <a:cs typeface="Calibri"/>
              </a:rPr>
              <a:t>to</a:t>
            </a:r>
            <a:r>
              <a:rPr sz="1200" b="1" i="1" spc="-35" dirty="0">
                <a:latin typeface="Calibri"/>
                <a:cs typeface="Calibri"/>
              </a:rPr>
              <a:t> </a:t>
            </a:r>
            <a:r>
              <a:rPr sz="1200" b="1" i="1" dirty="0">
                <a:latin typeface="Calibri"/>
                <a:cs typeface="Calibri"/>
              </a:rPr>
              <a:t>each</a:t>
            </a:r>
            <a:r>
              <a:rPr sz="1200" b="1" i="1" spc="-35" dirty="0">
                <a:latin typeface="Calibri"/>
                <a:cs typeface="Calibri"/>
              </a:rPr>
              <a:t> </a:t>
            </a:r>
            <a:r>
              <a:rPr sz="1200" b="1" i="1" dirty="0">
                <a:latin typeface="Calibri"/>
                <a:cs typeface="Calibri"/>
              </a:rPr>
              <a:t>problem</a:t>
            </a:r>
            <a:r>
              <a:rPr sz="1200" b="1" i="1" spc="-30" dirty="0">
                <a:latin typeface="Calibri"/>
                <a:cs typeface="Calibri"/>
              </a:rPr>
              <a:t> </a:t>
            </a:r>
            <a:r>
              <a:rPr sz="1200" b="1" i="1" spc="-10" dirty="0">
                <a:latin typeface="Calibri"/>
                <a:cs typeface="Calibri"/>
              </a:rPr>
              <a:t>identified</a:t>
            </a:r>
            <a:r>
              <a:rPr sz="1200" b="1" i="1" spc="-50" dirty="0">
                <a:latin typeface="Calibri"/>
                <a:cs typeface="Calibri"/>
              </a:rPr>
              <a:t> </a:t>
            </a:r>
            <a:r>
              <a:rPr sz="1200" b="1" i="1" dirty="0">
                <a:latin typeface="Calibri"/>
                <a:cs typeface="Calibri"/>
              </a:rPr>
              <a:t>assuming</a:t>
            </a:r>
            <a:r>
              <a:rPr sz="1200" b="1" i="1" spc="-10" dirty="0">
                <a:latin typeface="Calibri"/>
                <a:cs typeface="Calibri"/>
              </a:rPr>
              <a:t> </a:t>
            </a:r>
            <a:r>
              <a:rPr sz="1200" b="1" i="1" dirty="0">
                <a:latin typeface="Calibri"/>
                <a:cs typeface="Calibri"/>
              </a:rPr>
              <a:t>appropriate</a:t>
            </a:r>
            <a:r>
              <a:rPr sz="1200" b="1" i="1" spc="-30" dirty="0">
                <a:latin typeface="Calibri"/>
                <a:cs typeface="Calibri"/>
              </a:rPr>
              <a:t> </a:t>
            </a:r>
            <a:r>
              <a:rPr sz="1200" b="1" i="1" dirty="0">
                <a:latin typeface="Calibri"/>
                <a:cs typeface="Calibri"/>
              </a:rPr>
              <a:t>resources</a:t>
            </a:r>
            <a:r>
              <a:rPr sz="1200" b="1" i="1" spc="-10" dirty="0">
                <a:latin typeface="Calibri"/>
                <a:cs typeface="Calibri"/>
              </a:rPr>
              <a:t> availability </a:t>
            </a:r>
            <a:r>
              <a:rPr sz="1200" b="1" i="1" dirty="0">
                <a:latin typeface="Calibri"/>
                <a:cs typeface="Calibri"/>
              </a:rPr>
              <a:t>to</a:t>
            </a:r>
            <a:r>
              <a:rPr sz="1200" b="1" i="1" spc="-40" dirty="0">
                <a:latin typeface="Calibri"/>
                <a:cs typeface="Calibri"/>
              </a:rPr>
              <a:t> </a:t>
            </a:r>
            <a:r>
              <a:rPr sz="1200" b="1" i="1" dirty="0">
                <a:latin typeface="Calibri"/>
                <a:cs typeface="Calibri"/>
              </a:rPr>
              <a:t>implement</a:t>
            </a:r>
            <a:r>
              <a:rPr sz="1200" b="1" i="1" spc="-30" dirty="0">
                <a:latin typeface="Calibri"/>
                <a:cs typeface="Calibri"/>
              </a:rPr>
              <a:t> </a:t>
            </a:r>
            <a:r>
              <a:rPr sz="1200" b="1" i="1" spc="-20" dirty="0">
                <a:latin typeface="Calibri"/>
                <a:cs typeface="Calibri"/>
              </a:rPr>
              <a:t>them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61390" y="3385565"/>
          <a:ext cx="11413490" cy="1433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7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41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14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1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83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11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9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69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70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Zupee</a:t>
                      </a:r>
                      <a:r>
                        <a:rPr sz="16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rich</a:t>
                      </a:r>
                      <a:r>
                        <a:rPr sz="16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0" dirty="0">
                          <a:latin typeface="Calibri"/>
                          <a:cs typeface="Calibri"/>
                        </a:rPr>
                        <a:t>clubs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247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3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7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3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7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3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7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63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7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5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32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01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marL="516255" marR="60325" indent="-447040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Number</a:t>
                      </a:r>
                      <a:r>
                        <a:rPr sz="16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qualifiers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each</a:t>
                      </a:r>
                      <a:r>
                        <a:rPr sz="16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club</a:t>
                      </a:r>
                      <a:r>
                        <a:rPr sz="16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tier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2D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9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70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Create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tournaments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247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3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7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3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7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3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7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63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7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5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01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4069" marR="71120" indent="-735330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Number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tournaments played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2D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61390" y="4957571"/>
          <a:ext cx="11413490" cy="1719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7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41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14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1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83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11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9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378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Posts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1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71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1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71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1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71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1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71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739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30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2097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8595" marR="180975" indent="1905" algn="ctr">
                        <a:lnSpc>
                          <a:spcPts val="1920"/>
                        </a:lnSpc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Page</a:t>
                      </a:r>
                      <a:r>
                        <a:rPr sz="16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activity,</a:t>
                      </a:r>
                      <a:r>
                        <a:rPr sz="160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average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time</a:t>
                      </a:r>
                      <a:r>
                        <a:rPr sz="160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spent</a:t>
                      </a:r>
                      <a:r>
                        <a:rPr sz="16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by</a:t>
                      </a:r>
                      <a:r>
                        <a:rPr sz="16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user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on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communities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2D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17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Leaderboards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6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6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6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6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48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49530" algn="ctr">
                        <a:lnSpc>
                          <a:spcPts val="1920"/>
                        </a:lnSpc>
                        <a:spcBef>
                          <a:spcPts val="1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Number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posts</a:t>
                      </a:r>
                      <a:r>
                        <a:rPr sz="16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each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community</a:t>
                      </a:r>
                      <a:r>
                        <a:rPr sz="16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600" b="1" spc="-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user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activity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on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posts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3810" algn="ctr">
                        <a:lnSpc>
                          <a:spcPts val="1855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(likes/comments)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2D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858" y="2750836"/>
            <a:ext cx="287042" cy="2256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762" y="3569473"/>
            <a:ext cx="287042" cy="22661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762" y="6060964"/>
            <a:ext cx="287042" cy="2256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330" y="269570"/>
            <a:ext cx="39503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Implemented</a:t>
            </a:r>
            <a:r>
              <a:rPr sz="3200" spc="25" dirty="0"/>
              <a:t> </a:t>
            </a:r>
            <a:r>
              <a:rPr sz="3200" spc="-10" dirty="0"/>
              <a:t>solutions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090415" y="1013460"/>
            <a:ext cx="3606165" cy="5600700"/>
          </a:xfrm>
          <a:prstGeom prst="rect">
            <a:avLst/>
          </a:prstGeom>
          <a:solidFill>
            <a:srgbClr val="FCD567"/>
          </a:solidFill>
          <a:ln w="6350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35"/>
              </a:spcBef>
            </a:pPr>
            <a:r>
              <a:rPr sz="1800" b="1" i="1" spc="-10" dirty="0">
                <a:latin typeface="Calibri"/>
                <a:cs typeface="Calibri"/>
              </a:rPr>
              <a:t>Leaderboards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190"/>
              </a:spcBef>
            </a:pPr>
            <a:r>
              <a:rPr sz="1400" i="1" dirty="0">
                <a:latin typeface="Calibri"/>
                <a:cs typeface="Calibri"/>
              </a:rPr>
              <a:t>“Long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term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game</a:t>
            </a:r>
            <a:r>
              <a:rPr sz="1400" i="1" spc="-2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progress</a:t>
            </a:r>
            <a:r>
              <a:rPr sz="1400" i="1" spc="-40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tracker”</a:t>
            </a:r>
            <a:endParaRPr sz="14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  <a:spcBef>
                <a:spcPts val="1680"/>
              </a:spcBef>
            </a:pPr>
            <a:r>
              <a:rPr sz="1400" b="1" dirty="0">
                <a:latin typeface="Calibri"/>
                <a:cs typeface="Calibri"/>
              </a:rPr>
              <a:t>User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benefits:</a:t>
            </a:r>
            <a:endParaRPr sz="1400">
              <a:latin typeface="Calibri"/>
              <a:cs typeface="Calibri"/>
            </a:endParaRPr>
          </a:p>
          <a:p>
            <a:pPr marL="378460" marR="153035" indent="-287020">
              <a:lnSpc>
                <a:spcPct val="100000"/>
              </a:lnSpc>
              <a:buFont typeface="Arial MT"/>
              <a:buChar char="•"/>
              <a:tabLst>
                <a:tab pos="378460" algn="l"/>
              </a:tabLst>
            </a:pPr>
            <a:r>
              <a:rPr sz="1400" spc="-10" dirty="0">
                <a:latin typeface="Calibri"/>
                <a:cs typeface="Calibri"/>
              </a:rPr>
              <a:t>Development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competitive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spirit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the </a:t>
            </a:r>
            <a:r>
              <a:rPr sz="1400" dirty="0">
                <a:latin typeface="Calibri"/>
                <a:cs typeface="Calibri"/>
              </a:rPr>
              <a:t>yearning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their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name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the </a:t>
            </a:r>
            <a:r>
              <a:rPr sz="1400" spc="-10" dirty="0">
                <a:latin typeface="Calibri"/>
                <a:cs typeface="Calibri"/>
              </a:rPr>
              <a:t>leaderboards.</a:t>
            </a:r>
            <a:endParaRPr sz="1400">
              <a:latin typeface="Calibri"/>
              <a:cs typeface="Calibri"/>
            </a:endParaRPr>
          </a:p>
          <a:p>
            <a:pPr marL="375920" marR="350520" indent="-284480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78460" algn="l"/>
              </a:tabLst>
            </a:pPr>
            <a:r>
              <a:rPr sz="1400" spc="-10" dirty="0">
                <a:latin typeface="Calibri"/>
                <a:cs typeface="Calibri"/>
              </a:rPr>
              <a:t>Players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track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their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progress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through 	</a:t>
            </a:r>
            <a:r>
              <a:rPr sz="1400" dirty="0">
                <a:latin typeface="Calibri"/>
                <a:cs typeface="Calibri"/>
              </a:rPr>
              <a:t>their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standings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leaderboards </a:t>
            </a:r>
            <a:r>
              <a:rPr sz="1400" spc="-25" dirty="0">
                <a:latin typeface="Calibri"/>
                <a:cs typeface="Calibri"/>
              </a:rPr>
              <a:t>for 	</a:t>
            </a:r>
            <a:r>
              <a:rPr sz="1400" spc="-10" dirty="0">
                <a:latin typeface="Calibri"/>
                <a:cs typeface="Calibri"/>
              </a:rPr>
              <a:t>different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games</a:t>
            </a:r>
            <a:endParaRPr sz="14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  <a:spcBef>
                <a:spcPts val="1680"/>
              </a:spcBef>
            </a:pPr>
            <a:r>
              <a:rPr sz="1400" b="1" spc="-10" dirty="0">
                <a:latin typeface="Calibri"/>
                <a:cs typeface="Calibri"/>
              </a:rPr>
              <a:t>Features:</a:t>
            </a:r>
            <a:endParaRPr sz="1400">
              <a:latin typeface="Calibri"/>
              <a:cs typeface="Calibri"/>
            </a:endParaRPr>
          </a:p>
          <a:p>
            <a:pPr marL="378460" marR="78740" indent="-287020">
              <a:lnSpc>
                <a:spcPct val="100000"/>
              </a:lnSpc>
              <a:buFont typeface="Arial MT"/>
              <a:buChar char="•"/>
              <a:tabLst>
                <a:tab pos="378460" algn="l"/>
              </a:tabLst>
            </a:pPr>
            <a:r>
              <a:rPr sz="1400" b="1" dirty="0">
                <a:latin typeface="Calibri"/>
                <a:cs typeface="Calibri"/>
              </a:rPr>
              <a:t>Build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communities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as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separate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sections </a:t>
            </a:r>
            <a:r>
              <a:rPr sz="1400" dirty="0">
                <a:latin typeface="Calibri"/>
                <a:cs typeface="Calibri"/>
              </a:rPr>
              <a:t>where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Leaderboards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will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displayed.</a:t>
            </a:r>
            <a:r>
              <a:rPr sz="1400" spc="50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Each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game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will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have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separate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community. </a:t>
            </a:r>
            <a:r>
              <a:rPr sz="1400" dirty="0">
                <a:latin typeface="Calibri"/>
                <a:cs typeface="Calibri"/>
              </a:rPr>
              <a:t>All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game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communities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public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open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all</a:t>
            </a:r>
            <a:endParaRPr sz="1400">
              <a:latin typeface="Calibri"/>
              <a:cs typeface="Calibri"/>
            </a:endParaRPr>
          </a:p>
          <a:p>
            <a:pPr marL="378460" marR="151130" indent="-287020">
              <a:lnSpc>
                <a:spcPct val="100000"/>
              </a:lnSpc>
              <a:buFont typeface="Arial MT"/>
              <a:buChar char="•"/>
              <a:tabLst>
                <a:tab pos="378460" algn="l"/>
              </a:tabLst>
            </a:pPr>
            <a:r>
              <a:rPr sz="1400" b="1" dirty="0">
                <a:latin typeface="Calibri"/>
                <a:cs typeface="Calibri"/>
              </a:rPr>
              <a:t>Game</a:t>
            </a:r>
            <a:r>
              <a:rPr sz="1400" b="1" spc="-6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servers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already</a:t>
            </a:r>
            <a:r>
              <a:rPr sz="1400" b="1" spc="-6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collect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list</a:t>
            </a:r>
            <a:r>
              <a:rPr sz="1400" b="1" spc="-25" dirty="0">
                <a:latin typeface="Calibri"/>
                <a:cs typeface="Calibri"/>
              </a:rPr>
              <a:t> of </a:t>
            </a:r>
            <a:r>
              <a:rPr sz="1400" b="1" dirty="0">
                <a:latin typeface="Calibri"/>
                <a:cs typeface="Calibri"/>
              </a:rPr>
              <a:t>winners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at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the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end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of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each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game</a:t>
            </a:r>
            <a:r>
              <a:rPr sz="1400" spc="-10" dirty="0">
                <a:latin typeface="Calibri"/>
                <a:cs typeface="Calibri"/>
              </a:rPr>
              <a:t>.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This </a:t>
            </a:r>
            <a:r>
              <a:rPr sz="1400" spc="-25" dirty="0">
                <a:latin typeface="Calibri"/>
                <a:cs typeface="Calibri"/>
              </a:rPr>
              <a:t>can </a:t>
            </a:r>
            <a:r>
              <a:rPr sz="1400" dirty="0">
                <a:latin typeface="Calibri"/>
                <a:cs typeface="Calibri"/>
              </a:rPr>
              <a:t>just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collated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displayed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under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the </a:t>
            </a:r>
            <a:r>
              <a:rPr sz="1400" spc="-10" dirty="0">
                <a:latin typeface="Calibri"/>
                <a:cs typeface="Calibri"/>
              </a:rPr>
              <a:t>leaderboard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tab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each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community.</a:t>
            </a:r>
            <a:endParaRPr sz="1400">
              <a:latin typeface="Calibri"/>
              <a:cs typeface="Calibri"/>
            </a:endParaRPr>
          </a:p>
          <a:p>
            <a:pPr marL="378460" marR="198755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78460" algn="l"/>
              </a:tabLst>
            </a:pPr>
            <a:r>
              <a:rPr sz="1400" b="1" spc="-10" dirty="0">
                <a:latin typeface="Calibri"/>
                <a:cs typeface="Calibri"/>
              </a:rPr>
              <a:t>Different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variations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10" dirty="0">
                <a:latin typeface="Calibri"/>
                <a:cs typeface="Calibri"/>
              </a:rPr>
              <a:t> leaderboards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can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created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more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engagement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(weekly, </a:t>
            </a:r>
            <a:r>
              <a:rPr sz="1400" spc="-20" dirty="0">
                <a:latin typeface="Calibri"/>
                <a:cs typeface="Calibri"/>
              </a:rPr>
              <a:t>monthly,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etc.)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200" y="998219"/>
            <a:ext cx="3392804" cy="5539740"/>
          </a:xfrm>
          <a:prstGeom prst="rect">
            <a:avLst/>
          </a:prstGeom>
          <a:solidFill>
            <a:srgbClr val="FCD567"/>
          </a:solidFill>
          <a:ln w="6350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35"/>
              </a:spcBef>
            </a:pPr>
            <a:r>
              <a:rPr sz="1800" b="1" i="1" spc="-10" dirty="0">
                <a:latin typeface="Calibri"/>
                <a:cs typeface="Calibri"/>
              </a:rPr>
              <a:t>Friends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710"/>
              </a:spcBef>
            </a:pPr>
            <a:r>
              <a:rPr sz="1400" i="1" dirty="0">
                <a:latin typeface="Calibri"/>
                <a:cs typeface="Calibri"/>
              </a:rPr>
              <a:t>“The</a:t>
            </a:r>
            <a:r>
              <a:rPr sz="1400" i="1" spc="-1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most</a:t>
            </a:r>
            <a:r>
              <a:rPr sz="1400" i="1" spc="-2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basic</a:t>
            </a:r>
            <a:r>
              <a:rPr sz="1400" i="1" spc="1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form</a:t>
            </a:r>
            <a:r>
              <a:rPr sz="1400" i="1" spc="-2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of</a:t>
            </a:r>
            <a:r>
              <a:rPr sz="1400" i="1" spc="-1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user</a:t>
            </a:r>
            <a:r>
              <a:rPr sz="1400" i="1" spc="-20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interaction”</a:t>
            </a:r>
            <a:endParaRPr sz="14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  <a:spcBef>
                <a:spcPts val="1680"/>
              </a:spcBef>
            </a:pPr>
            <a:r>
              <a:rPr sz="1400" b="1" dirty="0">
                <a:latin typeface="Calibri"/>
                <a:cs typeface="Calibri"/>
              </a:rPr>
              <a:t>User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benefits:</a:t>
            </a:r>
            <a:endParaRPr sz="1400">
              <a:latin typeface="Calibri"/>
              <a:cs typeface="Calibri"/>
            </a:endParaRPr>
          </a:p>
          <a:p>
            <a:pPr marL="377190" marR="473709" indent="-287020">
              <a:lnSpc>
                <a:spcPct val="100000"/>
              </a:lnSpc>
              <a:buFont typeface="Arial MT"/>
              <a:buChar char="•"/>
              <a:tabLst>
                <a:tab pos="377190" algn="l"/>
              </a:tabLst>
            </a:pPr>
            <a:r>
              <a:rPr sz="1400" dirty="0">
                <a:latin typeface="Calibri"/>
                <a:cs typeface="Calibri"/>
              </a:rPr>
              <a:t>Ability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search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other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users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the </a:t>
            </a:r>
            <a:r>
              <a:rPr sz="1400" dirty="0">
                <a:latin typeface="Calibri"/>
                <a:cs typeface="Calibri"/>
              </a:rPr>
              <a:t>Zupee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platform</a:t>
            </a:r>
            <a:endParaRPr sz="1400">
              <a:latin typeface="Calibri"/>
              <a:cs typeface="Calibri"/>
            </a:endParaRPr>
          </a:p>
          <a:p>
            <a:pPr marL="377190" marR="116839" indent="-287020">
              <a:lnSpc>
                <a:spcPct val="100000"/>
              </a:lnSpc>
              <a:buFont typeface="Arial MT"/>
              <a:buChar char="•"/>
              <a:tabLst>
                <a:tab pos="377190" algn="l"/>
              </a:tabLst>
            </a:pPr>
            <a:r>
              <a:rPr sz="1400" dirty="0">
                <a:latin typeface="Calibri"/>
                <a:cs typeface="Calibri"/>
              </a:rPr>
              <a:t>Adding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friends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your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friend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list </a:t>
            </a:r>
            <a:r>
              <a:rPr sz="1400" dirty="0">
                <a:latin typeface="Calibri"/>
                <a:cs typeface="Calibri"/>
              </a:rPr>
              <a:t>through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sending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accepting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requests</a:t>
            </a:r>
            <a:endParaRPr sz="14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  <a:spcBef>
                <a:spcPts val="1680"/>
              </a:spcBef>
            </a:pPr>
            <a:r>
              <a:rPr sz="1400" b="1" spc="-10" dirty="0">
                <a:latin typeface="Calibri"/>
                <a:cs typeface="Calibri"/>
              </a:rPr>
              <a:t>Features:</a:t>
            </a:r>
            <a:endParaRPr sz="1400">
              <a:latin typeface="Calibri"/>
              <a:cs typeface="Calibri"/>
            </a:endParaRPr>
          </a:p>
          <a:p>
            <a:pPr marL="374650" marR="135890" indent="-284480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77190" algn="l"/>
              </a:tabLst>
            </a:pPr>
            <a:r>
              <a:rPr sz="1400" b="1" dirty="0">
                <a:latin typeface="Calibri"/>
                <a:cs typeface="Calibri"/>
              </a:rPr>
              <a:t>New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menu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item: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new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option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created 	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app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navigator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bottom.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This 	</a:t>
            </a:r>
            <a:r>
              <a:rPr sz="1400" dirty="0">
                <a:latin typeface="Calibri"/>
                <a:cs typeface="Calibri"/>
              </a:rPr>
              <a:t>section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will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dedicated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finding</a:t>
            </a:r>
            <a:r>
              <a:rPr sz="1400" spc="-25" dirty="0">
                <a:latin typeface="Calibri"/>
                <a:cs typeface="Calibri"/>
              </a:rPr>
              <a:t> and 	</a:t>
            </a:r>
            <a:r>
              <a:rPr sz="1400" spc="-10" dirty="0">
                <a:latin typeface="Calibri"/>
                <a:cs typeface="Calibri"/>
              </a:rPr>
              <a:t>interacting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one-</a:t>
            </a:r>
            <a:r>
              <a:rPr sz="1400" spc="-10" dirty="0">
                <a:latin typeface="Calibri"/>
                <a:cs typeface="Calibri"/>
              </a:rPr>
              <a:t>on-</a:t>
            </a:r>
            <a:r>
              <a:rPr sz="1400" dirty="0">
                <a:latin typeface="Calibri"/>
                <a:cs typeface="Calibri"/>
              </a:rPr>
              <a:t>one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with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users</a:t>
            </a:r>
            <a:endParaRPr sz="1400">
              <a:latin typeface="Calibri"/>
              <a:cs typeface="Calibri"/>
            </a:endParaRPr>
          </a:p>
          <a:p>
            <a:pPr marL="377190" marR="114935" indent="-287020">
              <a:lnSpc>
                <a:spcPct val="100000"/>
              </a:lnSpc>
              <a:buFont typeface="Arial MT"/>
              <a:buChar char="•"/>
              <a:tabLst>
                <a:tab pos="377190" algn="l"/>
              </a:tabLst>
            </a:pPr>
            <a:r>
              <a:rPr sz="1400" b="1" dirty="0">
                <a:latin typeface="Calibri"/>
                <a:cs typeface="Calibri"/>
              </a:rPr>
              <a:t>Search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option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search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other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Zupee </a:t>
            </a:r>
            <a:r>
              <a:rPr sz="1400" dirty="0">
                <a:latin typeface="Calibri"/>
                <a:cs typeface="Calibri"/>
              </a:rPr>
              <a:t>users.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The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results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will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be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segregated </a:t>
            </a:r>
            <a:r>
              <a:rPr sz="1400" b="1" dirty="0">
                <a:latin typeface="Calibri"/>
                <a:cs typeface="Calibri"/>
              </a:rPr>
              <a:t>into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friend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and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non-friend</a:t>
            </a:r>
            <a:r>
              <a:rPr sz="1400" b="1" spc="-65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users</a:t>
            </a:r>
            <a:endParaRPr sz="1400">
              <a:latin typeface="Calibri"/>
              <a:cs typeface="Calibri"/>
            </a:endParaRPr>
          </a:p>
          <a:p>
            <a:pPr marL="377190" marR="113664" indent="-287020">
              <a:lnSpc>
                <a:spcPct val="100000"/>
              </a:lnSpc>
              <a:buFont typeface="Arial MT"/>
              <a:buChar char="•"/>
              <a:tabLst>
                <a:tab pos="377190" algn="l"/>
              </a:tabLst>
            </a:pPr>
            <a:r>
              <a:rPr sz="1400" b="1" dirty="0">
                <a:latin typeface="Calibri"/>
                <a:cs typeface="Calibri"/>
              </a:rPr>
              <a:t>Ability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send/receive/accept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friend requests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where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user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sends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the </a:t>
            </a:r>
            <a:r>
              <a:rPr sz="1400" spc="-10" dirty="0">
                <a:latin typeface="Calibri"/>
                <a:cs typeface="Calibri"/>
              </a:rPr>
              <a:t>request,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if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receiver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accepts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it, </a:t>
            </a:r>
            <a:r>
              <a:rPr sz="1400" dirty="0">
                <a:latin typeface="Calibri"/>
                <a:cs typeface="Calibri"/>
              </a:rPr>
              <a:t>both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users’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friend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lists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adds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new </a:t>
            </a:r>
            <a:r>
              <a:rPr sz="1400" spc="-10" dirty="0">
                <a:latin typeface="Calibri"/>
                <a:cs typeface="Calibri"/>
              </a:rPr>
              <a:t>connection.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38516" y="998219"/>
            <a:ext cx="3604260" cy="5600700"/>
          </a:xfrm>
          <a:prstGeom prst="rect">
            <a:avLst/>
          </a:prstGeom>
          <a:solidFill>
            <a:srgbClr val="FCD567"/>
          </a:solidFill>
          <a:ln w="6350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35"/>
              </a:spcBef>
            </a:pPr>
            <a:r>
              <a:rPr sz="1800" b="1" i="1" dirty="0">
                <a:latin typeface="Calibri"/>
                <a:cs typeface="Calibri"/>
              </a:rPr>
              <a:t>Zupee</a:t>
            </a:r>
            <a:r>
              <a:rPr sz="1800" b="1" i="1" spc="-3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Rich</a:t>
            </a:r>
            <a:r>
              <a:rPr sz="1800" b="1" i="1" spc="-50" dirty="0">
                <a:latin typeface="Calibri"/>
                <a:cs typeface="Calibri"/>
              </a:rPr>
              <a:t> </a:t>
            </a:r>
            <a:r>
              <a:rPr sz="1800" b="1" i="1" spc="-20" dirty="0">
                <a:latin typeface="Calibri"/>
                <a:cs typeface="Calibri"/>
              </a:rPr>
              <a:t>clubs</a:t>
            </a:r>
            <a:endParaRPr sz="1800">
              <a:latin typeface="Calibri"/>
              <a:cs typeface="Calibri"/>
            </a:endParaRPr>
          </a:p>
          <a:p>
            <a:pPr marL="99060" marR="90805" algn="ctr">
              <a:lnSpc>
                <a:spcPct val="100000"/>
              </a:lnSpc>
              <a:spcBef>
                <a:spcPts val="2190"/>
              </a:spcBef>
            </a:pPr>
            <a:r>
              <a:rPr sz="1400" i="1" dirty="0">
                <a:latin typeface="Calibri"/>
                <a:cs typeface="Calibri"/>
              </a:rPr>
              <a:t>“Leveraging</a:t>
            </a:r>
            <a:r>
              <a:rPr sz="1400" i="1" spc="-2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the</a:t>
            </a:r>
            <a:r>
              <a:rPr sz="1400" i="1" spc="-2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basic</a:t>
            </a:r>
            <a:r>
              <a:rPr sz="1400" i="1" spc="-1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principle</a:t>
            </a:r>
            <a:r>
              <a:rPr sz="1400" i="1" spc="-2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of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money-based </a:t>
            </a:r>
            <a:r>
              <a:rPr sz="1400" i="1" dirty="0">
                <a:latin typeface="Calibri"/>
                <a:cs typeface="Calibri"/>
              </a:rPr>
              <a:t>gaming</a:t>
            </a:r>
            <a:r>
              <a:rPr sz="1400" i="1" spc="-2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platforms</a:t>
            </a:r>
            <a:r>
              <a:rPr sz="1400" i="1" spc="-3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and</a:t>
            </a:r>
            <a:r>
              <a:rPr sz="1400" i="1" spc="-30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extending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it</a:t>
            </a:r>
            <a:r>
              <a:rPr sz="1400" i="1" spc="-2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as</a:t>
            </a:r>
            <a:r>
              <a:rPr sz="1400" i="1" spc="-3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a</a:t>
            </a:r>
            <a:r>
              <a:rPr sz="1400" i="1" spc="-25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social status”</a:t>
            </a:r>
            <a:endParaRPr sz="14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1680"/>
              </a:spcBef>
            </a:pPr>
            <a:r>
              <a:rPr sz="1400" b="1" dirty="0">
                <a:latin typeface="Calibri"/>
                <a:cs typeface="Calibri"/>
              </a:rPr>
              <a:t>User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benefits:</a:t>
            </a:r>
            <a:endParaRPr sz="1400">
              <a:latin typeface="Calibri"/>
              <a:cs typeface="Calibri"/>
            </a:endParaRPr>
          </a:p>
          <a:p>
            <a:pPr marL="378460" marR="553720" indent="-287020">
              <a:lnSpc>
                <a:spcPct val="100000"/>
              </a:lnSpc>
              <a:buFont typeface="Arial MT"/>
              <a:buChar char="•"/>
              <a:tabLst>
                <a:tab pos="378460" algn="l"/>
              </a:tabLst>
            </a:pPr>
            <a:r>
              <a:rPr sz="1400" spc="-10" dirty="0">
                <a:latin typeface="Calibri"/>
                <a:cs typeface="Calibri"/>
              </a:rPr>
              <a:t>Exclusive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access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create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play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in </a:t>
            </a:r>
            <a:r>
              <a:rPr sz="1400" spc="-10" dirty="0">
                <a:latin typeface="Calibri"/>
                <a:cs typeface="Calibri"/>
              </a:rPr>
              <a:t>tournaments</a:t>
            </a:r>
            <a:endParaRPr sz="1400">
              <a:latin typeface="Calibri"/>
              <a:cs typeface="Calibri"/>
            </a:endParaRPr>
          </a:p>
          <a:p>
            <a:pPr marL="378460" indent="-287020">
              <a:lnSpc>
                <a:spcPct val="100000"/>
              </a:lnSpc>
              <a:buFont typeface="Arial MT"/>
              <a:buChar char="•"/>
              <a:tabLst>
                <a:tab pos="378460" algn="l"/>
              </a:tabLst>
            </a:pPr>
            <a:r>
              <a:rPr sz="1400" dirty="0">
                <a:latin typeface="Calibri"/>
                <a:cs typeface="Calibri"/>
              </a:rPr>
              <a:t>Access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higher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entry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fee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games</a:t>
            </a:r>
            <a:endParaRPr sz="1400">
              <a:latin typeface="Calibri"/>
              <a:cs typeface="Calibri"/>
            </a:endParaRPr>
          </a:p>
          <a:p>
            <a:pPr marL="378460" marR="385445" indent="-287020">
              <a:lnSpc>
                <a:spcPct val="100000"/>
              </a:lnSpc>
              <a:buFont typeface="Arial MT"/>
              <a:buChar char="•"/>
              <a:tabLst>
                <a:tab pos="378460" algn="l"/>
              </a:tabLst>
            </a:pPr>
            <a:r>
              <a:rPr sz="1400" dirty="0">
                <a:latin typeface="Calibri"/>
                <a:cs typeface="Calibri"/>
              </a:rPr>
              <a:t>Access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recommended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tournaments </a:t>
            </a:r>
            <a:r>
              <a:rPr sz="1400" dirty="0">
                <a:latin typeface="Calibri"/>
                <a:cs typeface="Calibri"/>
              </a:rPr>
              <a:t>which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have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better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ROI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than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general </a:t>
            </a:r>
            <a:r>
              <a:rPr sz="1400" spc="-20" dirty="0">
                <a:latin typeface="Calibri"/>
                <a:cs typeface="Calibri"/>
              </a:rPr>
              <a:t>ones</a:t>
            </a:r>
            <a:endParaRPr sz="14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1685"/>
              </a:spcBef>
            </a:pPr>
            <a:r>
              <a:rPr sz="1400" b="1" spc="-10" dirty="0">
                <a:latin typeface="Calibri"/>
                <a:cs typeface="Calibri"/>
              </a:rPr>
              <a:t>Features:</a:t>
            </a:r>
            <a:endParaRPr sz="1400">
              <a:latin typeface="Calibri"/>
              <a:cs typeface="Calibri"/>
            </a:endParaRPr>
          </a:p>
          <a:p>
            <a:pPr marL="378460" indent="-287020">
              <a:lnSpc>
                <a:spcPct val="100000"/>
              </a:lnSpc>
              <a:buFont typeface="Arial MT"/>
              <a:buChar char="•"/>
              <a:tabLst>
                <a:tab pos="378460" algn="l"/>
              </a:tabLst>
            </a:pPr>
            <a:r>
              <a:rPr sz="1400" b="1" dirty="0">
                <a:latin typeface="Calibri"/>
                <a:cs typeface="Calibri"/>
              </a:rPr>
              <a:t>Define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tiers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like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silver,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gold,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diamond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at</a:t>
            </a:r>
            <a:endParaRPr sz="1400">
              <a:latin typeface="Calibri"/>
              <a:cs typeface="Calibri"/>
            </a:endParaRPr>
          </a:p>
          <a:p>
            <a:pPr marL="378460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relevant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earning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levels</a:t>
            </a:r>
            <a:endParaRPr sz="1400">
              <a:latin typeface="Calibri"/>
              <a:cs typeface="Calibri"/>
            </a:endParaRPr>
          </a:p>
          <a:p>
            <a:pPr marL="378460" indent="-287020">
              <a:lnSpc>
                <a:spcPct val="100000"/>
              </a:lnSpc>
              <a:buFont typeface="Arial MT"/>
              <a:buChar char="•"/>
              <a:tabLst>
                <a:tab pos="378460" algn="l"/>
              </a:tabLst>
            </a:pPr>
            <a:r>
              <a:rPr sz="1400" b="1" dirty="0">
                <a:latin typeface="Calibri"/>
                <a:cs typeface="Calibri"/>
              </a:rPr>
              <a:t>Profile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badge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stand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out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from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rest</a:t>
            </a:r>
            <a:endParaRPr sz="1400">
              <a:latin typeface="Calibri"/>
              <a:cs typeface="Calibri"/>
            </a:endParaRPr>
          </a:p>
          <a:p>
            <a:pPr marL="378460" marR="147320" indent="-287020">
              <a:lnSpc>
                <a:spcPct val="100000"/>
              </a:lnSpc>
              <a:buFont typeface="Arial MT"/>
              <a:buChar char="•"/>
              <a:tabLst>
                <a:tab pos="378460" algn="l"/>
              </a:tabLst>
            </a:pPr>
            <a:r>
              <a:rPr sz="1400" dirty="0">
                <a:latin typeface="Calibri"/>
                <a:cs typeface="Calibri"/>
              </a:rPr>
              <a:t>Game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server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create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exclusive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set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of </a:t>
            </a:r>
            <a:r>
              <a:rPr sz="1400" b="1" dirty="0">
                <a:latin typeface="Calibri"/>
                <a:cs typeface="Calibri"/>
              </a:rPr>
              <a:t>better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ROI</a:t>
            </a:r>
            <a:r>
              <a:rPr sz="1400" b="1" spc="-7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games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access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only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Zupee </a:t>
            </a:r>
            <a:r>
              <a:rPr sz="1400" b="1" dirty="0">
                <a:latin typeface="Calibri"/>
                <a:cs typeface="Calibri"/>
              </a:rPr>
              <a:t>rich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club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members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2519" rIns="0" bIns="0" rtlCol="0">
            <a:spAutoFit/>
          </a:bodyPr>
          <a:lstStyle/>
          <a:p>
            <a:pPr marL="305435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Mockups:</a:t>
            </a:r>
            <a:r>
              <a:rPr sz="3000" spc="-60" dirty="0"/>
              <a:t> </a:t>
            </a:r>
            <a:r>
              <a:rPr sz="3000" dirty="0"/>
              <a:t>Wait</a:t>
            </a:r>
            <a:r>
              <a:rPr sz="3000" spc="-60" dirty="0"/>
              <a:t> </a:t>
            </a:r>
            <a:r>
              <a:rPr sz="3000" dirty="0"/>
              <a:t>screen</a:t>
            </a:r>
            <a:r>
              <a:rPr sz="3000" spc="-80" dirty="0"/>
              <a:t> </a:t>
            </a:r>
            <a:r>
              <a:rPr sz="3000" dirty="0"/>
              <a:t>+</a:t>
            </a:r>
            <a:r>
              <a:rPr sz="3000" spc="-55" dirty="0"/>
              <a:t> </a:t>
            </a:r>
            <a:r>
              <a:rPr sz="3000" dirty="0"/>
              <a:t>Friends</a:t>
            </a:r>
            <a:r>
              <a:rPr sz="3000" spc="-60" dirty="0"/>
              <a:t> </a:t>
            </a:r>
            <a:r>
              <a:rPr sz="3000" dirty="0"/>
              <a:t>section</a:t>
            </a:r>
            <a:r>
              <a:rPr sz="3000" spc="-75" dirty="0"/>
              <a:t> </a:t>
            </a:r>
            <a:r>
              <a:rPr sz="3000" dirty="0"/>
              <a:t>added</a:t>
            </a:r>
            <a:r>
              <a:rPr sz="3000" spc="-60" dirty="0"/>
              <a:t> </a:t>
            </a:r>
            <a:r>
              <a:rPr sz="3000" dirty="0"/>
              <a:t>to</a:t>
            </a:r>
            <a:r>
              <a:rPr sz="3000" spc="-85" dirty="0"/>
              <a:t> </a:t>
            </a:r>
            <a:r>
              <a:rPr sz="3000" dirty="0"/>
              <a:t>app</a:t>
            </a:r>
            <a:r>
              <a:rPr sz="3000" spc="-60" dirty="0"/>
              <a:t> </a:t>
            </a:r>
            <a:r>
              <a:rPr sz="3000" spc="-10" dirty="0"/>
              <a:t>navigator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8978645" y="5894933"/>
            <a:ext cx="193103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The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new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friends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section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is </a:t>
            </a:r>
            <a:r>
              <a:rPr sz="1400" b="1" dirty="0">
                <a:latin typeface="Calibri"/>
                <a:cs typeface="Calibri"/>
              </a:rPr>
              <a:t>accessible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from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the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menu </a:t>
            </a:r>
            <a:r>
              <a:rPr sz="1400" b="1" dirty="0">
                <a:latin typeface="Calibri"/>
                <a:cs typeface="Calibri"/>
              </a:rPr>
              <a:t>option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at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the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bottom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7152" y="957072"/>
            <a:ext cx="2382011" cy="482955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059807" y="5894933"/>
            <a:ext cx="3075940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1270" algn="ctr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User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has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the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option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visit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communities </a:t>
            </a:r>
            <a:r>
              <a:rPr sz="1400" b="1" dirty="0">
                <a:latin typeface="Calibri"/>
                <a:cs typeface="Calibri"/>
              </a:rPr>
              <a:t>or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check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out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their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friends’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activities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while </a:t>
            </a:r>
            <a:r>
              <a:rPr sz="1400" b="1" dirty="0">
                <a:latin typeface="Calibri"/>
                <a:cs typeface="Calibri"/>
              </a:rPr>
              <a:t>they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wait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for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their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game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start.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68511" y="967739"/>
            <a:ext cx="2549652" cy="482955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82345" y="1133094"/>
            <a:ext cx="4046220" cy="5386070"/>
          </a:xfrm>
          <a:prstGeom prst="rect">
            <a:avLst/>
          </a:prstGeom>
          <a:solidFill>
            <a:srgbClr val="FFFF99"/>
          </a:solidFill>
          <a:ln w="38100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1433195" marR="440690" indent="-989330">
              <a:lnSpc>
                <a:spcPct val="100000"/>
              </a:lnSpc>
              <a:spcBef>
                <a:spcPts val="240"/>
              </a:spcBef>
            </a:pP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Wait</a:t>
            </a:r>
            <a:r>
              <a:rPr sz="1800" b="1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screen</a:t>
            </a:r>
            <a:r>
              <a:rPr sz="1800" b="1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modification</a:t>
            </a:r>
            <a:r>
              <a:rPr sz="1800" b="1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1800" b="1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drive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engagement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1800">
              <a:latin typeface="Calibri"/>
              <a:cs typeface="Calibri"/>
            </a:endParaRPr>
          </a:p>
          <a:p>
            <a:pPr marL="90170" marR="139700">
              <a:lnSpc>
                <a:spcPct val="100000"/>
              </a:lnSpc>
            </a:pPr>
            <a:r>
              <a:rPr sz="1600" b="1" dirty="0">
                <a:latin typeface="Calibri"/>
                <a:cs typeface="Calibri"/>
              </a:rPr>
              <a:t>We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are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losing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major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chunk</a:t>
            </a:r>
            <a:r>
              <a:rPr sz="1600" b="1" spc="-1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of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engagement </a:t>
            </a:r>
            <a:r>
              <a:rPr sz="1600" b="1" dirty="0">
                <a:latin typeface="Calibri"/>
                <a:cs typeface="Calibri"/>
              </a:rPr>
              <a:t>time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with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users while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they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wait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for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game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25" dirty="0">
                <a:latin typeface="Calibri"/>
                <a:cs typeface="Calibri"/>
              </a:rPr>
              <a:t>to </a:t>
            </a:r>
            <a:r>
              <a:rPr sz="1600" b="1" dirty="0">
                <a:latin typeface="Calibri"/>
                <a:cs typeface="Calibri"/>
              </a:rPr>
              <a:t>start.</a:t>
            </a:r>
            <a:r>
              <a:rPr sz="1600" b="1" spc="-6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We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can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redirect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the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users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to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b="1" spc="-25" dirty="0">
                <a:latin typeface="Calibri"/>
                <a:cs typeface="Calibri"/>
              </a:rPr>
              <a:t>our </a:t>
            </a:r>
            <a:r>
              <a:rPr sz="1600" b="1" spc="-10" dirty="0">
                <a:latin typeface="Calibri"/>
                <a:cs typeface="Calibri"/>
              </a:rPr>
              <a:t>engagement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solutions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at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this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point</a:t>
            </a:r>
            <a:endParaRPr sz="1600">
              <a:latin typeface="Calibri"/>
              <a:cs typeface="Calibri"/>
            </a:endParaRPr>
          </a:p>
          <a:p>
            <a:pPr marL="90170" marR="316230">
              <a:lnSpc>
                <a:spcPct val="100000"/>
              </a:lnSpc>
              <a:spcBef>
                <a:spcPts val="1925"/>
              </a:spcBef>
            </a:pPr>
            <a:r>
              <a:rPr sz="1600" i="1" spc="-10" dirty="0">
                <a:latin typeface="Calibri"/>
                <a:cs typeface="Calibri"/>
              </a:rPr>
              <a:t>Waiting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time</a:t>
            </a:r>
            <a:r>
              <a:rPr sz="1600" i="1" spc="-5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before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a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game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starts</a:t>
            </a:r>
            <a:r>
              <a:rPr sz="1600" i="1" spc="-4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can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be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spc="-25" dirty="0">
                <a:latin typeface="Calibri"/>
                <a:cs typeface="Calibri"/>
              </a:rPr>
              <a:t>as </a:t>
            </a:r>
            <a:r>
              <a:rPr sz="1600" i="1" dirty="0">
                <a:latin typeface="Calibri"/>
                <a:cs typeface="Calibri"/>
              </a:rPr>
              <a:t>long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as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15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mins.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Engagement</a:t>
            </a:r>
            <a:r>
              <a:rPr sz="1600" i="1" spc="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can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be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driven </a:t>
            </a:r>
            <a:r>
              <a:rPr sz="1600" i="1" dirty="0">
                <a:latin typeface="Calibri"/>
                <a:cs typeface="Calibri"/>
              </a:rPr>
              <a:t>through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this</a:t>
            </a:r>
            <a:r>
              <a:rPr sz="1600" i="1" spc="-6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page</a:t>
            </a:r>
            <a:r>
              <a:rPr sz="1600" i="1" spc="-5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generating</a:t>
            </a:r>
            <a:r>
              <a:rPr sz="1600" i="1" spc="-45" dirty="0"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awareness</a:t>
            </a:r>
            <a:r>
              <a:rPr sz="1600" b="1" i="1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as</a:t>
            </a:r>
            <a:r>
              <a:rPr sz="1600" b="1" i="1" spc="-25" dirty="0"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well</a:t>
            </a:r>
            <a:r>
              <a:rPr sz="1600" b="1" i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as</a:t>
            </a:r>
            <a:r>
              <a:rPr sz="1600" b="1" i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providing</a:t>
            </a:r>
            <a:r>
              <a:rPr sz="1600" b="1" i="1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call</a:t>
            </a:r>
            <a:r>
              <a:rPr sz="1600" b="1" i="1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1600" b="1" i="1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actions</a:t>
            </a:r>
            <a:r>
              <a:rPr sz="1600" b="1" i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1600" b="1" i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1600" b="1" i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new</a:t>
            </a:r>
            <a:r>
              <a:rPr sz="1600" b="1" i="1" spc="-25" dirty="0">
                <a:latin typeface="Calibri"/>
                <a:cs typeface="Calibri"/>
              </a:rPr>
              <a:t> </a:t>
            </a:r>
            <a:r>
              <a:rPr sz="16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social</a:t>
            </a:r>
            <a:r>
              <a:rPr sz="1600" b="1" i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features</a:t>
            </a:r>
            <a:endParaRPr sz="1600">
              <a:latin typeface="Calibri"/>
              <a:cs typeface="Calibri"/>
            </a:endParaRPr>
          </a:p>
          <a:p>
            <a:pPr marL="90170">
              <a:lnSpc>
                <a:spcPct val="100000"/>
              </a:lnSpc>
              <a:spcBef>
                <a:spcPts val="1920"/>
              </a:spcBef>
            </a:pPr>
            <a:r>
              <a:rPr sz="1600" b="1" dirty="0">
                <a:latin typeface="Calibri"/>
                <a:cs typeface="Calibri"/>
              </a:rPr>
              <a:t>How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it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works:</a:t>
            </a:r>
            <a:endParaRPr sz="1600">
              <a:latin typeface="Calibri"/>
              <a:cs typeface="Calibri"/>
            </a:endParaRPr>
          </a:p>
          <a:p>
            <a:pPr marL="376555" indent="-286385">
              <a:lnSpc>
                <a:spcPct val="100000"/>
              </a:lnSpc>
              <a:buFont typeface="Arial MT"/>
              <a:buChar char="•"/>
              <a:tabLst>
                <a:tab pos="376555" algn="l"/>
              </a:tabLst>
            </a:pPr>
            <a:r>
              <a:rPr sz="1600" b="1" dirty="0">
                <a:latin typeface="Calibri"/>
                <a:cs typeface="Calibri"/>
              </a:rPr>
              <a:t>Show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new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popup</a:t>
            </a:r>
            <a:r>
              <a:rPr sz="1600" b="1" spc="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soon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user</a:t>
            </a:r>
            <a:endParaRPr sz="1600">
              <a:latin typeface="Calibri"/>
              <a:cs typeface="Calibri"/>
            </a:endParaRPr>
          </a:p>
          <a:p>
            <a:pPr marL="37719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Calibri"/>
                <a:cs typeface="Calibri"/>
              </a:rPr>
              <a:t>joins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game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time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spare</a:t>
            </a:r>
            <a:endParaRPr sz="1600">
              <a:latin typeface="Calibri"/>
              <a:cs typeface="Calibri"/>
            </a:endParaRPr>
          </a:p>
          <a:p>
            <a:pPr marL="376555" indent="-286385">
              <a:lnSpc>
                <a:spcPct val="100000"/>
              </a:lnSpc>
              <a:buFont typeface="Arial MT"/>
              <a:buChar char="•"/>
              <a:tabLst>
                <a:tab pos="376555" algn="l"/>
              </a:tabLst>
            </a:pPr>
            <a:r>
              <a:rPr sz="1600" b="1" dirty="0">
                <a:latin typeface="Calibri"/>
                <a:cs typeface="Calibri"/>
              </a:rPr>
              <a:t>Add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sections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to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this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popup</a:t>
            </a:r>
            <a:r>
              <a:rPr sz="1600" b="1" spc="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with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links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spc="-25" dirty="0">
                <a:latin typeface="Calibri"/>
                <a:cs typeface="Calibri"/>
              </a:rPr>
              <a:t>to:</a:t>
            </a:r>
            <a:endParaRPr sz="1600">
              <a:latin typeface="Calibri"/>
              <a:cs typeface="Calibri"/>
            </a:endParaRPr>
          </a:p>
          <a:p>
            <a:pPr marL="890269" marR="414020" lvl="1" indent="-342900">
              <a:lnSpc>
                <a:spcPct val="100000"/>
              </a:lnSpc>
              <a:buAutoNum type="arabicParenR"/>
              <a:tabLst>
                <a:tab pos="890269" algn="l"/>
              </a:tabLst>
            </a:pPr>
            <a:r>
              <a:rPr sz="1600" dirty="0">
                <a:latin typeface="Calibri"/>
                <a:cs typeface="Calibri"/>
              </a:rPr>
              <a:t>Explore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various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communities</a:t>
            </a:r>
            <a:r>
              <a:rPr sz="1600" spc="-8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and </a:t>
            </a:r>
            <a:r>
              <a:rPr sz="1600" dirty="0">
                <a:latin typeface="Calibri"/>
                <a:cs typeface="Calibri"/>
              </a:rPr>
              <a:t>their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leaderboards</a:t>
            </a:r>
            <a:endParaRPr sz="1600">
              <a:latin typeface="Calibri"/>
              <a:cs typeface="Calibri"/>
            </a:endParaRPr>
          </a:p>
          <a:p>
            <a:pPr marL="890269" lvl="1" indent="-342900">
              <a:lnSpc>
                <a:spcPct val="100000"/>
              </a:lnSpc>
              <a:buAutoNum type="arabicParenR"/>
              <a:tabLst>
                <a:tab pos="890269" algn="l"/>
              </a:tabLst>
            </a:pPr>
            <a:r>
              <a:rPr sz="1600" dirty="0">
                <a:latin typeface="Calibri"/>
                <a:cs typeface="Calibri"/>
              </a:rPr>
              <a:t>Chat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online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friends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3835" rIns="0" bIns="0" rtlCol="0">
            <a:spAutoFit/>
          </a:bodyPr>
          <a:lstStyle/>
          <a:p>
            <a:pPr marL="25654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Mockups:</a:t>
            </a:r>
            <a:r>
              <a:rPr sz="3200" spc="-60" dirty="0"/>
              <a:t> </a:t>
            </a:r>
            <a:r>
              <a:rPr sz="3200" dirty="0"/>
              <a:t>Zupee</a:t>
            </a:r>
            <a:r>
              <a:rPr sz="3200" spc="-40" dirty="0"/>
              <a:t> </a:t>
            </a:r>
            <a:r>
              <a:rPr sz="3200" dirty="0"/>
              <a:t>Rich</a:t>
            </a:r>
            <a:r>
              <a:rPr sz="3200" spc="-55" dirty="0"/>
              <a:t> </a:t>
            </a:r>
            <a:r>
              <a:rPr sz="3200" spc="-10" dirty="0"/>
              <a:t>clubs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1565147" y="883919"/>
            <a:ext cx="2988310" cy="4663440"/>
            <a:chOff x="1565147" y="883919"/>
            <a:chExt cx="2988310" cy="46634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5147" y="883919"/>
              <a:ext cx="2354579" cy="466344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953511" y="2336291"/>
              <a:ext cx="1596390" cy="992505"/>
            </a:xfrm>
            <a:custGeom>
              <a:avLst/>
              <a:gdLst/>
              <a:ahLst/>
              <a:cxnLst/>
              <a:rect l="l" t="t" r="r" b="b"/>
              <a:pathLst>
                <a:path w="1596389" h="992504">
                  <a:moveTo>
                    <a:pt x="73151" y="85090"/>
                  </a:moveTo>
                  <a:lnTo>
                    <a:pt x="1596263" y="0"/>
                  </a:lnTo>
                </a:path>
                <a:path w="1596389" h="992504">
                  <a:moveTo>
                    <a:pt x="0" y="146304"/>
                  </a:moveTo>
                  <a:lnTo>
                    <a:pt x="1585340" y="991997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12162" y="3087496"/>
              <a:ext cx="582549" cy="24511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4620005" y="2303526"/>
            <a:ext cx="1755775" cy="1108075"/>
            <a:chOff x="4620005" y="2303526"/>
            <a:chExt cx="1755775" cy="110807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39055" y="2322576"/>
              <a:ext cx="1717548" cy="106984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629530" y="2313051"/>
              <a:ext cx="1736725" cy="1089025"/>
            </a:xfrm>
            <a:custGeom>
              <a:avLst/>
              <a:gdLst/>
              <a:ahLst/>
              <a:cxnLst/>
              <a:rect l="l" t="t" r="r" b="b"/>
              <a:pathLst>
                <a:path w="1736725" h="1089025">
                  <a:moveTo>
                    <a:pt x="0" y="1088898"/>
                  </a:moveTo>
                  <a:lnTo>
                    <a:pt x="1736598" y="1088898"/>
                  </a:lnTo>
                  <a:lnTo>
                    <a:pt x="1736598" y="0"/>
                  </a:lnTo>
                  <a:lnTo>
                    <a:pt x="0" y="0"/>
                  </a:lnTo>
                  <a:lnTo>
                    <a:pt x="0" y="1088898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527175" y="5724855"/>
            <a:ext cx="2428875" cy="88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" algn="ctr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Rich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club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members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have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the </a:t>
            </a:r>
            <a:r>
              <a:rPr sz="1400" b="1" spc="-10" dirty="0">
                <a:latin typeface="Calibri"/>
                <a:cs typeface="Calibri"/>
              </a:rPr>
              <a:t>relevant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badge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added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on</a:t>
            </a:r>
            <a:r>
              <a:rPr sz="1400" b="1" spc="-20" dirty="0">
                <a:latin typeface="Calibri"/>
                <a:cs typeface="Calibri"/>
              </a:rPr>
              <a:t> their </a:t>
            </a:r>
            <a:r>
              <a:rPr sz="1400" b="1" dirty="0">
                <a:latin typeface="Calibri"/>
                <a:cs typeface="Calibri"/>
              </a:rPr>
              <a:t>profiles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in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addition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the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profile </a:t>
            </a:r>
            <a:r>
              <a:rPr sz="1400" b="1" dirty="0">
                <a:latin typeface="Calibri"/>
                <a:cs typeface="Calibri"/>
              </a:rPr>
              <a:t>search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results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886700" y="883919"/>
            <a:ext cx="2466340" cy="4997450"/>
            <a:chOff x="7886700" y="883919"/>
            <a:chExt cx="2466340" cy="499745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86700" y="883919"/>
              <a:ext cx="2465831" cy="499719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061197" y="3667505"/>
              <a:ext cx="2078989" cy="818515"/>
            </a:xfrm>
            <a:custGeom>
              <a:avLst/>
              <a:gdLst/>
              <a:ahLst/>
              <a:cxnLst/>
              <a:rect l="l" t="t" r="r" b="b"/>
              <a:pathLst>
                <a:path w="2078990" h="818514">
                  <a:moveTo>
                    <a:pt x="0" y="818388"/>
                  </a:moveTo>
                  <a:lnTo>
                    <a:pt x="2078736" y="818388"/>
                  </a:lnTo>
                  <a:lnTo>
                    <a:pt x="2078736" y="0"/>
                  </a:lnTo>
                  <a:lnTo>
                    <a:pt x="0" y="0"/>
                  </a:lnTo>
                  <a:lnTo>
                    <a:pt x="0" y="818388"/>
                  </a:lnTo>
                  <a:close/>
                </a:path>
                <a:path w="2078990" h="818514">
                  <a:moveTo>
                    <a:pt x="1530096" y="134874"/>
                  </a:moveTo>
                  <a:lnTo>
                    <a:pt x="1557976" y="75533"/>
                  </a:lnTo>
                  <a:lnTo>
                    <a:pt x="1590358" y="50491"/>
                  </a:lnTo>
                  <a:lnTo>
                    <a:pt x="1632839" y="29611"/>
                  </a:lnTo>
                  <a:lnTo>
                    <a:pt x="1683773" y="13698"/>
                  </a:lnTo>
                  <a:lnTo>
                    <a:pt x="1741514" y="3558"/>
                  </a:lnTo>
                  <a:lnTo>
                    <a:pt x="1804416" y="0"/>
                  </a:lnTo>
                  <a:lnTo>
                    <a:pt x="1867317" y="3558"/>
                  </a:lnTo>
                  <a:lnTo>
                    <a:pt x="1925058" y="13698"/>
                  </a:lnTo>
                  <a:lnTo>
                    <a:pt x="1975992" y="29611"/>
                  </a:lnTo>
                  <a:lnTo>
                    <a:pt x="2018473" y="50491"/>
                  </a:lnTo>
                  <a:lnTo>
                    <a:pt x="2050855" y="75533"/>
                  </a:lnTo>
                  <a:lnTo>
                    <a:pt x="2078735" y="134874"/>
                  </a:lnTo>
                  <a:lnTo>
                    <a:pt x="2071491" y="165818"/>
                  </a:lnTo>
                  <a:lnTo>
                    <a:pt x="2018473" y="219256"/>
                  </a:lnTo>
                  <a:lnTo>
                    <a:pt x="1975992" y="240136"/>
                  </a:lnTo>
                  <a:lnTo>
                    <a:pt x="1925058" y="256049"/>
                  </a:lnTo>
                  <a:lnTo>
                    <a:pt x="1867317" y="266189"/>
                  </a:lnTo>
                  <a:lnTo>
                    <a:pt x="1804416" y="269748"/>
                  </a:lnTo>
                  <a:lnTo>
                    <a:pt x="1741514" y="266189"/>
                  </a:lnTo>
                  <a:lnTo>
                    <a:pt x="1683773" y="256049"/>
                  </a:lnTo>
                  <a:lnTo>
                    <a:pt x="1632839" y="240136"/>
                  </a:lnTo>
                  <a:lnTo>
                    <a:pt x="1590358" y="219256"/>
                  </a:lnTo>
                  <a:lnTo>
                    <a:pt x="1557976" y="194214"/>
                  </a:lnTo>
                  <a:lnTo>
                    <a:pt x="1530096" y="134874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326628" y="6013196"/>
            <a:ext cx="15875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3990" marR="5080" indent="-161925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Exclusive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access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25" dirty="0">
                <a:latin typeface="Calibri"/>
                <a:cs typeface="Calibri"/>
              </a:rPr>
              <a:t>to </a:t>
            </a:r>
            <a:r>
              <a:rPr sz="1600" b="1" dirty="0">
                <a:latin typeface="Calibri"/>
                <a:cs typeface="Calibri"/>
              </a:rPr>
              <a:t>High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ROI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game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3016" y="139065"/>
            <a:ext cx="89166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Mockups:</a:t>
            </a:r>
            <a:r>
              <a:rPr spc="-140" dirty="0"/>
              <a:t> </a:t>
            </a:r>
            <a:r>
              <a:rPr dirty="0"/>
              <a:t>Communities</a:t>
            </a:r>
            <a:r>
              <a:rPr spc="-135" dirty="0"/>
              <a:t> </a:t>
            </a:r>
            <a:r>
              <a:rPr dirty="0"/>
              <a:t>to</a:t>
            </a:r>
            <a:r>
              <a:rPr spc="-140" dirty="0"/>
              <a:t> </a:t>
            </a:r>
            <a:r>
              <a:rPr dirty="0"/>
              <a:t>access</a:t>
            </a:r>
            <a:r>
              <a:rPr spc="-140" dirty="0"/>
              <a:t> </a:t>
            </a:r>
            <a:r>
              <a:rPr spc="-10" dirty="0"/>
              <a:t>leaderboards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40429" y="4975352"/>
            <a:ext cx="2734945" cy="1092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5080" algn="ctr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While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the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user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explores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the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other </a:t>
            </a:r>
            <a:r>
              <a:rPr sz="1400" b="1" spc="-10" dirty="0">
                <a:latin typeface="Calibri"/>
                <a:cs typeface="Calibri"/>
              </a:rPr>
              <a:t>touchpoints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of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the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app,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they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will</a:t>
            </a:r>
            <a:r>
              <a:rPr sz="1400" b="1" spc="15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be </a:t>
            </a:r>
            <a:r>
              <a:rPr sz="1400" b="1" dirty="0">
                <a:latin typeface="Calibri"/>
                <a:cs typeface="Calibri"/>
              </a:rPr>
              <a:t>shown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the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remaining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time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for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the </a:t>
            </a:r>
            <a:r>
              <a:rPr sz="1400" b="1" dirty="0">
                <a:latin typeface="Calibri"/>
                <a:cs typeface="Calibri"/>
              </a:rPr>
              <a:t>game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start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at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the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top,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so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that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they </a:t>
            </a:r>
            <a:r>
              <a:rPr sz="1400" b="1" dirty="0">
                <a:latin typeface="Calibri"/>
                <a:cs typeface="Calibri"/>
              </a:rPr>
              <a:t>do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not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miss</a:t>
            </a:r>
            <a:r>
              <a:rPr sz="1400" b="1" spc="-25" dirty="0">
                <a:latin typeface="Calibri"/>
                <a:cs typeface="Calibri"/>
              </a:rPr>
              <a:t> it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258811" y="1769364"/>
            <a:ext cx="2382520" cy="4829810"/>
            <a:chOff x="7258811" y="1769364"/>
            <a:chExt cx="2382520" cy="48298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58811" y="1769364"/>
              <a:ext cx="2382011" cy="482955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916163" y="2844292"/>
              <a:ext cx="1185545" cy="288290"/>
            </a:xfrm>
            <a:custGeom>
              <a:avLst/>
              <a:gdLst/>
              <a:ahLst/>
              <a:cxnLst/>
              <a:rect l="l" t="t" r="r" b="b"/>
              <a:pathLst>
                <a:path w="1185545" h="288289">
                  <a:moveTo>
                    <a:pt x="1185290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1185290" y="288036"/>
                  </a:lnTo>
                  <a:lnTo>
                    <a:pt x="1185290" y="0"/>
                  </a:lnTo>
                  <a:close/>
                </a:path>
              </a:pathLst>
            </a:custGeom>
            <a:solidFill>
              <a:srgbClr val="FF2400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750297" y="5082921"/>
            <a:ext cx="1863725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Communities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can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also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be </a:t>
            </a:r>
            <a:r>
              <a:rPr sz="1400" b="1" dirty="0">
                <a:latin typeface="Calibri"/>
                <a:cs typeface="Calibri"/>
              </a:rPr>
              <a:t>accessed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from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the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game </a:t>
            </a:r>
            <a:r>
              <a:rPr sz="1400" b="1" dirty="0">
                <a:latin typeface="Calibri"/>
                <a:cs typeface="Calibri"/>
              </a:rPr>
              <a:t>page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directly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0955" y="1763267"/>
            <a:ext cx="2383536" cy="483565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89533" y="916304"/>
            <a:ext cx="108223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1150" marR="5080" indent="-156908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Communities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gateway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social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media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section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platform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developed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include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more </a:t>
            </a:r>
            <a:r>
              <a:rPr sz="1800" spc="-10" dirty="0">
                <a:latin typeface="Calibri"/>
                <a:cs typeface="Calibri"/>
              </a:rPr>
              <a:t>features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later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on.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Currently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include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leaderboards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pertaining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game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1307" rIns="0" bIns="0" rtlCol="0">
            <a:spAutoFit/>
          </a:bodyPr>
          <a:lstStyle/>
          <a:p>
            <a:pPr marL="33528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Go-</a:t>
            </a:r>
            <a:r>
              <a:rPr dirty="0"/>
              <a:t>to</a:t>
            </a:r>
            <a:r>
              <a:rPr spc="-95" dirty="0"/>
              <a:t> </a:t>
            </a:r>
            <a:r>
              <a:rPr dirty="0"/>
              <a:t>market</a:t>
            </a:r>
            <a:r>
              <a:rPr spc="-105" dirty="0"/>
              <a:t> </a:t>
            </a:r>
            <a:r>
              <a:rPr spc="-20" dirty="0"/>
              <a:t>plan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69036" y="13716"/>
            <a:ext cx="10405110" cy="6424930"/>
            <a:chOff x="669036" y="13716"/>
            <a:chExt cx="10405110" cy="64249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08760" y="13716"/>
              <a:ext cx="9565386" cy="642442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9036" y="1940051"/>
              <a:ext cx="1988058" cy="257327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39216" y="2053170"/>
            <a:ext cx="1650364" cy="195580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715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Pre</a:t>
            </a:r>
            <a:r>
              <a:rPr sz="16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Launch</a:t>
            </a:r>
            <a:endParaRPr sz="1600">
              <a:latin typeface="Calibri"/>
              <a:cs typeface="Calibri"/>
            </a:endParaRPr>
          </a:p>
          <a:p>
            <a:pPr marL="70485" marR="63500" indent="2540" algn="ctr">
              <a:lnSpc>
                <a:spcPct val="91900"/>
              </a:lnSpc>
              <a:spcBef>
                <a:spcPts val="685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Establish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 roadmap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social engagement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feature.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55"/>
              </a:spcBef>
            </a:pP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Train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internal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teams.</a:t>
            </a:r>
            <a:endParaRPr sz="1400">
              <a:latin typeface="Calibri"/>
              <a:cs typeface="Calibri"/>
            </a:endParaRPr>
          </a:p>
          <a:p>
            <a:pPr marL="12065" marR="5080" algn="ctr">
              <a:lnSpc>
                <a:spcPts val="1540"/>
              </a:lnSpc>
              <a:spcBef>
                <a:spcPts val="625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Establish</a:t>
            </a:r>
            <a:r>
              <a:rPr sz="1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metrics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be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kept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under surveillance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82467" y="1940051"/>
            <a:ext cx="1989582" cy="25732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179445" y="2056002"/>
            <a:ext cx="1600200" cy="2099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1835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Feature</a:t>
            </a:r>
            <a:endParaRPr sz="1600">
              <a:latin typeface="Calibri"/>
              <a:cs typeface="Calibri"/>
            </a:endParaRPr>
          </a:p>
          <a:p>
            <a:pPr marL="1905" algn="ctr">
              <a:lnSpc>
                <a:spcPts val="1835"/>
              </a:lnSpc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development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60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Develop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protoype</a:t>
            </a:r>
            <a:endParaRPr sz="1400">
              <a:latin typeface="Calibri"/>
              <a:cs typeface="Calibri"/>
            </a:endParaRPr>
          </a:p>
          <a:p>
            <a:pPr marL="40005" marR="34290" algn="ctr">
              <a:lnSpc>
                <a:spcPts val="1540"/>
              </a:lnSpc>
              <a:spcBef>
                <a:spcPts val="625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Release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internal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beta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check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target metrics</a:t>
            </a:r>
            <a:endParaRPr sz="1400">
              <a:latin typeface="Calibri"/>
              <a:cs typeface="Calibri"/>
            </a:endParaRPr>
          </a:p>
          <a:p>
            <a:pPr marL="44450" marR="38735" algn="ctr">
              <a:lnSpc>
                <a:spcPct val="91500"/>
              </a:lnSpc>
              <a:spcBef>
                <a:spcPts val="565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Promotion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strategies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generated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tested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97423" y="1940051"/>
            <a:ext cx="1988057" cy="257327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494146" y="1977063"/>
            <a:ext cx="1597025" cy="187960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715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Beta</a:t>
            </a:r>
            <a:r>
              <a:rPr sz="16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launch</a:t>
            </a:r>
            <a:endParaRPr sz="1600">
              <a:latin typeface="Calibri"/>
              <a:cs typeface="Calibri"/>
            </a:endParaRPr>
          </a:p>
          <a:p>
            <a:pPr marL="12700" marR="5080" indent="2540" algn="ctr">
              <a:lnSpc>
                <a:spcPct val="91700"/>
              </a:lnSpc>
              <a:spcBef>
                <a:spcPts val="690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Introduce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identified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features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for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selected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external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beta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users.</a:t>
            </a:r>
            <a:endParaRPr sz="1400">
              <a:latin typeface="Calibri"/>
              <a:cs typeface="Calibri"/>
            </a:endParaRPr>
          </a:p>
          <a:p>
            <a:pPr marL="149225" marR="140970" algn="ctr">
              <a:lnSpc>
                <a:spcPts val="1540"/>
              </a:lnSpc>
              <a:spcBef>
                <a:spcPts val="625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Measure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product- market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fit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achievement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10856" y="1940051"/>
            <a:ext cx="1989581" cy="257327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860283" y="1977063"/>
            <a:ext cx="1496695" cy="246634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Feedback</a:t>
            </a:r>
            <a:endParaRPr sz="1600">
              <a:latin typeface="Calibri"/>
              <a:cs typeface="Calibri"/>
            </a:endParaRPr>
          </a:p>
          <a:p>
            <a:pPr marL="36830" marR="27305" indent="-3175" algn="ctr">
              <a:lnSpc>
                <a:spcPct val="91700"/>
              </a:lnSpc>
              <a:spcBef>
                <a:spcPts val="690"/>
              </a:spcBef>
            </a:pP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Take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constant feedback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users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new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introduced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features</a:t>
            </a:r>
            <a:endParaRPr sz="1400">
              <a:latin typeface="Calibri"/>
              <a:cs typeface="Calibri"/>
            </a:endParaRPr>
          </a:p>
          <a:p>
            <a:pPr marL="12065" marR="5080" indent="-1905" algn="ctr">
              <a:lnSpc>
                <a:spcPct val="91600"/>
              </a:lnSpc>
              <a:spcBef>
                <a:spcPts val="600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Measure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identified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metrics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relative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basis</a:t>
            </a:r>
            <a:r>
              <a:rPr sz="1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identify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adoption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these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features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user base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25811" y="1940051"/>
            <a:ext cx="1989581" cy="257327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0104881" y="1977063"/>
            <a:ext cx="1633855" cy="180340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715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Iterative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Releases</a:t>
            </a:r>
            <a:endParaRPr sz="1600">
              <a:latin typeface="Calibri"/>
              <a:cs typeface="Calibri"/>
            </a:endParaRPr>
          </a:p>
          <a:p>
            <a:pPr marL="12700" marR="5080" indent="1270" algn="ctr">
              <a:lnSpc>
                <a:spcPct val="91500"/>
              </a:lnSpc>
              <a:spcBef>
                <a:spcPts val="695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Inculcate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feedback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sz="1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make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iterative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so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that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consequent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problems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also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solved</a:t>
            </a:r>
            <a:r>
              <a:rPr sz="1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60" dirty="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shorter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period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18126" y="2476245"/>
            <a:ext cx="25539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"/>
                <a:cs typeface="Calibri"/>
              </a:rPr>
              <a:t>Thank</a:t>
            </a:r>
            <a:r>
              <a:rPr sz="4400" b="0" spc="-100" dirty="0">
                <a:latin typeface="Calibri"/>
                <a:cs typeface="Calibri"/>
              </a:rPr>
              <a:t> </a:t>
            </a:r>
            <a:r>
              <a:rPr sz="4400" b="0" spc="-20" dirty="0">
                <a:latin typeface="Calibri"/>
                <a:cs typeface="Calibri"/>
              </a:rPr>
              <a:t>you!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C9E199B3-DEA3-23ED-5D34-E2CF7087639F}"/>
              </a:ext>
            </a:extLst>
          </p:cNvPr>
          <p:cNvSpPr txBox="1"/>
          <p:nvPr/>
        </p:nvSpPr>
        <p:spPr>
          <a:xfrm>
            <a:off x="3832288" y="4724400"/>
            <a:ext cx="4525645" cy="11544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05" algn="ctr">
              <a:lnSpc>
                <a:spcPct val="131500"/>
              </a:lnSpc>
              <a:spcBef>
                <a:spcPts val="100"/>
              </a:spcBef>
            </a:pPr>
            <a:r>
              <a:rPr lang="en-IN" sz="1800" u="sng" dirty="0">
                <a:hlinkClick r:id="rId2"/>
              </a:rPr>
              <a:t>mayank.pm11@gmail.com</a:t>
            </a:r>
            <a:r>
              <a:rPr lang="en-IN" sz="1800" dirty="0"/>
              <a:t>  </a:t>
            </a:r>
            <a:r>
              <a:rPr lang="en-IN" sz="1800" u="sng" dirty="0">
                <a:hlinkClick r:id="rId3"/>
              </a:rPr>
              <a:t>linkedin.com/in/</a:t>
            </a:r>
            <a:r>
              <a:rPr lang="en-IN" sz="1800" u="sng" dirty="0" err="1">
                <a:hlinkClick r:id="rId3"/>
              </a:rPr>
              <a:t>mayankkumar</a:t>
            </a:r>
            <a:endParaRPr sz="2000" dirty="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  <a:spcBef>
                <a:spcPts val="765"/>
              </a:spcBef>
            </a:pPr>
            <a:r>
              <a:rPr sz="2000" spc="-10" dirty="0">
                <a:latin typeface="Calibri"/>
                <a:cs typeface="Calibri"/>
              </a:rPr>
              <a:t>+91-</a:t>
            </a:r>
            <a:r>
              <a:rPr lang="en-US" sz="2000" spc="-10" dirty="0">
                <a:latin typeface="Calibri"/>
                <a:cs typeface="Calibri"/>
              </a:rPr>
              <a:t>9121717703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1679</Words>
  <Application>Microsoft Office PowerPoint</Application>
  <PresentationFormat>Widescreen</PresentationFormat>
  <Paragraphs>220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 MT</vt:lpstr>
      <vt:lpstr>Calibri</vt:lpstr>
      <vt:lpstr>Times New Roman</vt:lpstr>
      <vt:lpstr>Verdana</vt:lpstr>
      <vt:lpstr>Office Theme</vt:lpstr>
      <vt:lpstr>PowerPoint Presentation</vt:lpstr>
      <vt:lpstr>Problem statement and Objectives</vt:lpstr>
      <vt:lpstr>User Personas for Zupee</vt:lpstr>
      <vt:lpstr>Possible solutions to identified problems</vt:lpstr>
      <vt:lpstr>Analysis of proposed features</vt:lpstr>
      <vt:lpstr>Implemented solutions</vt:lpstr>
      <vt:lpstr>Mockups: Wait screen + Friends section added to app navigator</vt:lpstr>
      <vt:lpstr>Mockups: Zupee Rich clubs</vt:lpstr>
      <vt:lpstr>Mockups: Communities to access leaderboards</vt:lpstr>
      <vt:lpstr>Go-to market plan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Mayank Kumar</dc:creator>
  <cp:lastModifiedBy>Mayank Kumar</cp:lastModifiedBy>
  <cp:revision>1</cp:revision>
  <dcterms:created xsi:type="dcterms:W3CDTF">2026-05-21T09:29:13Z</dcterms:created>
  <dcterms:modified xsi:type="dcterms:W3CDTF">2026-05-21T09:39:14Z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2023-06-28T00:00:00Z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2026-05-21T00:00:00Z</vt:filetime>
  </property>
  <property fmtid="{D5CDD505-2E9C-101B-9397-08002B2CF9AE}" pid="5" name="Producer">
    <vt:lpwstr>Microsoft® PowerPoint® 2019</vt:lpwstr>
  </property>
</Properties>
</file>