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141714" y="1187958"/>
            <a:ext cx="2832100" cy="3927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16909" y="-32816"/>
            <a:ext cx="5758180" cy="8367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78942" y="3350895"/>
            <a:ext cx="11546840" cy="27463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77817" y="1356817"/>
            <a:ext cx="443357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dirty="0"/>
              <a:t>Problem</a:t>
            </a:r>
            <a:r>
              <a:rPr sz="2500" spc="-85" dirty="0"/>
              <a:t> </a:t>
            </a:r>
            <a:r>
              <a:rPr sz="2500" spc="-10" dirty="0"/>
              <a:t>statement</a:t>
            </a:r>
            <a:r>
              <a:rPr sz="2500" spc="-80" dirty="0"/>
              <a:t> </a:t>
            </a:r>
            <a:r>
              <a:rPr sz="2500" dirty="0"/>
              <a:t>and</a:t>
            </a:r>
            <a:r>
              <a:rPr sz="2500" spc="-85" dirty="0"/>
              <a:t> </a:t>
            </a:r>
            <a:r>
              <a:rPr sz="2500" spc="-10" dirty="0"/>
              <a:t>approach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304800" y="1967483"/>
            <a:ext cx="11582400" cy="1978660"/>
          </a:xfrm>
          <a:prstGeom prst="rect">
            <a:avLst/>
          </a:prstGeom>
          <a:solidFill>
            <a:srgbClr val="FAE4D5"/>
          </a:solidFill>
          <a:ln w="12700">
            <a:solidFill>
              <a:srgbClr val="000000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5"/>
              </a:spcBef>
            </a:pPr>
            <a:r>
              <a:rPr sz="1800" b="1" i="1" dirty="0">
                <a:latin typeface="Calibri"/>
                <a:cs typeface="Calibri"/>
              </a:rPr>
              <a:t>Design</a:t>
            </a:r>
            <a:r>
              <a:rPr sz="1800" b="1" i="1" spc="-5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a</a:t>
            </a:r>
            <a:r>
              <a:rPr sz="1800" b="1" i="1" spc="-3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control</a:t>
            </a:r>
            <a:r>
              <a:rPr sz="1800" b="1" i="1" spc="-5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tower</a:t>
            </a:r>
            <a:r>
              <a:rPr sz="1800" b="1" i="1" spc="-3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that</a:t>
            </a:r>
            <a:r>
              <a:rPr sz="1800" b="1" i="1" spc="-4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gives</a:t>
            </a:r>
            <a:r>
              <a:rPr sz="1800" b="1" i="1" spc="-3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a</a:t>
            </a:r>
            <a:r>
              <a:rPr sz="1800" b="1" i="1" spc="-4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birds</a:t>
            </a:r>
            <a:r>
              <a:rPr sz="1800" b="1" i="1" spc="-4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eye</a:t>
            </a:r>
            <a:r>
              <a:rPr sz="1800" b="1" i="1" spc="-4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view</a:t>
            </a:r>
            <a:r>
              <a:rPr sz="1800" b="1" i="1" spc="-5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of</a:t>
            </a:r>
            <a:r>
              <a:rPr sz="1800" b="1" i="1" spc="-4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how</a:t>
            </a:r>
            <a:r>
              <a:rPr sz="1800" b="1" i="1" spc="-3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are</a:t>
            </a:r>
            <a:r>
              <a:rPr sz="1800" b="1" i="1" spc="-3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the</a:t>
            </a:r>
            <a:r>
              <a:rPr sz="1800" b="1" i="1" spc="-5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ground</a:t>
            </a:r>
            <a:r>
              <a:rPr sz="1800" b="1" i="1" spc="-35" dirty="0">
                <a:latin typeface="Calibri"/>
                <a:cs typeface="Calibri"/>
              </a:rPr>
              <a:t> </a:t>
            </a:r>
            <a:r>
              <a:rPr sz="1800" b="1" i="1" spc="-10" dirty="0">
                <a:latin typeface="Calibri"/>
                <a:cs typeface="Calibri"/>
              </a:rPr>
              <a:t>operations</a:t>
            </a:r>
            <a:r>
              <a:rPr sz="1800" b="1" i="1" spc="-2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for</a:t>
            </a:r>
            <a:r>
              <a:rPr sz="1800" b="1" i="1" spc="-3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any</a:t>
            </a:r>
            <a:r>
              <a:rPr sz="1800" b="1" i="1" spc="-4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sample</a:t>
            </a:r>
            <a:r>
              <a:rPr sz="1800" b="1" i="1" spc="-3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from</a:t>
            </a:r>
            <a:r>
              <a:rPr sz="1800" b="1" i="1" spc="-3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patient</a:t>
            </a:r>
            <a:r>
              <a:rPr sz="1800" b="1" i="1" spc="-4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to</a:t>
            </a:r>
            <a:r>
              <a:rPr sz="1800" b="1" i="1" spc="-35" dirty="0">
                <a:latin typeface="Calibri"/>
                <a:cs typeface="Calibri"/>
              </a:rPr>
              <a:t> </a:t>
            </a:r>
            <a:r>
              <a:rPr sz="1800" b="1" i="1" spc="-20" dirty="0">
                <a:latin typeface="Calibri"/>
                <a:cs typeface="Calibri"/>
              </a:rPr>
              <a:t>lab.</a:t>
            </a:r>
            <a:endParaRPr sz="180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  <a:spcBef>
                <a:spcPts val="790"/>
              </a:spcBef>
            </a:pPr>
            <a:r>
              <a:rPr sz="1800" dirty="0">
                <a:latin typeface="Calibri"/>
                <a:cs typeface="Calibri"/>
              </a:rPr>
              <a:t>Data(not</a:t>
            </a:r>
            <a:r>
              <a:rPr sz="1800" spc="-9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actual):</a:t>
            </a:r>
            <a:endParaRPr sz="1800">
              <a:latin typeface="Calibri"/>
              <a:cs typeface="Calibri"/>
            </a:endParaRPr>
          </a:p>
          <a:p>
            <a:pPr marL="91440" marR="7407909">
              <a:lnSpc>
                <a:spcPct val="136100"/>
              </a:lnSpc>
            </a:pPr>
            <a:r>
              <a:rPr sz="1800" spc="-10" dirty="0">
                <a:latin typeface="Calibri"/>
                <a:cs typeface="Calibri"/>
              </a:rPr>
              <a:t>Redcliffe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Lab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gets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10,000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orders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month. </a:t>
            </a:r>
            <a:r>
              <a:rPr sz="1800" dirty="0">
                <a:latin typeface="Calibri"/>
                <a:cs typeface="Calibri"/>
              </a:rPr>
              <a:t>Current</a:t>
            </a:r>
            <a:r>
              <a:rPr sz="1800" spc="-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Process:</a:t>
            </a:r>
            <a:endParaRPr sz="180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  <a:spcBef>
                <a:spcPts val="795"/>
              </a:spcBef>
            </a:pPr>
            <a:r>
              <a:rPr sz="1800" dirty="0">
                <a:latin typeface="Calibri"/>
                <a:cs typeface="Calibri"/>
              </a:rPr>
              <a:t>No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sample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wise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tracking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available.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5238" y="4610544"/>
            <a:ext cx="11714079" cy="144027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004931" y="5041849"/>
            <a:ext cx="705485" cy="544195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 marR="5080" indent="2540" algn="ctr">
              <a:lnSpc>
                <a:spcPts val="1320"/>
              </a:lnSpc>
              <a:spcBef>
                <a:spcPts val="245"/>
              </a:spcBef>
            </a:pPr>
            <a:r>
              <a:rPr sz="1200" spc="-10" dirty="0">
                <a:latin typeface="Calibri"/>
                <a:cs typeface="Calibri"/>
              </a:rPr>
              <a:t>Possible </a:t>
            </a:r>
            <a:r>
              <a:rPr sz="1200" dirty="0">
                <a:latin typeface="Calibri"/>
                <a:cs typeface="Calibri"/>
              </a:rPr>
              <a:t>pitfalls</a:t>
            </a:r>
            <a:r>
              <a:rPr sz="1200" spc="-7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and </a:t>
            </a:r>
            <a:r>
              <a:rPr sz="1200" spc="-10" dirty="0">
                <a:latin typeface="Calibri"/>
                <a:cs typeface="Calibri"/>
              </a:rPr>
              <a:t>mitigation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465691" y="5125973"/>
            <a:ext cx="846455" cy="37592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 indent="176530">
              <a:lnSpc>
                <a:spcPts val="1320"/>
              </a:lnSpc>
              <a:spcBef>
                <a:spcPts val="240"/>
              </a:spcBef>
            </a:pPr>
            <a:r>
              <a:rPr sz="1200" spc="-10" dirty="0">
                <a:latin typeface="Calibri"/>
                <a:cs typeface="Calibri"/>
              </a:rPr>
              <a:t>Metrics identification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72425" y="5125973"/>
            <a:ext cx="896619" cy="37592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66370" marR="5080" indent="-154305">
              <a:lnSpc>
                <a:spcPts val="1320"/>
              </a:lnSpc>
              <a:spcBef>
                <a:spcPts val="240"/>
              </a:spcBef>
            </a:pPr>
            <a:r>
              <a:rPr sz="1200" spc="-10" dirty="0">
                <a:latin typeface="Calibri"/>
                <a:cs typeface="Calibri"/>
              </a:rPr>
              <a:t>Workflow </a:t>
            </a:r>
            <a:r>
              <a:rPr sz="1200" spc="-25" dirty="0">
                <a:latin typeface="Calibri"/>
                <a:cs typeface="Calibri"/>
              </a:rPr>
              <a:t>and </a:t>
            </a:r>
            <a:r>
              <a:rPr sz="1200" spc="-10" dirty="0">
                <a:latin typeface="Calibri"/>
                <a:cs typeface="Calibri"/>
              </a:rPr>
              <a:t>Mockups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61581" y="5041849"/>
            <a:ext cx="826135" cy="544195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 marR="5080" indent="149225">
              <a:lnSpc>
                <a:spcPts val="1320"/>
              </a:lnSpc>
              <a:spcBef>
                <a:spcPts val="245"/>
              </a:spcBef>
            </a:pPr>
            <a:r>
              <a:rPr sz="1200" spc="-10" dirty="0">
                <a:latin typeface="Calibri"/>
                <a:cs typeface="Calibri"/>
              </a:rPr>
              <a:t>Possible features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and </a:t>
            </a:r>
            <a:r>
              <a:rPr sz="1200" spc="-10" dirty="0">
                <a:latin typeface="Calibri"/>
                <a:cs typeface="Calibri"/>
              </a:rPr>
              <a:t>prioritization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58917" y="4958588"/>
            <a:ext cx="846455" cy="71120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065" marR="5080" indent="1270" algn="ctr">
              <a:lnSpc>
                <a:spcPts val="1320"/>
              </a:lnSpc>
              <a:spcBef>
                <a:spcPts val="240"/>
              </a:spcBef>
            </a:pPr>
            <a:r>
              <a:rPr sz="1200" dirty="0">
                <a:latin typeface="Calibri"/>
                <a:cs typeface="Calibri"/>
              </a:rPr>
              <a:t>Pain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points identification </a:t>
            </a:r>
            <a:r>
              <a:rPr sz="1200" spc="-25" dirty="0">
                <a:latin typeface="Calibri"/>
                <a:cs typeface="Calibri"/>
              </a:rPr>
              <a:t>and </a:t>
            </a:r>
            <a:r>
              <a:rPr sz="1200" spc="-10" dirty="0">
                <a:latin typeface="Calibri"/>
                <a:cs typeface="Calibri"/>
              </a:rPr>
              <a:t>prioritization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12641" y="5041849"/>
            <a:ext cx="800100" cy="544195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065" marR="5080" algn="ctr">
              <a:lnSpc>
                <a:spcPts val="1320"/>
              </a:lnSpc>
              <a:spcBef>
                <a:spcPts val="245"/>
              </a:spcBef>
            </a:pPr>
            <a:r>
              <a:rPr sz="1200" dirty="0">
                <a:latin typeface="Calibri"/>
                <a:cs typeface="Calibri"/>
              </a:rPr>
              <a:t>Map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current customer journey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26995" y="5125973"/>
            <a:ext cx="833755" cy="37592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 indent="13335">
              <a:lnSpc>
                <a:spcPts val="1320"/>
              </a:lnSpc>
              <a:spcBef>
                <a:spcPts val="240"/>
              </a:spcBef>
            </a:pPr>
            <a:r>
              <a:rPr sz="1200" dirty="0">
                <a:latin typeface="Calibri"/>
                <a:cs typeface="Calibri"/>
              </a:rPr>
              <a:t>Decide</a:t>
            </a:r>
            <a:r>
              <a:rPr sz="1200" spc="-6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upon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objective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70636" y="5125973"/>
            <a:ext cx="609600" cy="37592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21590" marR="5080" indent="-9525">
              <a:lnSpc>
                <a:spcPts val="1320"/>
              </a:lnSpc>
              <a:spcBef>
                <a:spcPts val="240"/>
              </a:spcBef>
            </a:pPr>
            <a:r>
              <a:rPr sz="1200" spc="-10" dirty="0">
                <a:latin typeface="Calibri"/>
                <a:cs typeface="Calibri"/>
              </a:rPr>
              <a:t>Company overview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09422" y="4170426"/>
            <a:ext cx="2844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My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approach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to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this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problem: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05336" y="376155"/>
            <a:ext cx="1964065" cy="6198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83785" y="115061"/>
            <a:ext cx="342455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Redcliffe</a:t>
            </a:r>
            <a:r>
              <a:rPr spc="-70" dirty="0"/>
              <a:t> </a:t>
            </a:r>
            <a:r>
              <a:rPr dirty="0"/>
              <a:t>labs</a:t>
            </a:r>
            <a:r>
              <a:rPr spc="-95" dirty="0"/>
              <a:t> </a:t>
            </a:r>
            <a:r>
              <a:rPr spc="-10" dirty="0"/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25842" y="2035809"/>
            <a:ext cx="4192270" cy="2985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latin typeface="Calibri"/>
                <a:cs typeface="Calibri"/>
              </a:rPr>
              <a:t>Stakeholders: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ts val="1405"/>
              </a:lnSpc>
              <a:spcBef>
                <a:spcPts val="955"/>
              </a:spcBef>
            </a:pPr>
            <a:r>
              <a:rPr sz="1300" b="1" dirty="0">
                <a:latin typeface="Calibri"/>
                <a:cs typeface="Calibri"/>
              </a:rPr>
              <a:t>User:</a:t>
            </a:r>
            <a:r>
              <a:rPr sz="1300" b="1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user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of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our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interfaces</a:t>
            </a:r>
            <a:r>
              <a:rPr sz="130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(app/website)</a:t>
            </a:r>
            <a:r>
              <a:rPr sz="1300" spc="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who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books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spc="-25" dirty="0">
                <a:latin typeface="Calibri"/>
                <a:cs typeface="Calibri"/>
              </a:rPr>
              <a:t>the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ts val="1405"/>
              </a:lnSpc>
            </a:pPr>
            <a:r>
              <a:rPr sz="1300" spc="-10" dirty="0">
                <a:latin typeface="Calibri"/>
                <a:cs typeface="Calibri"/>
              </a:rPr>
              <a:t>tests</a:t>
            </a:r>
            <a:endParaRPr sz="1300">
              <a:latin typeface="Calibri"/>
              <a:cs typeface="Calibri"/>
            </a:endParaRPr>
          </a:p>
          <a:p>
            <a:pPr marL="12700" marR="130175">
              <a:lnSpc>
                <a:spcPts val="1250"/>
              </a:lnSpc>
              <a:spcBef>
                <a:spcPts val="1000"/>
              </a:spcBef>
            </a:pPr>
            <a:r>
              <a:rPr sz="1300" b="1" spc="-10" dirty="0">
                <a:latin typeface="Calibri"/>
                <a:cs typeface="Calibri"/>
              </a:rPr>
              <a:t>Patient:</a:t>
            </a:r>
            <a:r>
              <a:rPr sz="1300" b="1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person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who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is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to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be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tested,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one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whose </a:t>
            </a:r>
            <a:r>
              <a:rPr sz="1300" dirty="0">
                <a:latin typeface="Calibri"/>
                <a:cs typeface="Calibri"/>
              </a:rPr>
              <a:t>sample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is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collected.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This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person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may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or</a:t>
            </a:r>
            <a:r>
              <a:rPr sz="1300" spc="-4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may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not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be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different </a:t>
            </a:r>
            <a:r>
              <a:rPr sz="1300" dirty="0">
                <a:latin typeface="Calibri"/>
                <a:cs typeface="Calibri"/>
              </a:rPr>
              <a:t>from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user</a:t>
            </a:r>
            <a:endParaRPr sz="1300">
              <a:latin typeface="Calibri"/>
              <a:cs typeface="Calibri"/>
            </a:endParaRPr>
          </a:p>
          <a:p>
            <a:pPr marL="12700" marR="26670">
              <a:lnSpc>
                <a:spcPts val="1250"/>
              </a:lnSpc>
              <a:spcBef>
                <a:spcPts val="990"/>
              </a:spcBef>
            </a:pPr>
            <a:r>
              <a:rPr sz="1300" b="1" dirty="0">
                <a:latin typeface="Calibri"/>
                <a:cs typeface="Calibri"/>
              </a:rPr>
              <a:t>Pathology</a:t>
            </a:r>
            <a:r>
              <a:rPr sz="1300" b="1" spc="-3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collector:</a:t>
            </a:r>
            <a:r>
              <a:rPr sz="1300" b="1" spc="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person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assigned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to</a:t>
            </a:r>
            <a:r>
              <a:rPr sz="1300" spc="-4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visit</a:t>
            </a:r>
            <a:r>
              <a:rPr sz="1300" spc="-4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patient’s </a:t>
            </a:r>
            <a:r>
              <a:rPr sz="1300" dirty="0">
                <a:latin typeface="Calibri"/>
                <a:cs typeface="Calibri"/>
              </a:rPr>
              <a:t>address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to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collect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samples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and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transport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them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to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spc="-25" dirty="0">
                <a:latin typeface="Calibri"/>
                <a:cs typeface="Calibri"/>
              </a:rPr>
              <a:t>the </a:t>
            </a:r>
            <a:r>
              <a:rPr sz="1300" dirty="0">
                <a:latin typeface="Calibri"/>
                <a:cs typeface="Calibri"/>
              </a:rPr>
              <a:t>pathology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lab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in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safe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manner,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following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required protocols</a:t>
            </a:r>
            <a:endParaRPr sz="1300">
              <a:latin typeface="Calibri"/>
              <a:cs typeface="Calibri"/>
            </a:endParaRPr>
          </a:p>
          <a:p>
            <a:pPr marL="12700" marR="387985">
              <a:lnSpc>
                <a:spcPts val="1250"/>
              </a:lnSpc>
              <a:spcBef>
                <a:spcPts val="990"/>
              </a:spcBef>
            </a:pPr>
            <a:r>
              <a:rPr sz="1300" b="1" spc="-10" dirty="0">
                <a:latin typeface="Calibri"/>
                <a:cs typeface="Calibri"/>
              </a:rPr>
              <a:t>Pathologist:</a:t>
            </a:r>
            <a:r>
              <a:rPr sz="1300" b="1" spc="-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person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who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carries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out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tests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on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spc="-25" dirty="0">
                <a:latin typeface="Calibri"/>
                <a:cs typeface="Calibri"/>
              </a:rPr>
              <a:t>the </a:t>
            </a:r>
            <a:r>
              <a:rPr sz="1300" dirty="0">
                <a:latin typeface="Calibri"/>
                <a:cs typeface="Calibri"/>
              </a:rPr>
              <a:t>received</a:t>
            </a:r>
            <a:r>
              <a:rPr sz="1300" spc="-6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samples</a:t>
            </a:r>
            <a:endParaRPr sz="1300">
              <a:latin typeface="Calibri"/>
              <a:cs typeface="Calibri"/>
            </a:endParaRPr>
          </a:p>
          <a:p>
            <a:pPr marL="12700" marR="5080">
              <a:lnSpc>
                <a:spcPct val="80000"/>
              </a:lnSpc>
              <a:spcBef>
                <a:spcPts val="1015"/>
              </a:spcBef>
            </a:pPr>
            <a:r>
              <a:rPr sz="1300" b="1" dirty="0">
                <a:latin typeface="Calibri"/>
                <a:cs typeface="Calibri"/>
              </a:rPr>
              <a:t>Lab</a:t>
            </a:r>
            <a:r>
              <a:rPr sz="1300" b="1" spc="-3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admins:</a:t>
            </a:r>
            <a:r>
              <a:rPr sz="1300" b="1" spc="-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person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who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updates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activities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of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labs </a:t>
            </a:r>
            <a:r>
              <a:rPr sz="1300" dirty="0">
                <a:latin typeface="Calibri"/>
                <a:cs typeface="Calibri"/>
              </a:rPr>
              <a:t>in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Lab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Information</a:t>
            </a:r>
            <a:r>
              <a:rPr sz="1300" spc="1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Management</a:t>
            </a:r>
            <a:r>
              <a:rPr sz="130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System (LIMS)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3745" y="5257038"/>
            <a:ext cx="11724640" cy="1477010"/>
          </a:xfrm>
          <a:prstGeom prst="rect">
            <a:avLst/>
          </a:prstGeom>
          <a:solidFill>
            <a:srgbClr val="C5DFB4"/>
          </a:solidFill>
          <a:ln w="28575">
            <a:solidFill>
              <a:srgbClr val="538235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40"/>
              </a:spcBef>
            </a:pPr>
            <a:r>
              <a:rPr sz="1800" b="1" spc="-10" dirty="0">
                <a:latin typeface="Calibri"/>
                <a:cs typeface="Calibri"/>
              </a:rPr>
              <a:t>Objective</a:t>
            </a:r>
            <a:endParaRPr sz="1800">
              <a:latin typeface="Calibri"/>
              <a:cs typeface="Calibri"/>
            </a:endParaRPr>
          </a:p>
          <a:p>
            <a:pPr marL="119380" marR="116205" algn="ctr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bird’s </a:t>
            </a:r>
            <a:r>
              <a:rPr sz="1800" dirty="0">
                <a:latin typeface="Calibri"/>
                <a:cs typeface="Calibri"/>
              </a:rPr>
              <a:t>eye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view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would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incredible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asset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patient/user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track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status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their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provided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sample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would </a:t>
            </a:r>
            <a:r>
              <a:rPr sz="1800" dirty="0">
                <a:latin typeface="Calibri"/>
                <a:cs typeface="Calibri"/>
              </a:rPr>
              <a:t>support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‘robust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interfaces’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impact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differentiator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Redcliffe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labs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filling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significant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gap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journey.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Hence </a:t>
            </a:r>
            <a:r>
              <a:rPr sz="1800" dirty="0">
                <a:latin typeface="Calibri"/>
                <a:cs typeface="Calibri"/>
              </a:rPr>
              <a:t>our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objective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will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build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control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tower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which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will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enable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track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status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their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tests,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end-to-</a:t>
            </a:r>
            <a:r>
              <a:rPr sz="1800" dirty="0">
                <a:latin typeface="Calibri"/>
                <a:cs typeface="Calibri"/>
              </a:rPr>
              <a:t>end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a </a:t>
            </a:r>
            <a:r>
              <a:rPr sz="1800" dirty="0">
                <a:latin typeface="Calibri"/>
                <a:cs typeface="Calibri"/>
              </a:rPr>
              <a:t>single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interface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6072" y="1456944"/>
            <a:ext cx="11040110" cy="36893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520065">
              <a:lnSpc>
                <a:spcPct val="100000"/>
              </a:lnSpc>
              <a:spcBef>
                <a:spcPts val="240"/>
              </a:spcBef>
            </a:pPr>
            <a:r>
              <a:rPr sz="1800" b="1" dirty="0">
                <a:solidFill>
                  <a:srgbClr val="2B2B2B"/>
                </a:solidFill>
                <a:latin typeface="Calibri"/>
                <a:cs typeface="Calibri"/>
              </a:rPr>
              <a:t>VISION:</a:t>
            </a:r>
            <a:r>
              <a:rPr sz="1800" b="1" spc="-5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B2B2B"/>
                </a:solidFill>
                <a:latin typeface="Calibri"/>
                <a:cs typeface="Calibri"/>
              </a:rPr>
              <a:t>Most</a:t>
            </a:r>
            <a:r>
              <a:rPr sz="1800" spc="-5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2B2B2B"/>
                </a:solidFill>
                <a:latin typeface="Calibri"/>
                <a:cs typeface="Calibri"/>
              </a:rPr>
              <a:t>Trusted</a:t>
            </a:r>
            <a:r>
              <a:rPr sz="1800" spc="-4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B2B2B"/>
                </a:solidFill>
                <a:latin typeface="Calibri"/>
                <a:cs typeface="Calibri"/>
              </a:rPr>
              <a:t>and</a:t>
            </a:r>
            <a:r>
              <a:rPr sz="1800" spc="-3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B2B2B"/>
                </a:solidFill>
                <a:latin typeface="Calibri"/>
                <a:cs typeface="Calibri"/>
              </a:rPr>
              <a:t>Affordable</a:t>
            </a:r>
            <a:r>
              <a:rPr sz="1800" spc="-4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B2B2B"/>
                </a:solidFill>
                <a:latin typeface="Calibri"/>
                <a:cs typeface="Calibri"/>
              </a:rPr>
              <a:t>Diagnostics</a:t>
            </a:r>
            <a:r>
              <a:rPr sz="1800" spc="-3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B2B2B"/>
                </a:solidFill>
                <a:latin typeface="Calibri"/>
                <a:cs typeface="Calibri"/>
              </a:rPr>
              <a:t>platform</a:t>
            </a:r>
            <a:r>
              <a:rPr sz="1800" spc="-4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B2B2B"/>
                </a:solidFill>
                <a:latin typeface="Calibri"/>
                <a:cs typeface="Calibri"/>
              </a:rPr>
              <a:t>for</a:t>
            </a:r>
            <a:r>
              <a:rPr sz="1800" spc="-4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B2B2B"/>
                </a:solidFill>
                <a:latin typeface="Calibri"/>
                <a:cs typeface="Calibri"/>
              </a:rPr>
              <a:t>Bharat</a:t>
            </a:r>
            <a:r>
              <a:rPr sz="1800" spc="-3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B2B2B"/>
                </a:solidFill>
                <a:latin typeface="Calibri"/>
                <a:cs typeface="Calibri"/>
              </a:rPr>
              <a:t>-</a:t>
            </a:r>
            <a:r>
              <a:rPr sz="1800" spc="-4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B2B2B"/>
                </a:solidFill>
                <a:latin typeface="Calibri"/>
                <a:cs typeface="Calibri"/>
              </a:rPr>
              <a:t>Empowering</a:t>
            </a:r>
            <a:r>
              <a:rPr sz="1800" spc="-3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B2B2B"/>
                </a:solidFill>
                <a:latin typeface="Calibri"/>
                <a:cs typeface="Calibri"/>
              </a:rPr>
              <a:t>Health,</a:t>
            </a:r>
            <a:r>
              <a:rPr sz="1800" spc="-3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B2B2B"/>
                </a:solidFill>
                <a:latin typeface="Calibri"/>
                <a:cs typeface="Calibri"/>
              </a:rPr>
              <a:t>Impacting</a:t>
            </a:r>
            <a:r>
              <a:rPr sz="1800" spc="-3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B2B2B"/>
                </a:solidFill>
                <a:latin typeface="Calibri"/>
                <a:cs typeface="Calibri"/>
              </a:rPr>
              <a:t>Lives.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28878" y="699008"/>
            <a:ext cx="107302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71980" marR="5080" indent="-1859914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Redcliffe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labs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cater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diagnostic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needs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people.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They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have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built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comprehensive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portfolio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approach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both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with </a:t>
            </a:r>
            <a:r>
              <a:rPr sz="1800" dirty="0">
                <a:latin typeface="Calibri"/>
                <a:cs typeface="Calibri"/>
              </a:rPr>
              <a:t>routine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specialized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test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menus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advanced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testing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labs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all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over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India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421638" y="2461005"/>
            <a:ext cx="4912360" cy="1389380"/>
            <a:chOff x="1421638" y="2461005"/>
            <a:chExt cx="4912360" cy="1389380"/>
          </a:xfrm>
        </p:grpSpPr>
        <p:sp>
          <p:nvSpPr>
            <p:cNvPr id="8" name="object 8"/>
            <p:cNvSpPr/>
            <p:nvPr/>
          </p:nvSpPr>
          <p:spPr>
            <a:xfrm>
              <a:off x="1427988" y="3436619"/>
              <a:ext cx="4899660" cy="407670"/>
            </a:xfrm>
            <a:custGeom>
              <a:avLst/>
              <a:gdLst/>
              <a:ahLst/>
              <a:cxnLst/>
              <a:rect l="l" t="t" r="r" b="b"/>
              <a:pathLst>
                <a:path w="4899660" h="407670">
                  <a:moveTo>
                    <a:pt x="2346960" y="0"/>
                  </a:moveTo>
                  <a:lnTo>
                    <a:pt x="2346960" y="203580"/>
                  </a:lnTo>
                  <a:lnTo>
                    <a:pt x="4899279" y="203580"/>
                  </a:lnTo>
                  <a:lnTo>
                    <a:pt x="4899279" y="407161"/>
                  </a:lnTo>
                </a:path>
                <a:path w="4899660" h="407670">
                  <a:moveTo>
                    <a:pt x="2346960" y="0"/>
                  </a:moveTo>
                  <a:lnTo>
                    <a:pt x="2346960" y="203580"/>
                  </a:lnTo>
                  <a:lnTo>
                    <a:pt x="2553208" y="203580"/>
                  </a:lnTo>
                  <a:lnTo>
                    <a:pt x="2553208" y="407161"/>
                  </a:lnTo>
                </a:path>
                <a:path w="4899660" h="407670">
                  <a:moveTo>
                    <a:pt x="2346071" y="0"/>
                  </a:moveTo>
                  <a:lnTo>
                    <a:pt x="2346071" y="203580"/>
                  </a:lnTo>
                  <a:lnTo>
                    <a:pt x="0" y="203580"/>
                  </a:lnTo>
                  <a:lnTo>
                    <a:pt x="0" y="407161"/>
                  </a:lnTo>
                </a:path>
              </a:pathLst>
            </a:custGeom>
            <a:ln w="12700">
              <a:solidFill>
                <a:srgbClr val="3458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20468" y="2467355"/>
              <a:ext cx="3108960" cy="969644"/>
            </a:xfrm>
            <a:custGeom>
              <a:avLst/>
              <a:gdLst/>
              <a:ahLst/>
              <a:cxnLst/>
              <a:rect l="l" t="t" r="r" b="b"/>
              <a:pathLst>
                <a:path w="3108960" h="969645">
                  <a:moveTo>
                    <a:pt x="3108960" y="0"/>
                  </a:moveTo>
                  <a:lnTo>
                    <a:pt x="0" y="0"/>
                  </a:lnTo>
                  <a:lnTo>
                    <a:pt x="0" y="969263"/>
                  </a:lnTo>
                  <a:lnTo>
                    <a:pt x="3108960" y="969263"/>
                  </a:lnTo>
                  <a:lnTo>
                    <a:pt x="310896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220468" y="2467355"/>
              <a:ext cx="3108960" cy="969644"/>
            </a:xfrm>
            <a:custGeom>
              <a:avLst/>
              <a:gdLst/>
              <a:ahLst/>
              <a:cxnLst/>
              <a:rect l="l" t="t" r="r" b="b"/>
              <a:pathLst>
                <a:path w="3108960" h="969645">
                  <a:moveTo>
                    <a:pt x="0" y="969263"/>
                  </a:moveTo>
                  <a:lnTo>
                    <a:pt x="3108960" y="969263"/>
                  </a:lnTo>
                  <a:lnTo>
                    <a:pt x="3108960" y="0"/>
                  </a:lnTo>
                  <a:lnTo>
                    <a:pt x="0" y="0"/>
                  </a:lnTo>
                  <a:lnTo>
                    <a:pt x="0" y="96926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220467" y="2467355"/>
            <a:ext cx="3122930" cy="969644"/>
          </a:xfrm>
          <a:prstGeom prst="rect">
            <a:avLst/>
          </a:prstGeom>
        </p:spPr>
        <p:txBody>
          <a:bodyPr vert="horz" wrap="square" lIns="0" tIns="266700" rIns="0" bIns="0" rtlCol="0">
            <a:spAutoFit/>
          </a:bodyPr>
          <a:lstStyle/>
          <a:p>
            <a:pPr marL="208279">
              <a:lnSpc>
                <a:spcPct val="100000"/>
              </a:lnSpc>
              <a:spcBef>
                <a:spcPts val="2100"/>
              </a:spcBef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Impact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differentiators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46634" y="3838702"/>
            <a:ext cx="2364740" cy="982344"/>
            <a:chOff x="246634" y="3838702"/>
            <a:chExt cx="2364740" cy="982344"/>
          </a:xfrm>
        </p:grpSpPr>
        <p:sp>
          <p:nvSpPr>
            <p:cNvPr id="13" name="object 13"/>
            <p:cNvSpPr/>
            <p:nvPr/>
          </p:nvSpPr>
          <p:spPr>
            <a:xfrm>
              <a:off x="252984" y="3845052"/>
              <a:ext cx="2352040" cy="969644"/>
            </a:xfrm>
            <a:custGeom>
              <a:avLst/>
              <a:gdLst/>
              <a:ahLst/>
              <a:cxnLst/>
              <a:rect l="l" t="t" r="r" b="b"/>
              <a:pathLst>
                <a:path w="2352040" h="969645">
                  <a:moveTo>
                    <a:pt x="2351531" y="0"/>
                  </a:moveTo>
                  <a:lnTo>
                    <a:pt x="0" y="0"/>
                  </a:lnTo>
                  <a:lnTo>
                    <a:pt x="0" y="969264"/>
                  </a:lnTo>
                  <a:lnTo>
                    <a:pt x="2351531" y="969264"/>
                  </a:lnTo>
                  <a:lnTo>
                    <a:pt x="2351531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52984" y="3845052"/>
              <a:ext cx="2352040" cy="969644"/>
            </a:xfrm>
            <a:custGeom>
              <a:avLst/>
              <a:gdLst/>
              <a:ahLst/>
              <a:cxnLst/>
              <a:rect l="l" t="t" r="r" b="b"/>
              <a:pathLst>
                <a:path w="2352040" h="969645">
                  <a:moveTo>
                    <a:pt x="0" y="969264"/>
                  </a:moveTo>
                  <a:lnTo>
                    <a:pt x="2351531" y="969264"/>
                  </a:lnTo>
                  <a:lnTo>
                    <a:pt x="2351531" y="0"/>
                  </a:lnTo>
                  <a:lnTo>
                    <a:pt x="0" y="0"/>
                  </a:lnTo>
                  <a:lnTo>
                    <a:pt x="0" y="969264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52984" y="3845052"/>
            <a:ext cx="2352040" cy="969644"/>
          </a:xfrm>
          <a:prstGeom prst="rect">
            <a:avLst/>
          </a:prstGeom>
        </p:spPr>
        <p:txBody>
          <a:bodyPr vert="horz" wrap="square" lIns="0" tIns="199390" rIns="0" bIns="0" rtlCol="0">
            <a:spAutoFit/>
          </a:bodyPr>
          <a:lstStyle/>
          <a:p>
            <a:pPr marL="117475">
              <a:lnSpc>
                <a:spcPct val="100000"/>
              </a:lnSpc>
              <a:spcBef>
                <a:spcPts val="1570"/>
              </a:spcBef>
            </a:pP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Technology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integration</a:t>
            </a:r>
            <a:endParaRPr sz="1800">
              <a:latin typeface="Calibri"/>
              <a:cs typeface="Calibri"/>
            </a:endParaRPr>
          </a:p>
          <a:p>
            <a:pPr marL="100965">
              <a:lnSpc>
                <a:spcPct val="100000"/>
              </a:lnSpc>
              <a:spcBef>
                <a:spcPts val="710"/>
              </a:spcBef>
            </a:pP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Use</a:t>
            </a:r>
            <a:r>
              <a:rPr sz="10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0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technology</a:t>
            </a:r>
            <a:r>
              <a:rPr sz="10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0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ensure</a:t>
            </a:r>
            <a:r>
              <a:rPr sz="10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FFFFFF"/>
                </a:solidFill>
                <a:latin typeface="Calibri"/>
                <a:cs typeface="Calibri"/>
              </a:rPr>
              <a:t>robustness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005073" y="3838702"/>
            <a:ext cx="1951355" cy="982344"/>
            <a:chOff x="3005073" y="3838702"/>
            <a:chExt cx="1951355" cy="982344"/>
          </a:xfrm>
        </p:grpSpPr>
        <p:sp>
          <p:nvSpPr>
            <p:cNvPr id="17" name="object 17"/>
            <p:cNvSpPr/>
            <p:nvPr/>
          </p:nvSpPr>
          <p:spPr>
            <a:xfrm>
              <a:off x="3011423" y="3845052"/>
              <a:ext cx="1938655" cy="969644"/>
            </a:xfrm>
            <a:custGeom>
              <a:avLst/>
              <a:gdLst/>
              <a:ahLst/>
              <a:cxnLst/>
              <a:rect l="l" t="t" r="r" b="b"/>
              <a:pathLst>
                <a:path w="1938654" h="969645">
                  <a:moveTo>
                    <a:pt x="1938527" y="0"/>
                  </a:moveTo>
                  <a:lnTo>
                    <a:pt x="0" y="0"/>
                  </a:lnTo>
                  <a:lnTo>
                    <a:pt x="0" y="969264"/>
                  </a:lnTo>
                  <a:lnTo>
                    <a:pt x="1938527" y="969264"/>
                  </a:lnTo>
                  <a:lnTo>
                    <a:pt x="193852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011423" y="3845052"/>
              <a:ext cx="1938655" cy="969644"/>
            </a:xfrm>
            <a:custGeom>
              <a:avLst/>
              <a:gdLst/>
              <a:ahLst/>
              <a:cxnLst/>
              <a:rect l="l" t="t" r="r" b="b"/>
              <a:pathLst>
                <a:path w="1938654" h="969645">
                  <a:moveTo>
                    <a:pt x="0" y="969264"/>
                  </a:moveTo>
                  <a:lnTo>
                    <a:pt x="1938527" y="969264"/>
                  </a:lnTo>
                  <a:lnTo>
                    <a:pt x="1938527" y="0"/>
                  </a:lnTo>
                  <a:lnTo>
                    <a:pt x="0" y="0"/>
                  </a:lnTo>
                  <a:lnTo>
                    <a:pt x="0" y="96926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011423" y="3845052"/>
            <a:ext cx="1938655" cy="969644"/>
          </a:xfrm>
          <a:prstGeom prst="rect">
            <a:avLst/>
          </a:prstGeom>
        </p:spPr>
        <p:txBody>
          <a:bodyPr vert="horz" wrap="square" lIns="0" tIns="1257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Accessible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ts val="1210"/>
              </a:lnSpc>
              <a:spcBef>
                <a:spcPts val="715"/>
              </a:spcBef>
            </a:pP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Accessibility</a:t>
            </a:r>
            <a:r>
              <a:rPr sz="10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0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remotest</a:t>
            </a:r>
            <a:r>
              <a:rPr sz="105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parts</a:t>
            </a:r>
            <a:r>
              <a:rPr sz="1050" spc="-25" dirty="0">
                <a:solidFill>
                  <a:srgbClr val="FFFFFF"/>
                </a:solidFill>
                <a:latin typeface="Calibri"/>
                <a:cs typeface="Calibri"/>
              </a:rPr>
              <a:t> of</a:t>
            </a:r>
            <a:endParaRPr sz="1050">
              <a:latin typeface="Calibri"/>
              <a:cs typeface="Calibri"/>
            </a:endParaRPr>
          </a:p>
          <a:p>
            <a:pPr algn="ctr">
              <a:lnSpc>
                <a:spcPts val="1210"/>
              </a:lnSpc>
            </a:pP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050" spc="-10" dirty="0">
                <a:solidFill>
                  <a:srgbClr val="FFFFFF"/>
                </a:solidFill>
                <a:latin typeface="Calibri"/>
                <a:cs typeface="Calibri"/>
              </a:rPr>
              <a:t> country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350509" y="3838702"/>
            <a:ext cx="1953260" cy="982344"/>
            <a:chOff x="5350509" y="3838702"/>
            <a:chExt cx="1953260" cy="982344"/>
          </a:xfrm>
        </p:grpSpPr>
        <p:sp>
          <p:nvSpPr>
            <p:cNvPr id="21" name="object 21"/>
            <p:cNvSpPr/>
            <p:nvPr/>
          </p:nvSpPr>
          <p:spPr>
            <a:xfrm>
              <a:off x="5356859" y="3845052"/>
              <a:ext cx="1940560" cy="969644"/>
            </a:xfrm>
            <a:custGeom>
              <a:avLst/>
              <a:gdLst/>
              <a:ahLst/>
              <a:cxnLst/>
              <a:rect l="l" t="t" r="r" b="b"/>
              <a:pathLst>
                <a:path w="1940559" h="969645">
                  <a:moveTo>
                    <a:pt x="1940051" y="0"/>
                  </a:moveTo>
                  <a:lnTo>
                    <a:pt x="0" y="0"/>
                  </a:lnTo>
                  <a:lnTo>
                    <a:pt x="0" y="969264"/>
                  </a:lnTo>
                  <a:lnTo>
                    <a:pt x="1940051" y="969264"/>
                  </a:lnTo>
                  <a:lnTo>
                    <a:pt x="1940051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356859" y="3845052"/>
              <a:ext cx="1940560" cy="969644"/>
            </a:xfrm>
            <a:custGeom>
              <a:avLst/>
              <a:gdLst/>
              <a:ahLst/>
              <a:cxnLst/>
              <a:rect l="l" t="t" r="r" b="b"/>
              <a:pathLst>
                <a:path w="1940559" h="969645">
                  <a:moveTo>
                    <a:pt x="0" y="969264"/>
                  </a:moveTo>
                  <a:lnTo>
                    <a:pt x="1940051" y="969264"/>
                  </a:lnTo>
                  <a:lnTo>
                    <a:pt x="1940051" y="0"/>
                  </a:lnTo>
                  <a:lnTo>
                    <a:pt x="0" y="0"/>
                  </a:lnTo>
                  <a:lnTo>
                    <a:pt x="0" y="96926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343144" y="3845052"/>
            <a:ext cx="1953895" cy="969644"/>
          </a:xfrm>
          <a:prstGeom prst="rect">
            <a:avLst/>
          </a:prstGeom>
        </p:spPr>
        <p:txBody>
          <a:bodyPr vert="horz" wrap="square" lIns="0" tIns="199390" rIns="0" bIns="0" rtlCol="0">
            <a:spAutoFit/>
          </a:bodyPr>
          <a:lstStyle/>
          <a:p>
            <a:pPr marL="179705">
              <a:lnSpc>
                <a:spcPct val="100000"/>
              </a:lnSpc>
              <a:spcBef>
                <a:spcPts val="157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Robust</a:t>
            </a:r>
            <a:r>
              <a:rPr sz="18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interfaces</a:t>
            </a:r>
            <a:endParaRPr sz="1800">
              <a:latin typeface="Calibri"/>
              <a:cs typeface="Calibri"/>
            </a:endParaRPr>
          </a:p>
          <a:p>
            <a:pPr marL="211454">
              <a:lnSpc>
                <a:spcPct val="100000"/>
              </a:lnSpc>
              <a:spcBef>
                <a:spcPts val="710"/>
              </a:spcBef>
            </a:pP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Seamless</a:t>
            </a: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customer</a:t>
            </a:r>
            <a:r>
              <a:rPr sz="105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FFFFFF"/>
                </a:solidFill>
                <a:latin typeface="Calibri"/>
                <a:cs typeface="Calibri"/>
              </a:rPr>
              <a:t>journeys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2267" rIns="0" bIns="0" rtlCol="0">
            <a:spAutoFit/>
          </a:bodyPr>
          <a:lstStyle/>
          <a:p>
            <a:pPr marL="979805">
              <a:lnSpc>
                <a:spcPct val="100000"/>
              </a:lnSpc>
              <a:spcBef>
                <a:spcPts val="95"/>
              </a:spcBef>
            </a:pPr>
            <a:r>
              <a:rPr dirty="0"/>
              <a:t>Current</a:t>
            </a:r>
            <a:r>
              <a:rPr spc="-105" dirty="0"/>
              <a:t> </a:t>
            </a:r>
            <a:r>
              <a:rPr spc="-10" dirty="0"/>
              <a:t>customer</a:t>
            </a:r>
            <a:r>
              <a:rPr spc="-125" dirty="0"/>
              <a:t> </a:t>
            </a:r>
            <a:r>
              <a:rPr spc="-10" dirty="0"/>
              <a:t>journey</a:t>
            </a:r>
          </a:p>
        </p:txBody>
      </p:sp>
      <p:sp>
        <p:nvSpPr>
          <p:cNvPr id="3" name="object 3"/>
          <p:cNvSpPr/>
          <p:nvPr/>
        </p:nvSpPr>
        <p:spPr>
          <a:xfrm>
            <a:off x="184404" y="1946148"/>
            <a:ext cx="1257300" cy="1251585"/>
          </a:xfrm>
          <a:custGeom>
            <a:avLst/>
            <a:gdLst/>
            <a:ahLst/>
            <a:cxnLst/>
            <a:rect l="l" t="t" r="r" b="b"/>
            <a:pathLst>
              <a:path w="1257300" h="1251585">
                <a:moveTo>
                  <a:pt x="1132205" y="0"/>
                </a:moveTo>
                <a:lnTo>
                  <a:pt x="125120" y="0"/>
                </a:lnTo>
                <a:lnTo>
                  <a:pt x="76418" y="9830"/>
                </a:lnTo>
                <a:lnTo>
                  <a:pt x="36647" y="36639"/>
                </a:lnTo>
                <a:lnTo>
                  <a:pt x="9832" y="76402"/>
                </a:lnTo>
                <a:lnTo>
                  <a:pt x="0" y="125094"/>
                </a:lnTo>
                <a:lnTo>
                  <a:pt x="0" y="1126109"/>
                </a:lnTo>
                <a:lnTo>
                  <a:pt x="9832" y="1174801"/>
                </a:lnTo>
                <a:lnTo>
                  <a:pt x="36647" y="1214564"/>
                </a:lnTo>
                <a:lnTo>
                  <a:pt x="76418" y="1241373"/>
                </a:lnTo>
                <a:lnTo>
                  <a:pt x="125120" y="1251203"/>
                </a:lnTo>
                <a:lnTo>
                  <a:pt x="1132205" y="1251203"/>
                </a:lnTo>
                <a:lnTo>
                  <a:pt x="1180897" y="1241373"/>
                </a:lnTo>
                <a:lnTo>
                  <a:pt x="1220660" y="1214564"/>
                </a:lnTo>
                <a:lnTo>
                  <a:pt x="1247469" y="1174801"/>
                </a:lnTo>
                <a:lnTo>
                  <a:pt x="1257300" y="1126109"/>
                </a:lnTo>
                <a:lnTo>
                  <a:pt x="1257300" y="125094"/>
                </a:lnTo>
                <a:lnTo>
                  <a:pt x="1247469" y="76402"/>
                </a:lnTo>
                <a:lnTo>
                  <a:pt x="1220660" y="36639"/>
                </a:lnTo>
                <a:lnTo>
                  <a:pt x="1180897" y="9830"/>
                </a:lnTo>
                <a:lnTo>
                  <a:pt x="1132205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7502" y="2318384"/>
            <a:ext cx="851535" cy="46291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241300" marR="5080" indent="-229235">
              <a:lnSpc>
                <a:spcPts val="1639"/>
              </a:lnSpc>
              <a:spcBef>
                <a:spcPts val="285"/>
              </a:spcBef>
            </a:pP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Booking</a:t>
            </a:r>
            <a:r>
              <a:rPr sz="15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tests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68196" y="2415539"/>
            <a:ext cx="266700" cy="312420"/>
          </a:xfrm>
          <a:custGeom>
            <a:avLst/>
            <a:gdLst/>
            <a:ahLst/>
            <a:cxnLst/>
            <a:rect l="l" t="t" r="r" b="b"/>
            <a:pathLst>
              <a:path w="266700" h="312419">
                <a:moveTo>
                  <a:pt x="133349" y="0"/>
                </a:moveTo>
                <a:lnTo>
                  <a:pt x="133349" y="62484"/>
                </a:lnTo>
                <a:lnTo>
                  <a:pt x="0" y="62484"/>
                </a:lnTo>
                <a:lnTo>
                  <a:pt x="0" y="249936"/>
                </a:lnTo>
                <a:lnTo>
                  <a:pt x="133349" y="249936"/>
                </a:lnTo>
                <a:lnTo>
                  <a:pt x="133349" y="312420"/>
                </a:lnTo>
                <a:lnTo>
                  <a:pt x="266699" y="156210"/>
                </a:lnTo>
                <a:lnTo>
                  <a:pt x="133349" y="0"/>
                </a:lnTo>
                <a:close/>
              </a:path>
            </a:pathLst>
          </a:custGeom>
          <a:solidFill>
            <a:srgbClr val="AFBB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946148" y="1946148"/>
            <a:ext cx="1257300" cy="1251585"/>
          </a:xfrm>
          <a:custGeom>
            <a:avLst/>
            <a:gdLst/>
            <a:ahLst/>
            <a:cxnLst/>
            <a:rect l="l" t="t" r="r" b="b"/>
            <a:pathLst>
              <a:path w="1257300" h="1251585">
                <a:moveTo>
                  <a:pt x="1132204" y="0"/>
                </a:moveTo>
                <a:lnTo>
                  <a:pt x="125094" y="0"/>
                </a:lnTo>
                <a:lnTo>
                  <a:pt x="76402" y="9830"/>
                </a:lnTo>
                <a:lnTo>
                  <a:pt x="36639" y="36639"/>
                </a:lnTo>
                <a:lnTo>
                  <a:pt x="9830" y="76402"/>
                </a:lnTo>
                <a:lnTo>
                  <a:pt x="0" y="125094"/>
                </a:lnTo>
                <a:lnTo>
                  <a:pt x="0" y="1126109"/>
                </a:lnTo>
                <a:lnTo>
                  <a:pt x="9830" y="1174801"/>
                </a:lnTo>
                <a:lnTo>
                  <a:pt x="36639" y="1214564"/>
                </a:lnTo>
                <a:lnTo>
                  <a:pt x="76402" y="1241373"/>
                </a:lnTo>
                <a:lnTo>
                  <a:pt x="125094" y="1251203"/>
                </a:lnTo>
                <a:lnTo>
                  <a:pt x="1132204" y="1251203"/>
                </a:lnTo>
                <a:lnTo>
                  <a:pt x="1180897" y="1241373"/>
                </a:lnTo>
                <a:lnTo>
                  <a:pt x="1220660" y="1214564"/>
                </a:lnTo>
                <a:lnTo>
                  <a:pt x="1247469" y="1174801"/>
                </a:lnTo>
                <a:lnTo>
                  <a:pt x="1257300" y="1126109"/>
                </a:lnTo>
                <a:lnTo>
                  <a:pt x="1257300" y="125094"/>
                </a:lnTo>
                <a:lnTo>
                  <a:pt x="1247469" y="76402"/>
                </a:lnTo>
                <a:lnTo>
                  <a:pt x="1220660" y="36639"/>
                </a:lnTo>
                <a:lnTo>
                  <a:pt x="1180897" y="9830"/>
                </a:lnTo>
                <a:lnTo>
                  <a:pt x="1132204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031238" y="2108961"/>
            <a:ext cx="1083945" cy="88201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 marR="5080" indent="1270" algn="ctr">
              <a:lnSpc>
                <a:spcPct val="91600"/>
              </a:lnSpc>
              <a:spcBef>
                <a:spcPts val="250"/>
              </a:spcBef>
            </a:pP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Information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5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pathology collector/visit received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328415" y="2415539"/>
            <a:ext cx="266700" cy="312420"/>
          </a:xfrm>
          <a:custGeom>
            <a:avLst/>
            <a:gdLst/>
            <a:ahLst/>
            <a:cxnLst/>
            <a:rect l="l" t="t" r="r" b="b"/>
            <a:pathLst>
              <a:path w="266700" h="312419">
                <a:moveTo>
                  <a:pt x="133350" y="0"/>
                </a:moveTo>
                <a:lnTo>
                  <a:pt x="133350" y="62484"/>
                </a:lnTo>
                <a:lnTo>
                  <a:pt x="0" y="62484"/>
                </a:lnTo>
                <a:lnTo>
                  <a:pt x="0" y="249936"/>
                </a:lnTo>
                <a:lnTo>
                  <a:pt x="133350" y="249936"/>
                </a:lnTo>
                <a:lnTo>
                  <a:pt x="133350" y="312420"/>
                </a:lnTo>
                <a:lnTo>
                  <a:pt x="266700" y="156210"/>
                </a:lnTo>
                <a:lnTo>
                  <a:pt x="133350" y="0"/>
                </a:lnTo>
                <a:close/>
              </a:path>
            </a:pathLst>
          </a:custGeom>
          <a:solidFill>
            <a:srgbClr val="AFBB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706367" y="1946148"/>
            <a:ext cx="1257300" cy="1251585"/>
          </a:xfrm>
          <a:custGeom>
            <a:avLst/>
            <a:gdLst/>
            <a:ahLst/>
            <a:cxnLst/>
            <a:rect l="l" t="t" r="r" b="b"/>
            <a:pathLst>
              <a:path w="1257300" h="1251585">
                <a:moveTo>
                  <a:pt x="1132205" y="0"/>
                </a:moveTo>
                <a:lnTo>
                  <a:pt x="125095" y="0"/>
                </a:lnTo>
                <a:lnTo>
                  <a:pt x="76402" y="9830"/>
                </a:lnTo>
                <a:lnTo>
                  <a:pt x="36639" y="36639"/>
                </a:lnTo>
                <a:lnTo>
                  <a:pt x="9830" y="76402"/>
                </a:lnTo>
                <a:lnTo>
                  <a:pt x="0" y="125094"/>
                </a:lnTo>
                <a:lnTo>
                  <a:pt x="0" y="1126109"/>
                </a:lnTo>
                <a:lnTo>
                  <a:pt x="9830" y="1174801"/>
                </a:lnTo>
                <a:lnTo>
                  <a:pt x="36639" y="1214564"/>
                </a:lnTo>
                <a:lnTo>
                  <a:pt x="76402" y="1241373"/>
                </a:lnTo>
                <a:lnTo>
                  <a:pt x="125095" y="1251203"/>
                </a:lnTo>
                <a:lnTo>
                  <a:pt x="1132205" y="1251203"/>
                </a:lnTo>
                <a:lnTo>
                  <a:pt x="1180897" y="1241373"/>
                </a:lnTo>
                <a:lnTo>
                  <a:pt x="1220660" y="1214564"/>
                </a:lnTo>
                <a:lnTo>
                  <a:pt x="1247469" y="1174801"/>
                </a:lnTo>
                <a:lnTo>
                  <a:pt x="1257300" y="1126109"/>
                </a:lnTo>
                <a:lnTo>
                  <a:pt x="1257300" y="125094"/>
                </a:lnTo>
                <a:lnTo>
                  <a:pt x="1247469" y="76402"/>
                </a:lnTo>
                <a:lnTo>
                  <a:pt x="1220660" y="36639"/>
                </a:lnTo>
                <a:lnTo>
                  <a:pt x="1180897" y="9830"/>
                </a:lnTo>
                <a:lnTo>
                  <a:pt x="1132205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803141" y="2213609"/>
            <a:ext cx="1065530" cy="67183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 marR="5080" indent="-2540" algn="ctr">
              <a:lnSpc>
                <a:spcPct val="91400"/>
              </a:lnSpc>
              <a:spcBef>
                <a:spcPts val="254"/>
              </a:spcBef>
            </a:pP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Visit</a:t>
            </a:r>
            <a:r>
              <a:rPr sz="15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takes place/sample collected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090159" y="2415539"/>
            <a:ext cx="266700" cy="312420"/>
          </a:xfrm>
          <a:custGeom>
            <a:avLst/>
            <a:gdLst/>
            <a:ahLst/>
            <a:cxnLst/>
            <a:rect l="l" t="t" r="r" b="b"/>
            <a:pathLst>
              <a:path w="266700" h="312419">
                <a:moveTo>
                  <a:pt x="133350" y="0"/>
                </a:moveTo>
                <a:lnTo>
                  <a:pt x="133350" y="62484"/>
                </a:lnTo>
                <a:lnTo>
                  <a:pt x="0" y="62484"/>
                </a:lnTo>
                <a:lnTo>
                  <a:pt x="0" y="249936"/>
                </a:lnTo>
                <a:lnTo>
                  <a:pt x="133350" y="249936"/>
                </a:lnTo>
                <a:lnTo>
                  <a:pt x="133350" y="312420"/>
                </a:lnTo>
                <a:lnTo>
                  <a:pt x="266700" y="156210"/>
                </a:lnTo>
                <a:lnTo>
                  <a:pt x="133350" y="0"/>
                </a:lnTo>
                <a:close/>
              </a:path>
            </a:pathLst>
          </a:custGeom>
          <a:solidFill>
            <a:srgbClr val="AFBB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466588" y="1946148"/>
            <a:ext cx="1259205" cy="1251585"/>
          </a:xfrm>
          <a:custGeom>
            <a:avLst/>
            <a:gdLst/>
            <a:ahLst/>
            <a:cxnLst/>
            <a:rect l="l" t="t" r="r" b="b"/>
            <a:pathLst>
              <a:path w="1259204" h="1251585">
                <a:moveTo>
                  <a:pt x="1133729" y="0"/>
                </a:moveTo>
                <a:lnTo>
                  <a:pt x="125095" y="0"/>
                </a:lnTo>
                <a:lnTo>
                  <a:pt x="76402" y="9830"/>
                </a:lnTo>
                <a:lnTo>
                  <a:pt x="36639" y="36639"/>
                </a:lnTo>
                <a:lnTo>
                  <a:pt x="9830" y="76402"/>
                </a:lnTo>
                <a:lnTo>
                  <a:pt x="0" y="125094"/>
                </a:lnTo>
                <a:lnTo>
                  <a:pt x="0" y="1126109"/>
                </a:lnTo>
                <a:lnTo>
                  <a:pt x="9830" y="1174801"/>
                </a:lnTo>
                <a:lnTo>
                  <a:pt x="36639" y="1214564"/>
                </a:lnTo>
                <a:lnTo>
                  <a:pt x="76402" y="1241373"/>
                </a:lnTo>
                <a:lnTo>
                  <a:pt x="125095" y="1251203"/>
                </a:lnTo>
                <a:lnTo>
                  <a:pt x="1133729" y="1251203"/>
                </a:lnTo>
                <a:lnTo>
                  <a:pt x="1182421" y="1241373"/>
                </a:lnTo>
                <a:lnTo>
                  <a:pt x="1222184" y="1214564"/>
                </a:lnTo>
                <a:lnTo>
                  <a:pt x="1248993" y="1174801"/>
                </a:lnTo>
                <a:lnTo>
                  <a:pt x="1258823" y="1126109"/>
                </a:lnTo>
                <a:lnTo>
                  <a:pt x="1258823" y="125094"/>
                </a:lnTo>
                <a:lnTo>
                  <a:pt x="1248993" y="76402"/>
                </a:lnTo>
                <a:lnTo>
                  <a:pt x="1222184" y="36639"/>
                </a:lnTo>
                <a:lnTo>
                  <a:pt x="1182421" y="9830"/>
                </a:lnTo>
                <a:lnTo>
                  <a:pt x="1133729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632830" y="2213609"/>
            <a:ext cx="927735" cy="67183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 marR="5080" indent="635" algn="ctr">
              <a:lnSpc>
                <a:spcPct val="91400"/>
              </a:lnSpc>
              <a:spcBef>
                <a:spcPts val="254"/>
              </a:spcBef>
            </a:pP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Sample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reaches</a:t>
            </a:r>
            <a:r>
              <a:rPr sz="15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Calibri"/>
                <a:cs typeface="Calibri"/>
              </a:rPr>
              <a:t>the lab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850380" y="2415539"/>
            <a:ext cx="266700" cy="312420"/>
          </a:xfrm>
          <a:custGeom>
            <a:avLst/>
            <a:gdLst/>
            <a:ahLst/>
            <a:cxnLst/>
            <a:rect l="l" t="t" r="r" b="b"/>
            <a:pathLst>
              <a:path w="266700" h="312419">
                <a:moveTo>
                  <a:pt x="133350" y="0"/>
                </a:moveTo>
                <a:lnTo>
                  <a:pt x="133350" y="62484"/>
                </a:lnTo>
                <a:lnTo>
                  <a:pt x="0" y="62484"/>
                </a:lnTo>
                <a:lnTo>
                  <a:pt x="0" y="249936"/>
                </a:lnTo>
                <a:lnTo>
                  <a:pt x="133350" y="249936"/>
                </a:lnTo>
                <a:lnTo>
                  <a:pt x="133350" y="312420"/>
                </a:lnTo>
                <a:lnTo>
                  <a:pt x="266700" y="156210"/>
                </a:lnTo>
                <a:lnTo>
                  <a:pt x="133350" y="0"/>
                </a:lnTo>
                <a:close/>
              </a:path>
            </a:pathLst>
          </a:custGeom>
          <a:solidFill>
            <a:srgbClr val="AFBB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228331" y="1946148"/>
            <a:ext cx="1257300" cy="1251585"/>
          </a:xfrm>
          <a:custGeom>
            <a:avLst/>
            <a:gdLst/>
            <a:ahLst/>
            <a:cxnLst/>
            <a:rect l="l" t="t" r="r" b="b"/>
            <a:pathLst>
              <a:path w="1257300" h="1251585">
                <a:moveTo>
                  <a:pt x="1132204" y="0"/>
                </a:moveTo>
                <a:lnTo>
                  <a:pt x="125095" y="0"/>
                </a:lnTo>
                <a:lnTo>
                  <a:pt x="76402" y="9830"/>
                </a:lnTo>
                <a:lnTo>
                  <a:pt x="36639" y="36639"/>
                </a:lnTo>
                <a:lnTo>
                  <a:pt x="9830" y="76402"/>
                </a:lnTo>
                <a:lnTo>
                  <a:pt x="0" y="125094"/>
                </a:lnTo>
                <a:lnTo>
                  <a:pt x="0" y="1126109"/>
                </a:lnTo>
                <a:lnTo>
                  <a:pt x="9830" y="1174801"/>
                </a:lnTo>
                <a:lnTo>
                  <a:pt x="36639" y="1214564"/>
                </a:lnTo>
                <a:lnTo>
                  <a:pt x="76402" y="1241373"/>
                </a:lnTo>
                <a:lnTo>
                  <a:pt x="125095" y="1251203"/>
                </a:lnTo>
                <a:lnTo>
                  <a:pt x="1132204" y="1251203"/>
                </a:lnTo>
                <a:lnTo>
                  <a:pt x="1180897" y="1241373"/>
                </a:lnTo>
                <a:lnTo>
                  <a:pt x="1220660" y="1214564"/>
                </a:lnTo>
                <a:lnTo>
                  <a:pt x="1247469" y="1174801"/>
                </a:lnTo>
                <a:lnTo>
                  <a:pt x="1257300" y="1126109"/>
                </a:lnTo>
                <a:lnTo>
                  <a:pt x="1257300" y="125094"/>
                </a:lnTo>
                <a:lnTo>
                  <a:pt x="1247469" y="76402"/>
                </a:lnTo>
                <a:lnTo>
                  <a:pt x="1220660" y="36639"/>
                </a:lnTo>
                <a:lnTo>
                  <a:pt x="1180897" y="9830"/>
                </a:lnTo>
                <a:lnTo>
                  <a:pt x="1132204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315961" y="2108961"/>
            <a:ext cx="1083945" cy="88201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 marR="5080" algn="ctr">
              <a:lnSpc>
                <a:spcPct val="91600"/>
              </a:lnSpc>
              <a:spcBef>
                <a:spcPts val="250"/>
              </a:spcBef>
            </a:pPr>
            <a:r>
              <a:rPr sz="1500" spc="-30" dirty="0">
                <a:solidFill>
                  <a:srgbClr val="FFFFFF"/>
                </a:solidFill>
                <a:latin typeface="Calibri"/>
                <a:cs typeface="Calibri"/>
              </a:rPr>
              <a:t>Tests</a:t>
            </a:r>
            <a:r>
              <a:rPr sz="15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Calibri"/>
                <a:cs typeface="Calibri"/>
              </a:rPr>
              <a:t>are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conducted: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might</a:t>
            </a:r>
            <a:r>
              <a:rPr sz="15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include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multiple</a:t>
            </a:r>
            <a:r>
              <a:rPr sz="15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tests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612123" y="2415539"/>
            <a:ext cx="266700" cy="312420"/>
          </a:xfrm>
          <a:custGeom>
            <a:avLst/>
            <a:gdLst/>
            <a:ahLst/>
            <a:cxnLst/>
            <a:rect l="l" t="t" r="r" b="b"/>
            <a:pathLst>
              <a:path w="266700" h="312419">
                <a:moveTo>
                  <a:pt x="133350" y="0"/>
                </a:moveTo>
                <a:lnTo>
                  <a:pt x="133350" y="62484"/>
                </a:lnTo>
                <a:lnTo>
                  <a:pt x="0" y="62484"/>
                </a:lnTo>
                <a:lnTo>
                  <a:pt x="0" y="249936"/>
                </a:lnTo>
                <a:lnTo>
                  <a:pt x="133350" y="249936"/>
                </a:lnTo>
                <a:lnTo>
                  <a:pt x="133350" y="312420"/>
                </a:lnTo>
                <a:lnTo>
                  <a:pt x="266700" y="156210"/>
                </a:lnTo>
                <a:lnTo>
                  <a:pt x="133350" y="0"/>
                </a:lnTo>
                <a:close/>
              </a:path>
            </a:pathLst>
          </a:custGeom>
          <a:solidFill>
            <a:srgbClr val="AFBB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988552" y="1946148"/>
            <a:ext cx="1257300" cy="1251585"/>
          </a:xfrm>
          <a:custGeom>
            <a:avLst/>
            <a:gdLst/>
            <a:ahLst/>
            <a:cxnLst/>
            <a:rect l="l" t="t" r="r" b="b"/>
            <a:pathLst>
              <a:path w="1257300" h="1251585">
                <a:moveTo>
                  <a:pt x="1132204" y="0"/>
                </a:moveTo>
                <a:lnTo>
                  <a:pt x="125095" y="0"/>
                </a:lnTo>
                <a:lnTo>
                  <a:pt x="76402" y="9830"/>
                </a:lnTo>
                <a:lnTo>
                  <a:pt x="36639" y="36639"/>
                </a:lnTo>
                <a:lnTo>
                  <a:pt x="9830" y="76402"/>
                </a:lnTo>
                <a:lnTo>
                  <a:pt x="0" y="125094"/>
                </a:lnTo>
                <a:lnTo>
                  <a:pt x="0" y="1126109"/>
                </a:lnTo>
                <a:lnTo>
                  <a:pt x="9830" y="1174801"/>
                </a:lnTo>
                <a:lnTo>
                  <a:pt x="36639" y="1214564"/>
                </a:lnTo>
                <a:lnTo>
                  <a:pt x="76402" y="1241373"/>
                </a:lnTo>
                <a:lnTo>
                  <a:pt x="125095" y="1251203"/>
                </a:lnTo>
                <a:lnTo>
                  <a:pt x="1132204" y="1251203"/>
                </a:lnTo>
                <a:lnTo>
                  <a:pt x="1180897" y="1241373"/>
                </a:lnTo>
                <a:lnTo>
                  <a:pt x="1220660" y="1214564"/>
                </a:lnTo>
                <a:lnTo>
                  <a:pt x="1247469" y="1174801"/>
                </a:lnTo>
                <a:lnTo>
                  <a:pt x="1257300" y="1126109"/>
                </a:lnTo>
                <a:lnTo>
                  <a:pt x="1257300" y="125094"/>
                </a:lnTo>
                <a:lnTo>
                  <a:pt x="1247469" y="76402"/>
                </a:lnTo>
                <a:lnTo>
                  <a:pt x="1220660" y="36639"/>
                </a:lnTo>
                <a:lnTo>
                  <a:pt x="1180897" y="9830"/>
                </a:lnTo>
                <a:lnTo>
                  <a:pt x="1132204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9098406" y="2108961"/>
            <a:ext cx="1039494" cy="88201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 marR="5080" indent="635" algn="ctr">
              <a:lnSpc>
                <a:spcPct val="91600"/>
              </a:lnSpc>
              <a:spcBef>
                <a:spcPts val="250"/>
              </a:spcBef>
            </a:pP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5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Calibri"/>
                <a:cs typeface="Calibri"/>
              </a:rPr>
              <a:t>is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analysed</a:t>
            </a:r>
            <a:r>
              <a:rPr sz="15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result</a:t>
            </a:r>
            <a:r>
              <a:rPr sz="15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Calibri"/>
                <a:cs typeface="Calibri"/>
              </a:rPr>
              <a:t>is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created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0372343" y="2415539"/>
            <a:ext cx="266700" cy="312420"/>
          </a:xfrm>
          <a:custGeom>
            <a:avLst/>
            <a:gdLst/>
            <a:ahLst/>
            <a:cxnLst/>
            <a:rect l="l" t="t" r="r" b="b"/>
            <a:pathLst>
              <a:path w="266700" h="312419">
                <a:moveTo>
                  <a:pt x="133350" y="0"/>
                </a:moveTo>
                <a:lnTo>
                  <a:pt x="133350" y="62484"/>
                </a:lnTo>
                <a:lnTo>
                  <a:pt x="0" y="62484"/>
                </a:lnTo>
                <a:lnTo>
                  <a:pt x="0" y="249936"/>
                </a:lnTo>
                <a:lnTo>
                  <a:pt x="133350" y="249936"/>
                </a:lnTo>
                <a:lnTo>
                  <a:pt x="133350" y="312420"/>
                </a:lnTo>
                <a:lnTo>
                  <a:pt x="266700" y="156210"/>
                </a:lnTo>
                <a:lnTo>
                  <a:pt x="133350" y="0"/>
                </a:lnTo>
                <a:close/>
              </a:path>
            </a:pathLst>
          </a:custGeom>
          <a:solidFill>
            <a:srgbClr val="AFBB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0750295" y="1946148"/>
            <a:ext cx="1257300" cy="1251585"/>
          </a:xfrm>
          <a:custGeom>
            <a:avLst/>
            <a:gdLst/>
            <a:ahLst/>
            <a:cxnLst/>
            <a:rect l="l" t="t" r="r" b="b"/>
            <a:pathLst>
              <a:path w="1257300" h="1251585">
                <a:moveTo>
                  <a:pt x="1132204" y="0"/>
                </a:moveTo>
                <a:lnTo>
                  <a:pt x="125095" y="0"/>
                </a:lnTo>
                <a:lnTo>
                  <a:pt x="76402" y="9830"/>
                </a:lnTo>
                <a:lnTo>
                  <a:pt x="36639" y="36639"/>
                </a:lnTo>
                <a:lnTo>
                  <a:pt x="9830" y="76402"/>
                </a:lnTo>
                <a:lnTo>
                  <a:pt x="0" y="125094"/>
                </a:lnTo>
                <a:lnTo>
                  <a:pt x="0" y="1126109"/>
                </a:lnTo>
                <a:lnTo>
                  <a:pt x="9830" y="1174801"/>
                </a:lnTo>
                <a:lnTo>
                  <a:pt x="36639" y="1214564"/>
                </a:lnTo>
                <a:lnTo>
                  <a:pt x="76402" y="1241373"/>
                </a:lnTo>
                <a:lnTo>
                  <a:pt x="125095" y="1251203"/>
                </a:lnTo>
                <a:lnTo>
                  <a:pt x="1132204" y="1251203"/>
                </a:lnTo>
                <a:lnTo>
                  <a:pt x="1180897" y="1241373"/>
                </a:lnTo>
                <a:lnTo>
                  <a:pt x="1220660" y="1214564"/>
                </a:lnTo>
                <a:lnTo>
                  <a:pt x="1247469" y="1174801"/>
                </a:lnTo>
                <a:lnTo>
                  <a:pt x="1257300" y="1126109"/>
                </a:lnTo>
                <a:lnTo>
                  <a:pt x="1257300" y="125094"/>
                </a:lnTo>
                <a:lnTo>
                  <a:pt x="1247469" y="76402"/>
                </a:lnTo>
                <a:lnTo>
                  <a:pt x="1220660" y="36639"/>
                </a:lnTo>
                <a:lnTo>
                  <a:pt x="1180897" y="9830"/>
                </a:lnTo>
                <a:lnTo>
                  <a:pt x="1132204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0833607" y="2003882"/>
            <a:ext cx="1090930" cy="109156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 marR="5080" indent="-635" algn="ctr">
              <a:lnSpc>
                <a:spcPct val="91500"/>
              </a:lnSpc>
              <a:spcBef>
                <a:spcPts val="254"/>
              </a:spcBef>
            </a:pP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Results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uploaded</a:t>
            </a:r>
            <a:r>
              <a:rPr sz="15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1500" spc="-20" dirty="0">
                <a:solidFill>
                  <a:srgbClr val="FFFFFF"/>
                </a:solidFill>
                <a:latin typeface="Calibri"/>
                <a:cs typeface="Calibri"/>
              </a:rPr>
              <a:t>made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available</a:t>
            </a:r>
            <a:r>
              <a:rPr sz="15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patient</a:t>
            </a:r>
            <a:endParaRPr sz="1500">
              <a:latin typeface="Calibri"/>
              <a:cs typeface="Calibri"/>
            </a:endParaRPr>
          </a:p>
        </p:txBody>
      </p:sp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387" y="1208532"/>
            <a:ext cx="609600" cy="609600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26385" y="1265682"/>
            <a:ext cx="495300" cy="495300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38288" y="1203960"/>
            <a:ext cx="609600" cy="609600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91200" y="1208532"/>
            <a:ext cx="609600" cy="609600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101084" y="1289303"/>
            <a:ext cx="609600" cy="609600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341739" y="1317878"/>
            <a:ext cx="552450" cy="552450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049000" y="1280160"/>
            <a:ext cx="609600" cy="609600"/>
          </a:xfrm>
          <a:prstGeom prst="rect">
            <a:avLst/>
          </a:prstGeom>
        </p:spPr>
      </p:pic>
      <p:graphicFrame>
        <p:nvGraphicFramePr>
          <p:cNvPr id="30" name="object 30"/>
          <p:cNvGraphicFramePr>
            <a:graphicFrameLocks noGrp="1"/>
          </p:cNvGraphicFramePr>
          <p:nvPr/>
        </p:nvGraphicFramePr>
        <p:xfrm>
          <a:off x="257809" y="3431159"/>
          <a:ext cx="11739880" cy="3187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6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7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37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00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760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672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3129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08279">
                <a:tc>
                  <a:txBody>
                    <a:bodyPr/>
                    <a:lstStyle/>
                    <a:p>
                      <a:pPr marL="45085">
                        <a:lnSpc>
                          <a:spcPts val="1535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user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book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09855" algn="ctr">
                        <a:lnSpc>
                          <a:spcPts val="1535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booking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6995" algn="ctr">
                        <a:lnSpc>
                          <a:spcPts val="1335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pathology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335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As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soon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as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the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88290">
                        <a:lnSpc>
                          <a:spcPts val="1535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designated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860" algn="ctr">
                        <a:lnSpc>
                          <a:spcPts val="1535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is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95910">
                        <a:lnSpc>
                          <a:spcPts val="1535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generated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252729">
                        <a:lnSpc>
                          <a:spcPts val="157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his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tests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and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09220" algn="ctr">
                        <a:lnSpc>
                          <a:spcPts val="157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details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are</a:t>
                      </a:r>
                      <a:r>
                        <a:rPr sz="14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visible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5725" algn="ctr">
                        <a:lnSpc>
                          <a:spcPts val="137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collector</a:t>
                      </a:r>
                      <a:r>
                        <a:rPr sz="14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visits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the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ts val="137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samples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are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1460">
                        <a:lnSpc>
                          <a:spcPts val="1570"/>
                        </a:lnSpc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pathologists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will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4130" algn="ctr">
                        <a:lnSpc>
                          <a:spcPts val="1570"/>
                        </a:lnSpc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analysed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the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57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report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shared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170180">
                        <a:lnSpc>
                          <a:spcPts val="157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provide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details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09220" algn="ctr">
                        <a:lnSpc>
                          <a:spcPts val="157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app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and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3185" algn="ctr">
                        <a:lnSpc>
                          <a:spcPts val="1375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specified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address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375"/>
                        </a:lnSpc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received,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lab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08305">
                        <a:lnSpc>
                          <a:spcPts val="157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conduct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the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4130" algn="ctr">
                        <a:lnSpc>
                          <a:spcPts val="1570"/>
                        </a:lnSpc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required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report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is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8455">
                        <a:lnSpc>
                          <a:spcPts val="157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user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95250">
                        <a:lnSpc>
                          <a:spcPts val="1570"/>
                        </a:lnSpc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pertaining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 to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the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1125" algn="ctr">
                        <a:lnSpc>
                          <a:spcPts val="1570"/>
                        </a:lnSpc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website.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user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4455" algn="ctr">
                        <a:lnSpc>
                          <a:spcPts val="137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specified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37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admin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update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71780" algn="r">
                        <a:lnSpc>
                          <a:spcPts val="1570"/>
                        </a:lnSpc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required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tests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and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3495" algn="ctr">
                        <a:lnSpc>
                          <a:spcPts val="1570"/>
                        </a:lnSpc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generated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is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8620">
                        <a:lnSpc>
                          <a:spcPts val="157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through</a:t>
                      </a:r>
                      <a:r>
                        <a:rPr sz="14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the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31750">
                        <a:lnSpc>
                          <a:spcPts val="157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name,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age,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gender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09220" algn="ctr">
                        <a:lnSpc>
                          <a:spcPts val="157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intimated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about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5725" algn="ctr">
                        <a:lnSpc>
                          <a:spcPts val="137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time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slot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and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37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details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about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04800" algn="r">
                        <a:lnSpc>
                          <a:spcPts val="157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note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relevant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4765" algn="ctr">
                        <a:lnSpc>
                          <a:spcPts val="157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again</a:t>
                      </a:r>
                      <a:r>
                        <a:rPr sz="14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updated</a:t>
                      </a:r>
                      <a:r>
                        <a:rPr sz="14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in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91795">
                        <a:lnSpc>
                          <a:spcPts val="1570"/>
                        </a:lnSpc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appropriate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151765">
                        <a:lnSpc>
                          <a:spcPts val="157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patients.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09855" algn="ctr">
                        <a:lnSpc>
                          <a:spcPts val="157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designated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5725" algn="ctr">
                        <a:lnSpc>
                          <a:spcPts val="137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collects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the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37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samples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54635" algn="r">
                        <a:lnSpc>
                          <a:spcPts val="157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data.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This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will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860" algn="ctr">
                        <a:lnSpc>
                          <a:spcPts val="157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LIMS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3815" algn="r">
                        <a:lnSpc>
                          <a:spcPts val="1570"/>
                        </a:lnSpc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communication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54610">
                        <a:lnSpc>
                          <a:spcPts val="157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preferred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slot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1125" algn="ctr">
                        <a:lnSpc>
                          <a:spcPts val="1570"/>
                        </a:lnSpc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pathology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3820" algn="ctr">
                        <a:lnSpc>
                          <a:spcPts val="1370"/>
                        </a:lnSpc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required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samples.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ts val="1370"/>
                        </a:lnSpc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received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(number,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45745">
                        <a:lnSpc>
                          <a:spcPts val="157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collected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and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33400">
                        <a:lnSpc>
                          <a:spcPts val="1570"/>
                        </a:lnSpc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channel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2725">
                <a:tc>
                  <a:txBody>
                    <a:bodyPr/>
                    <a:lstStyle/>
                    <a:p>
                      <a:pPr marL="321310">
                        <a:lnSpc>
                          <a:spcPts val="157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sample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1125" algn="ctr">
                        <a:lnSpc>
                          <a:spcPts val="157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collector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the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3820" algn="ctr">
                        <a:lnSpc>
                          <a:spcPts val="137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He/She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marks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ts val="137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types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samples,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ts val="157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updated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4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the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55880">
                        <a:lnSpc>
                          <a:spcPts val="157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collection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the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0489" algn="ctr">
                        <a:lnSpc>
                          <a:spcPts val="157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confirmed</a:t>
                      </a:r>
                      <a:r>
                        <a:rPr sz="14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time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5090" algn="ctr">
                        <a:lnSpc>
                          <a:spcPts val="1370"/>
                        </a:lnSpc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them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ts val="137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time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receipt,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6995" algn="ctr">
                        <a:lnSpc>
                          <a:spcPts val="1570"/>
                        </a:lnSpc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LIMS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328930">
                        <a:lnSpc>
                          <a:spcPts val="1570"/>
                        </a:lnSpc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address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of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09855" algn="ctr">
                        <a:lnSpc>
                          <a:spcPts val="157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slot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sample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6995" algn="ctr">
                        <a:lnSpc>
                          <a:spcPts val="1370"/>
                        </a:lnSpc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appropriately</a:t>
                      </a:r>
                      <a:r>
                        <a:rPr sz="14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and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370"/>
                        </a:lnSpc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designated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tests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to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276860">
                        <a:lnSpc>
                          <a:spcPts val="157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collection</a:t>
                      </a:r>
                      <a:r>
                        <a:rPr sz="14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is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09220" algn="ctr">
                        <a:lnSpc>
                          <a:spcPts val="1570"/>
                        </a:lnSpc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collection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8265" algn="ctr">
                        <a:lnSpc>
                          <a:spcPts val="137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then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packs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them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37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performed,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2725">
                <a:tc>
                  <a:txBody>
                    <a:bodyPr/>
                    <a:lstStyle/>
                    <a:p>
                      <a:pPr marL="61594">
                        <a:lnSpc>
                          <a:spcPts val="157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provided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before</a:t>
                      </a:r>
                      <a:r>
                        <a:rPr sz="14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6360" algn="ctr">
                        <a:lnSpc>
                          <a:spcPts val="137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securely</a:t>
                      </a:r>
                      <a:r>
                        <a:rPr sz="14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in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ts val="137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etc.)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LIMS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2725">
                <a:tc>
                  <a:txBody>
                    <a:bodyPr/>
                    <a:lstStyle/>
                    <a:p>
                      <a:pPr marL="102870">
                        <a:lnSpc>
                          <a:spcPts val="1570"/>
                        </a:lnSpc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payment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done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6360" algn="ctr">
                        <a:lnSpc>
                          <a:spcPts val="1370"/>
                        </a:lnSpc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optimum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2725">
                <a:tc>
                  <a:txBody>
                    <a:bodyPr/>
                    <a:lstStyle/>
                    <a:p>
                      <a:pPr marL="188595">
                        <a:lnSpc>
                          <a:spcPts val="157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confirm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the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5725" algn="ctr">
                        <a:lnSpc>
                          <a:spcPts val="137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conditions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take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8279">
                <a:tc>
                  <a:txBody>
                    <a:bodyPr/>
                    <a:lstStyle/>
                    <a:p>
                      <a:pPr marL="412750">
                        <a:lnSpc>
                          <a:spcPts val="1545"/>
                        </a:lnSpc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booking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3185" algn="ctr">
                        <a:lnSpc>
                          <a:spcPts val="137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them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lab.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64658" y="78486"/>
            <a:ext cx="16617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Pain</a:t>
            </a:r>
            <a:r>
              <a:rPr spc="-95" dirty="0"/>
              <a:t> </a:t>
            </a:r>
            <a:r>
              <a:rPr spc="-10" dirty="0"/>
              <a:t>points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36943" y="657733"/>
          <a:ext cx="11644630" cy="46628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17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72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57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03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9445">
                <a:tc>
                  <a:txBody>
                    <a:bodyPr/>
                    <a:lstStyle/>
                    <a:p>
                      <a:pPr marL="576580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Pain</a:t>
                      </a:r>
                      <a:r>
                        <a:rPr sz="1800" b="1" spc="-5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point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7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Detail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7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47015" marR="176530" indent="-6096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Urgency</a:t>
                      </a:r>
                      <a:r>
                        <a:rPr sz="1800" b="1" spc="-9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be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solved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Frequency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7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06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Process</a:t>
                      </a:r>
                      <a:r>
                        <a:rPr sz="1600" b="1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knowledge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9050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Patients</a:t>
                      </a:r>
                      <a:r>
                        <a:rPr sz="16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have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little</a:t>
                      </a:r>
                      <a:r>
                        <a:rPr sz="16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no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information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about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how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entire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process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sample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collection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take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place</a:t>
                      </a:r>
                      <a:r>
                        <a:rPr sz="1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different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tests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(e.g.: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number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samples,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place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where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sample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drawn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from,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best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practices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follow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before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phlebotomy,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etc.).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It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would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put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them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at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ease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know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process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which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followed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environment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maintain</a:t>
                      </a:r>
                      <a:r>
                        <a:rPr sz="1600" spc="2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smooth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collection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sample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35877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Medium</a:t>
                      </a:r>
                      <a:r>
                        <a:rPr sz="1600" b="1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25" dirty="0">
                          <a:latin typeface="Calibri"/>
                          <a:cs typeface="Calibri"/>
                        </a:rPr>
                        <a:t>to </a:t>
                      </a:r>
                      <a:r>
                        <a:rPr sz="1600" b="1" spc="-20" dirty="0">
                          <a:latin typeface="Calibri"/>
                          <a:cs typeface="Calibri"/>
                        </a:rPr>
                        <a:t>high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13208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Medium</a:t>
                      </a:r>
                      <a:r>
                        <a:rPr sz="1600" b="1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25" dirty="0">
                          <a:latin typeface="Calibri"/>
                          <a:cs typeface="Calibri"/>
                        </a:rPr>
                        <a:t>to </a:t>
                      </a:r>
                      <a:r>
                        <a:rPr sz="1600" b="1" spc="-20" dirty="0">
                          <a:latin typeface="Calibri"/>
                          <a:cs typeface="Calibri"/>
                        </a:rPr>
                        <a:t>high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 marL="91440" marR="60706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Current</a:t>
                      </a:r>
                      <a:r>
                        <a:rPr sz="1600" b="1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status</a:t>
                      </a:r>
                      <a:r>
                        <a:rPr sz="1600" b="1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25" dirty="0">
                          <a:latin typeface="Calibri"/>
                          <a:cs typeface="Calibri"/>
                        </a:rPr>
                        <a:t>of 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sample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924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Once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sample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handed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over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phlebotomist,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patient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faces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black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box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terms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where the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sample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might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currently,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how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sample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being treated,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ETA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result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generation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receipt.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ability</a:t>
                      </a:r>
                      <a:r>
                        <a:rPr sz="16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know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live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status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sample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would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introduce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transparency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process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b="1" spc="-20" dirty="0">
                          <a:latin typeface="Calibri"/>
                          <a:cs typeface="Calibri"/>
                        </a:rPr>
                        <a:t>High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b="1" spc="-20" dirty="0">
                          <a:latin typeface="Calibri"/>
                          <a:cs typeface="Calibri"/>
                        </a:rPr>
                        <a:t>High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91440" marR="1689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Cancel/reschedule</a:t>
                      </a:r>
                      <a:r>
                        <a:rPr sz="1600" spc="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test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27876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These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options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are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currently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available</a:t>
                      </a:r>
                      <a:r>
                        <a:rPr sz="16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through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booking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flow,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once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tracking system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built</a:t>
                      </a:r>
                      <a:r>
                        <a:rPr sz="1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patients,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it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would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make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it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easier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patients</a:t>
                      </a:r>
                      <a:r>
                        <a:rPr sz="16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access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these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options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through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tracking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flow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directly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Low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b="1" spc="-10" dirty="0">
                          <a:latin typeface="Calibri"/>
                          <a:cs typeface="Calibri"/>
                        </a:rPr>
                        <a:t>Medium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91440" marR="25336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Knowledge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about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key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benchmarks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228600" algn="just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Most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samples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need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specific</a:t>
                      </a:r>
                      <a:r>
                        <a:rPr sz="1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temperature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storage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conditions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which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they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need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delivered/stored/processed.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 The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patient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might</a:t>
                      </a:r>
                      <a:r>
                        <a:rPr sz="1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need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know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if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best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practices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are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being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followed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while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handling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their</a:t>
                      </a:r>
                      <a:r>
                        <a:rPr sz="1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samples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58483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Low</a:t>
                      </a:r>
                      <a:r>
                        <a:rPr sz="16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25" dirty="0">
                          <a:latin typeface="Calibri"/>
                          <a:cs typeface="Calibri"/>
                        </a:rPr>
                        <a:t>to 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Medium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Low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443483" y="5574791"/>
            <a:ext cx="11555095" cy="61595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65"/>
              </a:spcBef>
            </a:pPr>
            <a:r>
              <a:rPr sz="1700" dirty="0">
                <a:latin typeface="Calibri"/>
                <a:cs typeface="Calibri"/>
              </a:rPr>
              <a:t>I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will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prioritize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pain</a:t>
            </a:r>
            <a:r>
              <a:rPr sz="1700" spc="-6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points</a:t>
            </a:r>
            <a:r>
              <a:rPr sz="1700" spc="-6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with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urgency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to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be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solved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and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frequency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above</a:t>
            </a:r>
            <a:r>
              <a:rPr sz="1700" spc="5" dirty="0">
                <a:latin typeface="Calibri"/>
                <a:cs typeface="Calibri"/>
              </a:rPr>
              <a:t> </a:t>
            </a:r>
            <a:r>
              <a:rPr sz="1700" b="1" dirty="0">
                <a:latin typeface="Calibri"/>
                <a:cs typeface="Calibri"/>
              </a:rPr>
              <a:t>medium</a:t>
            </a:r>
            <a:r>
              <a:rPr sz="1700" b="1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to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tackle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in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order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to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build</a:t>
            </a:r>
            <a:r>
              <a:rPr sz="1700" spc="-6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our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control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tower.</a:t>
            </a:r>
            <a:endParaRPr sz="1700">
              <a:latin typeface="Calibri"/>
              <a:cs typeface="Calibri"/>
            </a:endParaRPr>
          </a:p>
          <a:p>
            <a:pPr marR="3175" algn="ctr">
              <a:lnSpc>
                <a:spcPct val="100000"/>
              </a:lnSpc>
            </a:pPr>
            <a:r>
              <a:rPr sz="1700" dirty="0">
                <a:latin typeface="Calibri"/>
                <a:cs typeface="Calibri"/>
              </a:rPr>
              <a:t>This</a:t>
            </a:r>
            <a:r>
              <a:rPr sz="1700" spc="-6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is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done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so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that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our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problem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to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solve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is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not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very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general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with</a:t>
            </a:r>
            <a:r>
              <a:rPr sz="1700" spc="-6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multiple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things</a:t>
            </a:r>
            <a:r>
              <a:rPr sz="1700" spc="-6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to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take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care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of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at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same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time.</a:t>
            </a:r>
            <a:endParaRPr sz="1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4238" rIns="0" bIns="0" rtlCol="0">
            <a:spAutoFit/>
          </a:bodyPr>
          <a:lstStyle/>
          <a:p>
            <a:pPr marL="106045">
              <a:lnSpc>
                <a:spcPct val="100000"/>
              </a:lnSpc>
              <a:spcBef>
                <a:spcPts val="95"/>
              </a:spcBef>
            </a:pPr>
            <a:r>
              <a:rPr dirty="0"/>
              <a:t>Designing</a:t>
            </a:r>
            <a:r>
              <a:rPr spc="-90" dirty="0"/>
              <a:t> </a:t>
            </a:r>
            <a:r>
              <a:rPr dirty="0"/>
              <a:t>the</a:t>
            </a:r>
            <a:r>
              <a:rPr spc="-110" dirty="0"/>
              <a:t> </a:t>
            </a:r>
            <a:r>
              <a:rPr dirty="0"/>
              <a:t>control</a:t>
            </a:r>
            <a:r>
              <a:rPr spc="-110" dirty="0"/>
              <a:t> </a:t>
            </a:r>
            <a:r>
              <a:rPr dirty="0"/>
              <a:t>tower:</a:t>
            </a:r>
            <a:r>
              <a:rPr spc="-105" dirty="0"/>
              <a:t> </a:t>
            </a:r>
            <a:r>
              <a:rPr spc="-10" dirty="0"/>
              <a:t>Features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28916" y="1675638"/>
          <a:ext cx="11417935" cy="46666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60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61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9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47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16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15811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Feature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Details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Impact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Effort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Score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4960">
                <a:tc>
                  <a:txBody>
                    <a:bodyPr/>
                    <a:lstStyle/>
                    <a:p>
                      <a:pPr marL="91440" marR="2597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b="1" spc="-10" dirty="0">
                          <a:latin typeface="Calibri"/>
                          <a:cs typeface="Calibri"/>
                        </a:rPr>
                        <a:t>Booking details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198120" marR="757555" indent="-107314">
                        <a:lnSpc>
                          <a:spcPct val="100000"/>
                        </a:lnSpc>
                        <a:spcBef>
                          <a:spcPts val="270"/>
                        </a:spcBef>
                        <a:buFont typeface="Arial MT"/>
                        <a:buChar char="•"/>
                        <a:tabLst>
                          <a:tab pos="199390" algn="l"/>
                        </a:tabLst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unique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user</a:t>
                      </a:r>
                      <a:r>
                        <a:rPr sz="14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ID</a:t>
                      </a:r>
                      <a:r>
                        <a:rPr sz="14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generated.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This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help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identify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case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patient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throughout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the 	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workflow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198120" marR="274320" indent="-107314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199390" algn="l"/>
                        </a:tabLst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Each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booked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test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have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unique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test</a:t>
                      </a:r>
                      <a:r>
                        <a:rPr sz="14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ID</a:t>
                      </a:r>
                      <a:r>
                        <a:rPr sz="14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generated.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This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help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identify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each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test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separately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to 	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map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samples/patients</a:t>
                      </a:r>
                      <a:r>
                        <a:rPr sz="14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against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each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ID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clearly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198120" marR="825500" indent="-107314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199390" algn="l"/>
                        </a:tabLst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Patient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details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such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as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service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booked,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payment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status,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contact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details,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etc.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reflected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as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a 	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confirmation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entered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by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patient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while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booking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service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198755" indent="-107314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Arial MT"/>
                        <a:buChar char="•"/>
                        <a:tabLst>
                          <a:tab pos="198755" algn="l"/>
                        </a:tabLst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Details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collection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date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time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also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visible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user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0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600" b="1" spc="-50" dirty="0">
                          <a:latin typeface="Calibri"/>
                          <a:cs typeface="Calibri"/>
                        </a:rPr>
                        <a:t>9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0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3175" algn="ctr">
                        <a:lnSpc>
                          <a:spcPct val="100000"/>
                        </a:lnSpc>
                      </a:pPr>
                      <a:r>
                        <a:rPr sz="1600" b="1" spc="-50" dirty="0">
                          <a:latin typeface="Calibri"/>
                          <a:cs typeface="Calibri"/>
                        </a:rPr>
                        <a:t>6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0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3810" algn="ctr">
                        <a:lnSpc>
                          <a:spcPct val="100000"/>
                        </a:lnSpc>
                      </a:pPr>
                      <a:r>
                        <a:rPr sz="1600" b="1" spc="-20" dirty="0">
                          <a:latin typeface="Calibri"/>
                          <a:cs typeface="Calibri"/>
                        </a:rPr>
                        <a:t>1.50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91440" marR="13906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Collection details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23304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Details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pathology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collector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(name/contact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details)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visible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user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as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soon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as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it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finalised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back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end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sz="1600" b="1" spc="-50" dirty="0">
                          <a:latin typeface="Calibri"/>
                          <a:cs typeface="Calibri"/>
                        </a:rPr>
                        <a:t>3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250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sz="1600" b="1" spc="-50" dirty="0">
                          <a:latin typeface="Calibri"/>
                          <a:cs typeface="Calibri"/>
                        </a:rPr>
                        <a:t>3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250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sz="1600" b="1" spc="-20" dirty="0">
                          <a:latin typeface="Calibri"/>
                          <a:cs typeface="Calibri"/>
                        </a:rPr>
                        <a:t>1.00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250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4244">
                <a:tc>
                  <a:txBody>
                    <a:bodyPr/>
                    <a:lstStyle/>
                    <a:p>
                      <a:pPr marL="91440" marR="15430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b="1" spc="-10" dirty="0">
                          <a:latin typeface="Calibri"/>
                          <a:cs typeface="Calibri"/>
                        </a:rPr>
                        <a:t>Process Overview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22606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tests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booked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by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individual will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have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latin typeface="Calibri"/>
                          <a:cs typeface="Calibri"/>
                        </a:rPr>
                        <a:t>standard</a:t>
                      </a:r>
                      <a:r>
                        <a:rPr sz="1400" b="1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process</a:t>
                      </a:r>
                      <a:r>
                        <a:rPr sz="14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summary</a:t>
                      </a:r>
                      <a:r>
                        <a:rPr sz="14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mapped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against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them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database.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These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summaries</a:t>
                      </a:r>
                      <a:r>
                        <a:rPr sz="14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14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4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made</a:t>
                      </a:r>
                      <a:r>
                        <a:rPr sz="14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latin typeface="Calibri"/>
                          <a:cs typeface="Calibri"/>
                        </a:rPr>
                        <a:t>available</a:t>
                      </a:r>
                      <a:r>
                        <a:rPr sz="14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patient</a:t>
                      </a:r>
                      <a:r>
                        <a:rPr sz="14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4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each</a:t>
                      </a:r>
                      <a:r>
                        <a:rPr sz="14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test</a:t>
                      </a:r>
                      <a:r>
                        <a:rPr sz="14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ID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so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that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patient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can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have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access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to: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summary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test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steps,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number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types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samples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that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collected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from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them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best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practices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follow</a:t>
                      </a:r>
                      <a:r>
                        <a:rPr sz="14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before,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during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after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collection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600" b="1" spc="-50" dirty="0">
                          <a:latin typeface="Calibri"/>
                          <a:cs typeface="Calibri"/>
                        </a:rPr>
                        <a:t>8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3175" algn="ctr">
                        <a:lnSpc>
                          <a:spcPct val="100000"/>
                        </a:lnSpc>
                      </a:pPr>
                      <a:r>
                        <a:rPr sz="1600" b="1" spc="-50" dirty="0">
                          <a:latin typeface="Calibri"/>
                          <a:cs typeface="Calibri"/>
                        </a:rPr>
                        <a:t>4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3810" algn="ctr">
                        <a:lnSpc>
                          <a:spcPct val="100000"/>
                        </a:lnSpc>
                      </a:pPr>
                      <a:r>
                        <a:rPr sz="1600" b="1" spc="-20" dirty="0">
                          <a:latin typeface="Calibri"/>
                          <a:cs typeface="Calibri"/>
                        </a:rPr>
                        <a:t>2.00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0885">
                <a:tc>
                  <a:txBody>
                    <a:bodyPr/>
                    <a:lstStyle/>
                    <a:p>
                      <a:pPr marL="91440" marR="31496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b="1" spc="-10" dirty="0">
                          <a:latin typeface="Calibri"/>
                          <a:cs typeface="Calibri"/>
                        </a:rPr>
                        <a:t>Sample tracker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198120" marR="902969" indent="-107314">
                        <a:lnSpc>
                          <a:spcPct val="100000"/>
                        </a:lnSpc>
                        <a:spcBef>
                          <a:spcPts val="275"/>
                        </a:spcBef>
                        <a:buFont typeface="Arial MT"/>
                        <a:buChar char="•"/>
                        <a:tabLst>
                          <a:tab pos="199390" algn="l"/>
                        </a:tabLst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Once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sample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reaches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the lab,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time</a:t>
                      </a:r>
                      <a:r>
                        <a:rPr sz="14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latin typeface="Calibri"/>
                          <a:cs typeface="Calibri"/>
                        </a:rPr>
                        <a:t>receipt</a:t>
                      </a:r>
                      <a:r>
                        <a:rPr sz="14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4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latin typeface="Calibri"/>
                          <a:cs typeface="Calibri"/>
                        </a:rPr>
                        <a:t>updated</a:t>
                      </a:r>
                      <a:r>
                        <a:rPr sz="14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4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latin typeface="Calibri"/>
                          <a:cs typeface="Calibri"/>
                        </a:rPr>
                        <a:t>Laboratory</a:t>
                      </a:r>
                      <a:r>
                        <a:rPr sz="14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latin typeface="Calibri"/>
                          <a:cs typeface="Calibri"/>
                        </a:rPr>
                        <a:t>Information 	Management</a:t>
                      </a:r>
                      <a:r>
                        <a:rPr sz="14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latin typeface="Calibri"/>
                          <a:cs typeface="Calibri"/>
                        </a:rPr>
                        <a:t>System</a:t>
                      </a:r>
                      <a:r>
                        <a:rPr sz="14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(LIMS)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which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fetched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into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tracker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as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well.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198755" indent="-107314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198755" algn="l"/>
                        </a:tabLst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start</a:t>
                      </a:r>
                      <a:r>
                        <a:rPr sz="14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end</a:t>
                      </a:r>
                      <a:r>
                        <a:rPr sz="14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time</a:t>
                      </a:r>
                      <a:r>
                        <a:rPr sz="14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each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test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being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performed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updated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tracker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through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LIMS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10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2324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600" b="1" spc="-50" dirty="0">
                          <a:latin typeface="Calibri"/>
                          <a:cs typeface="Calibri"/>
                        </a:rPr>
                        <a:t>7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2324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600" b="1" spc="-20" dirty="0">
                          <a:latin typeface="Calibri"/>
                          <a:cs typeface="Calibri"/>
                        </a:rPr>
                        <a:t>1.43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2324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91440" marR="844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Discarding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samples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86296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Patients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made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aware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about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environment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friendly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disposal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their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samples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by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following appropriate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procedures.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This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also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read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from</a:t>
                      </a:r>
                      <a:r>
                        <a:rPr sz="14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updates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LIMS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sz="1600" b="1" spc="-50" dirty="0">
                          <a:latin typeface="Calibri"/>
                          <a:cs typeface="Calibri"/>
                        </a:rPr>
                        <a:t>4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257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sz="1600" b="1" spc="-50" dirty="0">
                          <a:latin typeface="Calibri"/>
                          <a:cs typeface="Calibri"/>
                        </a:rPr>
                        <a:t>3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257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sz="1600" b="1" spc="-20" dirty="0">
                          <a:latin typeface="Calibri"/>
                          <a:cs typeface="Calibri"/>
                        </a:rPr>
                        <a:t>1.33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257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714248" y="901700"/>
            <a:ext cx="9156700" cy="666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As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soon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as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new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test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booked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through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app/website,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tracking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workflow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will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be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triggered</a:t>
            </a:r>
            <a:r>
              <a:rPr sz="1400" spc="-10" dirty="0"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Calibri"/>
                <a:cs typeface="Calibri"/>
              </a:rPr>
              <a:t>The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patient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will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receive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link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track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their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sample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collection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process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from</a:t>
            </a:r>
            <a:r>
              <a:rPr sz="1400" spc="-7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after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booking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till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receipt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their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reports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Calibri"/>
                <a:cs typeface="Calibri"/>
              </a:rPr>
              <a:t>This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workflow</a:t>
            </a:r>
            <a:r>
              <a:rPr sz="1400" spc="-8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will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also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available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new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option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app/website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9507" y="4229100"/>
            <a:ext cx="298997" cy="34893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4107" y="2092451"/>
            <a:ext cx="294397" cy="34729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8707" y="5160264"/>
            <a:ext cx="308197" cy="3611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6671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</a:pPr>
            <a:r>
              <a:rPr dirty="0"/>
              <a:t>Designing</a:t>
            </a:r>
            <a:r>
              <a:rPr spc="-90" dirty="0"/>
              <a:t> </a:t>
            </a:r>
            <a:r>
              <a:rPr dirty="0"/>
              <a:t>the</a:t>
            </a:r>
            <a:r>
              <a:rPr spc="-80" dirty="0"/>
              <a:t> </a:t>
            </a:r>
            <a:r>
              <a:rPr dirty="0"/>
              <a:t>control</a:t>
            </a:r>
            <a:r>
              <a:rPr spc="-100" dirty="0"/>
              <a:t> </a:t>
            </a:r>
            <a:r>
              <a:rPr dirty="0"/>
              <a:t>tower:</a:t>
            </a:r>
            <a:r>
              <a:rPr spc="-90" dirty="0"/>
              <a:t> </a:t>
            </a:r>
            <a:r>
              <a:rPr spc="-10" dirty="0"/>
              <a:t>Workflow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1544" y="6176568"/>
            <a:ext cx="99745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58240" marR="5080" indent="-1146175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alibri"/>
                <a:cs typeface="Calibri"/>
              </a:rPr>
              <a:t>Note: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6F2F9F"/>
                </a:solidFill>
                <a:latin typeface="Calibri"/>
                <a:cs typeface="Calibri"/>
              </a:rPr>
              <a:t>Purple</a:t>
            </a:r>
            <a:r>
              <a:rPr sz="1600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boxes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display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check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points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that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customer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will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made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aware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during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tracking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their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samples </a:t>
            </a:r>
            <a:r>
              <a:rPr sz="1600" dirty="0">
                <a:solidFill>
                  <a:srgbClr val="843B0C"/>
                </a:solidFill>
                <a:latin typeface="Calibri"/>
                <a:cs typeface="Calibri"/>
              </a:rPr>
              <a:t>Brown</a:t>
            </a:r>
            <a:r>
              <a:rPr sz="1600" spc="5" dirty="0">
                <a:solidFill>
                  <a:srgbClr val="843B0C"/>
                </a:solidFill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box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will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stored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database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beforehand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will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fetched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per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case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284732"/>
            <a:ext cx="12191999" cy="46161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9215">
              <a:lnSpc>
                <a:spcPct val="100000"/>
              </a:lnSpc>
              <a:spcBef>
                <a:spcPts val="95"/>
              </a:spcBef>
            </a:pPr>
            <a:r>
              <a:rPr dirty="0"/>
              <a:t>Designing</a:t>
            </a:r>
            <a:r>
              <a:rPr spc="-90" dirty="0"/>
              <a:t> </a:t>
            </a:r>
            <a:r>
              <a:rPr dirty="0"/>
              <a:t>the</a:t>
            </a:r>
            <a:r>
              <a:rPr spc="-80" dirty="0"/>
              <a:t> </a:t>
            </a:r>
            <a:r>
              <a:rPr dirty="0"/>
              <a:t>control</a:t>
            </a:r>
            <a:r>
              <a:rPr spc="-100" dirty="0"/>
              <a:t> </a:t>
            </a:r>
            <a:r>
              <a:rPr dirty="0"/>
              <a:t>tower:</a:t>
            </a:r>
            <a:r>
              <a:rPr spc="-90" dirty="0"/>
              <a:t> </a:t>
            </a:r>
            <a:r>
              <a:rPr spc="-10" dirty="0"/>
              <a:t>Mockups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66700" y="452626"/>
            <a:ext cx="1908175" cy="6318885"/>
            <a:chOff x="266700" y="452626"/>
            <a:chExt cx="1908175" cy="63188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6700" y="452626"/>
              <a:ext cx="1525524" cy="631850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502283" y="2525267"/>
              <a:ext cx="672465" cy="3124835"/>
            </a:xfrm>
            <a:custGeom>
              <a:avLst/>
              <a:gdLst/>
              <a:ahLst/>
              <a:cxnLst/>
              <a:rect l="l" t="t" r="r" b="b"/>
              <a:pathLst>
                <a:path w="672464" h="3124835">
                  <a:moveTo>
                    <a:pt x="671576" y="787654"/>
                  </a:moveTo>
                  <a:lnTo>
                    <a:pt x="74828" y="55079"/>
                  </a:lnTo>
                  <a:lnTo>
                    <a:pt x="86944" y="45212"/>
                  </a:lnTo>
                  <a:lnTo>
                    <a:pt x="99441" y="35052"/>
                  </a:lnTo>
                  <a:lnTo>
                    <a:pt x="21717" y="0"/>
                  </a:lnTo>
                  <a:lnTo>
                    <a:pt x="40259" y="83185"/>
                  </a:lnTo>
                  <a:lnTo>
                    <a:pt x="64947" y="63106"/>
                  </a:lnTo>
                  <a:lnTo>
                    <a:pt x="661670" y="795655"/>
                  </a:lnTo>
                  <a:lnTo>
                    <a:pt x="671576" y="787654"/>
                  </a:lnTo>
                  <a:close/>
                </a:path>
                <a:path w="672464" h="3124835">
                  <a:moveTo>
                    <a:pt x="672338" y="1654683"/>
                  </a:moveTo>
                  <a:lnTo>
                    <a:pt x="660781" y="1649349"/>
                  </a:lnTo>
                  <a:lnTo>
                    <a:pt x="28943" y="3052635"/>
                  </a:lnTo>
                  <a:lnTo>
                    <a:pt x="0" y="3039618"/>
                  </a:lnTo>
                  <a:lnTo>
                    <a:pt x="3429" y="3124682"/>
                  </a:lnTo>
                  <a:lnTo>
                    <a:pt x="69469" y="3070847"/>
                  </a:lnTo>
                  <a:lnTo>
                    <a:pt x="66217" y="3069386"/>
                  </a:lnTo>
                  <a:lnTo>
                    <a:pt x="40500" y="3057829"/>
                  </a:lnTo>
                  <a:lnTo>
                    <a:pt x="672338" y="16546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311654" y="2825623"/>
            <a:ext cx="2860040" cy="1732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alibri"/>
                <a:cs typeface="Calibri"/>
              </a:rPr>
              <a:t>Accessing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control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tower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will</a:t>
            </a:r>
            <a:r>
              <a:rPr sz="1600" spc="50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possible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from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activity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tab</a:t>
            </a:r>
            <a:r>
              <a:rPr sz="1600" spc="50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mobile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app.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60" dirty="0">
                <a:latin typeface="Calibri"/>
                <a:cs typeface="Calibri"/>
              </a:rPr>
              <a:t>To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generate awareness, </a:t>
            </a:r>
            <a:r>
              <a:rPr sz="1600" dirty="0">
                <a:latin typeface="Calibri"/>
                <a:cs typeface="Calibri"/>
              </a:rPr>
              <a:t>there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will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banner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home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page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(default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section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app)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button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to</a:t>
            </a:r>
            <a:r>
              <a:rPr sz="1600" spc="50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access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control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tower.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615553" y="1067765"/>
            <a:ext cx="3026410" cy="1245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first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screen for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logged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user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active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booked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tests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will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</a:t>
            </a:r>
            <a:r>
              <a:rPr sz="1600" spc="-25" dirty="0">
                <a:latin typeface="Calibri"/>
                <a:cs typeface="Calibri"/>
              </a:rPr>
              <a:t> the </a:t>
            </a:r>
            <a:r>
              <a:rPr sz="1600" dirty="0">
                <a:latin typeface="Calibri"/>
                <a:cs typeface="Calibri"/>
              </a:rPr>
              <a:t>booking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details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followed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by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test- </a:t>
            </a:r>
            <a:r>
              <a:rPr sz="1600" dirty="0">
                <a:latin typeface="Calibri"/>
                <a:cs typeface="Calibri"/>
              </a:rPr>
              <a:t>specific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details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all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chosen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tests </a:t>
            </a:r>
            <a:r>
              <a:rPr sz="1600" dirty="0">
                <a:latin typeface="Calibri"/>
                <a:cs typeface="Calibri"/>
              </a:rPr>
              <a:t>under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user’s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booking/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15553" y="2942031"/>
            <a:ext cx="2974340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alibri"/>
                <a:cs typeface="Calibri"/>
              </a:rPr>
              <a:t>Each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test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will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have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its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unique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and </a:t>
            </a:r>
            <a:r>
              <a:rPr sz="1600" dirty="0">
                <a:latin typeface="Calibri"/>
                <a:cs typeface="Calibri"/>
              </a:rPr>
              <a:t>details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patients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that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are </a:t>
            </a:r>
            <a:r>
              <a:rPr sz="1600" dirty="0">
                <a:latin typeface="Calibri"/>
                <a:cs typeface="Calibri"/>
              </a:rPr>
              <a:t>scheduled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for.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Each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test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will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also </a:t>
            </a:r>
            <a:r>
              <a:rPr sz="1600" dirty="0">
                <a:latin typeface="Calibri"/>
                <a:cs typeface="Calibri"/>
              </a:rPr>
              <a:t>include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2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options: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15553" y="4161485"/>
            <a:ext cx="3115945" cy="19767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10795" indent="-342900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355600" algn="l"/>
              </a:tabLst>
            </a:pPr>
            <a:r>
              <a:rPr sz="1600" b="1" dirty="0">
                <a:latin typeface="Calibri"/>
                <a:cs typeface="Calibri"/>
              </a:rPr>
              <a:t>Overview:</a:t>
            </a:r>
            <a:r>
              <a:rPr sz="1600" b="1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This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will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give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access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to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process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overview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that</a:t>
            </a:r>
            <a:r>
              <a:rPr sz="1600" spc="50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test,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including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steps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involved, </a:t>
            </a:r>
            <a:r>
              <a:rPr sz="1600" dirty="0">
                <a:latin typeface="Calibri"/>
                <a:cs typeface="Calibri"/>
              </a:rPr>
              <a:t>best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practices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patients,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etc.</a:t>
            </a:r>
            <a:endParaRPr sz="160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355600" algn="l"/>
              </a:tabLst>
            </a:pPr>
            <a:r>
              <a:rPr sz="1600" b="1" spc="-20" dirty="0">
                <a:latin typeface="Calibri"/>
                <a:cs typeface="Calibri"/>
              </a:rPr>
              <a:t>Track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my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test: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This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opens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the </a:t>
            </a:r>
            <a:r>
              <a:rPr sz="1600" dirty="0">
                <a:latin typeface="Calibri"/>
                <a:cs typeface="Calibri"/>
              </a:rPr>
              <a:t>tracking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section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where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the </a:t>
            </a:r>
            <a:r>
              <a:rPr sz="1600" dirty="0">
                <a:latin typeface="Calibri"/>
                <a:cs typeface="Calibri"/>
              </a:rPr>
              <a:t>current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status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booking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and </a:t>
            </a:r>
            <a:r>
              <a:rPr sz="1600" dirty="0">
                <a:latin typeface="Calibri"/>
                <a:cs typeface="Calibri"/>
              </a:rPr>
              <a:t>sample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visible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user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67171" y="702563"/>
            <a:ext cx="2904744" cy="60182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73933" y="-32816"/>
            <a:ext cx="56451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Designing</a:t>
            </a:r>
            <a:r>
              <a:rPr spc="-65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dirty="0"/>
              <a:t>control</a:t>
            </a:r>
            <a:r>
              <a:rPr spc="-75" dirty="0"/>
              <a:t> </a:t>
            </a:r>
            <a:r>
              <a:rPr dirty="0"/>
              <a:t>tower:</a:t>
            </a:r>
            <a:r>
              <a:rPr spc="-70" dirty="0"/>
              <a:t> </a:t>
            </a:r>
            <a:r>
              <a:rPr spc="-10" dirty="0"/>
              <a:t>Mockups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95644" y="539495"/>
            <a:ext cx="2692907" cy="614476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370579" y="755142"/>
            <a:ext cx="2658110" cy="56343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480" algn="ctr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Calibri"/>
                <a:cs typeface="Calibri"/>
              </a:rPr>
              <a:t>Overview</a:t>
            </a:r>
            <a:r>
              <a:rPr sz="1600" b="1" spc="-5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Section</a:t>
            </a:r>
            <a:endParaRPr sz="1600">
              <a:latin typeface="Calibri"/>
              <a:cs typeface="Calibri"/>
            </a:endParaRPr>
          </a:p>
          <a:p>
            <a:pPr marL="66040" marR="29209" indent="3175" algn="ctr">
              <a:lnSpc>
                <a:spcPct val="100000"/>
              </a:lnSpc>
            </a:pPr>
            <a:r>
              <a:rPr sz="1600" dirty="0">
                <a:latin typeface="Calibri"/>
                <a:cs typeface="Calibri"/>
              </a:rPr>
              <a:t>The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overview section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will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ease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patient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into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sample </a:t>
            </a:r>
            <a:r>
              <a:rPr sz="1600" dirty="0">
                <a:latin typeface="Calibri"/>
                <a:cs typeface="Calibri"/>
              </a:rPr>
              <a:t>collection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process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it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will </a:t>
            </a:r>
            <a:r>
              <a:rPr sz="1600" dirty="0">
                <a:latin typeface="Calibri"/>
                <a:cs typeface="Calibri"/>
              </a:rPr>
              <a:t>provide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necessary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context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patient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will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know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what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expect.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There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will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be </a:t>
            </a:r>
            <a:r>
              <a:rPr sz="1600" spc="-10" dirty="0">
                <a:latin typeface="Calibri"/>
                <a:cs typeface="Calibri"/>
              </a:rPr>
              <a:t>separate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sub-</a:t>
            </a:r>
            <a:r>
              <a:rPr sz="1600" dirty="0">
                <a:latin typeface="Calibri"/>
                <a:cs typeface="Calibri"/>
              </a:rPr>
              <a:t>sections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on:</a:t>
            </a:r>
            <a:endParaRPr sz="1600">
              <a:latin typeface="Calibri"/>
              <a:cs typeface="Calibri"/>
            </a:endParaRPr>
          </a:p>
          <a:p>
            <a:pPr marL="355600" marR="135890" indent="-342900">
              <a:lnSpc>
                <a:spcPct val="100000"/>
              </a:lnSpc>
              <a:spcBef>
                <a:spcPts val="1925"/>
              </a:spcBef>
              <a:buAutoNum type="arabicPeriod"/>
              <a:tabLst>
                <a:tab pos="355600" algn="l"/>
              </a:tabLst>
            </a:pPr>
            <a:r>
              <a:rPr sz="1600" b="1" spc="-40" dirty="0">
                <a:latin typeface="Calibri"/>
                <a:cs typeface="Calibri"/>
              </a:rPr>
              <a:t>Test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process:</a:t>
            </a:r>
            <a:r>
              <a:rPr sz="1600" b="1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This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will </a:t>
            </a:r>
            <a:r>
              <a:rPr sz="1600" spc="-10" dirty="0">
                <a:latin typeface="Calibri"/>
                <a:cs typeface="Calibri"/>
              </a:rPr>
              <a:t>contain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summary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the </a:t>
            </a:r>
            <a:r>
              <a:rPr sz="1600" dirty="0">
                <a:latin typeface="Calibri"/>
                <a:cs typeface="Calibri"/>
              </a:rPr>
              <a:t>steps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involved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the </a:t>
            </a:r>
            <a:r>
              <a:rPr sz="1600" dirty="0">
                <a:latin typeface="Calibri"/>
                <a:cs typeface="Calibri"/>
              </a:rPr>
              <a:t>collection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process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a </a:t>
            </a:r>
            <a:r>
              <a:rPr sz="1600" dirty="0">
                <a:latin typeface="Calibri"/>
                <a:cs typeface="Calibri"/>
              </a:rPr>
              <a:t>summary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types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and </a:t>
            </a:r>
            <a:r>
              <a:rPr sz="1600" dirty="0">
                <a:latin typeface="Calibri"/>
                <a:cs typeface="Calibri"/>
              </a:rPr>
              <a:t>number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samples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be </a:t>
            </a:r>
            <a:r>
              <a:rPr sz="1600" spc="-10" dirty="0">
                <a:latin typeface="Calibri"/>
                <a:cs typeface="Calibri"/>
              </a:rPr>
              <a:t>collected.</a:t>
            </a:r>
            <a:endParaRPr sz="160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buAutoNum type="arabicPeriod"/>
              <a:tabLst>
                <a:tab pos="355600" algn="l"/>
              </a:tabLst>
            </a:pPr>
            <a:r>
              <a:rPr sz="1600" b="1" dirty="0">
                <a:latin typeface="Calibri"/>
                <a:cs typeface="Calibri"/>
              </a:rPr>
              <a:t>Best</a:t>
            </a:r>
            <a:r>
              <a:rPr sz="1600" b="1" spc="-6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practices: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This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will </a:t>
            </a:r>
            <a:r>
              <a:rPr sz="1600" dirty="0">
                <a:latin typeface="Calibri"/>
                <a:cs typeface="Calibri"/>
              </a:rPr>
              <a:t>educate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the </a:t>
            </a:r>
            <a:r>
              <a:rPr sz="1600" dirty="0">
                <a:latin typeface="Calibri"/>
                <a:cs typeface="Calibri"/>
              </a:rPr>
              <a:t>best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practices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follow before,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during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after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the </a:t>
            </a:r>
            <a:r>
              <a:rPr sz="1600" dirty="0">
                <a:latin typeface="Calibri"/>
                <a:cs typeface="Calibri"/>
              </a:rPr>
              <a:t>collection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process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terms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diet,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conditions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the </a:t>
            </a:r>
            <a:r>
              <a:rPr sz="1600" dirty="0">
                <a:latin typeface="Calibri"/>
                <a:cs typeface="Calibri"/>
              </a:rPr>
              <a:t>test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collection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area,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etc.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655" marR="24765" indent="501015">
              <a:lnSpc>
                <a:spcPct val="100000"/>
              </a:lnSpc>
              <a:spcBef>
                <a:spcPts val="95"/>
              </a:spcBef>
            </a:pPr>
            <a:r>
              <a:rPr b="1" spc="-20" dirty="0">
                <a:latin typeface="Calibri"/>
                <a:cs typeface="Calibri"/>
              </a:rPr>
              <a:t>Track</a:t>
            </a:r>
            <a:r>
              <a:rPr b="1" spc="-5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my</a:t>
            </a:r>
            <a:r>
              <a:rPr b="1" spc="-4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test</a:t>
            </a:r>
            <a:r>
              <a:rPr b="1" spc="-5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section </a:t>
            </a:r>
            <a:r>
              <a:rPr dirty="0"/>
              <a:t>Besides</a:t>
            </a:r>
            <a:r>
              <a:rPr spc="-45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dirty="0"/>
              <a:t>standard</a:t>
            </a:r>
            <a:r>
              <a:rPr spc="-60" dirty="0"/>
              <a:t> </a:t>
            </a:r>
            <a:r>
              <a:rPr dirty="0"/>
              <a:t>details</a:t>
            </a:r>
            <a:r>
              <a:rPr spc="-65" dirty="0"/>
              <a:t> </a:t>
            </a:r>
            <a:r>
              <a:rPr spc="-25" dirty="0"/>
              <a:t>of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test,</a:t>
            </a:r>
            <a:r>
              <a:rPr spc="-40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main</a:t>
            </a:r>
            <a:r>
              <a:rPr spc="-45" dirty="0"/>
              <a:t> </a:t>
            </a:r>
            <a:r>
              <a:rPr dirty="0"/>
              <a:t>offering</a:t>
            </a:r>
            <a:r>
              <a:rPr spc="-3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spc="-20" dirty="0"/>
              <a:t>this </a:t>
            </a:r>
            <a:r>
              <a:rPr dirty="0"/>
              <a:t>section</a:t>
            </a:r>
            <a:r>
              <a:rPr spc="-20" dirty="0"/>
              <a:t> </a:t>
            </a:r>
            <a:r>
              <a:rPr dirty="0"/>
              <a:t>is</a:t>
            </a:r>
            <a:r>
              <a:rPr spc="-4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spc="-10" dirty="0"/>
              <a:t>end-to-</a:t>
            </a:r>
            <a:r>
              <a:rPr dirty="0"/>
              <a:t>end</a:t>
            </a:r>
            <a:r>
              <a:rPr spc="-30" dirty="0"/>
              <a:t> </a:t>
            </a:r>
            <a:r>
              <a:rPr spc="-10" dirty="0"/>
              <a:t>tracking </a:t>
            </a:r>
            <a:r>
              <a:rPr dirty="0"/>
              <a:t>of the</a:t>
            </a:r>
            <a:r>
              <a:rPr spc="-10" dirty="0"/>
              <a:t> </a:t>
            </a:r>
            <a:r>
              <a:rPr dirty="0"/>
              <a:t>sample</a:t>
            </a:r>
            <a:r>
              <a:rPr spc="-15" dirty="0"/>
              <a:t> </a:t>
            </a:r>
            <a:r>
              <a:rPr spc="-10" dirty="0"/>
              <a:t>collection process, </a:t>
            </a:r>
            <a:r>
              <a:rPr dirty="0"/>
              <a:t>starting</a:t>
            </a:r>
            <a:r>
              <a:rPr spc="-55" dirty="0"/>
              <a:t> </a:t>
            </a:r>
            <a:r>
              <a:rPr dirty="0"/>
              <a:t>from</a:t>
            </a:r>
            <a:r>
              <a:rPr spc="-45" dirty="0"/>
              <a:t> </a:t>
            </a:r>
            <a:r>
              <a:rPr dirty="0"/>
              <a:t>booking</a:t>
            </a:r>
            <a:r>
              <a:rPr spc="-35" dirty="0"/>
              <a:t> </a:t>
            </a:r>
            <a:r>
              <a:rPr dirty="0"/>
              <a:t>and</a:t>
            </a:r>
            <a:r>
              <a:rPr spc="-60" dirty="0"/>
              <a:t> </a:t>
            </a:r>
            <a:r>
              <a:rPr spc="-10" dirty="0"/>
              <a:t>ending </a:t>
            </a:r>
            <a:r>
              <a:rPr dirty="0"/>
              <a:t>at</a:t>
            </a:r>
            <a:r>
              <a:rPr spc="-55" dirty="0"/>
              <a:t> </a:t>
            </a:r>
            <a:r>
              <a:rPr dirty="0"/>
              <a:t>report</a:t>
            </a:r>
            <a:r>
              <a:rPr spc="-5" dirty="0"/>
              <a:t> </a:t>
            </a:r>
            <a:r>
              <a:rPr spc="-10" dirty="0"/>
              <a:t>generation.</a:t>
            </a:r>
            <a:r>
              <a:rPr spc="-50" dirty="0"/>
              <a:t> </a:t>
            </a:r>
            <a:r>
              <a:rPr dirty="0"/>
              <a:t>Each</a:t>
            </a:r>
            <a:r>
              <a:rPr spc="-50" dirty="0"/>
              <a:t> </a:t>
            </a:r>
            <a:r>
              <a:rPr spc="-20" dirty="0"/>
              <a:t>step </a:t>
            </a:r>
            <a:r>
              <a:rPr dirty="0"/>
              <a:t>will</a:t>
            </a:r>
            <a:r>
              <a:rPr spc="-40" dirty="0"/>
              <a:t> </a:t>
            </a:r>
            <a:r>
              <a:rPr spc="-10" dirty="0"/>
              <a:t>correspond</a:t>
            </a:r>
            <a:r>
              <a:rPr spc="10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dirty="0"/>
              <a:t>a</a:t>
            </a:r>
            <a:r>
              <a:rPr spc="-35" dirty="0"/>
              <a:t> </a:t>
            </a:r>
            <a:r>
              <a:rPr dirty="0"/>
              <a:t>check</a:t>
            </a:r>
            <a:r>
              <a:rPr spc="-15" dirty="0"/>
              <a:t> </a:t>
            </a:r>
            <a:r>
              <a:rPr spc="-20" dirty="0"/>
              <a:t>point</a:t>
            </a:r>
          </a:p>
          <a:p>
            <a:pPr marL="12700" marR="5080" indent="-635" algn="ctr">
              <a:lnSpc>
                <a:spcPct val="100000"/>
              </a:lnSpc>
              <a:spcBef>
                <a:spcPts val="5"/>
              </a:spcBef>
            </a:pPr>
            <a:r>
              <a:rPr dirty="0"/>
              <a:t>defined</a:t>
            </a:r>
            <a:r>
              <a:rPr spc="-35" dirty="0"/>
              <a:t> </a:t>
            </a:r>
            <a:r>
              <a:rPr dirty="0"/>
              <a:t>in</a:t>
            </a:r>
            <a:r>
              <a:rPr spc="-45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data</a:t>
            </a:r>
            <a:r>
              <a:rPr spc="-45" dirty="0"/>
              <a:t> </a:t>
            </a:r>
            <a:r>
              <a:rPr spc="-10" dirty="0"/>
              <a:t>points </a:t>
            </a:r>
            <a:r>
              <a:rPr dirty="0"/>
              <a:t>workflow</a:t>
            </a:r>
            <a:r>
              <a:rPr spc="-25" dirty="0"/>
              <a:t> earlier.</a:t>
            </a:r>
            <a:r>
              <a:rPr spc="-55" dirty="0"/>
              <a:t> </a:t>
            </a:r>
            <a:r>
              <a:rPr dirty="0"/>
              <a:t>Each</a:t>
            </a:r>
            <a:r>
              <a:rPr spc="-60" dirty="0"/>
              <a:t> </a:t>
            </a:r>
            <a:r>
              <a:rPr dirty="0"/>
              <a:t>step</a:t>
            </a:r>
            <a:r>
              <a:rPr spc="-60" dirty="0"/>
              <a:t> </a:t>
            </a:r>
            <a:r>
              <a:rPr spc="-20" dirty="0"/>
              <a:t>will </a:t>
            </a:r>
            <a:r>
              <a:rPr dirty="0"/>
              <a:t>have</a:t>
            </a:r>
            <a:r>
              <a:rPr spc="-30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dirty="0"/>
              <a:t>summary</a:t>
            </a:r>
            <a:r>
              <a:rPr spc="-15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spc="-25" dirty="0"/>
              <a:t>the</a:t>
            </a:r>
            <a:r>
              <a:rPr spc="500" dirty="0"/>
              <a:t> </a:t>
            </a:r>
            <a:r>
              <a:rPr dirty="0"/>
              <a:t>checkpoint</a:t>
            </a:r>
            <a:r>
              <a:rPr spc="-25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time</a:t>
            </a:r>
            <a:r>
              <a:rPr spc="-40" dirty="0"/>
              <a:t> </a:t>
            </a:r>
            <a:r>
              <a:rPr dirty="0"/>
              <a:t>at</a:t>
            </a:r>
            <a:r>
              <a:rPr spc="-45" dirty="0"/>
              <a:t> </a:t>
            </a:r>
            <a:r>
              <a:rPr spc="-20" dirty="0"/>
              <a:t>which </a:t>
            </a:r>
            <a:r>
              <a:rPr dirty="0"/>
              <a:t>it</a:t>
            </a:r>
            <a:r>
              <a:rPr spc="-40" dirty="0"/>
              <a:t> </a:t>
            </a:r>
            <a:r>
              <a:rPr dirty="0"/>
              <a:t>was</a:t>
            </a:r>
            <a:r>
              <a:rPr spc="-30" dirty="0"/>
              <a:t> </a:t>
            </a:r>
            <a:r>
              <a:rPr dirty="0"/>
              <a:t>accomplished.</a:t>
            </a:r>
            <a:r>
              <a:rPr spc="-40" dirty="0"/>
              <a:t> </a:t>
            </a:r>
            <a:r>
              <a:rPr dirty="0"/>
              <a:t>The</a:t>
            </a:r>
            <a:r>
              <a:rPr spc="-20" dirty="0"/>
              <a:t> time </a:t>
            </a:r>
            <a:r>
              <a:rPr dirty="0"/>
              <a:t>stamps</a:t>
            </a:r>
            <a:r>
              <a:rPr spc="-50" dirty="0"/>
              <a:t> </a:t>
            </a:r>
            <a:r>
              <a:rPr dirty="0"/>
              <a:t>will</a:t>
            </a:r>
            <a:r>
              <a:rPr spc="-55" dirty="0"/>
              <a:t> </a:t>
            </a:r>
            <a:r>
              <a:rPr dirty="0"/>
              <a:t>be</a:t>
            </a:r>
            <a:r>
              <a:rPr spc="-50" dirty="0"/>
              <a:t> </a:t>
            </a:r>
            <a:r>
              <a:rPr dirty="0"/>
              <a:t>read</a:t>
            </a:r>
            <a:r>
              <a:rPr spc="-25" dirty="0"/>
              <a:t> </a:t>
            </a:r>
            <a:r>
              <a:rPr dirty="0"/>
              <a:t>from</a:t>
            </a:r>
            <a:r>
              <a:rPr spc="-45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spc="-20" dirty="0"/>
              <a:t>LIMS </a:t>
            </a:r>
            <a:r>
              <a:rPr dirty="0"/>
              <a:t>which</a:t>
            </a:r>
            <a:r>
              <a:rPr spc="-3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lab</a:t>
            </a:r>
            <a:r>
              <a:rPr spc="-45" dirty="0"/>
              <a:t> </a:t>
            </a:r>
            <a:r>
              <a:rPr dirty="0"/>
              <a:t>admin</a:t>
            </a:r>
            <a:r>
              <a:rPr spc="-40" dirty="0"/>
              <a:t> </a:t>
            </a:r>
            <a:r>
              <a:rPr dirty="0"/>
              <a:t>updates</a:t>
            </a:r>
            <a:r>
              <a:rPr spc="-45" dirty="0"/>
              <a:t> </a:t>
            </a:r>
            <a:r>
              <a:rPr spc="-25" dirty="0"/>
              <a:t>on </a:t>
            </a:r>
            <a:r>
              <a:rPr dirty="0"/>
              <a:t>their</a:t>
            </a:r>
            <a:r>
              <a:rPr spc="-30" dirty="0"/>
              <a:t> </a:t>
            </a:r>
            <a:r>
              <a:rPr spc="-10" dirty="0"/>
              <a:t>system</a:t>
            </a: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6031" y="539495"/>
            <a:ext cx="2958084" cy="61447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26785" y="-24637"/>
            <a:ext cx="11398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Metrics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17042" y="596645"/>
          <a:ext cx="11634470" cy="18980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50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25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08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30226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Category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R="2099945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Metric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Comments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Discovery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R="2065020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CTR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track</a:t>
                      </a:r>
                      <a:r>
                        <a:rPr sz="16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my</a:t>
                      </a:r>
                      <a:r>
                        <a:rPr sz="16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tests</a:t>
                      </a:r>
                      <a:r>
                        <a:rPr sz="16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button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6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note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if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users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are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checking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out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new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feature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Engagement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84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Avg.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time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spent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per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user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track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my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tests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section,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%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of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users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accessing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Overview</a:t>
                      </a:r>
                      <a:r>
                        <a:rPr sz="16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20" dirty="0">
                          <a:latin typeface="Calibri"/>
                          <a:cs typeface="Calibri"/>
                        </a:rPr>
                        <a:t>Track</a:t>
                      </a:r>
                      <a:r>
                        <a:rPr sz="16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my</a:t>
                      </a:r>
                      <a:r>
                        <a:rPr sz="16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test</a:t>
                      </a:r>
                      <a:r>
                        <a:rPr sz="16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section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32321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6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understand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utility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that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user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finding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new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feature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848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Retention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Net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promotor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score,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%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change</a:t>
                      </a:r>
                      <a:r>
                        <a:rPr sz="1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users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using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track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my</a:t>
                      </a:r>
                      <a:r>
                        <a:rPr sz="16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tests</a:t>
                      </a:r>
                      <a:r>
                        <a:rPr sz="1600" b="1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section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(weekly,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monthly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values)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6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understand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if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users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are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finding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new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feature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be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useful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17042" y="3350895"/>
          <a:ext cx="11546840" cy="27463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28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8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Pitfalls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Mitigation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8485">
                <a:tc>
                  <a:txBody>
                    <a:bodyPr/>
                    <a:lstStyle/>
                    <a:p>
                      <a:pPr marL="2426970" marR="258445" indent="-21615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10000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orders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month,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there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possibility</a:t>
                      </a:r>
                      <a:r>
                        <a:rPr sz="16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latency</a:t>
                      </a:r>
                      <a:r>
                        <a:rPr sz="1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data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availability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604645" marR="123825" indent="-14757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Load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balancing</a:t>
                      </a:r>
                      <a:r>
                        <a:rPr sz="16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could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used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direct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query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free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servers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as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volume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orders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scales</a:t>
                      </a:r>
                      <a:r>
                        <a:rPr sz="1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up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76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0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13030" marR="106680" indent="127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Possible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friction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user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due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breaking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user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journey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in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different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workflows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(currently,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 booking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done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separately,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proposed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control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tower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another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section,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report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6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generated separately)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65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13664" marR="106045" indent="-127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Integration</a:t>
                      </a:r>
                      <a:r>
                        <a:rPr sz="16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various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workflows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reduce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friction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points</a:t>
                      </a:r>
                      <a:r>
                        <a:rPr sz="1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user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journey.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example,</a:t>
                      </a:r>
                      <a:r>
                        <a:rPr sz="16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at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end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completing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booking,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user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could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redirected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sample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tracker section, cancellation</a:t>
                      </a:r>
                      <a:r>
                        <a:rPr sz="1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rescheduling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options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could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provided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same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workflow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through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options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present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6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section.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Link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to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access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report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provided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at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end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tracking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journey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as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soon</a:t>
                      </a:r>
                      <a:r>
                        <a:rPr sz="16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as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it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generated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3862832" y="2738704"/>
            <a:ext cx="45377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Calibri"/>
                <a:cs typeface="Calibri"/>
              </a:rPr>
              <a:t>Possible</a:t>
            </a:r>
            <a:r>
              <a:rPr sz="2800" b="1" spc="-10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pitfalls</a:t>
            </a:r>
            <a:r>
              <a:rPr sz="2800" b="1" spc="-8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and</a:t>
            </a:r>
            <a:r>
              <a:rPr sz="2800" b="1" spc="-10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mitigation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1897</Words>
  <Application>Microsoft Office PowerPoint</Application>
  <PresentationFormat>Widescreen</PresentationFormat>
  <Paragraphs>225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 MT</vt:lpstr>
      <vt:lpstr>Calibri</vt:lpstr>
      <vt:lpstr>Times New Roman</vt:lpstr>
      <vt:lpstr>Office Theme</vt:lpstr>
      <vt:lpstr>Problem statement and approach</vt:lpstr>
      <vt:lpstr>Redcliffe labs overview</vt:lpstr>
      <vt:lpstr>Current customer journey</vt:lpstr>
      <vt:lpstr>Pain points</vt:lpstr>
      <vt:lpstr>Designing the control tower: Features</vt:lpstr>
      <vt:lpstr>Designing the control tower: Workflow</vt:lpstr>
      <vt:lpstr>Designing the control tower: Mockups</vt:lpstr>
      <vt:lpstr>Designing the control tower: Mockups</vt:lpstr>
      <vt:lpstr>Metrics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Mayank Kumar</dc:creator>
  <cp:lastModifiedBy>Mayank Kumar</cp:lastModifiedBy>
  <cp:revision>1</cp:revision>
  <dcterms:created xsi:type="dcterms:W3CDTF">2026-05-21T10:11:01Z</dcterms:created>
  <dcterms:modified xsi:type="dcterms:W3CDTF">2026-05-21T10:12:56Z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2023-06-07T00:00:00Z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2026-05-21T00:00:00Z</vt:filetime>
  </property>
  <property fmtid="{D5CDD505-2E9C-101B-9397-08002B2CF9AE}" pid="5" name="Producer">
    <vt:lpwstr>Microsoft® PowerPoint® 2019</vt:lpwstr>
  </property>
</Properties>
</file>