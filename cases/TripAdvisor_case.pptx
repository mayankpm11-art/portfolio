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919" y="952001"/>
            <a:ext cx="8675370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386" y="1549145"/>
            <a:ext cx="7533640" cy="5192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5" Type="http://schemas.openxmlformats.org/officeDocument/2006/relationships/image" Target="../media/image6.jp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hyperlink" Target="https://forms.gle/JHFG8hcxUDohNoD5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282" y="1236654"/>
            <a:ext cx="8978265" cy="318643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650" b="1" spc="-10" dirty="0">
                <a:latin typeface="Calibri"/>
                <a:cs typeface="Calibri"/>
              </a:rPr>
              <a:t>Background: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00800"/>
              </a:lnSpc>
              <a:spcBef>
                <a:spcPts val="800"/>
              </a:spcBef>
            </a:pPr>
            <a:r>
              <a:rPr sz="1650" spc="-20" dirty="0">
                <a:latin typeface="Calibri"/>
                <a:cs typeface="Calibri"/>
              </a:rPr>
              <a:t>You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are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product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manager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on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user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generated content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team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TripAdvisor.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User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generated </a:t>
            </a:r>
            <a:r>
              <a:rPr sz="1650" spc="-10" dirty="0">
                <a:latin typeface="Calibri"/>
                <a:cs typeface="Calibri"/>
              </a:rPr>
              <a:t>content </a:t>
            </a:r>
            <a:r>
              <a:rPr sz="1650" dirty="0">
                <a:latin typeface="Calibri"/>
                <a:cs typeface="Calibri"/>
              </a:rPr>
              <a:t>(reviews</a:t>
            </a:r>
            <a:r>
              <a:rPr sz="1650" spc="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 ratings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 this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case)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helps the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platform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show up higher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 the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search results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thus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bringing </a:t>
            </a:r>
            <a:r>
              <a:rPr sz="1650" dirty="0">
                <a:latin typeface="Calibri"/>
                <a:cs typeface="Calibri"/>
              </a:rPr>
              <a:t>organic traffic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platform.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Since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these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platforms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have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ad-supported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business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model,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more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traffic </a:t>
            </a:r>
            <a:r>
              <a:rPr sz="1650" dirty="0">
                <a:latin typeface="Calibri"/>
                <a:cs typeface="Calibri"/>
              </a:rPr>
              <a:t>leads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higher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ads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revenue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hence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more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reviews</a:t>
            </a:r>
            <a:r>
              <a:rPr sz="1650" spc="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on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platform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helps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business</a:t>
            </a:r>
            <a:r>
              <a:rPr sz="1650" spc="-10" dirty="0">
                <a:latin typeface="Calibri"/>
                <a:cs typeface="Calibri"/>
              </a:rPr>
              <a:t> grow.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spc="-10" dirty="0">
                <a:latin typeface="Calibri"/>
                <a:cs typeface="Calibri"/>
              </a:rPr>
              <a:t>Objective: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650" dirty="0">
                <a:latin typeface="Calibri"/>
                <a:cs typeface="Calibri"/>
              </a:rPr>
              <a:t>Growing 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number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reviews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on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platform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150" spc="-10" dirty="0">
                <a:latin typeface="Calibri"/>
                <a:cs typeface="Calibri"/>
              </a:rPr>
              <a:t>(Assumption: </a:t>
            </a:r>
            <a:r>
              <a:rPr sz="1150" dirty="0">
                <a:latin typeface="Calibri"/>
                <a:cs typeface="Calibri"/>
              </a:rPr>
              <a:t>Only</a:t>
            </a:r>
            <a:r>
              <a:rPr sz="1150" spc="-1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business in</a:t>
            </a:r>
            <a:r>
              <a:rPr sz="1150" spc="-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India</a:t>
            </a:r>
            <a:r>
              <a:rPr sz="1150" spc="-1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is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being</a:t>
            </a:r>
            <a:r>
              <a:rPr sz="1150" spc="-2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considered)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latin typeface="Calibri"/>
                <a:cs typeface="Calibri"/>
              </a:rPr>
              <a:t>Flow</a:t>
            </a:r>
            <a:r>
              <a:rPr sz="1650" b="1" spc="15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of</a:t>
            </a:r>
            <a:r>
              <a:rPr sz="1650" b="1" spc="-5" dirty="0">
                <a:latin typeface="Calibri"/>
                <a:cs typeface="Calibri"/>
              </a:rPr>
              <a:t> </a:t>
            </a:r>
            <a:r>
              <a:rPr sz="1650" b="1" dirty="0">
                <a:latin typeface="Calibri"/>
                <a:cs typeface="Calibri"/>
              </a:rPr>
              <a:t>the</a:t>
            </a:r>
            <a:r>
              <a:rPr sz="1650" b="1" spc="15" dirty="0">
                <a:latin typeface="Calibri"/>
                <a:cs typeface="Calibri"/>
              </a:rPr>
              <a:t> </a:t>
            </a:r>
            <a:r>
              <a:rPr sz="1650" b="1" spc="-10" dirty="0">
                <a:latin typeface="Calibri"/>
                <a:cs typeface="Calibri"/>
              </a:rPr>
              <a:t>presentation: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1822" y="4725098"/>
            <a:ext cx="1222375" cy="1731645"/>
            <a:chOff x="611822" y="4725098"/>
            <a:chExt cx="1222375" cy="1731645"/>
          </a:xfrm>
        </p:grpSpPr>
        <p:sp>
          <p:nvSpPr>
            <p:cNvPr id="4" name="object 4"/>
            <p:cNvSpPr/>
            <p:nvPr/>
          </p:nvSpPr>
          <p:spPr>
            <a:xfrm>
              <a:off x="617220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80" h="1720850">
                  <a:moveTo>
                    <a:pt x="1089660" y="1720596"/>
                  </a:move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7220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80" h="1720850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88338" y="5210087"/>
            <a:ext cx="1068705" cy="725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065" marR="5080" indent="-2540" algn="ctr">
              <a:lnSpc>
                <a:spcPct val="93600"/>
              </a:lnSpc>
              <a:spcBef>
                <a:spcPts val="21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Hypothesise</a:t>
            </a:r>
            <a:r>
              <a:rPr sz="12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reasons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12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review activity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49195" y="4725098"/>
            <a:ext cx="1581785" cy="1731645"/>
            <a:chOff x="1949195" y="4725098"/>
            <a:chExt cx="1581785" cy="1731645"/>
          </a:xfrm>
        </p:grpSpPr>
        <p:sp>
          <p:nvSpPr>
            <p:cNvPr id="8" name="object 8"/>
            <p:cNvSpPr/>
            <p:nvPr/>
          </p:nvSpPr>
          <p:spPr>
            <a:xfrm>
              <a:off x="1949195" y="5440680"/>
              <a:ext cx="257810" cy="300355"/>
            </a:xfrm>
            <a:custGeom>
              <a:avLst/>
              <a:gdLst/>
              <a:ahLst/>
              <a:cxnLst/>
              <a:rect l="l" t="t" r="r" b="b"/>
              <a:pathLst>
                <a:path w="257810" h="300354">
                  <a:moveTo>
                    <a:pt x="129540" y="300227"/>
                  </a:moveTo>
                  <a:lnTo>
                    <a:pt x="129540" y="240791"/>
                  </a:lnTo>
                  <a:lnTo>
                    <a:pt x="0" y="240791"/>
                  </a:lnTo>
                  <a:lnTo>
                    <a:pt x="0" y="60959"/>
                  </a:lnTo>
                  <a:lnTo>
                    <a:pt x="129540" y="60959"/>
                  </a:lnTo>
                  <a:lnTo>
                    <a:pt x="129540" y="0"/>
                  </a:lnTo>
                  <a:lnTo>
                    <a:pt x="257555" y="150875"/>
                  </a:lnTo>
                  <a:lnTo>
                    <a:pt x="129540" y="300227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13431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1089660" y="1720596"/>
                  </a:move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13431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386056" y="5210087"/>
            <a:ext cx="1065530" cy="725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algn="ctr">
              <a:lnSpc>
                <a:spcPct val="93600"/>
              </a:lnSpc>
              <a:spcBef>
                <a:spcPts val="21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2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validate/negate those hypotheses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45408" y="4725098"/>
            <a:ext cx="1581785" cy="1731645"/>
            <a:chOff x="3645408" y="4725098"/>
            <a:chExt cx="1581785" cy="1731645"/>
          </a:xfrm>
        </p:grpSpPr>
        <p:sp>
          <p:nvSpPr>
            <p:cNvPr id="13" name="object 13"/>
            <p:cNvSpPr/>
            <p:nvPr/>
          </p:nvSpPr>
          <p:spPr>
            <a:xfrm>
              <a:off x="3645408" y="5440680"/>
              <a:ext cx="257810" cy="300355"/>
            </a:xfrm>
            <a:custGeom>
              <a:avLst/>
              <a:gdLst/>
              <a:ahLst/>
              <a:cxnLst/>
              <a:rect l="l" t="t" r="r" b="b"/>
              <a:pathLst>
                <a:path w="257810" h="300354">
                  <a:moveTo>
                    <a:pt x="129540" y="300227"/>
                  </a:moveTo>
                  <a:lnTo>
                    <a:pt x="129540" y="240791"/>
                  </a:lnTo>
                  <a:lnTo>
                    <a:pt x="0" y="240791"/>
                  </a:lnTo>
                  <a:lnTo>
                    <a:pt x="0" y="60959"/>
                  </a:lnTo>
                  <a:lnTo>
                    <a:pt x="129540" y="60959"/>
                  </a:lnTo>
                  <a:lnTo>
                    <a:pt x="129540" y="0"/>
                  </a:lnTo>
                  <a:lnTo>
                    <a:pt x="257556" y="150875"/>
                  </a:lnTo>
                  <a:lnTo>
                    <a:pt x="129540" y="300227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09644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1089660" y="1720596"/>
                  </a:move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09644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20436" y="5210087"/>
            <a:ext cx="990600" cy="725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-2540" algn="ctr">
              <a:lnSpc>
                <a:spcPct val="93600"/>
              </a:lnSpc>
              <a:spcBef>
                <a:spcPts val="21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12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core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12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pain</a:t>
            </a:r>
            <a:r>
              <a:rPr sz="12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2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solved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41620" y="4725098"/>
            <a:ext cx="1581785" cy="1731645"/>
            <a:chOff x="5341620" y="4725098"/>
            <a:chExt cx="1581785" cy="1731645"/>
          </a:xfrm>
        </p:grpSpPr>
        <p:sp>
          <p:nvSpPr>
            <p:cNvPr id="18" name="object 18"/>
            <p:cNvSpPr/>
            <p:nvPr/>
          </p:nvSpPr>
          <p:spPr>
            <a:xfrm>
              <a:off x="5341620" y="5440680"/>
              <a:ext cx="257810" cy="300355"/>
            </a:xfrm>
            <a:custGeom>
              <a:avLst/>
              <a:gdLst/>
              <a:ahLst/>
              <a:cxnLst/>
              <a:rect l="l" t="t" r="r" b="b"/>
              <a:pathLst>
                <a:path w="257810" h="300354">
                  <a:moveTo>
                    <a:pt x="129540" y="300227"/>
                  </a:moveTo>
                  <a:lnTo>
                    <a:pt x="129540" y="240791"/>
                  </a:lnTo>
                  <a:lnTo>
                    <a:pt x="0" y="240791"/>
                  </a:lnTo>
                  <a:lnTo>
                    <a:pt x="0" y="60959"/>
                  </a:lnTo>
                  <a:lnTo>
                    <a:pt x="129540" y="60959"/>
                  </a:lnTo>
                  <a:lnTo>
                    <a:pt x="129540" y="0"/>
                  </a:lnTo>
                  <a:lnTo>
                    <a:pt x="257556" y="150875"/>
                  </a:lnTo>
                  <a:lnTo>
                    <a:pt x="129540" y="300227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05855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1089660" y="1720596"/>
                  </a:move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5855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lnTo>
                    <a:pt x="120396" y="1720596"/>
                  </a:lnTo>
                  <a:lnTo>
                    <a:pt x="73294" y="1711213"/>
                  </a:lnTo>
                  <a:lnTo>
                    <a:pt x="35052" y="1685543"/>
                  </a:lnTo>
                  <a:lnTo>
                    <a:pt x="9382" y="1647301"/>
                  </a:lnTo>
                  <a:lnTo>
                    <a:pt x="0" y="1600200"/>
                  </a:lnTo>
                  <a:lnTo>
                    <a:pt x="0" y="120396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99842" y="4781853"/>
            <a:ext cx="1022985" cy="15824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065" marR="5080" indent="635" algn="ctr">
              <a:lnSpc>
                <a:spcPct val="93600"/>
              </a:lnSpc>
              <a:spcBef>
                <a:spcPts val="21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Focus</a:t>
            </a:r>
            <a:r>
              <a:rPr sz="12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pain</a:t>
            </a:r>
            <a:r>
              <a:rPr sz="12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2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solved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maximum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2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happiness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also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generate maximum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2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37832" y="4725098"/>
            <a:ext cx="1581785" cy="1731645"/>
            <a:chOff x="7037832" y="4725098"/>
            <a:chExt cx="1581785" cy="1731645"/>
          </a:xfrm>
        </p:grpSpPr>
        <p:sp>
          <p:nvSpPr>
            <p:cNvPr id="23" name="object 23"/>
            <p:cNvSpPr/>
            <p:nvPr/>
          </p:nvSpPr>
          <p:spPr>
            <a:xfrm>
              <a:off x="7037832" y="5440680"/>
              <a:ext cx="257810" cy="300355"/>
            </a:xfrm>
            <a:custGeom>
              <a:avLst/>
              <a:gdLst/>
              <a:ahLst/>
              <a:cxnLst/>
              <a:rect l="l" t="t" r="r" b="b"/>
              <a:pathLst>
                <a:path w="257809" h="300354">
                  <a:moveTo>
                    <a:pt x="129539" y="300227"/>
                  </a:moveTo>
                  <a:lnTo>
                    <a:pt x="129539" y="240791"/>
                  </a:lnTo>
                  <a:lnTo>
                    <a:pt x="0" y="240791"/>
                  </a:lnTo>
                  <a:lnTo>
                    <a:pt x="0" y="60959"/>
                  </a:lnTo>
                  <a:lnTo>
                    <a:pt x="129539" y="60959"/>
                  </a:lnTo>
                  <a:lnTo>
                    <a:pt x="129539" y="0"/>
                  </a:lnTo>
                  <a:lnTo>
                    <a:pt x="257555" y="150875"/>
                  </a:lnTo>
                  <a:lnTo>
                    <a:pt x="129539" y="300227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02068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1089660" y="1720596"/>
                  </a:moveTo>
                  <a:lnTo>
                    <a:pt x="120396" y="1720596"/>
                  </a:lnTo>
                  <a:lnTo>
                    <a:pt x="73937" y="1711213"/>
                  </a:lnTo>
                  <a:lnTo>
                    <a:pt x="35623" y="1685543"/>
                  </a:lnTo>
                  <a:lnTo>
                    <a:pt x="9596" y="1647301"/>
                  </a:lnTo>
                  <a:lnTo>
                    <a:pt x="0" y="1600200"/>
                  </a:lnTo>
                  <a:lnTo>
                    <a:pt x="0" y="120396"/>
                  </a:lnTo>
                  <a:lnTo>
                    <a:pt x="9596" y="73294"/>
                  </a:lnTo>
                  <a:lnTo>
                    <a:pt x="35623" y="35052"/>
                  </a:lnTo>
                  <a:lnTo>
                    <a:pt x="73937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02068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0" y="120396"/>
                  </a:moveTo>
                  <a:lnTo>
                    <a:pt x="9596" y="73294"/>
                  </a:lnTo>
                  <a:lnTo>
                    <a:pt x="35623" y="35052"/>
                  </a:lnTo>
                  <a:lnTo>
                    <a:pt x="73937" y="9382"/>
                  </a:lnTo>
                  <a:lnTo>
                    <a:pt x="120396" y="0"/>
                  </a:lnTo>
                  <a:lnTo>
                    <a:pt x="1089660" y="0"/>
                  </a:lnTo>
                  <a:lnTo>
                    <a:pt x="1136999" y="9382"/>
                  </a:lnTo>
                  <a:lnTo>
                    <a:pt x="1175765" y="35052"/>
                  </a:lnTo>
                  <a:lnTo>
                    <a:pt x="1201959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59" y="1647301"/>
                  </a:lnTo>
                  <a:lnTo>
                    <a:pt x="1175765" y="1685543"/>
                  </a:lnTo>
                  <a:lnTo>
                    <a:pt x="1136999" y="1711213"/>
                  </a:lnTo>
                  <a:lnTo>
                    <a:pt x="1089660" y="1720596"/>
                  </a:lnTo>
                  <a:lnTo>
                    <a:pt x="120396" y="1720596"/>
                  </a:lnTo>
                  <a:lnTo>
                    <a:pt x="73937" y="1711213"/>
                  </a:lnTo>
                  <a:lnTo>
                    <a:pt x="35623" y="1685543"/>
                  </a:lnTo>
                  <a:lnTo>
                    <a:pt x="9596" y="1647301"/>
                  </a:lnTo>
                  <a:lnTo>
                    <a:pt x="0" y="1600200"/>
                  </a:lnTo>
                  <a:lnTo>
                    <a:pt x="0" y="120396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517476" y="4867149"/>
            <a:ext cx="978535" cy="14103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635" algn="ctr">
              <a:lnSpc>
                <a:spcPct val="93600"/>
              </a:lnSpc>
              <a:spcBef>
                <a:spcPts val="21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evaluate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r>
              <a:rPr sz="12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(pros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cons).</a:t>
            </a:r>
            <a:r>
              <a:rPr sz="12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Use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wireframes</a:t>
            </a:r>
            <a:r>
              <a:rPr sz="12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proposed solutions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734044" y="4725098"/>
            <a:ext cx="1581785" cy="1731645"/>
            <a:chOff x="8734044" y="4725098"/>
            <a:chExt cx="1581785" cy="1731645"/>
          </a:xfrm>
        </p:grpSpPr>
        <p:sp>
          <p:nvSpPr>
            <p:cNvPr id="28" name="object 28"/>
            <p:cNvSpPr/>
            <p:nvPr/>
          </p:nvSpPr>
          <p:spPr>
            <a:xfrm>
              <a:off x="8734044" y="5440680"/>
              <a:ext cx="257810" cy="300355"/>
            </a:xfrm>
            <a:custGeom>
              <a:avLst/>
              <a:gdLst/>
              <a:ahLst/>
              <a:cxnLst/>
              <a:rect l="l" t="t" r="r" b="b"/>
              <a:pathLst>
                <a:path w="257809" h="300354">
                  <a:moveTo>
                    <a:pt x="129539" y="300227"/>
                  </a:moveTo>
                  <a:lnTo>
                    <a:pt x="129539" y="240791"/>
                  </a:lnTo>
                  <a:lnTo>
                    <a:pt x="0" y="240791"/>
                  </a:lnTo>
                  <a:lnTo>
                    <a:pt x="0" y="60959"/>
                  </a:lnTo>
                  <a:lnTo>
                    <a:pt x="129539" y="60959"/>
                  </a:lnTo>
                  <a:lnTo>
                    <a:pt x="129539" y="0"/>
                  </a:lnTo>
                  <a:lnTo>
                    <a:pt x="257555" y="150875"/>
                  </a:lnTo>
                  <a:lnTo>
                    <a:pt x="129539" y="300227"/>
                  </a:lnTo>
                  <a:close/>
                </a:path>
              </a:pathLst>
            </a:custGeom>
            <a:solidFill>
              <a:srgbClr val="AFBC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98280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1091183" y="1720596"/>
                  </a:moveTo>
                  <a:lnTo>
                    <a:pt x="120396" y="1720596"/>
                  </a:lnTo>
                  <a:lnTo>
                    <a:pt x="73937" y="1711213"/>
                  </a:lnTo>
                  <a:lnTo>
                    <a:pt x="35623" y="1685543"/>
                  </a:lnTo>
                  <a:lnTo>
                    <a:pt x="9596" y="1647301"/>
                  </a:lnTo>
                  <a:lnTo>
                    <a:pt x="0" y="1600200"/>
                  </a:lnTo>
                  <a:lnTo>
                    <a:pt x="0" y="120396"/>
                  </a:lnTo>
                  <a:lnTo>
                    <a:pt x="9596" y="73294"/>
                  </a:lnTo>
                  <a:lnTo>
                    <a:pt x="35623" y="35052"/>
                  </a:lnTo>
                  <a:lnTo>
                    <a:pt x="73937" y="9382"/>
                  </a:lnTo>
                  <a:lnTo>
                    <a:pt x="120396" y="0"/>
                  </a:lnTo>
                  <a:lnTo>
                    <a:pt x="1091183" y="0"/>
                  </a:lnTo>
                  <a:lnTo>
                    <a:pt x="1137642" y="9382"/>
                  </a:lnTo>
                  <a:lnTo>
                    <a:pt x="1175956" y="35052"/>
                  </a:lnTo>
                  <a:lnTo>
                    <a:pt x="1201983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83" y="1647301"/>
                  </a:lnTo>
                  <a:lnTo>
                    <a:pt x="1175956" y="1685543"/>
                  </a:lnTo>
                  <a:lnTo>
                    <a:pt x="1137642" y="1711213"/>
                  </a:lnTo>
                  <a:lnTo>
                    <a:pt x="1091183" y="172059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98280" y="4730495"/>
              <a:ext cx="1211580" cy="1720850"/>
            </a:xfrm>
            <a:custGeom>
              <a:avLst/>
              <a:gdLst/>
              <a:ahLst/>
              <a:cxnLst/>
              <a:rect l="l" t="t" r="r" b="b"/>
              <a:pathLst>
                <a:path w="1211579" h="1720850">
                  <a:moveTo>
                    <a:pt x="0" y="120396"/>
                  </a:moveTo>
                  <a:lnTo>
                    <a:pt x="9596" y="73294"/>
                  </a:lnTo>
                  <a:lnTo>
                    <a:pt x="35623" y="35052"/>
                  </a:lnTo>
                  <a:lnTo>
                    <a:pt x="73937" y="9382"/>
                  </a:lnTo>
                  <a:lnTo>
                    <a:pt x="120396" y="0"/>
                  </a:lnTo>
                  <a:lnTo>
                    <a:pt x="1091183" y="0"/>
                  </a:lnTo>
                  <a:lnTo>
                    <a:pt x="1137642" y="9382"/>
                  </a:lnTo>
                  <a:lnTo>
                    <a:pt x="1175956" y="35052"/>
                  </a:lnTo>
                  <a:lnTo>
                    <a:pt x="1201983" y="73294"/>
                  </a:lnTo>
                  <a:lnTo>
                    <a:pt x="1211579" y="120396"/>
                  </a:lnTo>
                  <a:lnTo>
                    <a:pt x="1211579" y="1600200"/>
                  </a:lnTo>
                  <a:lnTo>
                    <a:pt x="1201983" y="1647301"/>
                  </a:lnTo>
                  <a:lnTo>
                    <a:pt x="1175956" y="1685543"/>
                  </a:lnTo>
                  <a:lnTo>
                    <a:pt x="1137642" y="1711213"/>
                  </a:lnTo>
                  <a:lnTo>
                    <a:pt x="1091183" y="1720596"/>
                  </a:lnTo>
                  <a:lnTo>
                    <a:pt x="120396" y="1720596"/>
                  </a:lnTo>
                  <a:lnTo>
                    <a:pt x="73937" y="1711213"/>
                  </a:lnTo>
                  <a:lnTo>
                    <a:pt x="35623" y="1685543"/>
                  </a:lnTo>
                  <a:lnTo>
                    <a:pt x="9596" y="1647301"/>
                  </a:lnTo>
                  <a:lnTo>
                    <a:pt x="0" y="1600200"/>
                  </a:lnTo>
                  <a:lnTo>
                    <a:pt x="0" y="120396"/>
                  </a:lnTo>
                  <a:close/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196874" y="5124696"/>
            <a:ext cx="1013460" cy="89661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-1270" algn="ctr">
              <a:lnSpc>
                <a:spcPct val="93600"/>
              </a:lnSpc>
              <a:spcBef>
                <a:spcPts val="215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12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down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sz="12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track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success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proposed solutions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7700" y="859536"/>
            <a:ext cx="1776983" cy="400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9947" y="801143"/>
            <a:ext cx="104838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spc="-55" dirty="0">
                <a:latin typeface="Calibri"/>
                <a:cs typeface="Calibri"/>
              </a:rPr>
              <a:t>Analysis</a:t>
            </a:r>
            <a:r>
              <a:rPr sz="1900" b="1" spc="-50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of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53911" y="4110228"/>
            <a:ext cx="981710" cy="879475"/>
            <a:chOff x="6153911" y="4110228"/>
            <a:chExt cx="981710" cy="879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6342" y="4110228"/>
              <a:ext cx="605632" cy="7940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53911" y="4692396"/>
              <a:ext cx="981710" cy="297180"/>
            </a:xfrm>
            <a:custGeom>
              <a:avLst/>
              <a:gdLst/>
              <a:ahLst/>
              <a:cxnLst/>
              <a:rect l="l" t="t" r="r" b="b"/>
              <a:pathLst>
                <a:path w="981709" h="297179">
                  <a:moveTo>
                    <a:pt x="981455" y="297180"/>
                  </a:moveTo>
                  <a:lnTo>
                    <a:pt x="0" y="297180"/>
                  </a:lnTo>
                  <a:lnTo>
                    <a:pt x="0" y="0"/>
                  </a:lnTo>
                  <a:lnTo>
                    <a:pt x="981455" y="0"/>
                  </a:lnTo>
                  <a:lnTo>
                    <a:pt x="981455" y="2971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2007107" y="5942076"/>
            <a:ext cx="198120" cy="315595"/>
          </a:xfrm>
          <a:custGeom>
            <a:avLst/>
            <a:gdLst/>
            <a:ahLst/>
            <a:cxnLst/>
            <a:rect l="l" t="t" r="r" b="b"/>
            <a:pathLst>
              <a:path w="198119" h="315595">
                <a:moveTo>
                  <a:pt x="198119" y="315467"/>
                </a:moveTo>
                <a:lnTo>
                  <a:pt x="0" y="315467"/>
                </a:lnTo>
                <a:lnTo>
                  <a:pt x="0" y="0"/>
                </a:lnTo>
                <a:lnTo>
                  <a:pt x="198119" y="0"/>
                </a:lnTo>
                <a:lnTo>
                  <a:pt x="198119" y="315467"/>
                </a:lnTo>
                <a:close/>
              </a:path>
            </a:pathLst>
          </a:custGeom>
          <a:solidFill>
            <a:srgbClr val="70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36520" y="5862828"/>
            <a:ext cx="198120" cy="394970"/>
          </a:xfrm>
          <a:custGeom>
            <a:avLst/>
            <a:gdLst/>
            <a:ahLst/>
            <a:cxnLst/>
            <a:rect l="l" t="t" r="r" b="b"/>
            <a:pathLst>
              <a:path w="198119" h="394970">
                <a:moveTo>
                  <a:pt x="198119" y="394716"/>
                </a:moveTo>
                <a:lnTo>
                  <a:pt x="0" y="394716"/>
                </a:lnTo>
                <a:lnTo>
                  <a:pt x="0" y="0"/>
                </a:lnTo>
                <a:lnTo>
                  <a:pt x="198119" y="0"/>
                </a:lnTo>
                <a:lnTo>
                  <a:pt x="198119" y="394716"/>
                </a:lnTo>
                <a:close/>
              </a:path>
            </a:pathLst>
          </a:custGeom>
          <a:solidFill>
            <a:srgbClr val="70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20111" y="6257544"/>
            <a:ext cx="0" cy="43180"/>
          </a:xfrm>
          <a:custGeom>
            <a:avLst/>
            <a:gdLst/>
            <a:ahLst/>
            <a:cxnLst/>
            <a:rect l="l" t="t" r="r" b="b"/>
            <a:pathLst>
              <a:path h="43179">
                <a:moveTo>
                  <a:pt x="0" y="0"/>
                </a:moveTo>
                <a:lnTo>
                  <a:pt x="0" y="42671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96411" y="6016752"/>
            <a:ext cx="198120" cy="236220"/>
          </a:xfrm>
          <a:custGeom>
            <a:avLst/>
            <a:gdLst/>
            <a:ahLst/>
            <a:cxnLst/>
            <a:rect l="l" t="t" r="r" b="b"/>
            <a:pathLst>
              <a:path w="198120" h="236220">
                <a:moveTo>
                  <a:pt x="198119" y="236219"/>
                </a:moveTo>
                <a:lnTo>
                  <a:pt x="0" y="236219"/>
                </a:lnTo>
                <a:lnTo>
                  <a:pt x="0" y="0"/>
                </a:lnTo>
                <a:lnTo>
                  <a:pt x="198119" y="0"/>
                </a:lnTo>
                <a:lnTo>
                  <a:pt x="198119" y="236219"/>
                </a:lnTo>
                <a:close/>
              </a:path>
            </a:pathLst>
          </a:custGeom>
          <a:solidFill>
            <a:srgbClr val="4472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25823" y="5899403"/>
            <a:ext cx="198120" cy="353695"/>
          </a:xfrm>
          <a:custGeom>
            <a:avLst/>
            <a:gdLst/>
            <a:ahLst/>
            <a:cxnLst/>
            <a:rect l="l" t="t" r="r" b="b"/>
            <a:pathLst>
              <a:path w="198120" h="353695">
                <a:moveTo>
                  <a:pt x="198119" y="353568"/>
                </a:moveTo>
                <a:lnTo>
                  <a:pt x="0" y="353568"/>
                </a:lnTo>
                <a:lnTo>
                  <a:pt x="0" y="0"/>
                </a:lnTo>
                <a:lnTo>
                  <a:pt x="198119" y="0"/>
                </a:lnTo>
                <a:lnTo>
                  <a:pt x="198119" y="353568"/>
                </a:lnTo>
                <a:close/>
              </a:path>
            </a:pathLst>
          </a:custGeom>
          <a:solidFill>
            <a:srgbClr val="4472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04978" y="3998214"/>
          <a:ext cx="7127875" cy="263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5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9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1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Personas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80645" marR="72390" algn="ctr">
                        <a:lnSpc>
                          <a:spcPct val="101600"/>
                        </a:lnSpc>
                        <a:spcBef>
                          <a:spcPts val="119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most likely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of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personas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engage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reviewing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activity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0640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4472C3"/>
                          </a:solidFill>
                          <a:latin typeface="Calibri"/>
                          <a:cs typeface="Calibri"/>
                        </a:rPr>
                        <a:t>FRIENDS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Age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20-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30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Yrs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0-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50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Yrs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30-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60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Yrs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Variable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400" b="1" spc="-20" dirty="0">
                          <a:latin typeface="Calibri"/>
                          <a:cs typeface="Calibri"/>
                        </a:rPr>
                        <a:t>Travel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frequency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1-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months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2-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months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2-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weeks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less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1-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months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3540" marR="374650" indent="24130">
                        <a:lnSpc>
                          <a:spcPct val="100699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Reviewing tendencies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8D8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44145" marR="156210" indent="121285">
                        <a:lnSpc>
                          <a:spcPct val="101899"/>
                        </a:lnSpc>
                        <a:tabLst>
                          <a:tab pos="936625" algn="l"/>
                        </a:tabLst>
                      </a:pP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Innate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2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Time 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motivation</a:t>
                      </a:r>
                      <a:r>
                        <a:rPr sz="1050" spc="9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availability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2230" marR="43180" indent="121920">
                        <a:lnSpc>
                          <a:spcPct val="101899"/>
                        </a:lnSpc>
                        <a:spcBef>
                          <a:spcPts val="5"/>
                        </a:spcBef>
                        <a:tabLst>
                          <a:tab pos="852805" algn="l"/>
                        </a:tabLst>
                      </a:pP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Innate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2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Time 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motivation</a:t>
                      </a:r>
                      <a:r>
                        <a:rPr sz="1050" spc="85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availability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marR="11430" indent="121285">
                        <a:lnSpc>
                          <a:spcPct val="101899"/>
                        </a:lnSpc>
                        <a:spcBef>
                          <a:spcPts val="320"/>
                        </a:spcBef>
                        <a:tabLst>
                          <a:tab pos="814705" algn="l"/>
                        </a:tabLst>
                      </a:pP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Innate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2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Time 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motivation</a:t>
                      </a:r>
                      <a:r>
                        <a:rPr sz="1050" spc="85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availability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610" marR="73660" indent="121285">
                        <a:lnSpc>
                          <a:spcPct val="101899"/>
                        </a:lnSpc>
                        <a:spcBef>
                          <a:spcPts val="285"/>
                        </a:spcBef>
                        <a:tabLst>
                          <a:tab pos="845185" algn="l"/>
                        </a:tabLst>
                      </a:pP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Innate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050" spc="-2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Time </a:t>
                      </a:r>
                      <a:r>
                        <a:rPr sz="105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motivation</a:t>
                      </a:r>
                      <a:r>
                        <a:rPr sz="1050" spc="85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595959"/>
                          </a:solidFill>
                          <a:latin typeface="Calibri"/>
                          <a:cs typeface="Calibri"/>
                        </a:rPr>
                        <a:t>availability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8D8D8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8113" y="4085844"/>
            <a:ext cx="672713" cy="9143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9915" y="4148160"/>
            <a:ext cx="673442" cy="80596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18156" y="4085844"/>
            <a:ext cx="872714" cy="868283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710940" y="6252971"/>
            <a:ext cx="0" cy="43180"/>
          </a:xfrm>
          <a:custGeom>
            <a:avLst/>
            <a:gdLst/>
            <a:ahLst/>
            <a:cxnLst/>
            <a:rect l="l" t="t" r="r" b="b"/>
            <a:pathLst>
              <a:path h="43179">
                <a:moveTo>
                  <a:pt x="0" y="0"/>
                </a:moveTo>
                <a:lnTo>
                  <a:pt x="0" y="42672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38827" y="6252971"/>
            <a:ext cx="0" cy="43180"/>
          </a:xfrm>
          <a:custGeom>
            <a:avLst/>
            <a:gdLst/>
            <a:ahLst/>
            <a:cxnLst/>
            <a:rect l="l" t="t" r="r" b="b"/>
            <a:pathLst>
              <a:path h="43179">
                <a:moveTo>
                  <a:pt x="0" y="0"/>
                </a:moveTo>
                <a:lnTo>
                  <a:pt x="0" y="42672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519422" y="5853684"/>
            <a:ext cx="1266825" cy="437515"/>
            <a:chOff x="4519422" y="5853684"/>
            <a:chExt cx="1266825" cy="437515"/>
          </a:xfrm>
        </p:grpSpPr>
        <p:sp>
          <p:nvSpPr>
            <p:cNvPr id="18" name="object 18"/>
            <p:cNvSpPr/>
            <p:nvPr/>
          </p:nvSpPr>
          <p:spPr>
            <a:xfrm>
              <a:off x="4739640" y="5853684"/>
              <a:ext cx="826135" cy="394970"/>
            </a:xfrm>
            <a:custGeom>
              <a:avLst/>
              <a:gdLst/>
              <a:ahLst/>
              <a:cxnLst/>
              <a:rect l="l" t="t" r="r" b="b"/>
              <a:pathLst>
                <a:path w="826135" h="394970">
                  <a:moveTo>
                    <a:pt x="196596" y="0"/>
                  </a:moveTo>
                  <a:lnTo>
                    <a:pt x="0" y="0"/>
                  </a:lnTo>
                  <a:lnTo>
                    <a:pt x="0" y="394716"/>
                  </a:lnTo>
                  <a:lnTo>
                    <a:pt x="196596" y="394716"/>
                  </a:lnTo>
                  <a:lnTo>
                    <a:pt x="196596" y="0"/>
                  </a:lnTo>
                  <a:close/>
                </a:path>
                <a:path w="826135" h="394970">
                  <a:moveTo>
                    <a:pt x="826008" y="237744"/>
                  </a:moveTo>
                  <a:lnTo>
                    <a:pt x="629412" y="237744"/>
                  </a:lnTo>
                  <a:lnTo>
                    <a:pt x="629412" y="394716"/>
                  </a:lnTo>
                  <a:lnTo>
                    <a:pt x="826008" y="394716"/>
                  </a:lnTo>
                  <a:lnTo>
                    <a:pt x="826008" y="23774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23232" y="6248400"/>
              <a:ext cx="1259205" cy="43180"/>
            </a:xfrm>
            <a:custGeom>
              <a:avLst/>
              <a:gdLst/>
              <a:ahLst/>
              <a:cxnLst/>
              <a:rect l="l" t="t" r="r" b="b"/>
              <a:pathLst>
                <a:path w="1259204" h="43179">
                  <a:moveTo>
                    <a:pt x="0" y="0"/>
                  </a:moveTo>
                  <a:lnTo>
                    <a:pt x="1258823" y="0"/>
                  </a:lnTo>
                </a:path>
                <a:path w="1259204" h="43179">
                  <a:moveTo>
                    <a:pt x="0" y="0"/>
                  </a:moveTo>
                  <a:lnTo>
                    <a:pt x="0" y="42671"/>
                  </a:lnTo>
                </a:path>
                <a:path w="1259204" h="43179">
                  <a:moveTo>
                    <a:pt x="629412" y="0"/>
                  </a:moveTo>
                  <a:lnTo>
                    <a:pt x="629412" y="42671"/>
                  </a:lnTo>
                </a:path>
                <a:path w="1259204" h="43179">
                  <a:moveTo>
                    <a:pt x="1258823" y="0"/>
                  </a:moveTo>
                  <a:lnTo>
                    <a:pt x="1258823" y="42671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961126" y="5862828"/>
            <a:ext cx="1263015" cy="437515"/>
            <a:chOff x="5961126" y="5862828"/>
            <a:chExt cx="1263015" cy="437515"/>
          </a:xfrm>
        </p:grpSpPr>
        <p:sp>
          <p:nvSpPr>
            <p:cNvPr id="21" name="object 21"/>
            <p:cNvSpPr/>
            <p:nvPr/>
          </p:nvSpPr>
          <p:spPr>
            <a:xfrm>
              <a:off x="6181344" y="5862828"/>
              <a:ext cx="828040" cy="394970"/>
            </a:xfrm>
            <a:custGeom>
              <a:avLst/>
              <a:gdLst/>
              <a:ahLst/>
              <a:cxnLst/>
              <a:rect l="l" t="t" r="r" b="b"/>
              <a:pathLst>
                <a:path w="828040" h="394970">
                  <a:moveTo>
                    <a:pt x="196596" y="198120"/>
                  </a:moveTo>
                  <a:lnTo>
                    <a:pt x="0" y="198120"/>
                  </a:lnTo>
                  <a:lnTo>
                    <a:pt x="0" y="394716"/>
                  </a:lnTo>
                  <a:lnTo>
                    <a:pt x="196596" y="394716"/>
                  </a:lnTo>
                  <a:lnTo>
                    <a:pt x="196596" y="198120"/>
                  </a:lnTo>
                  <a:close/>
                </a:path>
                <a:path w="828040" h="394970">
                  <a:moveTo>
                    <a:pt x="827532" y="0"/>
                  </a:moveTo>
                  <a:lnTo>
                    <a:pt x="629412" y="0"/>
                  </a:lnTo>
                  <a:lnTo>
                    <a:pt x="629412" y="394716"/>
                  </a:lnTo>
                  <a:lnTo>
                    <a:pt x="827532" y="394716"/>
                  </a:lnTo>
                  <a:lnTo>
                    <a:pt x="827532" y="0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4936" y="6257544"/>
              <a:ext cx="1259205" cy="43180"/>
            </a:xfrm>
            <a:custGeom>
              <a:avLst/>
              <a:gdLst/>
              <a:ahLst/>
              <a:cxnLst/>
              <a:rect l="l" t="t" r="r" b="b"/>
              <a:pathLst>
                <a:path w="1259204" h="43179">
                  <a:moveTo>
                    <a:pt x="0" y="0"/>
                  </a:moveTo>
                  <a:lnTo>
                    <a:pt x="1258824" y="0"/>
                  </a:lnTo>
                </a:path>
                <a:path w="1259204" h="43179">
                  <a:moveTo>
                    <a:pt x="0" y="0"/>
                  </a:moveTo>
                  <a:lnTo>
                    <a:pt x="0" y="42671"/>
                  </a:lnTo>
                </a:path>
                <a:path w="1259204" h="43179">
                  <a:moveTo>
                    <a:pt x="629412" y="0"/>
                  </a:moveTo>
                  <a:lnTo>
                    <a:pt x="629412" y="42671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4511" y="784860"/>
            <a:ext cx="1604299" cy="400812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317690" y="911161"/>
            <a:ext cx="7141209" cy="5738495"/>
            <a:chOff x="317690" y="911161"/>
            <a:chExt cx="7141209" cy="5738495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8279" y="1399715"/>
              <a:ext cx="1074713" cy="249410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23087" y="1304544"/>
              <a:ext cx="1313815" cy="2595880"/>
            </a:xfrm>
            <a:custGeom>
              <a:avLst/>
              <a:gdLst/>
              <a:ahLst/>
              <a:cxnLst/>
              <a:rect l="l" t="t" r="r" b="b"/>
              <a:pathLst>
                <a:path w="1313814" h="2595879">
                  <a:moveTo>
                    <a:pt x="0" y="0"/>
                  </a:moveTo>
                  <a:lnTo>
                    <a:pt x="1313687" y="0"/>
                  </a:lnTo>
                  <a:lnTo>
                    <a:pt x="1313687" y="2595371"/>
                  </a:lnTo>
                  <a:lnTo>
                    <a:pt x="0" y="2595371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46263" y="923544"/>
              <a:ext cx="0" cy="5713730"/>
            </a:xfrm>
            <a:custGeom>
              <a:avLst/>
              <a:gdLst/>
              <a:ahLst/>
              <a:cxnLst/>
              <a:rect l="l" t="t" r="r" b="b"/>
              <a:pathLst>
                <a:path h="5713730">
                  <a:moveTo>
                    <a:pt x="0" y="0"/>
                  </a:moveTo>
                  <a:lnTo>
                    <a:pt x="0" y="5713475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44155" y="2148839"/>
              <a:ext cx="481965" cy="1362710"/>
            </a:xfrm>
            <a:custGeom>
              <a:avLst/>
              <a:gdLst/>
              <a:ahLst/>
              <a:cxnLst/>
              <a:rect l="l" t="t" r="r" b="b"/>
              <a:pathLst>
                <a:path w="481964" h="1362710">
                  <a:moveTo>
                    <a:pt x="481596" y="1207020"/>
                  </a:moveTo>
                  <a:lnTo>
                    <a:pt x="408444" y="1196352"/>
                  </a:lnTo>
                  <a:lnTo>
                    <a:pt x="417703" y="1225562"/>
                  </a:lnTo>
                  <a:lnTo>
                    <a:pt x="0" y="1356372"/>
                  </a:lnTo>
                  <a:lnTo>
                    <a:pt x="1524" y="1362468"/>
                  </a:lnTo>
                  <a:lnTo>
                    <a:pt x="419163" y="1230185"/>
                  </a:lnTo>
                  <a:lnTo>
                    <a:pt x="428244" y="1258836"/>
                  </a:lnTo>
                  <a:lnTo>
                    <a:pt x="465899" y="1222260"/>
                  </a:lnTo>
                  <a:lnTo>
                    <a:pt x="481596" y="1207020"/>
                  </a:lnTo>
                  <a:close/>
                </a:path>
                <a:path w="481964" h="1362710">
                  <a:moveTo>
                    <a:pt x="481596" y="10668"/>
                  </a:moveTo>
                  <a:lnTo>
                    <a:pt x="408444" y="0"/>
                  </a:lnTo>
                  <a:lnTo>
                    <a:pt x="418198" y="29273"/>
                  </a:lnTo>
                  <a:lnTo>
                    <a:pt x="27444" y="160020"/>
                  </a:lnTo>
                  <a:lnTo>
                    <a:pt x="28968" y="166116"/>
                  </a:lnTo>
                  <a:lnTo>
                    <a:pt x="420179" y="35217"/>
                  </a:lnTo>
                  <a:lnTo>
                    <a:pt x="429780" y="64008"/>
                  </a:lnTo>
                  <a:lnTo>
                    <a:pt x="466788" y="25908"/>
                  </a:lnTo>
                  <a:lnTo>
                    <a:pt x="481596" y="10668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120812" y="947462"/>
            <a:ext cx="167449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latin typeface="Calibri"/>
                <a:cs typeface="Calibri"/>
              </a:rPr>
              <a:t>App/website</a:t>
            </a:r>
            <a:r>
              <a:rPr sz="1550" b="1" spc="-5" dirty="0">
                <a:latin typeface="Calibri"/>
                <a:cs typeface="Calibri"/>
              </a:rPr>
              <a:t> </a:t>
            </a:r>
            <a:r>
              <a:rPr sz="1550" b="1" spc="-20" dirty="0">
                <a:latin typeface="Calibri"/>
                <a:cs typeface="Calibri"/>
              </a:rPr>
              <a:t>reviews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21267" y="1628640"/>
            <a:ext cx="917575" cy="58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Reviewer</a:t>
            </a:r>
            <a:r>
              <a:rPr sz="900" spc="4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profiles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are</a:t>
            </a:r>
            <a:r>
              <a:rPr sz="900" spc="5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summarised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as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per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their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review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activity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21267" y="2454667"/>
            <a:ext cx="919480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More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4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number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of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reviews,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more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progress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the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level of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the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reviewer.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There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is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also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summary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of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contributions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made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by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the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reviewer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68122" y="2136140"/>
            <a:ext cx="918844" cy="1148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This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is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overall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process</a:t>
            </a:r>
            <a:r>
              <a:rPr sz="900" spc="5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of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reviewing</a:t>
            </a:r>
            <a:r>
              <a:rPr sz="900" spc="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</a:t>
            </a:r>
            <a:r>
              <a:rPr sz="900" spc="3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listing.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As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is</a:t>
            </a:r>
            <a:r>
              <a:rPr sz="900" spc="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apparent,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it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is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time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consuming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and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seems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like</a:t>
            </a:r>
            <a:r>
              <a:rPr sz="900" spc="5" dirty="0">
                <a:latin typeface="Calibri"/>
                <a:cs typeface="Calibri"/>
              </a:rPr>
              <a:t> </a:t>
            </a:r>
            <a:r>
              <a:rPr sz="900" spc="-50" dirty="0">
                <a:latin typeface="Calibri"/>
                <a:cs typeface="Calibri"/>
              </a:rPr>
              <a:t>a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daunting</a:t>
            </a:r>
            <a:r>
              <a:rPr sz="900" spc="3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task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at</a:t>
            </a:r>
            <a:r>
              <a:rPr sz="900" spc="50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1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very</a:t>
            </a:r>
            <a:r>
              <a:rPr sz="900" spc="2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onset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6961" y="1268730"/>
            <a:ext cx="7378065" cy="2696210"/>
            <a:chOff x="76961" y="1268730"/>
            <a:chExt cx="7378065" cy="2696210"/>
          </a:xfrm>
        </p:grpSpPr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79419" y="1286255"/>
              <a:ext cx="1350263" cy="258317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971800" y="1277112"/>
              <a:ext cx="1367155" cy="2601595"/>
            </a:xfrm>
            <a:custGeom>
              <a:avLst/>
              <a:gdLst/>
              <a:ahLst/>
              <a:cxnLst/>
              <a:rect l="l" t="t" r="r" b="b"/>
              <a:pathLst>
                <a:path w="1367154" h="2601595">
                  <a:moveTo>
                    <a:pt x="0" y="0"/>
                  </a:moveTo>
                  <a:lnTo>
                    <a:pt x="1367027" y="0"/>
                  </a:lnTo>
                  <a:lnTo>
                    <a:pt x="1367027" y="2601468"/>
                  </a:lnTo>
                  <a:lnTo>
                    <a:pt x="0" y="2601468"/>
                  </a:lnTo>
                  <a:lnTo>
                    <a:pt x="0" y="0"/>
                  </a:lnTo>
                  <a:close/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3242" y="1336124"/>
              <a:ext cx="1289963" cy="252998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392167" y="1277112"/>
              <a:ext cx="1437640" cy="2601595"/>
            </a:xfrm>
            <a:custGeom>
              <a:avLst/>
              <a:gdLst/>
              <a:ahLst/>
              <a:cxnLst/>
              <a:rect l="l" t="t" r="r" b="b"/>
              <a:pathLst>
                <a:path w="1437639" h="2601595">
                  <a:moveTo>
                    <a:pt x="0" y="0"/>
                  </a:moveTo>
                  <a:lnTo>
                    <a:pt x="1437132" y="0"/>
                  </a:lnTo>
                  <a:lnTo>
                    <a:pt x="1437132" y="2601468"/>
                  </a:lnTo>
                  <a:lnTo>
                    <a:pt x="0" y="2601468"/>
                  </a:lnTo>
                  <a:lnTo>
                    <a:pt x="0" y="0"/>
                  </a:lnTo>
                  <a:close/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94604" y="2711195"/>
              <a:ext cx="454659" cy="166370"/>
            </a:xfrm>
            <a:custGeom>
              <a:avLst/>
              <a:gdLst/>
              <a:ahLst/>
              <a:cxnLst/>
              <a:rect l="l" t="t" r="r" b="b"/>
              <a:pathLst>
                <a:path w="454660" h="166369">
                  <a:moveTo>
                    <a:pt x="389237" y="29283"/>
                  </a:moveTo>
                  <a:lnTo>
                    <a:pt x="379476" y="0"/>
                  </a:lnTo>
                  <a:lnTo>
                    <a:pt x="454152" y="10668"/>
                  </a:lnTo>
                  <a:lnTo>
                    <a:pt x="438912" y="25908"/>
                  </a:lnTo>
                  <a:lnTo>
                    <a:pt x="399287" y="25908"/>
                  </a:lnTo>
                  <a:lnTo>
                    <a:pt x="389237" y="29283"/>
                  </a:lnTo>
                  <a:close/>
                </a:path>
                <a:path w="454660" h="166369">
                  <a:moveTo>
                    <a:pt x="391367" y="35674"/>
                  </a:moveTo>
                  <a:lnTo>
                    <a:pt x="389237" y="29283"/>
                  </a:lnTo>
                  <a:lnTo>
                    <a:pt x="399287" y="25908"/>
                  </a:lnTo>
                  <a:lnTo>
                    <a:pt x="402336" y="32004"/>
                  </a:lnTo>
                  <a:lnTo>
                    <a:pt x="391367" y="35674"/>
                  </a:lnTo>
                  <a:close/>
                </a:path>
                <a:path w="454660" h="166369">
                  <a:moveTo>
                    <a:pt x="400811" y="64008"/>
                  </a:moveTo>
                  <a:lnTo>
                    <a:pt x="391367" y="35674"/>
                  </a:lnTo>
                  <a:lnTo>
                    <a:pt x="402336" y="32004"/>
                  </a:lnTo>
                  <a:lnTo>
                    <a:pt x="399287" y="25908"/>
                  </a:lnTo>
                  <a:lnTo>
                    <a:pt x="438912" y="25908"/>
                  </a:lnTo>
                  <a:lnTo>
                    <a:pt x="400811" y="64008"/>
                  </a:lnTo>
                  <a:close/>
                </a:path>
                <a:path w="454660" h="166369">
                  <a:moveTo>
                    <a:pt x="1524" y="166116"/>
                  </a:moveTo>
                  <a:lnTo>
                    <a:pt x="0" y="160020"/>
                  </a:lnTo>
                  <a:lnTo>
                    <a:pt x="389237" y="29283"/>
                  </a:lnTo>
                  <a:lnTo>
                    <a:pt x="391367" y="35674"/>
                  </a:lnTo>
                  <a:lnTo>
                    <a:pt x="1524" y="166116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343" y="3928872"/>
              <a:ext cx="7360920" cy="27940"/>
            </a:xfrm>
            <a:custGeom>
              <a:avLst/>
              <a:gdLst/>
              <a:ahLst/>
              <a:cxnLst/>
              <a:rect l="l" t="t" r="r" b="b"/>
              <a:pathLst>
                <a:path w="7360920" h="27939">
                  <a:moveTo>
                    <a:pt x="0" y="27431"/>
                  </a:moveTo>
                  <a:lnTo>
                    <a:pt x="7360920" y="0"/>
                  </a:lnTo>
                </a:path>
              </a:pathLst>
            </a:custGeom>
            <a:ln w="16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17090" y="1419898"/>
            <a:ext cx="2481580" cy="30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sz="900" spc="-220" dirty="0">
                <a:solidFill>
                  <a:srgbClr val="5E6267"/>
                </a:solidFill>
                <a:latin typeface="SimSun-ExtB"/>
                <a:cs typeface="SimSun-ExtB"/>
              </a:rPr>
              <a:t>“ľkc</a:t>
            </a:r>
            <a:r>
              <a:rPr sz="900" spc="-19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60" dirty="0">
                <a:solidFill>
                  <a:srgbClr val="5E6267"/>
                </a:solidFill>
                <a:latin typeface="SimSun-ExtB"/>
                <a:cs typeface="SimSun-ExtB"/>
              </a:rPr>
              <a:t>app</a:t>
            </a:r>
            <a:r>
              <a:rPr sz="900" spc="-204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10" dirty="0">
                <a:solidFill>
                  <a:srgbClr val="5E6267"/>
                </a:solidFill>
                <a:latin typeface="SimSun-ExtB"/>
                <a:cs typeface="SimSun-ExtB"/>
              </a:rPr>
              <a:t>is</a:t>
            </a:r>
            <a:r>
              <a:rPr sz="900" spc="-21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25" dirty="0">
                <a:solidFill>
                  <a:srgbClr val="5E6267"/>
                </a:solidFill>
                <a:latin typeface="SimSun-ExtB"/>
                <a:cs typeface="SimSun-ExtB"/>
              </a:rPr>
              <a:t>gícat</a:t>
            </a:r>
            <a:r>
              <a:rPr sz="900" spc="-220" dirty="0">
                <a:solidFill>
                  <a:srgbClr val="5E6267"/>
                </a:solidFill>
                <a:latin typeface="SimSun-ExtB"/>
                <a:cs typeface="SimSun-ExtB"/>
              </a:rPr>
              <a:t> roí</a:t>
            </a:r>
            <a:r>
              <a:rPr sz="900" spc="-204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45" dirty="0">
                <a:solidFill>
                  <a:srgbClr val="5E6267"/>
                </a:solidFill>
                <a:latin typeface="SimSun-ExtB"/>
                <a:cs typeface="SimSun-ExtB"/>
              </a:rPr>
              <a:t>ícscaíck,</a:t>
            </a:r>
            <a:r>
              <a:rPr sz="900" spc="-21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00" dirty="0">
                <a:solidFill>
                  <a:srgbClr val="5E6267"/>
                </a:solidFill>
                <a:latin typeface="SimSun-ExtB"/>
                <a:cs typeface="SimSun-ExtB"/>
              </a:rPr>
              <a:t>a⭲d</a:t>
            </a:r>
            <a:r>
              <a:rPr sz="900" spc="-21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I</a:t>
            </a:r>
            <a:r>
              <a:rPr sz="900" spc="2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35" dirty="0">
                <a:solidFill>
                  <a:srgbClr val="5E6267"/>
                </a:solidFill>
                <a:latin typeface="Segoe UI Symbol"/>
                <a:cs typeface="Segoe UI Symbol"/>
              </a:rPr>
              <a:t>oftc⭲</a:t>
            </a:r>
            <a:r>
              <a:rPr sz="900" spc="-2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75" dirty="0">
                <a:solidFill>
                  <a:srgbClr val="5E6267"/>
                </a:solidFill>
                <a:latin typeface="Segoe UI Symbol"/>
                <a:cs typeface="Segoe UI Symbol"/>
              </a:rPr>
              <a:t>lca:c </a:t>
            </a:r>
            <a:r>
              <a:rPr sz="900" spc="95" dirty="0">
                <a:solidFill>
                  <a:srgbClr val="5E6267"/>
                </a:solidFill>
                <a:latin typeface="Segoe UI Symbol"/>
                <a:cs typeface="Segoe UI Symbol"/>
              </a:rPr>
              <a:t>íc:icws</a:t>
            </a:r>
            <a:r>
              <a:rPr sz="900" spc="-2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foí</a:t>
            </a:r>
            <a:r>
              <a:rPr sz="900" spc="-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10" dirty="0">
                <a:solidFill>
                  <a:srgbClr val="5E6267"/>
                </a:solidFill>
                <a:latin typeface="Segoe UI Symbol"/>
                <a:cs typeface="Segoe UI Symbol"/>
              </a:rPr>
              <a:t>otkcís</a:t>
            </a:r>
            <a:r>
              <a:rPr sz="900" spc="-10" dirty="0">
                <a:solidFill>
                  <a:srgbClr val="5E6267"/>
                </a:solidFill>
                <a:latin typeface="SimSun-ExtB"/>
                <a:cs typeface="SimSun-ExtB"/>
              </a:rPr>
              <a:t>.”</a:t>
            </a:r>
            <a:endParaRPr sz="900">
              <a:latin typeface="SimSun-ExtB"/>
              <a:cs typeface="SimSun-ExtB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17090" y="1840475"/>
            <a:ext cx="2516505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sz="900" spc="-80" dirty="0">
                <a:solidFill>
                  <a:srgbClr val="5E6267"/>
                </a:solidFill>
                <a:latin typeface="SimSun-ExtB"/>
                <a:cs typeface="SimSun-ExtB"/>
              </a:rPr>
              <a:t>“S"ck</a:t>
            </a:r>
            <a:r>
              <a:rPr sz="900" spc="-18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85" dirty="0">
                <a:solidFill>
                  <a:srgbClr val="5E6267"/>
                </a:solidFill>
                <a:latin typeface="SimSun-ExtB"/>
                <a:cs typeface="SimSun-ExtB"/>
              </a:rPr>
              <a:t>a⭲</a:t>
            </a:r>
            <a:r>
              <a:rPr sz="900" spc="-17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05" dirty="0">
                <a:solidFill>
                  <a:srgbClr val="5E6267"/>
                </a:solidFill>
                <a:latin typeface="SimSun-ExtB"/>
                <a:cs typeface="SimSun-ExtB"/>
              </a:rPr>
              <a:t>cssc⭲tial</a:t>
            </a:r>
            <a:r>
              <a:rPr sz="900" spc="-21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45" dirty="0">
                <a:solidFill>
                  <a:srgbClr val="5E6267"/>
                </a:solidFill>
                <a:latin typeface="SimSun-ExtB"/>
                <a:cs typeface="SimSun-ExtB"/>
              </a:rPr>
              <a:t>aid</a:t>
            </a:r>
            <a:r>
              <a:rPr sz="900" spc="-21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25" dirty="0">
                <a:solidFill>
                  <a:srgbClr val="5E6267"/>
                </a:solidFill>
                <a:latin typeface="SimSun-ExtB"/>
                <a:cs typeface="SimSun-ExtB"/>
              </a:rPr>
              <a:t>wkc⭲</a:t>
            </a:r>
            <a:r>
              <a:rPr sz="900" spc="-19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80" dirty="0">
                <a:solidFill>
                  <a:srgbClr val="5E6267"/>
                </a:solidFill>
                <a:latin typeface="SimSun-ExtB"/>
                <a:cs typeface="SimSun-ExtB"/>
              </a:rPr>
              <a:t>dccidi⭲g</a:t>
            </a:r>
            <a:r>
              <a:rPr sz="900" spc="-22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65" dirty="0">
                <a:solidFill>
                  <a:srgbClr val="5E6267"/>
                </a:solidFill>
                <a:latin typeface="SimSun-ExtB"/>
                <a:cs typeface="SimSun-ExtB"/>
              </a:rPr>
              <a:t>o⭲</a:t>
            </a:r>
            <a:r>
              <a:rPr sz="900" spc="-20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50" dirty="0">
                <a:solidFill>
                  <a:srgbClr val="5E6267"/>
                </a:solidFill>
                <a:latin typeface="SimSun-ExtB"/>
                <a:cs typeface="SimSun-ExtB"/>
              </a:rPr>
              <a:t>a </a:t>
            </a:r>
            <a:r>
              <a:rPr sz="900" spc="-105" dirty="0">
                <a:solidFill>
                  <a:srgbClr val="5E6267"/>
                </a:solidFill>
                <a:latin typeface="SimSun-ExtB"/>
                <a:cs typeface="SimSun-ExtB"/>
              </a:rPr>
              <a:t>locatio⭲</a:t>
            </a:r>
            <a:r>
              <a:rPr sz="900" spc="-21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265" dirty="0">
                <a:solidFill>
                  <a:srgbClr val="5E6267"/>
                </a:solidFill>
                <a:latin typeface="SimSun-ExtB"/>
                <a:cs typeface="SimSun-ExtB"/>
              </a:rPr>
              <a:t>oí</a:t>
            </a:r>
            <a:r>
              <a:rPr sz="900" spc="-15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90" dirty="0">
                <a:solidFill>
                  <a:srgbClr val="5E6267"/>
                </a:solidFill>
                <a:latin typeface="SimSun-ExtB"/>
                <a:cs typeface="SimSun-ExtB"/>
              </a:rPr>
              <a:t>:c⭲"c.</a:t>
            </a:r>
            <a:r>
              <a:rPr sz="900" spc="-17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0" dirty="0">
                <a:solidFill>
                  <a:srgbClr val="5E6267"/>
                </a:solidFill>
                <a:latin typeface="Segoe UI Symbol"/>
                <a:cs typeface="Segoe UI Symbol"/>
              </a:rPr>
              <a:t>EquallQ</a:t>
            </a:r>
            <a:r>
              <a:rPr sz="900" spc="3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uscful to</a:t>
            </a:r>
            <a:r>
              <a:rPr sz="900" spc="4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75" dirty="0">
                <a:solidFill>
                  <a:srgbClr val="5E6267"/>
                </a:solidFill>
                <a:latin typeface="Segoe UI Symbol"/>
                <a:cs typeface="Segoe UI Symbol"/>
              </a:rPr>
              <a:t>lca:c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fccdback</a:t>
            </a:r>
            <a:r>
              <a:rPr sz="900" spc="4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30" dirty="0">
                <a:solidFill>
                  <a:srgbClr val="5E6267"/>
                </a:solidFill>
                <a:latin typeface="Segoe UI Symbol"/>
                <a:cs typeface="Segoe UI Symbol"/>
              </a:rPr>
              <a:t>wkc⭲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a</a:t>
            </a:r>
            <a:r>
              <a:rPr sz="900" spc="6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:c⭲uc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oí</a:t>
            </a:r>
            <a:r>
              <a:rPr sz="900" spc="8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100" dirty="0">
                <a:solidFill>
                  <a:srgbClr val="5E6267"/>
                </a:solidFill>
                <a:latin typeface="Segoe UI Symbol"/>
                <a:cs typeface="Segoe UI Symbol"/>
              </a:rPr>
              <a:t>scí:icc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65" dirty="0">
                <a:solidFill>
                  <a:srgbClr val="5E6267"/>
                </a:solidFill>
                <a:latin typeface="Segoe UI Symbol"/>
                <a:cs typeface="Segoe UI Symbol"/>
              </a:rPr>
              <a:t>disappoi⭲ts</a:t>
            </a:r>
            <a:r>
              <a:rPr sz="900" spc="-65" dirty="0">
                <a:solidFill>
                  <a:srgbClr val="5E6267"/>
                </a:solidFill>
                <a:latin typeface="SimSun-ExtB"/>
                <a:cs typeface="SimSun-ExtB"/>
              </a:rPr>
              <a:t>.”</a:t>
            </a:r>
            <a:endParaRPr sz="900">
              <a:latin typeface="SimSun-ExtB"/>
              <a:cs typeface="SimSun-ExtB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717090" y="2401321"/>
            <a:ext cx="2406650" cy="58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sz="900" spc="-315" dirty="0">
                <a:solidFill>
                  <a:srgbClr val="5E6267"/>
                </a:solidFill>
                <a:latin typeface="SimSun-ExtB"/>
                <a:cs typeface="SimSun-ExtB"/>
              </a:rPr>
              <a:t>“</a:t>
            </a:r>
            <a:r>
              <a:rPr sz="900" spc="-315" dirty="0">
                <a:solidFill>
                  <a:srgbClr val="5E6267"/>
                </a:solidFill>
                <a:latin typeface="Segoe UI Symbol"/>
                <a:cs typeface="Segoe UI Symbol"/>
              </a:rPr>
              <a:t>I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likc</a:t>
            </a:r>
            <a:r>
              <a:rPr sz="900" spc="4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to</a:t>
            </a:r>
            <a:r>
              <a:rPr sz="900" spc="2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takc</a:t>
            </a:r>
            <a:r>
              <a:rPr sz="900" spc="2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a</a:t>
            </a:r>
            <a:r>
              <a:rPr sz="900" spc="3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look</a:t>
            </a:r>
            <a:r>
              <a:rPr sz="900" spc="4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155" dirty="0">
                <a:solidFill>
                  <a:srgbClr val="5E6267"/>
                </a:solidFill>
                <a:latin typeface="Segoe UI Symbol"/>
                <a:cs typeface="Segoe UI Symbol"/>
              </a:rPr>
              <a:t>o⭲</a:t>
            </a:r>
            <a:r>
              <a:rPr sz="900" spc="2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tkc</a:t>
            </a:r>
            <a:r>
              <a:rPr sz="900" spc="3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95" dirty="0">
                <a:solidFill>
                  <a:srgbClr val="5E6267"/>
                </a:solidFill>
                <a:latin typeface="Segoe UI Symbol"/>
                <a:cs typeface="Segoe UI Symbol"/>
              </a:rPr>
              <a:t>íc:icws</a:t>
            </a:r>
            <a:r>
              <a:rPr sz="900" spc="1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tkat</a:t>
            </a:r>
            <a:r>
              <a:rPr sz="900" spc="2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20" dirty="0">
                <a:solidFill>
                  <a:srgbClr val="5E6267"/>
                </a:solidFill>
                <a:latin typeface="Segoe UI Symbol"/>
                <a:cs typeface="Segoe UI Symbol"/>
              </a:rPr>
              <a:t>tíip </a:t>
            </a:r>
            <a:r>
              <a:rPr sz="900" spc="70" dirty="0">
                <a:solidFill>
                  <a:srgbClr val="5E6267"/>
                </a:solidFill>
                <a:latin typeface="Segoe UI Symbol"/>
                <a:cs typeface="Segoe UI Symbol"/>
              </a:rPr>
              <a:t>ad:isoí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65" dirty="0">
                <a:solidFill>
                  <a:srgbClr val="5E6267"/>
                </a:solidFill>
                <a:latin typeface="Segoe UI Symbol"/>
                <a:cs typeface="Segoe UI Symbol"/>
              </a:rPr>
              <a:t>pío:idcs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fíom</a:t>
            </a:r>
            <a:r>
              <a:rPr sz="900" spc="4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otkcí</a:t>
            </a:r>
            <a:r>
              <a:rPr sz="900" spc="4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pcoplc</a:t>
            </a:r>
            <a:r>
              <a:rPr sz="900" spc="6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25" dirty="0">
                <a:solidFill>
                  <a:srgbClr val="5E6267"/>
                </a:solidFill>
                <a:latin typeface="Segoe UI Symbol"/>
                <a:cs typeface="Segoe UI Symbol"/>
              </a:rPr>
              <a:t>ow⭲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cxpcíic⭲ccs</a:t>
            </a:r>
            <a:r>
              <a:rPr sz="900" spc="8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about</a:t>
            </a:r>
            <a:r>
              <a:rPr sz="900" spc="3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tkc</a:t>
            </a:r>
            <a:r>
              <a:rPr sz="900" spc="9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placcs</a:t>
            </a:r>
            <a:r>
              <a:rPr sz="900" spc="9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20" dirty="0">
                <a:solidFill>
                  <a:srgbClr val="5E6267"/>
                </a:solidFill>
                <a:latin typeface="Segoe UI Symbol"/>
                <a:cs typeface="Segoe UI Symbol"/>
              </a:rPr>
              <a:t>tkcQ</a:t>
            </a:r>
            <a:r>
              <a:rPr sz="900" spc="70" dirty="0">
                <a:solidFill>
                  <a:srgbClr val="5E6267"/>
                </a:solidFill>
                <a:latin typeface="Segoe UI Symbol"/>
                <a:cs typeface="Segoe UI Symbol"/>
              </a:rPr>
              <a:t> :isitcd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imSun-ExtB"/>
                <a:cs typeface="SimSun-ExtB"/>
              </a:rPr>
              <a:t>so</a:t>
            </a:r>
            <a:r>
              <a:rPr sz="900" spc="-10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80" dirty="0">
                <a:solidFill>
                  <a:srgbClr val="5E6267"/>
                </a:solidFill>
                <a:latin typeface="SimSun-ExtB"/>
                <a:cs typeface="SimSun-ExtB"/>
              </a:rPr>
              <a:t>I </a:t>
            </a:r>
            <a:r>
              <a:rPr sz="900" spc="-114" dirty="0">
                <a:solidFill>
                  <a:srgbClr val="5E6267"/>
                </a:solidFill>
                <a:latin typeface="SimSun-ExtB"/>
                <a:cs typeface="SimSun-ExtB"/>
              </a:rPr>
              <a:t>ca⭲</a:t>
            </a:r>
            <a:r>
              <a:rPr sz="900" spc="-17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dirty="0">
                <a:solidFill>
                  <a:srgbClr val="5E6267"/>
                </a:solidFill>
                <a:latin typeface="SimSun-ExtB"/>
                <a:cs typeface="SimSun-ExtB"/>
              </a:rPr>
              <a:t>ka:c</a:t>
            </a:r>
            <a:r>
              <a:rPr sz="900" spc="-15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dirty="0">
                <a:solidFill>
                  <a:srgbClr val="5E6267"/>
                </a:solidFill>
                <a:latin typeface="SimSun-ExtB"/>
                <a:cs typeface="SimSun-ExtB"/>
              </a:rPr>
              <a:t>a</a:t>
            </a:r>
            <a:r>
              <a:rPr sz="900" spc="-17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35" dirty="0">
                <a:solidFill>
                  <a:srgbClr val="5E6267"/>
                </a:solidFill>
                <a:latin typeface="SimSun-ExtB"/>
                <a:cs typeface="SimSun-ExtB"/>
              </a:rPr>
              <a:t>cl"c</a:t>
            </a:r>
            <a:r>
              <a:rPr sz="900" spc="-16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dirty="0">
                <a:solidFill>
                  <a:srgbClr val="5E6267"/>
                </a:solidFill>
                <a:latin typeface="SimSun-ExtB"/>
                <a:cs typeface="SimSun-ExtB"/>
              </a:rPr>
              <a:t>abo"t</a:t>
            </a:r>
            <a:r>
              <a:rPr sz="900" spc="-16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60" dirty="0">
                <a:solidFill>
                  <a:srgbClr val="5E6267"/>
                </a:solidFill>
                <a:latin typeface="SimSun-ExtB"/>
                <a:cs typeface="SimSun-ExtB"/>
              </a:rPr>
              <a:t>tkat</a:t>
            </a:r>
            <a:r>
              <a:rPr sz="900" spc="-18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10" dirty="0">
                <a:solidFill>
                  <a:srgbClr val="5E6267"/>
                </a:solidFill>
                <a:latin typeface="SimSun-ExtB"/>
                <a:cs typeface="SimSun-ExtB"/>
              </a:rPr>
              <a:t>placc”</a:t>
            </a:r>
            <a:endParaRPr sz="900">
              <a:latin typeface="SimSun-ExtB"/>
              <a:cs typeface="SimSun-ExtB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717090" y="3102379"/>
            <a:ext cx="2548255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95"/>
              </a:spcBef>
            </a:pPr>
            <a:r>
              <a:rPr sz="900" spc="-225" dirty="0">
                <a:solidFill>
                  <a:srgbClr val="5E6267"/>
                </a:solidFill>
                <a:latin typeface="SimSun-ExtB"/>
                <a:cs typeface="SimSun-ExtB"/>
              </a:rPr>
              <a:t>“ľkis</a:t>
            </a:r>
            <a:r>
              <a:rPr sz="900" spc="-204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60" dirty="0">
                <a:solidFill>
                  <a:srgbClr val="5E6267"/>
                </a:solidFill>
                <a:latin typeface="SimSun-ExtB"/>
                <a:cs typeface="SimSun-ExtB"/>
              </a:rPr>
              <a:t>app</a:t>
            </a:r>
            <a:r>
              <a:rPr sz="900" spc="-19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65" dirty="0">
                <a:solidFill>
                  <a:srgbClr val="5E6267"/>
                </a:solidFill>
                <a:latin typeface="SimSun-ExtB"/>
                <a:cs typeface="SimSun-ExtB"/>
              </a:rPr>
              <a:t>c⭲ablcs</a:t>
            </a:r>
            <a:r>
              <a:rPr sz="900" spc="-21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195" dirty="0">
                <a:solidFill>
                  <a:srgbClr val="5E6267"/>
                </a:solidFill>
                <a:latin typeface="SimSun-ExtB"/>
                <a:cs typeface="SimSun-ExtB"/>
              </a:rPr>
              <a:t>mc</a:t>
            </a:r>
            <a:r>
              <a:rPr sz="900" spc="-195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-50" dirty="0">
                <a:solidFill>
                  <a:srgbClr val="5E6267"/>
                </a:solidFill>
                <a:latin typeface="SimSun-ExtB"/>
                <a:cs typeface="SimSun-ExtB"/>
              </a:rPr>
              <a:t>to</a:t>
            </a:r>
            <a:r>
              <a:rPr sz="900" spc="-190" dirty="0">
                <a:solidFill>
                  <a:srgbClr val="5E6267"/>
                </a:solidFill>
                <a:latin typeface="SimSun-ExtB"/>
                <a:cs typeface="SimSun-ExtB"/>
              </a:rPr>
              <a:t> </a:t>
            </a:r>
            <a:r>
              <a:rPr sz="900" spc="70" dirty="0">
                <a:solidFill>
                  <a:srgbClr val="5E6267"/>
                </a:solidFill>
                <a:latin typeface="Segoe UI Symbol"/>
                <a:cs typeface="Segoe UI Symbol"/>
              </a:rPr>
              <a:t>skaíc</a:t>
            </a:r>
            <a:r>
              <a:rPr sz="900" spc="1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ouí</a:t>
            </a:r>
            <a:r>
              <a:rPr sz="900" spc="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85" dirty="0">
                <a:solidFill>
                  <a:srgbClr val="5E6267"/>
                </a:solidFill>
                <a:latin typeface="Segoe UI Symbol"/>
                <a:cs typeface="Segoe UI Symbol"/>
              </a:rPr>
              <a:t>opi⭲io⭲</a:t>
            </a:r>
            <a:r>
              <a:rPr sz="900" spc="1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20" dirty="0">
                <a:solidFill>
                  <a:srgbClr val="5E6267"/>
                </a:solidFill>
                <a:latin typeface="Segoe UI Symbol"/>
                <a:cs typeface="Segoe UI Symbol"/>
              </a:rPr>
              <a:t>about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placcs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wc</a:t>
            </a:r>
            <a:r>
              <a:rPr sz="900" spc="6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35" dirty="0">
                <a:solidFill>
                  <a:srgbClr val="5E6267"/>
                </a:solidFill>
                <a:latin typeface="Segoe UI Symbol"/>
                <a:cs typeface="Segoe UI Symbol"/>
              </a:rPr>
              <a:t>tíQ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plus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 wc</a:t>
            </a:r>
            <a:r>
              <a:rPr sz="900" spc="6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10" dirty="0">
                <a:solidFill>
                  <a:srgbClr val="5E6267"/>
                </a:solidFill>
                <a:latin typeface="Segoe UI Symbol"/>
                <a:cs typeface="Segoe UI Symbol"/>
              </a:rPr>
              <a:t>bc⭲cfit</a:t>
            </a:r>
            <a:r>
              <a:rPr sz="900" spc="3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fíom</a:t>
            </a:r>
            <a:r>
              <a:rPr sz="900" spc="6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10" dirty="0">
                <a:solidFill>
                  <a:srgbClr val="5E6267"/>
                </a:solidFill>
                <a:latin typeface="Segoe UI Symbol"/>
                <a:cs typeface="Segoe UI Symbol"/>
              </a:rPr>
              <a:t>otkcí's </a:t>
            </a:r>
            <a:r>
              <a:rPr sz="900" spc="95" dirty="0">
                <a:solidFill>
                  <a:srgbClr val="5E6267"/>
                </a:solidFill>
                <a:latin typeface="Segoe UI Symbol"/>
                <a:cs typeface="Segoe UI Symbol"/>
              </a:rPr>
              <a:t>íc:icws</a:t>
            </a:r>
            <a:r>
              <a:rPr sz="900" spc="2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of</a:t>
            </a:r>
            <a:r>
              <a:rPr sz="900" spc="4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placcs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 wc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co⭲sidcí</a:t>
            </a:r>
            <a:r>
              <a:rPr sz="900" spc="3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65" dirty="0">
                <a:solidFill>
                  <a:srgbClr val="5E6267"/>
                </a:solidFill>
                <a:latin typeface="Segoe UI Symbol"/>
                <a:cs typeface="Segoe UI Symbol"/>
              </a:rPr>
              <a:t>goi⭲g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to.</a:t>
            </a:r>
            <a:r>
              <a:rPr sz="900" spc="3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So</a:t>
            </a:r>
            <a:r>
              <a:rPr sz="900" spc="6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30" dirty="0">
                <a:solidFill>
                  <a:srgbClr val="5E6267"/>
                </a:solidFill>
                <a:latin typeface="Segoe UI Symbol"/>
                <a:cs typeface="Segoe UI Symbol"/>
              </a:rPr>
              <a:t>wc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gct</a:t>
            </a:r>
            <a:r>
              <a:rPr sz="900" spc="5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100" dirty="0">
                <a:solidFill>
                  <a:srgbClr val="5E6267"/>
                </a:solidFill>
                <a:latin typeface="Segoe UI Symbol"/>
                <a:cs typeface="Segoe UI Symbol"/>
              </a:rPr>
              <a:t>a⭲d</a:t>
            </a:r>
            <a:r>
              <a:rPr sz="900" spc="7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90" dirty="0">
                <a:solidFill>
                  <a:srgbClr val="5E6267"/>
                </a:solidFill>
                <a:latin typeface="Segoe UI Symbol"/>
                <a:cs typeface="Segoe UI Symbol"/>
              </a:rPr>
              <a:t>gi:c</a:t>
            </a:r>
            <a:r>
              <a:rPr sz="900" spc="7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fícclQ</a:t>
            </a:r>
            <a:r>
              <a:rPr sz="900" spc="5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witk</a:t>
            </a:r>
            <a:r>
              <a:rPr sz="900" spc="75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dirty="0">
                <a:solidFill>
                  <a:srgbClr val="5E6267"/>
                </a:solidFill>
                <a:latin typeface="Segoe UI Symbol"/>
                <a:cs typeface="Segoe UI Symbol"/>
              </a:rPr>
              <a:t>tkis</a:t>
            </a:r>
            <a:r>
              <a:rPr sz="900" spc="80" dirty="0">
                <a:solidFill>
                  <a:srgbClr val="5E6267"/>
                </a:solidFill>
                <a:latin typeface="Segoe UI Symbol"/>
                <a:cs typeface="Segoe UI Symbol"/>
              </a:rPr>
              <a:t> </a:t>
            </a:r>
            <a:r>
              <a:rPr sz="900" spc="-10" dirty="0">
                <a:solidFill>
                  <a:srgbClr val="5E6267"/>
                </a:solidFill>
                <a:latin typeface="Segoe UI Symbol"/>
                <a:cs typeface="Segoe UI Symbol"/>
              </a:rPr>
              <a:t>app</a:t>
            </a:r>
            <a:r>
              <a:rPr sz="900" spc="-10" dirty="0">
                <a:solidFill>
                  <a:srgbClr val="5E6267"/>
                </a:solidFill>
                <a:latin typeface="SimSun-ExtB"/>
                <a:cs typeface="SimSun-ExtB"/>
              </a:rPr>
              <a:t>.”</a:t>
            </a:r>
            <a:endParaRPr sz="900">
              <a:latin typeface="SimSun-ExtB"/>
              <a:cs typeface="SimSun-ExtB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0103" y="4243612"/>
            <a:ext cx="2728481" cy="56470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34440" y="5261624"/>
            <a:ext cx="2682374" cy="400119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8363185" y="4754324"/>
            <a:ext cx="146177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Calibri"/>
                <a:cs typeface="Calibri"/>
              </a:rPr>
              <a:t>Google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Play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Store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18069" y="5755643"/>
            <a:ext cx="13487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Calibri"/>
                <a:cs typeface="Calibri"/>
              </a:rPr>
              <a:t>Apple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App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Store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1.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60" dirty="0">
                <a:latin typeface="Calibri"/>
                <a:cs typeface="Calibri"/>
              </a:rPr>
              <a:t>Identifying </a:t>
            </a:r>
            <a:r>
              <a:rPr b="1" spc="-20" dirty="0">
                <a:latin typeface="Calibri"/>
                <a:cs typeface="Calibri"/>
              </a:rPr>
              <a:t>the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35" dirty="0">
                <a:latin typeface="Calibri"/>
                <a:cs typeface="Calibri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963" y="1400555"/>
            <a:ext cx="4337685" cy="4023360"/>
          </a:xfrm>
          <a:prstGeom prst="rect">
            <a:avLst/>
          </a:prstGeom>
          <a:ln w="10668">
            <a:solidFill>
              <a:srgbClr val="000000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endParaRPr sz="1550">
              <a:latin typeface="Times New Roman"/>
              <a:cs typeface="Times New Roman"/>
            </a:endParaRPr>
          </a:p>
          <a:p>
            <a:pPr marL="80645" marR="88900">
              <a:lnSpc>
                <a:spcPts val="1700"/>
              </a:lnSpc>
            </a:pPr>
            <a:r>
              <a:rPr sz="1550" dirty="0">
                <a:latin typeface="Calibri"/>
                <a:cs typeface="Calibri"/>
              </a:rPr>
              <a:t>Our</a:t>
            </a:r>
            <a:r>
              <a:rPr sz="1550" spc="6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problem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statement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recognises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our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objective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to </a:t>
            </a:r>
            <a:r>
              <a:rPr sz="1550" dirty="0">
                <a:latin typeface="Calibri"/>
                <a:cs typeface="Calibri"/>
              </a:rPr>
              <a:t>be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growing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number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of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user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generated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content </a:t>
            </a:r>
            <a:r>
              <a:rPr sz="1550" dirty="0">
                <a:latin typeface="Calibri"/>
                <a:cs typeface="Calibri"/>
              </a:rPr>
              <a:t>(reviews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ratings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spc="-20" dirty="0">
                <a:latin typeface="Calibri"/>
                <a:cs typeface="Calibri"/>
              </a:rPr>
              <a:t>site)</a:t>
            </a:r>
            <a:endParaRPr sz="1550">
              <a:latin typeface="Calibri"/>
              <a:cs typeface="Calibri"/>
            </a:endParaRPr>
          </a:p>
          <a:p>
            <a:pPr marL="279400" marR="499745" indent="-198755">
              <a:lnSpc>
                <a:spcPts val="1700"/>
              </a:lnSpc>
              <a:spcBef>
                <a:spcPts val="900"/>
              </a:spcBef>
              <a:buFont typeface="Arial MT"/>
              <a:buChar char="•"/>
              <a:tabLst>
                <a:tab pos="281940" algn="l"/>
              </a:tabLst>
            </a:pPr>
            <a:r>
              <a:rPr sz="1550" dirty="0">
                <a:latin typeface="Calibri"/>
                <a:cs typeface="Calibri"/>
              </a:rPr>
              <a:t>We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need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understand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reasons</a:t>
            </a:r>
            <a:r>
              <a:rPr sz="1550" spc="-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why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spc="-25" dirty="0">
                <a:latin typeface="Calibri"/>
                <a:cs typeface="Calibri"/>
              </a:rPr>
              <a:t>an 	</a:t>
            </a:r>
            <a:r>
              <a:rPr sz="1550" dirty="0">
                <a:latin typeface="Calibri"/>
                <a:cs typeface="Calibri"/>
              </a:rPr>
              <a:t>individual</a:t>
            </a:r>
            <a:r>
              <a:rPr sz="1550" spc="7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would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or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would</a:t>
            </a:r>
            <a:r>
              <a:rPr sz="1550" spc="7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not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review/rate 	</a:t>
            </a:r>
            <a:r>
              <a:rPr sz="1550" dirty="0">
                <a:latin typeface="Calibri"/>
                <a:cs typeface="Calibri"/>
              </a:rPr>
              <a:t>his/her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travel </a:t>
            </a:r>
            <a:r>
              <a:rPr sz="1550" spc="-10" dirty="0">
                <a:latin typeface="Calibri"/>
                <a:cs typeface="Calibri"/>
              </a:rPr>
              <a:t>experience</a:t>
            </a:r>
            <a:endParaRPr sz="1550">
              <a:latin typeface="Calibri"/>
              <a:cs typeface="Calibri"/>
            </a:endParaRPr>
          </a:p>
          <a:p>
            <a:pPr marL="279400" marR="137795" indent="-198755">
              <a:lnSpc>
                <a:spcPts val="1700"/>
              </a:lnSpc>
              <a:spcBef>
                <a:spcPts val="885"/>
              </a:spcBef>
              <a:buFont typeface="Arial MT"/>
              <a:buChar char="•"/>
              <a:tabLst>
                <a:tab pos="281940" algn="l"/>
              </a:tabLst>
            </a:pPr>
            <a:r>
              <a:rPr sz="1550" dirty="0">
                <a:latin typeface="Calibri"/>
                <a:cs typeface="Calibri"/>
              </a:rPr>
              <a:t>We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can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divide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our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target</a:t>
            </a:r>
            <a:r>
              <a:rPr sz="1550" spc="2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audience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into</a:t>
            </a:r>
            <a:r>
              <a:rPr sz="1550" spc="15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different 	</a:t>
            </a:r>
            <a:r>
              <a:rPr sz="1550" dirty="0">
                <a:latin typeface="Calibri"/>
                <a:cs typeface="Calibri"/>
              </a:rPr>
              <a:t>personas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and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try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to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hypothesise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on</a:t>
            </a:r>
            <a:r>
              <a:rPr sz="1550" spc="60" dirty="0"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FF0000"/>
                </a:solidFill>
                <a:latin typeface="Calibri"/>
                <a:cs typeface="Calibri"/>
              </a:rPr>
              <a:t>possible 	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reasons</a:t>
            </a:r>
            <a:r>
              <a:rPr sz="155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55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they</a:t>
            </a:r>
            <a:r>
              <a:rPr sz="155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could</a:t>
            </a:r>
            <a:r>
              <a:rPr sz="155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155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155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engaging</a:t>
            </a:r>
            <a:r>
              <a:rPr sz="155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spc="-25" dirty="0">
                <a:solidFill>
                  <a:srgbClr val="FF0000"/>
                </a:solidFill>
                <a:latin typeface="Calibri"/>
                <a:cs typeface="Calibri"/>
              </a:rPr>
              <a:t>in 	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reviewing</a:t>
            </a:r>
            <a:r>
              <a:rPr sz="155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55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rating</a:t>
            </a:r>
            <a:r>
              <a:rPr sz="155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155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55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endParaRPr sz="1550">
              <a:latin typeface="Calibri"/>
              <a:cs typeface="Calibri"/>
            </a:endParaRPr>
          </a:p>
          <a:p>
            <a:pPr marL="279400" marR="249554" indent="-198755">
              <a:lnSpc>
                <a:spcPts val="1700"/>
              </a:lnSpc>
              <a:spcBef>
                <a:spcPts val="894"/>
              </a:spcBef>
              <a:buFont typeface="Arial MT"/>
              <a:buChar char="•"/>
              <a:tabLst>
                <a:tab pos="281940" algn="l"/>
              </a:tabLst>
            </a:pPr>
            <a:r>
              <a:rPr sz="1550" dirty="0">
                <a:latin typeface="Calibri"/>
                <a:cs typeface="Calibri"/>
              </a:rPr>
              <a:t>At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45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same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time,</a:t>
            </a:r>
            <a:r>
              <a:rPr sz="1550" spc="1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we</a:t>
            </a:r>
            <a:r>
              <a:rPr sz="1550" spc="3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can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validate</a:t>
            </a:r>
            <a:r>
              <a:rPr sz="1550" spc="2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the</a:t>
            </a:r>
            <a:r>
              <a:rPr sz="1550" spc="35" dirty="0"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AF50"/>
                </a:solidFill>
                <a:latin typeface="Calibri"/>
                <a:cs typeface="Calibri"/>
              </a:rPr>
              <a:t>possible 	</a:t>
            </a:r>
            <a:r>
              <a:rPr sz="1550" b="1" dirty="0">
                <a:solidFill>
                  <a:srgbClr val="00AF50"/>
                </a:solidFill>
                <a:latin typeface="Calibri"/>
                <a:cs typeface="Calibri"/>
              </a:rPr>
              <a:t>reasons</a:t>
            </a:r>
            <a:r>
              <a:rPr sz="1550" b="1" spc="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AF50"/>
                </a:solidFill>
                <a:latin typeface="Calibri"/>
                <a:cs typeface="Calibri"/>
              </a:rPr>
              <a:t>behind</a:t>
            </a:r>
            <a:r>
              <a:rPr sz="1550" b="1" spc="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AF50"/>
                </a:solidFill>
                <a:latin typeface="Calibri"/>
                <a:cs typeface="Calibri"/>
              </a:rPr>
              <a:t>people</a:t>
            </a:r>
            <a:r>
              <a:rPr sz="1550" b="1" spc="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AF50"/>
                </a:solidFill>
                <a:latin typeface="Calibri"/>
                <a:cs typeface="Calibri"/>
              </a:rPr>
              <a:t>actually 	</a:t>
            </a:r>
            <a:r>
              <a:rPr sz="1550" b="1" dirty="0">
                <a:solidFill>
                  <a:srgbClr val="00AF50"/>
                </a:solidFill>
                <a:latin typeface="Calibri"/>
                <a:cs typeface="Calibri"/>
              </a:rPr>
              <a:t>reviewing/rating</a:t>
            </a:r>
            <a:r>
              <a:rPr sz="1550" b="1" spc="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AF50"/>
                </a:solidFill>
                <a:latin typeface="Calibri"/>
                <a:cs typeface="Calibri"/>
              </a:rPr>
              <a:t>their</a:t>
            </a:r>
            <a:r>
              <a:rPr sz="1550" b="1" spc="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AF50"/>
                </a:solidFill>
                <a:latin typeface="Calibri"/>
                <a:cs typeface="Calibri"/>
              </a:rPr>
              <a:t>experiences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7947" y="1400555"/>
            <a:ext cx="5500370" cy="2719070"/>
          </a:xfrm>
          <a:prstGeom prst="rect">
            <a:avLst/>
          </a:prstGeom>
          <a:ln w="10667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65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Possible</a:t>
            </a:r>
            <a:r>
              <a:rPr sz="1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hypotheses</a:t>
            </a:r>
            <a:r>
              <a:rPr sz="1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people</a:t>
            </a:r>
            <a:r>
              <a:rPr sz="1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do not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engage</a:t>
            </a:r>
            <a:r>
              <a:rPr sz="14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 reviews/ratings</a:t>
            </a:r>
            <a:endParaRPr sz="14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72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General</a:t>
            </a:r>
            <a:r>
              <a:rPr sz="1400"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problems:</a:t>
            </a:r>
            <a:endParaRPr sz="1400">
              <a:latin typeface="Calibri"/>
              <a:cs typeface="Calibri"/>
            </a:endParaRPr>
          </a:p>
          <a:p>
            <a:pPr marL="281940" marR="236220" indent="-201295">
              <a:lnSpc>
                <a:spcPts val="1510"/>
              </a:lnSpc>
              <a:spcBef>
                <a:spcPts val="894"/>
              </a:spcBef>
              <a:buFont typeface="Wingdings"/>
              <a:buChar char=""/>
              <a:tabLst>
                <a:tab pos="281940" algn="l"/>
              </a:tabLst>
            </a:pPr>
            <a:r>
              <a:rPr sz="1400" dirty="0">
                <a:latin typeface="Calibri"/>
                <a:cs typeface="Calibri"/>
              </a:rPr>
              <a:t>Can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 number 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mandatory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fields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overwhelming/boring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would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discarding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 </a:t>
            </a:r>
            <a:r>
              <a:rPr sz="1400" spc="-10" dirty="0">
                <a:latin typeface="Calibri"/>
                <a:cs typeface="Calibri"/>
              </a:rPr>
              <a:t>altogether</a:t>
            </a:r>
            <a:endParaRPr sz="140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05"/>
              </a:spcBef>
              <a:buFont typeface="Wingdings"/>
              <a:buChar char=""/>
              <a:tabLst>
                <a:tab pos="281305" algn="l"/>
              </a:tabLst>
            </a:pP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10" dirty="0">
                <a:latin typeface="Calibri"/>
                <a:cs typeface="Calibri"/>
              </a:rPr>
              <a:t> immediate/tangible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incentives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benefits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reviewers</a:t>
            </a:r>
            <a:endParaRPr sz="140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05"/>
              </a:spcBef>
              <a:buFont typeface="Wingdings"/>
              <a:buChar char=""/>
              <a:tabLst>
                <a:tab pos="281305" algn="l"/>
              </a:tabLst>
            </a:pPr>
            <a:r>
              <a:rPr sz="1400" dirty="0">
                <a:latin typeface="Calibri"/>
                <a:cs typeface="Calibri"/>
              </a:rPr>
              <a:t>They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unable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perceive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how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useful</a:t>
            </a:r>
            <a:endParaRPr sz="14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71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Persona</a:t>
            </a:r>
            <a:r>
              <a:rPr sz="1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specific</a:t>
            </a:r>
            <a:r>
              <a:rPr sz="14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problems:</a:t>
            </a:r>
            <a:endParaRPr sz="140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05"/>
              </a:spcBef>
              <a:buFont typeface="Wingdings"/>
              <a:buChar char=""/>
              <a:tabLst>
                <a:tab pos="281305" algn="l"/>
              </a:tabLst>
            </a:pPr>
            <a:r>
              <a:rPr sz="1400" dirty="0">
                <a:latin typeface="Calibri"/>
                <a:cs typeface="Calibri"/>
              </a:rPr>
              <a:t>Business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travellers: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might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consuming</a:t>
            </a:r>
            <a:endParaRPr sz="140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281305" algn="l"/>
              </a:tabLst>
            </a:pPr>
            <a:r>
              <a:rPr sz="1400" dirty="0">
                <a:latin typeface="Calibri"/>
                <a:cs typeface="Calibri"/>
              </a:rPr>
              <a:t>Non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tech-</a:t>
            </a:r>
            <a:r>
              <a:rPr sz="1400" dirty="0">
                <a:latin typeface="Calibri"/>
                <a:cs typeface="Calibri"/>
              </a:rPr>
              <a:t>savvy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travellers: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might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</a:t>
            </a:r>
            <a:r>
              <a:rPr sz="1400" spc="-10" dirty="0">
                <a:latin typeface="Calibri"/>
                <a:cs typeface="Calibri"/>
              </a:rPr>
              <a:t> difficult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7947" y="4250435"/>
            <a:ext cx="5500370" cy="1173480"/>
          </a:xfrm>
          <a:prstGeom prst="rect">
            <a:avLst/>
          </a:prstGeom>
          <a:ln w="10667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65"/>
              </a:spcBef>
            </a:pPr>
            <a:r>
              <a:rPr sz="1400" b="1" spc="-10" dirty="0">
                <a:solidFill>
                  <a:srgbClr val="00AF50"/>
                </a:solidFill>
                <a:latin typeface="Calibri"/>
                <a:cs typeface="Calibri"/>
              </a:rPr>
              <a:t>Possible</a:t>
            </a:r>
            <a:r>
              <a:rPr sz="1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AF50"/>
                </a:solidFill>
                <a:latin typeface="Calibri"/>
                <a:cs typeface="Calibri"/>
              </a:rPr>
              <a:t>hypotheses</a:t>
            </a:r>
            <a:r>
              <a:rPr sz="14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F50"/>
                </a:solidFill>
                <a:latin typeface="Calibri"/>
                <a:cs typeface="Calibri"/>
              </a:rPr>
              <a:t>that</a:t>
            </a:r>
            <a:r>
              <a:rPr sz="14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F50"/>
                </a:solidFill>
                <a:latin typeface="Calibri"/>
                <a:cs typeface="Calibri"/>
              </a:rPr>
              <a:t>people</a:t>
            </a:r>
            <a:r>
              <a:rPr sz="14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AF50"/>
                </a:solidFill>
                <a:latin typeface="Calibri"/>
                <a:cs typeface="Calibri"/>
              </a:rPr>
              <a:t>engage in</a:t>
            </a:r>
            <a:r>
              <a:rPr sz="1400" b="1" spc="-10" dirty="0">
                <a:solidFill>
                  <a:srgbClr val="00AF50"/>
                </a:solidFill>
                <a:latin typeface="Calibri"/>
                <a:cs typeface="Calibri"/>
              </a:rPr>
              <a:t> reviews/ratings</a:t>
            </a:r>
            <a:endParaRPr sz="140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281305" algn="l"/>
              </a:tabLst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self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validation/expressing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opinion</a:t>
            </a:r>
            <a:endParaRPr sz="140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05"/>
              </a:spcBef>
              <a:buFont typeface="Wingdings"/>
              <a:buChar char=""/>
              <a:tabLst>
                <a:tab pos="281305" algn="l"/>
              </a:tabLst>
            </a:pPr>
            <a:r>
              <a:rPr sz="1400" spc="-6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vent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talk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about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really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good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really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experience</a:t>
            </a:r>
            <a:endParaRPr sz="140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10"/>
              </a:spcBef>
              <a:buFont typeface="Wingdings"/>
              <a:buChar char=""/>
              <a:tabLst>
                <a:tab pos="281305" algn="l"/>
              </a:tabLst>
            </a:pPr>
            <a:r>
              <a:rPr sz="1400" dirty="0">
                <a:latin typeface="Calibri"/>
                <a:cs typeface="Calibri"/>
              </a:rPr>
              <a:t>When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requested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property/travel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partner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25" dirty="0">
                <a:latin typeface="Calibri"/>
                <a:cs typeface="Calibri"/>
              </a:rPr>
              <a:t> so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960" y="5553455"/>
            <a:ext cx="9976485" cy="1173480"/>
          </a:xfrm>
          <a:prstGeom prst="rect">
            <a:avLst/>
          </a:prstGeom>
          <a:ln w="10667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45"/>
              </a:spcBef>
            </a:pPr>
            <a:r>
              <a:rPr sz="1550" b="1" dirty="0">
                <a:latin typeface="Calibri"/>
                <a:cs typeface="Calibri"/>
              </a:rPr>
              <a:t>What</a:t>
            </a:r>
            <a:r>
              <a:rPr sz="1550" b="1" spc="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to</a:t>
            </a:r>
            <a:r>
              <a:rPr sz="1550" b="1" spc="25" dirty="0">
                <a:latin typeface="Calibri"/>
                <a:cs typeface="Calibri"/>
              </a:rPr>
              <a:t> </a:t>
            </a:r>
            <a:r>
              <a:rPr sz="1550" b="1" dirty="0">
                <a:latin typeface="Calibri"/>
                <a:cs typeface="Calibri"/>
              </a:rPr>
              <a:t>do</a:t>
            </a:r>
            <a:r>
              <a:rPr sz="1550" b="1" spc="25" dirty="0">
                <a:latin typeface="Calibri"/>
                <a:cs typeface="Calibri"/>
              </a:rPr>
              <a:t> </a:t>
            </a:r>
            <a:r>
              <a:rPr sz="1550" b="1" spc="-20" dirty="0">
                <a:latin typeface="Calibri"/>
                <a:cs typeface="Calibri"/>
              </a:rPr>
              <a:t>next:</a:t>
            </a:r>
            <a:endParaRPr sz="1550">
              <a:latin typeface="Calibri"/>
              <a:cs typeface="Calibri"/>
            </a:endParaRPr>
          </a:p>
          <a:p>
            <a:pPr marL="281305" indent="-20066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81305" algn="l"/>
              </a:tabLst>
            </a:pPr>
            <a:r>
              <a:rPr sz="1400" dirty="0">
                <a:latin typeface="Calibri"/>
                <a:cs typeface="Calibri"/>
              </a:rPr>
              <a:t>Design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survey 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confirm/negate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identified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hypothesis</a:t>
            </a:r>
            <a:endParaRPr sz="1400">
              <a:latin typeface="Calibri"/>
              <a:cs typeface="Calibri"/>
            </a:endParaRPr>
          </a:p>
          <a:p>
            <a:pPr marL="281940" marR="151130" indent="-201295">
              <a:lnSpc>
                <a:spcPts val="1510"/>
              </a:lnSpc>
              <a:spcBef>
                <a:spcPts val="915"/>
              </a:spcBef>
              <a:buFont typeface="Arial MT"/>
              <a:buChar char="•"/>
              <a:tabLst>
                <a:tab pos="281940" algn="l"/>
              </a:tabLst>
            </a:pPr>
            <a:r>
              <a:rPr sz="1400" dirty="0">
                <a:latin typeface="Calibri"/>
                <a:cs typeface="Calibri"/>
              </a:rPr>
              <a:t>Reach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respondents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order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deep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responses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deeper</a:t>
            </a:r>
            <a:r>
              <a:rPr sz="1400" spc="-10" dirty="0">
                <a:latin typeface="Calibri"/>
                <a:cs typeface="Calibri"/>
              </a:rPr>
              <a:t> understanding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problem/pain points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328" y="4244340"/>
            <a:ext cx="598932" cy="597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2284" y="1397508"/>
            <a:ext cx="545591" cy="5440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96640" y="5649155"/>
            <a:ext cx="466367" cy="46502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89120" y="1376172"/>
            <a:ext cx="420624" cy="4236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2.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35" dirty="0">
                <a:latin typeface="Calibri"/>
                <a:cs typeface="Calibri"/>
              </a:rPr>
              <a:t>User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45" dirty="0">
                <a:latin typeface="Calibri"/>
                <a:cs typeface="Calibri"/>
              </a:rPr>
              <a:t>research: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60" dirty="0">
                <a:latin typeface="Calibri"/>
                <a:cs typeface="Calibri"/>
              </a:rPr>
              <a:t>Survey/interviews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908" y="1370075"/>
            <a:ext cx="1569720" cy="5309870"/>
          </a:xfrm>
          <a:prstGeom prst="rect">
            <a:avLst/>
          </a:prstGeom>
          <a:ln w="10667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78740" marR="302895">
              <a:lnSpc>
                <a:spcPts val="1520"/>
              </a:lnSpc>
              <a:spcBef>
                <a:spcPts val="235"/>
              </a:spcBef>
            </a:pPr>
            <a:r>
              <a:rPr sz="1400" dirty="0">
                <a:latin typeface="Calibri"/>
                <a:cs typeface="Calibri"/>
              </a:rPr>
              <a:t>Questions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asked </a:t>
            </a:r>
            <a:r>
              <a:rPr sz="1400" spc="-10" dirty="0">
                <a:latin typeface="Calibri"/>
                <a:cs typeface="Calibri"/>
              </a:rPr>
              <a:t>regarding:</a:t>
            </a:r>
            <a:endParaRPr sz="1400">
              <a:latin typeface="Calibri"/>
              <a:cs typeface="Calibri"/>
            </a:endParaRPr>
          </a:p>
          <a:p>
            <a:pPr marL="280035" marR="283845" indent="-201295">
              <a:lnSpc>
                <a:spcPct val="90200"/>
              </a:lnSpc>
              <a:spcBef>
                <a:spcPts val="850"/>
              </a:spcBef>
              <a:buFont typeface="Arial MT"/>
              <a:buChar char="•"/>
              <a:tabLst>
                <a:tab pos="280035" algn="l"/>
              </a:tabLst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Demography: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Age,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working status, geography</a:t>
            </a:r>
            <a:endParaRPr sz="1400">
              <a:latin typeface="Calibri"/>
              <a:cs typeface="Calibri"/>
            </a:endParaRPr>
          </a:p>
          <a:p>
            <a:pPr marL="280035" marR="78740" indent="-201295">
              <a:lnSpc>
                <a:spcPct val="90200"/>
              </a:lnSpc>
              <a:spcBef>
                <a:spcPts val="875"/>
              </a:spcBef>
              <a:buFont typeface="Arial MT"/>
              <a:buChar char="•"/>
              <a:tabLst>
                <a:tab pos="280035" algn="l"/>
              </a:tabLst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Travel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behaviour: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Frequency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 </a:t>
            </a:r>
            <a:r>
              <a:rPr sz="1400" spc="-10" dirty="0">
                <a:latin typeface="Calibri"/>
                <a:cs typeface="Calibri"/>
              </a:rPr>
              <a:t>travel,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nature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 </a:t>
            </a:r>
            <a:r>
              <a:rPr sz="1400" spc="-10" dirty="0">
                <a:latin typeface="Calibri"/>
                <a:cs typeface="Calibri"/>
              </a:rPr>
              <a:t>travel,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platforms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itineraries</a:t>
            </a:r>
            <a:endParaRPr sz="1400">
              <a:latin typeface="Calibri"/>
              <a:cs typeface="Calibri"/>
            </a:endParaRPr>
          </a:p>
          <a:p>
            <a:pPr marL="280035" marR="144780" indent="-201295">
              <a:lnSpc>
                <a:spcPts val="1510"/>
              </a:lnSpc>
              <a:spcBef>
                <a:spcPts val="900"/>
              </a:spcBef>
              <a:buFont typeface="Arial MT"/>
              <a:buChar char="•"/>
              <a:tabLst>
                <a:tab pos="280035" algn="l"/>
              </a:tabLst>
            </a:pPr>
            <a:r>
              <a:rPr sz="1400" dirty="0">
                <a:latin typeface="Calibri"/>
                <a:cs typeface="Calibri"/>
              </a:rPr>
              <a:t>Reasons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behind sharing reviews/rating</a:t>
            </a:r>
            <a:endParaRPr sz="1400">
              <a:latin typeface="Calibri"/>
              <a:cs typeface="Calibri"/>
            </a:endParaRPr>
          </a:p>
          <a:p>
            <a:pPr marL="280035" marR="144780" indent="-201295">
              <a:lnSpc>
                <a:spcPts val="1510"/>
              </a:lnSpc>
              <a:spcBef>
                <a:spcPts val="894"/>
              </a:spcBef>
              <a:buFont typeface="Arial MT"/>
              <a:buChar char="•"/>
              <a:tabLst>
                <a:tab pos="280035" algn="l"/>
              </a:tabLst>
            </a:pPr>
            <a:r>
              <a:rPr sz="1400" dirty="0">
                <a:latin typeface="Calibri"/>
                <a:cs typeface="Calibri"/>
              </a:rPr>
              <a:t>Reasons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behind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sharing reviews/ratings</a:t>
            </a:r>
            <a:endParaRPr sz="1400">
              <a:latin typeface="Calibri"/>
              <a:cs typeface="Calibri"/>
            </a:endParaRPr>
          </a:p>
          <a:p>
            <a:pPr marL="280035" marR="170180" indent="-201295">
              <a:lnSpc>
                <a:spcPct val="90200"/>
              </a:lnSpc>
              <a:spcBef>
                <a:spcPts val="855"/>
              </a:spcBef>
              <a:buFont typeface="Arial MT"/>
              <a:buChar char="•"/>
              <a:tabLst>
                <a:tab pos="280035" algn="l"/>
              </a:tabLst>
            </a:pPr>
            <a:r>
              <a:rPr sz="1400" b="1" dirty="0">
                <a:latin typeface="Calibri"/>
                <a:cs typeface="Calibri"/>
              </a:rPr>
              <a:t>Behaviour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and </a:t>
            </a:r>
            <a:r>
              <a:rPr sz="1400" b="1" spc="-10" dirty="0">
                <a:latin typeface="Calibri"/>
                <a:cs typeface="Calibri"/>
              </a:rPr>
              <a:t>motivations </a:t>
            </a:r>
            <a:r>
              <a:rPr sz="1400" dirty="0">
                <a:latin typeface="Calibri"/>
                <a:cs typeface="Calibri"/>
              </a:rPr>
              <a:t>while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reading ratings/reviews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448" y="4369308"/>
            <a:ext cx="8227059" cy="2310765"/>
          </a:xfrm>
          <a:prstGeom prst="rect">
            <a:avLst/>
          </a:prstGeom>
          <a:ln w="1066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600"/>
              </a:lnSpc>
            </a:pPr>
            <a:r>
              <a:rPr sz="1400" b="1" dirty="0">
                <a:latin typeface="Calibri"/>
                <a:cs typeface="Calibri"/>
              </a:rPr>
              <a:t>Major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causes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identified:</a:t>
            </a:r>
            <a:endParaRPr sz="1400">
              <a:latin typeface="Calibri"/>
              <a:cs typeface="Calibri"/>
            </a:endParaRPr>
          </a:p>
          <a:p>
            <a:pPr marL="78740" marR="1008380">
              <a:lnSpc>
                <a:spcPts val="1360"/>
              </a:lnSpc>
              <a:spcBef>
                <a:spcPts val="850"/>
              </a:spcBef>
            </a:pPr>
            <a:r>
              <a:rPr sz="1400" dirty="0">
                <a:latin typeface="Calibri"/>
                <a:cs typeface="Calibri"/>
              </a:rPr>
              <a:t>No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major </a:t>
            </a:r>
            <a:r>
              <a:rPr sz="1400" spc="-10" dirty="0">
                <a:latin typeface="Calibri"/>
                <a:cs typeface="Calibri"/>
              </a:rPr>
              <a:t>difference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share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planning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share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giving ratings/reviews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-&gt;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particular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travel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platform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being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preferred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by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users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share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reviews/ratings</a:t>
            </a:r>
            <a:endParaRPr sz="1400">
              <a:latin typeface="Calibri"/>
              <a:cs typeface="Calibri"/>
            </a:endParaRPr>
          </a:p>
          <a:p>
            <a:pPr marL="280035" indent="-201295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280035" algn="l"/>
              </a:tabLst>
            </a:pPr>
            <a:r>
              <a:rPr sz="1400" dirty="0">
                <a:latin typeface="Calibri"/>
                <a:cs typeface="Calibri"/>
              </a:rPr>
              <a:t>Major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motivators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people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reviews/ratings:</a:t>
            </a:r>
            <a:endParaRPr sz="1400">
              <a:latin typeface="Calibri"/>
              <a:cs typeface="Calibri"/>
            </a:endParaRPr>
          </a:p>
          <a:p>
            <a:pPr marL="680720" lvl="1" indent="-20066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680720" algn="l"/>
              </a:tabLst>
            </a:pPr>
            <a:r>
              <a:rPr sz="1400" b="1" dirty="0">
                <a:latin typeface="Calibri"/>
                <a:cs typeface="Calibri"/>
              </a:rPr>
              <a:t>77%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responses: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050" spc="-30" dirty="0">
                <a:latin typeface="Calibri"/>
                <a:cs typeface="Calibri"/>
              </a:rPr>
              <a:t>To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help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other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people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make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better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decisions</a:t>
            </a:r>
            <a:endParaRPr sz="1050">
              <a:latin typeface="Calibri"/>
              <a:cs typeface="Calibri"/>
            </a:endParaRPr>
          </a:p>
          <a:p>
            <a:pPr marL="680720" lvl="1" indent="-20066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680720" algn="l"/>
              </a:tabLst>
            </a:pPr>
            <a:r>
              <a:rPr sz="1400" b="1" dirty="0">
                <a:latin typeface="Calibri"/>
                <a:cs typeface="Calibri"/>
              </a:rPr>
              <a:t>65%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responses: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050" spc="-30" dirty="0">
                <a:latin typeface="Calibri"/>
                <a:cs typeface="Calibri"/>
              </a:rPr>
              <a:t>To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express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opinions/to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vent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or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talk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about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extreme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experiences</a:t>
            </a:r>
            <a:endParaRPr sz="1050">
              <a:latin typeface="Calibri"/>
              <a:cs typeface="Calibri"/>
            </a:endParaRPr>
          </a:p>
          <a:p>
            <a:pPr marL="280035" indent="-20129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80035" algn="l"/>
              </a:tabLst>
            </a:pPr>
            <a:r>
              <a:rPr sz="1400" dirty="0">
                <a:latin typeface="Calibri"/>
                <a:cs typeface="Calibri"/>
              </a:rPr>
              <a:t>Major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deterrents</a:t>
            </a:r>
            <a:r>
              <a:rPr sz="1400" dirty="0">
                <a:latin typeface="Calibri"/>
                <a:cs typeface="Calibri"/>
              </a:rPr>
              <a:t> 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people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reviews/ratings:</a:t>
            </a:r>
            <a:endParaRPr sz="1400">
              <a:latin typeface="Calibri"/>
              <a:cs typeface="Calibri"/>
            </a:endParaRPr>
          </a:p>
          <a:p>
            <a:pPr marL="680720" lvl="1" indent="-20066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680720" algn="l"/>
              </a:tabLst>
            </a:pPr>
            <a:r>
              <a:rPr sz="1400" b="1" dirty="0">
                <a:latin typeface="Calibri"/>
                <a:cs typeface="Calibri"/>
              </a:rPr>
              <a:t>75% </a:t>
            </a:r>
            <a:r>
              <a:rPr sz="1400" b="1" spc="-10" dirty="0">
                <a:latin typeface="Calibri"/>
                <a:cs typeface="Calibri"/>
              </a:rPr>
              <a:t>responses</a:t>
            </a:r>
            <a:r>
              <a:rPr sz="1050" b="1" spc="-10" dirty="0">
                <a:latin typeface="Calibri"/>
                <a:cs typeface="Calibri"/>
              </a:rPr>
              <a:t>:</a:t>
            </a:r>
            <a:r>
              <a:rPr sz="1050" b="1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They find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it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time </a:t>
            </a:r>
            <a:r>
              <a:rPr sz="1050" spc="-10" dirty="0">
                <a:latin typeface="Calibri"/>
                <a:cs typeface="Calibri"/>
              </a:rPr>
              <a:t>consuming/boring</a:t>
            </a:r>
            <a:endParaRPr sz="1050">
              <a:latin typeface="Calibri"/>
              <a:cs typeface="Calibri"/>
            </a:endParaRPr>
          </a:p>
          <a:p>
            <a:pPr marL="680720" lvl="1" indent="-20066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680720" algn="l"/>
              </a:tabLst>
            </a:pPr>
            <a:r>
              <a:rPr sz="1400" b="1" dirty="0">
                <a:latin typeface="Calibri"/>
                <a:cs typeface="Calibri"/>
              </a:rPr>
              <a:t>50%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responses: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don’t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get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benefits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return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60448" y="1370075"/>
            <a:ext cx="8227059" cy="2906395"/>
          </a:xfrm>
          <a:custGeom>
            <a:avLst/>
            <a:gdLst/>
            <a:ahLst/>
            <a:cxnLst/>
            <a:rect l="l" t="t" r="r" b="b"/>
            <a:pathLst>
              <a:path w="8227059" h="2906395">
                <a:moveTo>
                  <a:pt x="0" y="0"/>
                </a:moveTo>
                <a:lnTo>
                  <a:pt x="8226551" y="0"/>
                </a:lnTo>
                <a:lnTo>
                  <a:pt x="8226551" y="2906267"/>
                </a:lnTo>
                <a:lnTo>
                  <a:pt x="0" y="2906267"/>
                </a:lnTo>
                <a:lnTo>
                  <a:pt x="0" y="0"/>
                </a:lnTo>
                <a:close/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39699" y="1363442"/>
            <a:ext cx="56718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Summary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responses: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Form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link: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[</a:t>
            </a:r>
            <a:r>
              <a:rPr sz="1400" b="1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https://forms.gle/JHFG8hcxUDohNoD59</a:t>
            </a:r>
            <a:r>
              <a:rPr sz="1400" b="1" spc="-10" dirty="0">
                <a:latin typeface="Calibri"/>
                <a:cs typeface="Calibri"/>
              </a:rPr>
              <a:t>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7270" y="4007644"/>
            <a:ext cx="910590" cy="166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latin typeface="Calibri"/>
                <a:cs typeface="Calibri"/>
              </a:rPr>
              <a:t>Age</a:t>
            </a:r>
            <a:r>
              <a:rPr sz="900" b="1" spc="30" dirty="0">
                <a:latin typeface="Calibri"/>
                <a:cs typeface="Calibri"/>
              </a:rPr>
              <a:t> </a:t>
            </a:r>
            <a:r>
              <a:rPr sz="900" b="1" spc="-10" dirty="0">
                <a:latin typeface="Calibri"/>
                <a:cs typeface="Calibri"/>
              </a:rPr>
              <a:t>demographics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32166" y="1677550"/>
            <a:ext cx="7759065" cy="2301875"/>
            <a:chOff x="2332166" y="1677550"/>
            <a:chExt cx="7759065" cy="23018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6601" y="2051304"/>
              <a:ext cx="3354359" cy="12998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8423" y="2993135"/>
              <a:ext cx="1475587" cy="9857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3648" y="1677550"/>
              <a:ext cx="1342968" cy="12737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2166" y="1731715"/>
              <a:ext cx="1393440" cy="131664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6164" y="3081527"/>
              <a:ext cx="445769" cy="80786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187775" y="4044208"/>
            <a:ext cx="749935" cy="166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latin typeface="Calibri"/>
                <a:cs typeface="Calibri"/>
              </a:rPr>
              <a:t>Working</a:t>
            </a:r>
            <a:r>
              <a:rPr sz="900" b="1" spc="25" dirty="0">
                <a:latin typeface="Calibri"/>
                <a:cs typeface="Calibri"/>
              </a:rPr>
              <a:t> </a:t>
            </a:r>
            <a:r>
              <a:rPr sz="900" b="1" spc="-10" dirty="0">
                <a:latin typeface="Calibri"/>
                <a:cs typeface="Calibri"/>
              </a:rPr>
              <a:t>status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86442" y="3955860"/>
            <a:ext cx="780415" cy="166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latin typeface="Calibri"/>
                <a:cs typeface="Calibri"/>
              </a:rPr>
              <a:t>Travel</a:t>
            </a:r>
            <a:r>
              <a:rPr sz="900" b="1" spc="20" dirty="0">
                <a:latin typeface="Calibri"/>
                <a:cs typeface="Calibri"/>
              </a:rPr>
              <a:t> </a:t>
            </a:r>
            <a:r>
              <a:rPr sz="900" b="1" spc="-10" dirty="0">
                <a:latin typeface="Calibri"/>
                <a:cs typeface="Calibri"/>
              </a:rPr>
              <a:t>personas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617" y="872694"/>
            <a:ext cx="40951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3.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spc="-70" dirty="0">
                <a:latin typeface="Calibri"/>
                <a:cs typeface="Calibri"/>
              </a:rPr>
              <a:t>Problems/pain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60" dirty="0">
                <a:latin typeface="Calibri"/>
                <a:cs typeface="Calibri"/>
              </a:rPr>
              <a:t>points </a:t>
            </a:r>
            <a:r>
              <a:rPr b="1" spc="-20" dirty="0">
                <a:latin typeface="Calibri"/>
                <a:cs typeface="Calibri"/>
              </a:rPr>
              <a:t>to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be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targeted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2127" y="1289304"/>
            <a:ext cx="10221595" cy="2016760"/>
          </a:xfrm>
          <a:prstGeom prst="rect">
            <a:avLst/>
          </a:prstGeom>
          <a:ln w="10667">
            <a:solidFill>
              <a:srgbClr val="000000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085"/>
              </a:spcBef>
            </a:pPr>
            <a:r>
              <a:rPr sz="1050" dirty="0">
                <a:latin typeface="Calibri"/>
                <a:cs typeface="Calibri"/>
              </a:rPr>
              <a:t>Follow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up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through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interviews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revealed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more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depth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preferences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respondents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about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how</a:t>
            </a:r>
            <a:r>
              <a:rPr sz="1050" b="1" i="1" spc="-1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the</a:t>
            </a:r>
            <a:r>
              <a:rPr sz="1050" b="1" i="1" spc="-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motivators</a:t>
            </a:r>
            <a:r>
              <a:rPr sz="1050" b="1" i="1" spc="-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for reviewing and</a:t>
            </a:r>
            <a:r>
              <a:rPr sz="1050" b="1" i="1" spc="1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rating</a:t>
            </a:r>
            <a:r>
              <a:rPr sz="1050" b="1" i="1" spc="-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could</a:t>
            </a:r>
            <a:r>
              <a:rPr sz="1050" b="1" i="1" spc="2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be </a:t>
            </a:r>
            <a:r>
              <a:rPr sz="1050" b="1" i="1" spc="-10" dirty="0">
                <a:latin typeface="Calibri"/>
                <a:cs typeface="Calibri"/>
              </a:rPr>
              <a:t>reinforced: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Calibri"/>
              <a:cs typeface="Calibri"/>
            </a:endParaRPr>
          </a:p>
          <a:p>
            <a:pPr marL="280035" indent="-201295">
              <a:lnSpc>
                <a:spcPct val="100000"/>
              </a:lnSpc>
              <a:buFont typeface="Arial MT"/>
              <a:buChar char="•"/>
              <a:tabLst>
                <a:tab pos="280035" algn="l"/>
              </a:tabLst>
            </a:pPr>
            <a:r>
              <a:rPr sz="1050" b="1" i="1" spc="-20" dirty="0">
                <a:latin typeface="Calibri"/>
                <a:cs typeface="Calibri"/>
              </a:rPr>
              <a:t>To</a:t>
            </a:r>
            <a:r>
              <a:rPr sz="1050" b="1" i="1" spc="-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help</a:t>
            </a:r>
            <a:r>
              <a:rPr sz="1050" b="1" i="1" spc="-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other</a:t>
            </a:r>
            <a:r>
              <a:rPr sz="1050" b="1" i="1" spc="-1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people</a:t>
            </a:r>
            <a:r>
              <a:rPr sz="1050" b="1" i="1" spc="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make</a:t>
            </a:r>
            <a:r>
              <a:rPr sz="1050" b="1" i="1" spc="-2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better</a:t>
            </a:r>
            <a:r>
              <a:rPr sz="1050" b="1" i="1" spc="-3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decisions</a:t>
            </a:r>
            <a:r>
              <a:rPr sz="1050" b="1" i="1" spc="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-</a:t>
            </a:r>
            <a:r>
              <a:rPr sz="1050" dirty="0">
                <a:latin typeface="Calibri"/>
                <a:cs typeface="Calibri"/>
              </a:rPr>
              <a:t>&gt;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90% </a:t>
            </a:r>
            <a:r>
              <a:rPr sz="105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interviewees</a:t>
            </a:r>
            <a:r>
              <a:rPr sz="105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agreed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would help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reviewers</a:t>
            </a:r>
            <a:r>
              <a:rPr sz="10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could</a:t>
            </a:r>
            <a:r>
              <a:rPr sz="105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know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how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helpful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their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contribution is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05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people</a:t>
            </a:r>
            <a:endParaRPr sz="1050">
              <a:latin typeface="Calibri"/>
              <a:cs typeface="Calibri"/>
            </a:endParaRPr>
          </a:p>
          <a:p>
            <a:pPr marL="280035" indent="-20129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80035" algn="l"/>
              </a:tabLst>
            </a:pPr>
            <a:r>
              <a:rPr sz="1050" b="1" i="1" spc="-20" dirty="0">
                <a:latin typeface="Calibri"/>
                <a:cs typeface="Calibri"/>
              </a:rPr>
              <a:t>To</a:t>
            </a:r>
            <a:r>
              <a:rPr sz="1050" b="1" i="1" spc="-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express opinions/to</a:t>
            </a:r>
            <a:r>
              <a:rPr sz="1050" b="1" i="1" spc="3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vent or</a:t>
            </a:r>
            <a:r>
              <a:rPr sz="1050" b="1" i="1" spc="-2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talk</a:t>
            </a:r>
            <a:r>
              <a:rPr sz="1050" b="1" i="1" spc="-1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about</a:t>
            </a:r>
            <a:r>
              <a:rPr sz="1050" b="1" i="1" spc="30" dirty="0">
                <a:latin typeface="Calibri"/>
                <a:cs typeface="Calibri"/>
              </a:rPr>
              <a:t> </a:t>
            </a:r>
            <a:r>
              <a:rPr sz="1050" b="1" i="1" spc="-10" dirty="0">
                <a:latin typeface="Calibri"/>
                <a:cs typeface="Calibri"/>
              </a:rPr>
              <a:t>extreme</a:t>
            </a:r>
            <a:r>
              <a:rPr sz="1050" b="1" i="1" spc="-3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experiences</a:t>
            </a:r>
            <a:r>
              <a:rPr sz="1050" b="1" i="1" spc="2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-</a:t>
            </a:r>
            <a:r>
              <a:rPr sz="1050" dirty="0">
                <a:latin typeface="Calibri"/>
                <a:cs typeface="Calibri"/>
              </a:rPr>
              <a:t>&gt;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80% </a:t>
            </a:r>
            <a:r>
              <a:rPr sz="105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interviewees</a:t>
            </a:r>
            <a:r>
              <a:rPr sz="105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agreed</a:t>
            </a:r>
            <a:r>
              <a:rPr sz="10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 it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would help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they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could</a:t>
            </a:r>
            <a:r>
              <a:rPr sz="1050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know</a:t>
            </a:r>
            <a:r>
              <a:rPr sz="10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their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ratings/reviews</a:t>
            </a:r>
            <a:r>
              <a:rPr sz="10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bring</a:t>
            </a:r>
            <a:r>
              <a:rPr sz="105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about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 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difference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buFont typeface="Arial MT"/>
              <a:buChar char="•"/>
            </a:pPr>
            <a:endParaRPr sz="105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latin typeface="Calibri"/>
                <a:cs typeface="Calibri"/>
              </a:rPr>
              <a:t>At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same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time, the major </a:t>
            </a:r>
            <a:r>
              <a:rPr sz="1050" spc="-10" dirty="0">
                <a:latin typeface="Calibri"/>
                <a:cs typeface="Calibri"/>
              </a:rPr>
              <a:t>detractors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for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users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give</a:t>
            </a:r>
            <a:r>
              <a:rPr sz="1050" spc="-10" dirty="0">
                <a:latin typeface="Calibri"/>
                <a:cs typeface="Calibri"/>
              </a:rPr>
              <a:t> reviews/ratings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could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be</a:t>
            </a:r>
            <a:r>
              <a:rPr sz="1050" spc="-10" dirty="0">
                <a:latin typeface="Calibri"/>
                <a:cs typeface="Calibri"/>
              </a:rPr>
              <a:t> solved: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50">
              <a:latin typeface="Calibri"/>
              <a:cs typeface="Calibri"/>
            </a:endParaRPr>
          </a:p>
          <a:p>
            <a:pPr marL="280035" indent="-201295">
              <a:lnSpc>
                <a:spcPct val="100000"/>
              </a:lnSpc>
              <a:buFont typeface="Arial MT"/>
              <a:buChar char="•"/>
              <a:tabLst>
                <a:tab pos="280035" algn="l"/>
              </a:tabLst>
            </a:pPr>
            <a:r>
              <a:rPr sz="1050" b="1" i="1" dirty="0">
                <a:latin typeface="Calibri"/>
                <a:cs typeface="Calibri"/>
              </a:rPr>
              <a:t>They</a:t>
            </a:r>
            <a:r>
              <a:rPr sz="1050" b="1" i="1" spc="-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find</a:t>
            </a:r>
            <a:r>
              <a:rPr sz="1050" b="1" i="1" spc="-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the</a:t>
            </a:r>
            <a:r>
              <a:rPr sz="1050" b="1" i="1" spc="-1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process time</a:t>
            </a:r>
            <a:r>
              <a:rPr sz="1050" b="1" i="1" spc="-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consuming/boring</a:t>
            </a:r>
            <a:r>
              <a:rPr sz="1050" b="1" i="1" spc="4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-</a:t>
            </a:r>
            <a:r>
              <a:rPr sz="1050" dirty="0">
                <a:latin typeface="Calibri"/>
                <a:cs typeface="Calibri"/>
              </a:rPr>
              <a:t>&gt;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90%</a:t>
            </a:r>
            <a:r>
              <a:rPr sz="105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interviewees</a:t>
            </a:r>
            <a:r>
              <a:rPr sz="105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said that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 seems</a:t>
            </a:r>
            <a:r>
              <a:rPr sz="105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</a:t>
            </a:r>
            <a:r>
              <a:rPr sz="105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just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monologue</a:t>
            </a:r>
            <a:r>
              <a:rPr sz="1050" u="sng" spc="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they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find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their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interests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waning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every</a:t>
            </a:r>
            <a:r>
              <a:rPr sz="10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</a:t>
            </a:r>
            <a:endParaRPr sz="1050">
              <a:latin typeface="Calibri"/>
              <a:cs typeface="Calibri"/>
            </a:endParaRPr>
          </a:p>
          <a:p>
            <a:pPr marL="280035" indent="-20129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80035" algn="l"/>
              </a:tabLst>
            </a:pPr>
            <a:r>
              <a:rPr sz="1050" b="1" i="1" dirty="0">
                <a:latin typeface="Calibri"/>
                <a:cs typeface="Calibri"/>
              </a:rPr>
              <a:t>The</a:t>
            </a:r>
            <a:r>
              <a:rPr sz="1050" b="1" i="1" spc="-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don’t</a:t>
            </a:r>
            <a:r>
              <a:rPr sz="1050" b="1" i="1" spc="-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get</a:t>
            </a:r>
            <a:r>
              <a:rPr sz="1050" b="1" i="1" spc="-1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benefits</a:t>
            </a:r>
            <a:r>
              <a:rPr sz="1050" b="1" i="1" spc="-15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in</a:t>
            </a:r>
            <a:r>
              <a:rPr sz="1050" b="1" i="1" spc="-10" dirty="0">
                <a:latin typeface="Calibri"/>
                <a:cs typeface="Calibri"/>
              </a:rPr>
              <a:t> </a:t>
            </a:r>
            <a:r>
              <a:rPr sz="1050" b="1" i="1" dirty="0">
                <a:latin typeface="Calibri"/>
                <a:cs typeface="Calibri"/>
              </a:rPr>
              <a:t>return</a:t>
            </a:r>
            <a:r>
              <a:rPr sz="1050" b="1" i="1" spc="-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-</a:t>
            </a:r>
            <a:r>
              <a:rPr sz="1050" dirty="0">
                <a:latin typeface="Calibri"/>
                <a:cs typeface="Calibri"/>
              </a:rPr>
              <a:t>&gt;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100%</a:t>
            </a:r>
            <a:r>
              <a:rPr sz="105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interviewees</a:t>
            </a:r>
            <a:r>
              <a:rPr sz="105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agreed</a:t>
            </a:r>
            <a:r>
              <a:rPr sz="105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10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there</a:t>
            </a:r>
            <a:r>
              <a:rPr sz="10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0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nothing</a:t>
            </a:r>
            <a:r>
              <a:rPr sz="105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except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good</a:t>
            </a:r>
            <a:r>
              <a:rPr sz="105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samaritanism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 make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them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write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reviews</a:t>
            </a:r>
            <a:r>
              <a:rPr sz="105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105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public</a:t>
            </a:r>
            <a:r>
              <a:rPr sz="105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forums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2703" y="3493979"/>
            <a:ext cx="34105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Calibri"/>
                <a:cs typeface="Calibri"/>
              </a:rPr>
              <a:t>4.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65" dirty="0">
                <a:latin typeface="Calibri"/>
                <a:cs typeface="Calibri"/>
              </a:rPr>
              <a:t>Possible </a:t>
            </a:r>
            <a:r>
              <a:rPr sz="2100" b="1" spc="-50" dirty="0">
                <a:latin typeface="Calibri"/>
                <a:cs typeface="Calibri"/>
              </a:rPr>
              <a:t>solutions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spc="-20" dirty="0">
                <a:latin typeface="Calibri"/>
                <a:cs typeface="Calibri"/>
              </a:rPr>
              <a:t>to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b="1" spc="-60" dirty="0">
                <a:latin typeface="Calibri"/>
                <a:cs typeface="Calibri"/>
              </a:rPr>
              <a:t>look </a:t>
            </a:r>
            <a:r>
              <a:rPr sz="2100" b="1" spc="-20" dirty="0">
                <a:latin typeface="Calibri"/>
                <a:cs typeface="Calibri"/>
              </a:rPr>
              <a:t>into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555" y="4511040"/>
            <a:ext cx="9057132" cy="2029967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0885" y="3922014"/>
          <a:ext cx="10308590" cy="2610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4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9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3565">
                <a:tc>
                  <a:txBody>
                    <a:bodyPr/>
                    <a:lstStyle/>
                    <a:p>
                      <a:pPr marR="224154" algn="r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0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743585" marR="116839" indent="-622300">
                        <a:lnSpc>
                          <a:spcPct val="101699"/>
                        </a:lnSpc>
                        <a:spcBef>
                          <a:spcPts val="7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Reviewers</a:t>
                      </a:r>
                      <a:r>
                        <a:rPr sz="1200" b="1" spc="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know about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their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helpfulness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51180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Extreme</a:t>
                      </a:r>
                      <a:r>
                        <a:rPr sz="120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opinions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>
                  <a:txBody>
                    <a:bodyPr/>
                    <a:lstStyle/>
                    <a:p>
                      <a:pPr marL="969010" marR="170815" indent="-794385">
                        <a:lnSpc>
                          <a:spcPct val="101699"/>
                        </a:lnSpc>
                        <a:spcBef>
                          <a:spcPts val="7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Making</a:t>
                      </a:r>
                      <a:r>
                        <a:rPr sz="1200" b="1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review</a:t>
                      </a:r>
                      <a:r>
                        <a:rPr sz="1200" b="1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2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less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boring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32434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200" b="1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reviewers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give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review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section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place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Gamification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reviewing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system: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travel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vouchers,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reviewers,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would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separate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Let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reviewers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far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discounts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2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reflect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reviewer’s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metric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displayed</a:t>
                      </a:r>
                      <a:r>
                        <a:rPr sz="12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that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away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achieving</a:t>
                      </a:r>
                      <a:r>
                        <a:rPr sz="12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reviewers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some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profile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summarizes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extreme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next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level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criteria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R="273685" algn="r">
                        <a:lnSpc>
                          <a:spcPts val="1525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Possible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(total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 1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580">
                <a:tc rowSpan="2">
                  <a:txBody>
                    <a:bodyPr/>
                    <a:lstStyle/>
                    <a:p>
                      <a:pPr marL="234315">
                        <a:lnSpc>
                          <a:spcPts val="1655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12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reviews)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34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34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Give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weightage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extreme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34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interactive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forms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(with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34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direct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cash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incentives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mention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degree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of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opinions</a:t>
                      </a:r>
                      <a:r>
                        <a:rPr sz="12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custom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responses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mapped</a:t>
                      </a:r>
                      <a:r>
                        <a:rPr sz="12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28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reviewers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helpfulness</a:t>
                      </a:r>
                      <a:r>
                        <a:rPr sz="12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2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scale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12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impact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ratings)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(for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e.g.: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5)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ratings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28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process seem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interaction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4929" y="804196"/>
            <a:ext cx="35585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5.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spc="-60" dirty="0">
                <a:latin typeface="Calibri"/>
                <a:cs typeface="Calibri"/>
              </a:rPr>
              <a:t>Detailing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55" dirty="0">
                <a:latin typeface="Calibri"/>
                <a:cs typeface="Calibri"/>
              </a:rPr>
              <a:t>proposed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solutions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5587" y="1616963"/>
            <a:ext cx="9250680" cy="1797050"/>
            <a:chOff x="1275587" y="1616963"/>
            <a:chExt cx="9250680" cy="1797050"/>
          </a:xfrm>
        </p:grpSpPr>
        <p:sp>
          <p:nvSpPr>
            <p:cNvPr id="4" name="object 4"/>
            <p:cNvSpPr/>
            <p:nvPr/>
          </p:nvSpPr>
          <p:spPr>
            <a:xfrm>
              <a:off x="1275587" y="1658111"/>
              <a:ext cx="9250680" cy="562610"/>
            </a:xfrm>
            <a:custGeom>
              <a:avLst/>
              <a:gdLst/>
              <a:ahLst/>
              <a:cxnLst/>
              <a:rect l="l" t="t" r="r" b="b"/>
              <a:pathLst>
                <a:path w="9250680" h="562610">
                  <a:moveTo>
                    <a:pt x="9250679" y="562355"/>
                  </a:moveTo>
                  <a:lnTo>
                    <a:pt x="0" y="562355"/>
                  </a:lnTo>
                  <a:lnTo>
                    <a:pt x="0" y="0"/>
                  </a:lnTo>
                  <a:lnTo>
                    <a:pt x="9250679" y="0"/>
                  </a:lnTo>
                  <a:lnTo>
                    <a:pt x="9250679" y="562355"/>
                  </a:lnTo>
                  <a:close/>
                </a:path>
              </a:pathLst>
            </a:custGeom>
            <a:solidFill>
              <a:srgbClr val="FFD8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5575" y="2220467"/>
              <a:ext cx="8626475" cy="471170"/>
            </a:xfrm>
            <a:custGeom>
              <a:avLst/>
              <a:gdLst/>
              <a:ahLst/>
              <a:cxnLst/>
              <a:rect l="l" t="t" r="r" b="b"/>
              <a:pathLst>
                <a:path w="8626475" h="471169">
                  <a:moveTo>
                    <a:pt x="8625853" y="0"/>
                  </a:moveTo>
                  <a:lnTo>
                    <a:pt x="7933957" y="0"/>
                  </a:lnTo>
                  <a:lnTo>
                    <a:pt x="0" y="0"/>
                  </a:lnTo>
                  <a:lnTo>
                    <a:pt x="0" y="470916"/>
                  </a:lnTo>
                  <a:lnTo>
                    <a:pt x="7933957" y="470916"/>
                  </a:lnTo>
                  <a:lnTo>
                    <a:pt x="8625853" y="470916"/>
                  </a:lnTo>
                  <a:lnTo>
                    <a:pt x="8625853" y="0"/>
                  </a:lnTo>
                  <a:close/>
                </a:path>
              </a:pathLst>
            </a:custGeom>
            <a:solidFill>
              <a:srgbClr val="EBF0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5587" y="2691383"/>
              <a:ext cx="9250680" cy="722630"/>
            </a:xfrm>
            <a:custGeom>
              <a:avLst/>
              <a:gdLst/>
              <a:ahLst/>
              <a:cxnLst/>
              <a:rect l="l" t="t" r="r" b="b"/>
              <a:pathLst>
                <a:path w="9250680" h="722629">
                  <a:moveTo>
                    <a:pt x="9250679" y="722375"/>
                  </a:moveTo>
                  <a:lnTo>
                    <a:pt x="0" y="722375"/>
                  </a:lnTo>
                  <a:lnTo>
                    <a:pt x="0" y="0"/>
                  </a:lnTo>
                  <a:lnTo>
                    <a:pt x="9250679" y="0"/>
                  </a:lnTo>
                  <a:lnTo>
                    <a:pt x="9250679" y="722375"/>
                  </a:lnTo>
                  <a:close/>
                </a:path>
              </a:pathLst>
            </a:custGeom>
            <a:solidFill>
              <a:srgbClr val="FFD8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23757" y="1622297"/>
              <a:ext cx="1038225" cy="266700"/>
            </a:xfrm>
            <a:custGeom>
              <a:avLst/>
              <a:gdLst/>
              <a:ahLst/>
              <a:cxnLst/>
              <a:rect l="l" t="t" r="r" b="b"/>
              <a:pathLst>
                <a:path w="1038225" h="266700">
                  <a:moveTo>
                    <a:pt x="906069" y="20574"/>
                  </a:moveTo>
                  <a:lnTo>
                    <a:pt x="539115" y="20574"/>
                  </a:lnTo>
                  <a:lnTo>
                    <a:pt x="564903" y="8953"/>
                  </a:lnTo>
                  <a:lnTo>
                    <a:pt x="600623" y="1833"/>
                  </a:lnTo>
                  <a:lnTo>
                    <a:pt x="601773" y="1833"/>
                  </a:lnTo>
                  <a:lnTo>
                    <a:pt x="640484" y="0"/>
                  </a:lnTo>
                  <a:lnTo>
                    <a:pt x="680847" y="3810"/>
                  </a:lnTo>
                  <a:lnTo>
                    <a:pt x="717111" y="14358"/>
                  </a:lnTo>
                  <a:lnTo>
                    <a:pt x="893958" y="14358"/>
                  </a:lnTo>
                  <a:lnTo>
                    <a:pt x="895683" y="15001"/>
                  </a:lnTo>
                  <a:lnTo>
                    <a:pt x="906069" y="20574"/>
                  </a:lnTo>
                  <a:close/>
                </a:path>
                <a:path w="1038225" h="266700">
                  <a:moveTo>
                    <a:pt x="893958" y="14358"/>
                  </a:moveTo>
                  <a:lnTo>
                    <a:pt x="717854" y="14358"/>
                  </a:lnTo>
                  <a:lnTo>
                    <a:pt x="753427" y="4548"/>
                  </a:lnTo>
                  <a:lnTo>
                    <a:pt x="796290" y="190"/>
                  </a:lnTo>
                  <a:lnTo>
                    <a:pt x="840867" y="1833"/>
                  </a:lnTo>
                  <a:lnTo>
                    <a:pt x="882015" y="9906"/>
                  </a:lnTo>
                  <a:lnTo>
                    <a:pt x="893958" y="14358"/>
                  </a:lnTo>
                  <a:close/>
                </a:path>
                <a:path w="1038225" h="266700">
                  <a:moveTo>
                    <a:pt x="917834" y="31242"/>
                  </a:moveTo>
                  <a:lnTo>
                    <a:pt x="336423" y="31242"/>
                  </a:lnTo>
                  <a:lnTo>
                    <a:pt x="368927" y="17668"/>
                  </a:lnTo>
                  <a:lnTo>
                    <a:pt x="412432" y="9525"/>
                  </a:lnTo>
                  <a:lnTo>
                    <a:pt x="461367" y="7667"/>
                  </a:lnTo>
                  <a:lnTo>
                    <a:pt x="510159" y="12954"/>
                  </a:lnTo>
                  <a:lnTo>
                    <a:pt x="518112" y="14358"/>
                  </a:lnTo>
                  <a:lnTo>
                    <a:pt x="525780" y="16192"/>
                  </a:lnTo>
                  <a:lnTo>
                    <a:pt x="532876" y="18311"/>
                  </a:lnTo>
                  <a:lnTo>
                    <a:pt x="539115" y="20574"/>
                  </a:lnTo>
                  <a:lnTo>
                    <a:pt x="906069" y="20574"/>
                  </a:lnTo>
                  <a:lnTo>
                    <a:pt x="906780" y="20955"/>
                  </a:lnTo>
                  <a:lnTo>
                    <a:pt x="915019" y="27479"/>
                  </a:lnTo>
                  <a:lnTo>
                    <a:pt x="917834" y="31242"/>
                  </a:lnTo>
                  <a:close/>
                </a:path>
                <a:path w="1038225" h="266700">
                  <a:moveTo>
                    <a:pt x="283448" y="251380"/>
                  </a:moveTo>
                  <a:lnTo>
                    <a:pt x="228523" y="246601"/>
                  </a:lnTo>
                  <a:lnTo>
                    <a:pt x="179816" y="236043"/>
                  </a:lnTo>
                  <a:lnTo>
                    <a:pt x="141351" y="220218"/>
                  </a:lnTo>
                  <a:lnTo>
                    <a:pt x="139827" y="218694"/>
                  </a:lnTo>
                  <a:lnTo>
                    <a:pt x="98131" y="217765"/>
                  </a:lnTo>
                  <a:lnTo>
                    <a:pt x="62293" y="211264"/>
                  </a:lnTo>
                  <a:lnTo>
                    <a:pt x="35885" y="200477"/>
                  </a:lnTo>
                  <a:lnTo>
                    <a:pt x="22479" y="186690"/>
                  </a:lnTo>
                  <a:lnTo>
                    <a:pt x="22529" y="184999"/>
                  </a:lnTo>
                  <a:lnTo>
                    <a:pt x="22610" y="182308"/>
                  </a:lnTo>
                  <a:lnTo>
                    <a:pt x="22717" y="178736"/>
                  </a:lnTo>
                  <a:lnTo>
                    <a:pt x="27813" y="171069"/>
                  </a:lnTo>
                  <a:lnTo>
                    <a:pt x="37480" y="163972"/>
                  </a:lnTo>
                  <a:lnTo>
                    <a:pt x="51435" y="157734"/>
                  </a:lnTo>
                  <a:lnTo>
                    <a:pt x="20193" y="147732"/>
                  </a:lnTo>
                  <a:lnTo>
                    <a:pt x="2667" y="134874"/>
                  </a:lnTo>
                  <a:lnTo>
                    <a:pt x="0" y="120872"/>
                  </a:lnTo>
                  <a:lnTo>
                    <a:pt x="13335" y="107442"/>
                  </a:lnTo>
                  <a:lnTo>
                    <a:pt x="28074" y="100298"/>
                  </a:lnTo>
                  <a:lnTo>
                    <a:pt x="46672" y="94869"/>
                  </a:lnTo>
                  <a:lnTo>
                    <a:pt x="68413" y="91154"/>
                  </a:lnTo>
                  <a:lnTo>
                    <a:pt x="92583" y="89154"/>
                  </a:lnTo>
                  <a:lnTo>
                    <a:pt x="94107" y="87630"/>
                  </a:lnTo>
                  <a:lnTo>
                    <a:pt x="125730" y="45910"/>
                  </a:lnTo>
                  <a:lnTo>
                    <a:pt x="172305" y="31242"/>
                  </a:lnTo>
                  <a:lnTo>
                    <a:pt x="232791" y="23622"/>
                  </a:lnTo>
                  <a:lnTo>
                    <a:pt x="259270" y="23312"/>
                  </a:lnTo>
                  <a:lnTo>
                    <a:pt x="285750" y="24574"/>
                  </a:lnTo>
                  <a:lnTo>
                    <a:pt x="311658" y="27265"/>
                  </a:lnTo>
                  <a:lnTo>
                    <a:pt x="336423" y="31242"/>
                  </a:lnTo>
                  <a:lnTo>
                    <a:pt x="917834" y="31242"/>
                  </a:lnTo>
                  <a:lnTo>
                    <a:pt x="920115" y="34290"/>
                  </a:lnTo>
                  <a:lnTo>
                    <a:pt x="965906" y="42005"/>
                  </a:lnTo>
                  <a:lnTo>
                    <a:pt x="998410" y="54864"/>
                  </a:lnTo>
                  <a:lnTo>
                    <a:pt x="1014626" y="71151"/>
                  </a:lnTo>
                  <a:lnTo>
                    <a:pt x="1011555" y="89154"/>
                  </a:lnTo>
                  <a:lnTo>
                    <a:pt x="1008507" y="90678"/>
                  </a:lnTo>
                  <a:lnTo>
                    <a:pt x="1006982" y="93726"/>
                  </a:lnTo>
                  <a:lnTo>
                    <a:pt x="1005459" y="95250"/>
                  </a:lnTo>
                  <a:lnTo>
                    <a:pt x="1033914" y="115347"/>
                  </a:lnTo>
                  <a:lnTo>
                    <a:pt x="1037653" y="137160"/>
                  </a:lnTo>
                  <a:lnTo>
                    <a:pt x="1017766" y="157734"/>
                  </a:lnTo>
                  <a:lnTo>
                    <a:pt x="1017918" y="157734"/>
                  </a:lnTo>
                  <a:lnTo>
                    <a:pt x="974979" y="174498"/>
                  </a:lnTo>
                  <a:lnTo>
                    <a:pt x="957385" y="178736"/>
                  </a:lnTo>
                  <a:lnTo>
                    <a:pt x="938593" y="182308"/>
                  </a:lnTo>
                  <a:lnTo>
                    <a:pt x="919043" y="184999"/>
                  </a:lnTo>
                  <a:lnTo>
                    <a:pt x="898779" y="186690"/>
                  </a:lnTo>
                  <a:lnTo>
                    <a:pt x="887587" y="205001"/>
                  </a:lnTo>
                  <a:lnTo>
                    <a:pt x="857250" y="220027"/>
                  </a:lnTo>
                  <a:lnTo>
                    <a:pt x="829660" y="226314"/>
                  </a:lnTo>
                  <a:lnTo>
                    <a:pt x="686943" y="226314"/>
                  </a:lnTo>
                  <a:lnTo>
                    <a:pt x="663252" y="241554"/>
                  </a:lnTo>
                  <a:lnTo>
                    <a:pt x="395859" y="241554"/>
                  </a:lnTo>
                  <a:lnTo>
                    <a:pt x="340755" y="249840"/>
                  </a:lnTo>
                  <a:lnTo>
                    <a:pt x="341633" y="249840"/>
                  </a:lnTo>
                  <a:lnTo>
                    <a:pt x="283448" y="251380"/>
                  </a:lnTo>
                  <a:close/>
                </a:path>
                <a:path w="1038225" h="266700">
                  <a:moveTo>
                    <a:pt x="758571" y="233934"/>
                  </a:moveTo>
                  <a:lnTo>
                    <a:pt x="739449" y="233600"/>
                  </a:lnTo>
                  <a:lnTo>
                    <a:pt x="721042" y="232410"/>
                  </a:lnTo>
                  <a:lnTo>
                    <a:pt x="703492" y="230076"/>
                  </a:lnTo>
                  <a:lnTo>
                    <a:pt x="686943" y="226314"/>
                  </a:lnTo>
                  <a:lnTo>
                    <a:pt x="829660" y="226314"/>
                  </a:lnTo>
                  <a:lnTo>
                    <a:pt x="813147" y="230076"/>
                  </a:lnTo>
                  <a:lnTo>
                    <a:pt x="814346" y="230076"/>
                  </a:lnTo>
                  <a:lnTo>
                    <a:pt x="758571" y="233934"/>
                  </a:lnTo>
                  <a:close/>
                </a:path>
                <a:path w="1038225" h="266700">
                  <a:moveTo>
                    <a:pt x="548068" y="266604"/>
                  </a:moveTo>
                  <a:lnTo>
                    <a:pt x="484251" y="264413"/>
                  </a:lnTo>
                  <a:lnTo>
                    <a:pt x="434340" y="256413"/>
                  </a:lnTo>
                  <a:lnTo>
                    <a:pt x="395859" y="241554"/>
                  </a:lnTo>
                  <a:lnTo>
                    <a:pt x="663252" y="241554"/>
                  </a:lnTo>
                  <a:lnTo>
                    <a:pt x="655701" y="246411"/>
                  </a:lnTo>
                  <a:lnTo>
                    <a:pt x="607314" y="260223"/>
                  </a:lnTo>
                  <a:lnTo>
                    <a:pt x="548068" y="26660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23757" y="1622297"/>
              <a:ext cx="1038225" cy="266700"/>
            </a:xfrm>
            <a:custGeom>
              <a:avLst/>
              <a:gdLst/>
              <a:ahLst/>
              <a:cxnLst/>
              <a:rect l="l" t="t" r="r" b="b"/>
              <a:pathLst>
                <a:path w="1038225" h="266700">
                  <a:moveTo>
                    <a:pt x="94106" y="87629"/>
                  </a:moveTo>
                  <a:lnTo>
                    <a:pt x="125729" y="45910"/>
                  </a:lnTo>
                  <a:lnTo>
                    <a:pt x="172116" y="31265"/>
                  </a:lnTo>
                  <a:lnTo>
                    <a:pt x="232790" y="23621"/>
                  </a:lnTo>
                  <a:lnTo>
                    <a:pt x="259270" y="23312"/>
                  </a:lnTo>
                  <a:lnTo>
                    <a:pt x="285750" y="24574"/>
                  </a:lnTo>
                  <a:lnTo>
                    <a:pt x="311658" y="27265"/>
                  </a:lnTo>
                  <a:lnTo>
                    <a:pt x="336423" y="31241"/>
                  </a:lnTo>
                  <a:lnTo>
                    <a:pt x="368927" y="17668"/>
                  </a:lnTo>
                  <a:lnTo>
                    <a:pt x="412432" y="9524"/>
                  </a:lnTo>
                  <a:lnTo>
                    <a:pt x="461367" y="7667"/>
                  </a:lnTo>
                  <a:lnTo>
                    <a:pt x="510158" y="12953"/>
                  </a:lnTo>
                  <a:lnTo>
                    <a:pt x="518112" y="14358"/>
                  </a:lnTo>
                  <a:lnTo>
                    <a:pt x="525779" y="16192"/>
                  </a:lnTo>
                  <a:lnTo>
                    <a:pt x="532876" y="18311"/>
                  </a:lnTo>
                  <a:lnTo>
                    <a:pt x="539115" y="20573"/>
                  </a:lnTo>
                  <a:lnTo>
                    <a:pt x="564903" y="8953"/>
                  </a:lnTo>
                  <a:lnTo>
                    <a:pt x="600265" y="1904"/>
                  </a:lnTo>
                  <a:lnTo>
                    <a:pt x="640484" y="0"/>
                  </a:lnTo>
                  <a:lnTo>
                    <a:pt x="680846" y="3809"/>
                  </a:lnTo>
                  <a:lnTo>
                    <a:pt x="690848" y="6119"/>
                  </a:lnTo>
                  <a:lnTo>
                    <a:pt x="700278" y="8572"/>
                  </a:lnTo>
                  <a:lnTo>
                    <a:pt x="709136" y="11310"/>
                  </a:lnTo>
                  <a:lnTo>
                    <a:pt x="717423" y="14477"/>
                  </a:lnTo>
                  <a:lnTo>
                    <a:pt x="753427" y="4548"/>
                  </a:lnTo>
                  <a:lnTo>
                    <a:pt x="796290" y="190"/>
                  </a:lnTo>
                  <a:lnTo>
                    <a:pt x="840867" y="1833"/>
                  </a:lnTo>
                  <a:lnTo>
                    <a:pt x="882015" y="9905"/>
                  </a:lnTo>
                  <a:lnTo>
                    <a:pt x="895683" y="15001"/>
                  </a:lnTo>
                  <a:lnTo>
                    <a:pt x="906780" y="20954"/>
                  </a:lnTo>
                  <a:lnTo>
                    <a:pt x="915019" y="27479"/>
                  </a:lnTo>
                  <a:lnTo>
                    <a:pt x="920115" y="34289"/>
                  </a:lnTo>
                  <a:lnTo>
                    <a:pt x="965906" y="42005"/>
                  </a:lnTo>
                  <a:lnTo>
                    <a:pt x="998410" y="54863"/>
                  </a:lnTo>
                  <a:lnTo>
                    <a:pt x="1014626" y="71151"/>
                  </a:lnTo>
                  <a:lnTo>
                    <a:pt x="1011554" y="89153"/>
                  </a:lnTo>
                  <a:lnTo>
                    <a:pt x="1008506" y="90677"/>
                  </a:lnTo>
                  <a:lnTo>
                    <a:pt x="1006982" y="93725"/>
                  </a:lnTo>
                  <a:lnTo>
                    <a:pt x="1005458" y="95249"/>
                  </a:lnTo>
                  <a:lnTo>
                    <a:pt x="1033914" y="115347"/>
                  </a:lnTo>
                  <a:lnTo>
                    <a:pt x="1037653" y="137159"/>
                  </a:lnTo>
                  <a:lnTo>
                    <a:pt x="974979" y="174497"/>
                  </a:lnTo>
                  <a:lnTo>
                    <a:pt x="919043" y="184999"/>
                  </a:lnTo>
                  <a:lnTo>
                    <a:pt x="898779" y="186689"/>
                  </a:lnTo>
                  <a:lnTo>
                    <a:pt x="887587" y="205001"/>
                  </a:lnTo>
                  <a:lnTo>
                    <a:pt x="857250" y="220027"/>
                  </a:lnTo>
                  <a:lnTo>
                    <a:pt x="812625" y="230195"/>
                  </a:lnTo>
                  <a:lnTo>
                    <a:pt x="758571" y="233933"/>
                  </a:lnTo>
                  <a:lnTo>
                    <a:pt x="739449" y="233600"/>
                  </a:lnTo>
                  <a:lnTo>
                    <a:pt x="721042" y="232409"/>
                  </a:lnTo>
                  <a:lnTo>
                    <a:pt x="703492" y="230076"/>
                  </a:lnTo>
                  <a:lnTo>
                    <a:pt x="686943" y="226313"/>
                  </a:lnTo>
                  <a:lnTo>
                    <a:pt x="655701" y="246411"/>
                  </a:lnTo>
                  <a:lnTo>
                    <a:pt x="607313" y="260222"/>
                  </a:lnTo>
                  <a:lnTo>
                    <a:pt x="548068" y="266604"/>
                  </a:lnTo>
                  <a:lnTo>
                    <a:pt x="484250" y="264413"/>
                  </a:lnTo>
                  <a:lnTo>
                    <a:pt x="458009" y="261270"/>
                  </a:lnTo>
                  <a:lnTo>
                    <a:pt x="434339" y="256413"/>
                  </a:lnTo>
                  <a:lnTo>
                    <a:pt x="413527" y="249840"/>
                  </a:lnTo>
                  <a:lnTo>
                    <a:pt x="395858" y="241553"/>
                  </a:lnTo>
                  <a:lnTo>
                    <a:pt x="340568" y="249868"/>
                  </a:lnTo>
                  <a:lnTo>
                    <a:pt x="283448" y="251380"/>
                  </a:lnTo>
                  <a:lnTo>
                    <a:pt x="228523" y="246601"/>
                  </a:lnTo>
                  <a:lnTo>
                    <a:pt x="179816" y="236043"/>
                  </a:lnTo>
                  <a:lnTo>
                    <a:pt x="141350" y="220217"/>
                  </a:lnTo>
                  <a:lnTo>
                    <a:pt x="139826" y="218693"/>
                  </a:lnTo>
                  <a:lnTo>
                    <a:pt x="98131" y="217765"/>
                  </a:lnTo>
                  <a:lnTo>
                    <a:pt x="62293" y="211264"/>
                  </a:lnTo>
                  <a:lnTo>
                    <a:pt x="35885" y="200477"/>
                  </a:lnTo>
                  <a:lnTo>
                    <a:pt x="22478" y="186689"/>
                  </a:lnTo>
                  <a:lnTo>
                    <a:pt x="22717" y="178736"/>
                  </a:lnTo>
                  <a:lnTo>
                    <a:pt x="27812" y="171068"/>
                  </a:lnTo>
                  <a:lnTo>
                    <a:pt x="37480" y="163972"/>
                  </a:lnTo>
                  <a:lnTo>
                    <a:pt x="51434" y="157733"/>
                  </a:lnTo>
                  <a:lnTo>
                    <a:pt x="20192" y="147732"/>
                  </a:lnTo>
                  <a:lnTo>
                    <a:pt x="2666" y="134873"/>
                  </a:lnTo>
                  <a:lnTo>
                    <a:pt x="0" y="120872"/>
                  </a:lnTo>
                  <a:lnTo>
                    <a:pt x="13334" y="107441"/>
                  </a:lnTo>
                  <a:lnTo>
                    <a:pt x="28074" y="100298"/>
                  </a:lnTo>
                  <a:lnTo>
                    <a:pt x="46672" y="94868"/>
                  </a:lnTo>
                  <a:lnTo>
                    <a:pt x="68413" y="91154"/>
                  </a:lnTo>
                  <a:lnTo>
                    <a:pt x="92582" y="89153"/>
                  </a:lnTo>
                  <a:lnTo>
                    <a:pt x="94106" y="87629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821293" y="2575940"/>
              <a:ext cx="1038225" cy="267335"/>
            </a:xfrm>
            <a:custGeom>
              <a:avLst/>
              <a:gdLst/>
              <a:ahLst/>
              <a:cxnLst/>
              <a:rect l="l" t="t" r="r" b="b"/>
              <a:pathLst>
                <a:path w="1038225" h="267335">
                  <a:moveTo>
                    <a:pt x="894566" y="14739"/>
                  </a:moveTo>
                  <a:lnTo>
                    <a:pt x="717830" y="14739"/>
                  </a:lnTo>
                  <a:lnTo>
                    <a:pt x="753968" y="4191"/>
                  </a:lnTo>
                  <a:lnTo>
                    <a:pt x="754602" y="4191"/>
                  </a:lnTo>
                  <a:lnTo>
                    <a:pt x="796861" y="0"/>
                  </a:lnTo>
                  <a:lnTo>
                    <a:pt x="841509" y="2000"/>
                  </a:lnTo>
                  <a:lnTo>
                    <a:pt x="882015" y="10287"/>
                  </a:lnTo>
                  <a:lnTo>
                    <a:pt x="894566" y="14739"/>
                  </a:lnTo>
                  <a:close/>
                </a:path>
                <a:path w="1038225" h="267335">
                  <a:moveTo>
                    <a:pt x="907522" y="20955"/>
                  </a:moveTo>
                  <a:lnTo>
                    <a:pt x="539115" y="20955"/>
                  </a:lnTo>
                  <a:lnTo>
                    <a:pt x="564903" y="9334"/>
                  </a:lnTo>
                  <a:lnTo>
                    <a:pt x="600265" y="2286"/>
                  </a:lnTo>
                  <a:lnTo>
                    <a:pt x="640484" y="381"/>
                  </a:lnTo>
                  <a:lnTo>
                    <a:pt x="680847" y="4191"/>
                  </a:lnTo>
                  <a:lnTo>
                    <a:pt x="690848" y="5857"/>
                  </a:lnTo>
                  <a:lnTo>
                    <a:pt x="700278" y="8382"/>
                  </a:lnTo>
                  <a:lnTo>
                    <a:pt x="709136" y="11477"/>
                  </a:lnTo>
                  <a:lnTo>
                    <a:pt x="717131" y="14739"/>
                  </a:lnTo>
                  <a:lnTo>
                    <a:pt x="894566" y="14739"/>
                  </a:lnTo>
                  <a:lnTo>
                    <a:pt x="895707" y="15144"/>
                  </a:lnTo>
                  <a:lnTo>
                    <a:pt x="906970" y="20574"/>
                  </a:lnTo>
                  <a:lnTo>
                    <a:pt x="907522" y="20955"/>
                  </a:lnTo>
                  <a:close/>
                </a:path>
                <a:path w="1038225" h="267335">
                  <a:moveTo>
                    <a:pt x="920253" y="31623"/>
                  </a:moveTo>
                  <a:lnTo>
                    <a:pt x="336423" y="31623"/>
                  </a:lnTo>
                  <a:lnTo>
                    <a:pt x="368927" y="17406"/>
                  </a:lnTo>
                  <a:lnTo>
                    <a:pt x="412432" y="9334"/>
                  </a:lnTo>
                  <a:lnTo>
                    <a:pt x="461367" y="7834"/>
                  </a:lnTo>
                  <a:lnTo>
                    <a:pt x="510159" y="13335"/>
                  </a:lnTo>
                  <a:lnTo>
                    <a:pt x="518112" y="14739"/>
                  </a:lnTo>
                  <a:lnTo>
                    <a:pt x="525780" y="16573"/>
                  </a:lnTo>
                  <a:lnTo>
                    <a:pt x="532876" y="18692"/>
                  </a:lnTo>
                  <a:lnTo>
                    <a:pt x="539115" y="20955"/>
                  </a:lnTo>
                  <a:lnTo>
                    <a:pt x="907522" y="20955"/>
                  </a:lnTo>
                  <a:lnTo>
                    <a:pt x="915662" y="26574"/>
                  </a:lnTo>
                  <a:lnTo>
                    <a:pt x="920253" y="31623"/>
                  </a:lnTo>
                  <a:close/>
                </a:path>
                <a:path w="1038225" h="267335">
                  <a:moveTo>
                    <a:pt x="284107" y="251005"/>
                  </a:moveTo>
                  <a:lnTo>
                    <a:pt x="228962" y="246214"/>
                  </a:lnTo>
                  <a:lnTo>
                    <a:pt x="179963" y="235497"/>
                  </a:lnTo>
                  <a:lnTo>
                    <a:pt x="141351" y="219075"/>
                  </a:lnTo>
                  <a:lnTo>
                    <a:pt x="139827" y="219075"/>
                  </a:lnTo>
                  <a:lnTo>
                    <a:pt x="98155" y="217503"/>
                  </a:lnTo>
                  <a:lnTo>
                    <a:pt x="36528" y="200644"/>
                  </a:lnTo>
                  <a:lnTo>
                    <a:pt x="23472" y="178903"/>
                  </a:lnTo>
                  <a:lnTo>
                    <a:pt x="28003" y="171259"/>
                  </a:lnTo>
                  <a:lnTo>
                    <a:pt x="37504" y="163710"/>
                  </a:lnTo>
                  <a:lnTo>
                    <a:pt x="51435" y="156591"/>
                  </a:lnTo>
                  <a:lnTo>
                    <a:pt x="20193" y="147447"/>
                  </a:lnTo>
                  <a:lnTo>
                    <a:pt x="2667" y="134874"/>
                  </a:lnTo>
                  <a:lnTo>
                    <a:pt x="0" y="120586"/>
                  </a:lnTo>
                  <a:lnTo>
                    <a:pt x="13335" y="106299"/>
                  </a:lnTo>
                  <a:lnTo>
                    <a:pt x="28289" y="99822"/>
                  </a:lnTo>
                  <a:lnTo>
                    <a:pt x="47244" y="94488"/>
                  </a:lnTo>
                  <a:lnTo>
                    <a:pt x="69056" y="90868"/>
                  </a:lnTo>
                  <a:lnTo>
                    <a:pt x="92583" y="89535"/>
                  </a:lnTo>
                  <a:lnTo>
                    <a:pt x="94107" y="88011"/>
                  </a:lnTo>
                  <a:lnTo>
                    <a:pt x="125730" y="46291"/>
                  </a:lnTo>
                  <a:lnTo>
                    <a:pt x="172305" y="31623"/>
                  </a:lnTo>
                  <a:lnTo>
                    <a:pt x="232791" y="24003"/>
                  </a:lnTo>
                  <a:lnTo>
                    <a:pt x="260127" y="23693"/>
                  </a:lnTo>
                  <a:lnTo>
                    <a:pt x="286893" y="24955"/>
                  </a:lnTo>
                  <a:lnTo>
                    <a:pt x="312515" y="27646"/>
                  </a:lnTo>
                  <a:lnTo>
                    <a:pt x="336423" y="31623"/>
                  </a:lnTo>
                  <a:lnTo>
                    <a:pt x="920253" y="31623"/>
                  </a:lnTo>
                  <a:lnTo>
                    <a:pt x="921638" y="33147"/>
                  </a:lnTo>
                  <a:lnTo>
                    <a:pt x="966549" y="41743"/>
                  </a:lnTo>
                  <a:lnTo>
                    <a:pt x="998601" y="55054"/>
                  </a:lnTo>
                  <a:lnTo>
                    <a:pt x="1014650" y="71508"/>
                  </a:lnTo>
                  <a:lnTo>
                    <a:pt x="1011555" y="89535"/>
                  </a:lnTo>
                  <a:lnTo>
                    <a:pt x="1010031" y="91059"/>
                  </a:lnTo>
                  <a:lnTo>
                    <a:pt x="1006982" y="92583"/>
                  </a:lnTo>
                  <a:lnTo>
                    <a:pt x="1005459" y="94107"/>
                  </a:lnTo>
                  <a:lnTo>
                    <a:pt x="1033914" y="114871"/>
                  </a:lnTo>
                  <a:lnTo>
                    <a:pt x="1037653" y="136779"/>
                  </a:lnTo>
                  <a:lnTo>
                    <a:pt x="1017674" y="157543"/>
                  </a:lnTo>
                  <a:lnTo>
                    <a:pt x="974979" y="174879"/>
                  </a:lnTo>
                  <a:lnTo>
                    <a:pt x="919257" y="184094"/>
                  </a:lnTo>
                  <a:lnTo>
                    <a:pt x="898779" y="185547"/>
                  </a:lnTo>
                  <a:lnTo>
                    <a:pt x="887801" y="204739"/>
                  </a:lnTo>
                  <a:lnTo>
                    <a:pt x="857821" y="220218"/>
                  </a:lnTo>
                  <a:lnTo>
                    <a:pt x="829898" y="226695"/>
                  </a:lnTo>
                  <a:lnTo>
                    <a:pt x="686943" y="226695"/>
                  </a:lnTo>
                  <a:lnTo>
                    <a:pt x="663739" y="241935"/>
                  </a:lnTo>
                  <a:lnTo>
                    <a:pt x="395859" y="241935"/>
                  </a:lnTo>
                  <a:lnTo>
                    <a:pt x="341676" y="249578"/>
                  </a:lnTo>
                  <a:lnTo>
                    <a:pt x="344261" y="249578"/>
                  </a:lnTo>
                  <a:lnTo>
                    <a:pt x="284107" y="251005"/>
                  </a:lnTo>
                  <a:close/>
                </a:path>
                <a:path w="1038225" h="267335">
                  <a:moveTo>
                    <a:pt x="758571" y="234315"/>
                  </a:moveTo>
                  <a:lnTo>
                    <a:pt x="739449" y="233767"/>
                  </a:lnTo>
                  <a:lnTo>
                    <a:pt x="721042" y="232219"/>
                  </a:lnTo>
                  <a:lnTo>
                    <a:pt x="703492" y="229814"/>
                  </a:lnTo>
                  <a:lnTo>
                    <a:pt x="686943" y="226695"/>
                  </a:lnTo>
                  <a:lnTo>
                    <a:pt x="829898" y="226695"/>
                  </a:lnTo>
                  <a:lnTo>
                    <a:pt x="813268" y="230552"/>
                  </a:lnTo>
                  <a:lnTo>
                    <a:pt x="758571" y="234315"/>
                  </a:lnTo>
                  <a:close/>
                </a:path>
                <a:path w="1038225" h="267335">
                  <a:moveTo>
                    <a:pt x="548282" y="266985"/>
                  </a:moveTo>
                  <a:lnTo>
                    <a:pt x="484251" y="264794"/>
                  </a:lnTo>
                  <a:lnTo>
                    <a:pt x="434340" y="256222"/>
                  </a:lnTo>
                  <a:lnTo>
                    <a:pt x="395859" y="241935"/>
                  </a:lnTo>
                  <a:lnTo>
                    <a:pt x="663739" y="241935"/>
                  </a:lnTo>
                  <a:lnTo>
                    <a:pt x="656343" y="246792"/>
                  </a:lnTo>
                  <a:lnTo>
                    <a:pt x="607885" y="260604"/>
                  </a:lnTo>
                  <a:lnTo>
                    <a:pt x="548282" y="266985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21293" y="2575940"/>
              <a:ext cx="1038225" cy="267335"/>
            </a:xfrm>
            <a:custGeom>
              <a:avLst/>
              <a:gdLst/>
              <a:ahLst/>
              <a:cxnLst/>
              <a:rect l="l" t="t" r="r" b="b"/>
              <a:pathLst>
                <a:path w="1038225" h="267335">
                  <a:moveTo>
                    <a:pt x="94106" y="88011"/>
                  </a:moveTo>
                  <a:lnTo>
                    <a:pt x="125729" y="46291"/>
                  </a:lnTo>
                  <a:lnTo>
                    <a:pt x="172116" y="31646"/>
                  </a:lnTo>
                  <a:lnTo>
                    <a:pt x="232790" y="24003"/>
                  </a:lnTo>
                  <a:lnTo>
                    <a:pt x="260127" y="23693"/>
                  </a:lnTo>
                  <a:lnTo>
                    <a:pt x="286893" y="24955"/>
                  </a:lnTo>
                  <a:lnTo>
                    <a:pt x="312515" y="27646"/>
                  </a:lnTo>
                  <a:lnTo>
                    <a:pt x="336423" y="31623"/>
                  </a:lnTo>
                  <a:lnTo>
                    <a:pt x="368927" y="17406"/>
                  </a:lnTo>
                  <a:lnTo>
                    <a:pt x="412432" y="9334"/>
                  </a:lnTo>
                  <a:lnTo>
                    <a:pt x="461367" y="7834"/>
                  </a:lnTo>
                  <a:lnTo>
                    <a:pt x="510158" y="13335"/>
                  </a:lnTo>
                  <a:lnTo>
                    <a:pt x="518112" y="14739"/>
                  </a:lnTo>
                  <a:lnTo>
                    <a:pt x="525779" y="16573"/>
                  </a:lnTo>
                  <a:lnTo>
                    <a:pt x="532876" y="18692"/>
                  </a:lnTo>
                  <a:lnTo>
                    <a:pt x="539115" y="20955"/>
                  </a:lnTo>
                  <a:lnTo>
                    <a:pt x="564903" y="9334"/>
                  </a:lnTo>
                  <a:lnTo>
                    <a:pt x="600265" y="2286"/>
                  </a:lnTo>
                  <a:lnTo>
                    <a:pt x="640484" y="381"/>
                  </a:lnTo>
                  <a:lnTo>
                    <a:pt x="680846" y="4191"/>
                  </a:lnTo>
                  <a:lnTo>
                    <a:pt x="690848" y="5857"/>
                  </a:lnTo>
                  <a:lnTo>
                    <a:pt x="700278" y="8382"/>
                  </a:lnTo>
                  <a:lnTo>
                    <a:pt x="709136" y="11477"/>
                  </a:lnTo>
                  <a:lnTo>
                    <a:pt x="717423" y="14859"/>
                  </a:lnTo>
                  <a:lnTo>
                    <a:pt x="753641" y="4286"/>
                  </a:lnTo>
                  <a:lnTo>
                    <a:pt x="796861" y="0"/>
                  </a:lnTo>
                  <a:lnTo>
                    <a:pt x="841509" y="2000"/>
                  </a:lnTo>
                  <a:lnTo>
                    <a:pt x="882015" y="10287"/>
                  </a:lnTo>
                  <a:lnTo>
                    <a:pt x="895707" y="15144"/>
                  </a:lnTo>
                  <a:lnTo>
                    <a:pt x="906970" y="20574"/>
                  </a:lnTo>
                  <a:lnTo>
                    <a:pt x="915662" y="26574"/>
                  </a:lnTo>
                  <a:lnTo>
                    <a:pt x="921638" y="33147"/>
                  </a:lnTo>
                  <a:lnTo>
                    <a:pt x="966549" y="41743"/>
                  </a:lnTo>
                  <a:lnTo>
                    <a:pt x="998600" y="55054"/>
                  </a:lnTo>
                  <a:lnTo>
                    <a:pt x="1014650" y="71508"/>
                  </a:lnTo>
                  <a:lnTo>
                    <a:pt x="1011554" y="89535"/>
                  </a:lnTo>
                  <a:lnTo>
                    <a:pt x="1010031" y="91059"/>
                  </a:lnTo>
                  <a:lnTo>
                    <a:pt x="1006982" y="92583"/>
                  </a:lnTo>
                  <a:lnTo>
                    <a:pt x="1005458" y="94107"/>
                  </a:lnTo>
                  <a:lnTo>
                    <a:pt x="1033914" y="114871"/>
                  </a:lnTo>
                  <a:lnTo>
                    <a:pt x="1037653" y="136779"/>
                  </a:lnTo>
                  <a:lnTo>
                    <a:pt x="1017674" y="157543"/>
                  </a:lnTo>
                  <a:lnTo>
                    <a:pt x="974979" y="174879"/>
                  </a:lnTo>
                  <a:lnTo>
                    <a:pt x="919257" y="184094"/>
                  </a:lnTo>
                  <a:lnTo>
                    <a:pt x="898779" y="185547"/>
                  </a:lnTo>
                  <a:lnTo>
                    <a:pt x="887801" y="204739"/>
                  </a:lnTo>
                  <a:lnTo>
                    <a:pt x="857821" y="220218"/>
                  </a:lnTo>
                  <a:lnTo>
                    <a:pt x="813268" y="230552"/>
                  </a:lnTo>
                  <a:lnTo>
                    <a:pt x="758571" y="234315"/>
                  </a:lnTo>
                  <a:lnTo>
                    <a:pt x="739449" y="233767"/>
                  </a:lnTo>
                  <a:lnTo>
                    <a:pt x="721042" y="232219"/>
                  </a:lnTo>
                  <a:lnTo>
                    <a:pt x="703492" y="229814"/>
                  </a:lnTo>
                  <a:lnTo>
                    <a:pt x="686943" y="226695"/>
                  </a:lnTo>
                  <a:lnTo>
                    <a:pt x="656343" y="246792"/>
                  </a:lnTo>
                  <a:lnTo>
                    <a:pt x="607885" y="260603"/>
                  </a:lnTo>
                  <a:lnTo>
                    <a:pt x="548282" y="266985"/>
                  </a:lnTo>
                  <a:lnTo>
                    <a:pt x="484250" y="264794"/>
                  </a:lnTo>
                  <a:lnTo>
                    <a:pt x="458009" y="261437"/>
                  </a:lnTo>
                  <a:lnTo>
                    <a:pt x="434339" y="256222"/>
                  </a:lnTo>
                  <a:lnTo>
                    <a:pt x="413527" y="249578"/>
                  </a:lnTo>
                  <a:lnTo>
                    <a:pt x="395858" y="241935"/>
                  </a:lnTo>
                  <a:lnTo>
                    <a:pt x="341153" y="249652"/>
                  </a:lnTo>
                  <a:lnTo>
                    <a:pt x="284107" y="251005"/>
                  </a:lnTo>
                  <a:lnTo>
                    <a:pt x="228962" y="246214"/>
                  </a:lnTo>
                  <a:lnTo>
                    <a:pt x="179963" y="235497"/>
                  </a:lnTo>
                  <a:lnTo>
                    <a:pt x="141350" y="219075"/>
                  </a:lnTo>
                  <a:lnTo>
                    <a:pt x="139826" y="219075"/>
                  </a:lnTo>
                  <a:lnTo>
                    <a:pt x="98155" y="217503"/>
                  </a:lnTo>
                  <a:lnTo>
                    <a:pt x="62483" y="211074"/>
                  </a:lnTo>
                  <a:lnTo>
                    <a:pt x="36528" y="200644"/>
                  </a:lnTo>
                  <a:lnTo>
                    <a:pt x="24002" y="187071"/>
                  </a:lnTo>
                  <a:lnTo>
                    <a:pt x="23360" y="179093"/>
                  </a:lnTo>
                  <a:lnTo>
                    <a:pt x="28003" y="171259"/>
                  </a:lnTo>
                  <a:lnTo>
                    <a:pt x="37504" y="163710"/>
                  </a:lnTo>
                  <a:lnTo>
                    <a:pt x="51434" y="156591"/>
                  </a:lnTo>
                  <a:lnTo>
                    <a:pt x="20192" y="147447"/>
                  </a:lnTo>
                  <a:lnTo>
                    <a:pt x="2666" y="134874"/>
                  </a:lnTo>
                  <a:lnTo>
                    <a:pt x="0" y="120586"/>
                  </a:lnTo>
                  <a:lnTo>
                    <a:pt x="13334" y="106299"/>
                  </a:lnTo>
                  <a:lnTo>
                    <a:pt x="28289" y="99822"/>
                  </a:lnTo>
                  <a:lnTo>
                    <a:pt x="47243" y="94488"/>
                  </a:lnTo>
                  <a:lnTo>
                    <a:pt x="69056" y="90868"/>
                  </a:lnTo>
                  <a:lnTo>
                    <a:pt x="92582" y="89535"/>
                  </a:lnTo>
                  <a:lnTo>
                    <a:pt x="94106" y="88011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75587" y="3974591"/>
            <a:ext cx="9250680" cy="1595755"/>
            <a:chOff x="1275587" y="3974591"/>
            <a:chExt cx="9250680" cy="1595755"/>
          </a:xfrm>
        </p:grpSpPr>
        <p:sp>
          <p:nvSpPr>
            <p:cNvPr id="12" name="object 12"/>
            <p:cNvSpPr/>
            <p:nvPr/>
          </p:nvSpPr>
          <p:spPr>
            <a:xfrm>
              <a:off x="1275587" y="3974591"/>
              <a:ext cx="7934325" cy="562610"/>
            </a:xfrm>
            <a:custGeom>
              <a:avLst/>
              <a:gdLst/>
              <a:ahLst/>
              <a:cxnLst/>
              <a:rect l="l" t="t" r="r" b="b"/>
              <a:pathLst>
                <a:path w="7934325" h="562610">
                  <a:moveTo>
                    <a:pt x="7933944" y="562356"/>
                  </a:moveTo>
                  <a:lnTo>
                    <a:pt x="0" y="562356"/>
                  </a:lnTo>
                  <a:lnTo>
                    <a:pt x="0" y="0"/>
                  </a:lnTo>
                  <a:lnTo>
                    <a:pt x="7933944" y="0"/>
                  </a:lnTo>
                  <a:lnTo>
                    <a:pt x="7933944" y="562356"/>
                  </a:lnTo>
                  <a:close/>
                </a:path>
              </a:pathLst>
            </a:custGeom>
            <a:solidFill>
              <a:srgbClr val="D4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09532" y="3974591"/>
              <a:ext cx="692150" cy="562610"/>
            </a:xfrm>
            <a:custGeom>
              <a:avLst/>
              <a:gdLst/>
              <a:ahLst/>
              <a:cxnLst/>
              <a:rect l="l" t="t" r="r" b="b"/>
              <a:pathLst>
                <a:path w="692150" h="562610">
                  <a:moveTo>
                    <a:pt x="691896" y="562356"/>
                  </a:moveTo>
                  <a:lnTo>
                    <a:pt x="0" y="562356"/>
                  </a:lnTo>
                  <a:lnTo>
                    <a:pt x="0" y="0"/>
                  </a:lnTo>
                  <a:lnTo>
                    <a:pt x="691896" y="0"/>
                  </a:lnTo>
                  <a:lnTo>
                    <a:pt x="691896" y="562356"/>
                  </a:lnTo>
                  <a:close/>
                </a:path>
              </a:pathLst>
            </a:custGeom>
            <a:solidFill>
              <a:srgbClr val="EBF0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5575" y="4536947"/>
              <a:ext cx="9250680" cy="1033780"/>
            </a:xfrm>
            <a:custGeom>
              <a:avLst/>
              <a:gdLst/>
              <a:ahLst/>
              <a:cxnLst/>
              <a:rect l="l" t="t" r="r" b="b"/>
              <a:pathLst>
                <a:path w="9250680" h="1033779">
                  <a:moveTo>
                    <a:pt x="9250680" y="0"/>
                  </a:moveTo>
                  <a:lnTo>
                    <a:pt x="0" y="0"/>
                  </a:lnTo>
                  <a:lnTo>
                    <a:pt x="0" y="560844"/>
                  </a:lnTo>
                  <a:lnTo>
                    <a:pt x="0" y="1033272"/>
                  </a:lnTo>
                  <a:lnTo>
                    <a:pt x="9250680" y="1033272"/>
                  </a:lnTo>
                  <a:lnTo>
                    <a:pt x="9250680" y="560844"/>
                  </a:lnTo>
                  <a:lnTo>
                    <a:pt x="9250680" y="0"/>
                  </a:lnTo>
                  <a:close/>
                </a:path>
              </a:pathLst>
            </a:custGeom>
            <a:solidFill>
              <a:srgbClr val="FFD8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88944" y="4320706"/>
              <a:ext cx="970280" cy="311150"/>
            </a:xfrm>
            <a:custGeom>
              <a:avLst/>
              <a:gdLst/>
              <a:ahLst/>
              <a:cxnLst/>
              <a:rect l="l" t="t" r="r" b="b"/>
              <a:pathLst>
                <a:path w="970279" h="311150">
                  <a:moveTo>
                    <a:pt x="848481" y="24217"/>
                  </a:moveTo>
                  <a:lnTo>
                    <a:pt x="504991" y="24217"/>
                  </a:lnTo>
                  <a:lnTo>
                    <a:pt x="528899" y="10620"/>
                  </a:lnTo>
                  <a:lnTo>
                    <a:pt x="561379" y="2309"/>
                  </a:lnTo>
                  <a:lnTo>
                    <a:pt x="598431" y="0"/>
                  </a:lnTo>
                  <a:lnTo>
                    <a:pt x="636055" y="4405"/>
                  </a:lnTo>
                  <a:lnTo>
                    <a:pt x="646033" y="6953"/>
                  </a:lnTo>
                  <a:lnTo>
                    <a:pt x="655296" y="9929"/>
                  </a:lnTo>
                  <a:lnTo>
                    <a:pt x="663702" y="13192"/>
                  </a:lnTo>
                  <a:lnTo>
                    <a:pt x="671107" y="16597"/>
                  </a:lnTo>
                  <a:lnTo>
                    <a:pt x="835171" y="16597"/>
                  </a:lnTo>
                  <a:lnTo>
                    <a:pt x="837115" y="17359"/>
                  </a:lnTo>
                  <a:lnTo>
                    <a:pt x="848272" y="24026"/>
                  </a:lnTo>
                  <a:lnTo>
                    <a:pt x="848481" y="24217"/>
                  </a:lnTo>
                  <a:close/>
                </a:path>
                <a:path w="970279" h="311150">
                  <a:moveTo>
                    <a:pt x="835171" y="16597"/>
                  </a:moveTo>
                  <a:lnTo>
                    <a:pt x="671107" y="16597"/>
                  </a:lnTo>
                  <a:lnTo>
                    <a:pt x="704564" y="5167"/>
                  </a:lnTo>
                  <a:lnTo>
                    <a:pt x="744450" y="595"/>
                  </a:lnTo>
                  <a:lnTo>
                    <a:pt x="785764" y="2881"/>
                  </a:lnTo>
                  <a:lnTo>
                    <a:pt x="823507" y="12025"/>
                  </a:lnTo>
                  <a:lnTo>
                    <a:pt x="835171" y="16597"/>
                  </a:lnTo>
                  <a:close/>
                </a:path>
                <a:path w="970279" h="311150">
                  <a:moveTo>
                    <a:pt x="859648" y="36409"/>
                  </a:moveTo>
                  <a:lnTo>
                    <a:pt x="314491" y="36409"/>
                  </a:lnTo>
                  <a:lnTo>
                    <a:pt x="345090" y="20216"/>
                  </a:lnTo>
                  <a:lnTo>
                    <a:pt x="385548" y="10882"/>
                  </a:lnTo>
                  <a:lnTo>
                    <a:pt x="430863" y="8977"/>
                  </a:lnTo>
                  <a:lnTo>
                    <a:pt x="476035" y="15073"/>
                  </a:lnTo>
                  <a:lnTo>
                    <a:pt x="483774" y="17359"/>
                  </a:lnTo>
                  <a:lnTo>
                    <a:pt x="491085" y="19645"/>
                  </a:lnTo>
                  <a:lnTo>
                    <a:pt x="504991" y="24217"/>
                  </a:lnTo>
                  <a:lnTo>
                    <a:pt x="848481" y="24217"/>
                  </a:lnTo>
                  <a:lnTo>
                    <a:pt x="856511" y="31527"/>
                  </a:lnTo>
                  <a:lnTo>
                    <a:pt x="859648" y="36409"/>
                  </a:lnTo>
                  <a:close/>
                </a:path>
                <a:path w="970279" h="311150">
                  <a:moveTo>
                    <a:pt x="265589" y="292404"/>
                  </a:moveTo>
                  <a:lnTo>
                    <a:pt x="213858" y="286930"/>
                  </a:lnTo>
                  <a:lnTo>
                    <a:pt x="167907" y="274653"/>
                  </a:lnTo>
                  <a:lnTo>
                    <a:pt x="131611" y="255865"/>
                  </a:lnTo>
                  <a:lnTo>
                    <a:pt x="131611" y="254341"/>
                  </a:lnTo>
                  <a:lnTo>
                    <a:pt x="130087" y="254341"/>
                  </a:lnTo>
                  <a:lnTo>
                    <a:pt x="91535" y="253126"/>
                  </a:lnTo>
                  <a:lnTo>
                    <a:pt x="33861" y="233553"/>
                  </a:lnTo>
                  <a:lnTo>
                    <a:pt x="21859" y="207787"/>
                  </a:lnTo>
                  <a:lnTo>
                    <a:pt x="26265" y="198524"/>
                  </a:lnTo>
                  <a:lnTo>
                    <a:pt x="34956" y="190119"/>
                  </a:lnTo>
                  <a:lnTo>
                    <a:pt x="47791" y="182713"/>
                  </a:lnTo>
                  <a:lnTo>
                    <a:pt x="18526" y="171307"/>
                  </a:lnTo>
                  <a:lnTo>
                    <a:pt x="2262" y="156614"/>
                  </a:lnTo>
                  <a:lnTo>
                    <a:pt x="0" y="140493"/>
                  </a:lnTo>
                  <a:lnTo>
                    <a:pt x="12739" y="124801"/>
                  </a:lnTo>
                  <a:lnTo>
                    <a:pt x="26336" y="116538"/>
                  </a:lnTo>
                  <a:lnTo>
                    <a:pt x="43791" y="110132"/>
                  </a:lnTo>
                  <a:lnTo>
                    <a:pt x="64389" y="105727"/>
                  </a:lnTo>
                  <a:lnTo>
                    <a:pt x="87415" y="103465"/>
                  </a:lnTo>
                  <a:lnTo>
                    <a:pt x="87415" y="101941"/>
                  </a:lnTo>
                  <a:lnTo>
                    <a:pt x="117324" y="53935"/>
                  </a:lnTo>
                  <a:lnTo>
                    <a:pt x="160496" y="37218"/>
                  </a:lnTo>
                  <a:lnTo>
                    <a:pt x="216955" y="28789"/>
                  </a:lnTo>
                  <a:lnTo>
                    <a:pt x="242268" y="27622"/>
                  </a:lnTo>
                  <a:lnTo>
                    <a:pt x="267438" y="28598"/>
                  </a:lnTo>
                  <a:lnTo>
                    <a:pt x="291361" y="31527"/>
                  </a:lnTo>
                  <a:lnTo>
                    <a:pt x="291526" y="31527"/>
                  </a:lnTo>
                  <a:lnTo>
                    <a:pt x="314491" y="36409"/>
                  </a:lnTo>
                  <a:lnTo>
                    <a:pt x="859648" y="36409"/>
                  </a:lnTo>
                  <a:lnTo>
                    <a:pt x="861607" y="39457"/>
                  </a:lnTo>
                  <a:lnTo>
                    <a:pt x="904065" y="48815"/>
                  </a:lnTo>
                  <a:lnTo>
                    <a:pt x="933807" y="64031"/>
                  </a:lnTo>
                  <a:lnTo>
                    <a:pt x="948404" y="82962"/>
                  </a:lnTo>
                  <a:lnTo>
                    <a:pt x="945427" y="103465"/>
                  </a:lnTo>
                  <a:lnTo>
                    <a:pt x="943903" y="106513"/>
                  </a:lnTo>
                  <a:lnTo>
                    <a:pt x="939331" y="111085"/>
                  </a:lnTo>
                  <a:lnTo>
                    <a:pt x="966335" y="134612"/>
                  </a:lnTo>
                  <a:lnTo>
                    <a:pt x="951761" y="183951"/>
                  </a:lnTo>
                  <a:lnTo>
                    <a:pt x="911899" y="204049"/>
                  </a:lnTo>
                  <a:lnTo>
                    <a:pt x="859393" y="214550"/>
                  </a:lnTo>
                  <a:lnTo>
                    <a:pt x="840271" y="216241"/>
                  </a:lnTo>
                  <a:lnTo>
                    <a:pt x="829865" y="238553"/>
                  </a:lnTo>
                  <a:lnTo>
                    <a:pt x="801600" y="256436"/>
                  </a:lnTo>
                  <a:lnTo>
                    <a:pt x="776866" y="263485"/>
                  </a:lnTo>
                  <a:lnTo>
                    <a:pt x="642151" y="263485"/>
                  </a:lnTo>
                  <a:lnTo>
                    <a:pt x="619568" y="281773"/>
                  </a:lnTo>
                  <a:lnTo>
                    <a:pt x="370879" y="281773"/>
                  </a:lnTo>
                  <a:lnTo>
                    <a:pt x="319222" y="290783"/>
                  </a:lnTo>
                  <a:lnTo>
                    <a:pt x="265589" y="292404"/>
                  </a:lnTo>
                  <a:close/>
                </a:path>
                <a:path w="970279" h="311150">
                  <a:moveTo>
                    <a:pt x="709207" y="272629"/>
                  </a:moveTo>
                  <a:lnTo>
                    <a:pt x="691229" y="272057"/>
                  </a:lnTo>
                  <a:lnTo>
                    <a:pt x="673965" y="270343"/>
                  </a:lnTo>
                  <a:lnTo>
                    <a:pt x="657558" y="267485"/>
                  </a:lnTo>
                  <a:lnTo>
                    <a:pt x="642151" y="263485"/>
                  </a:lnTo>
                  <a:lnTo>
                    <a:pt x="776866" y="263485"/>
                  </a:lnTo>
                  <a:lnTo>
                    <a:pt x="759904" y="268319"/>
                  </a:lnTo>
                  <a:lnTo>
                    <a:pt x="709207" y="272629"/>
                  </a:lnTo>
                  <a:close/>
                </a:path>
                <a:path w="970279" h="311150">
                  <a:moveTo>
                    <a:pt x="512706" y="310848"/>
                  </a:moveTo>
                  <a:lnTo>
                    <a:pt x="453175" y="309205"/>
                  </a:lnTo>
                  <a:lnTo>
                    <a:pt x="406312" y="298346"/>
                  </a:lnTo>
                  <a:lnTo>
                    <a:pt x="370879" y="281773"/>
                  </a:lnTo>
                  <a:lnTo>
                    <a:pt x="619568" y="281773"/>
                  </a:lnTo>
                  <a:lnTo>
                    <a:pt x="613481" y="286702"/>
                  </a:lnTo>
                  <a:lnTo>
                    <a:pt x="568237" y="302918"/>
                  </a:lnTo>
                  <a:lnTo>
                    <a:pt x="512706" y="310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88944" y="4320706"/>
              <a:ext cx="970280" cy="311150"/>
            </a:xfrm>
            <a:custGeom>
              <a:avLst/>
              <a:gdLst/>
              <a:ahLst/>
              <a:cxnLst/>
              <a:rect l="l" t="t" r="r" b="b"/>
              <a:pathLst>
                <a:path w="970279" h="311150">
                  <a:moveTo>
                    <a:pt x="87415" y="101941"/>
                  </a:moveTo>
                  <a:lnTo>
                    <a:pt x="117324" y="53935"/>
                  </a:lnTo>
                  <a:lnTo>
                    <a:pt x="160496" y="37218"/>
                  </a:lnTo>
                  <a:lnTo>
                    <a:pt x="216955" y="28789"/>
                  </a:lnTo>
                  <a:lnTo>
                    <a:pt x="242268" y="27622"/>
                  </a:lnTo>
                  <a:lnTo>
                    <a:pt x="267438" y="28598"/>
                  </a:lnTo>
                  <a:lnTo>
                    <a:pt x="291750" y="31575"/>
                  </a:lnTo>
                  <a:lnTo>
                    <a:pt x="314491" y="36409"/>
                  </a:lnTo>
                  <a:lnTo>
                    <a:pt x="345090" y="20216"/>
                  </a:lnTo>
                  <a:lnTo>
                    <a:pt x="385548" y="10882"/>
                  </a:lnTo>
                  <a:lnTo>
                    <a:pt x="430863" y="8977"/>
                  </a:lnTo>
                  <a:lnTo>
                    <a:pt x="476035" y="15073"/>
                  </a:lnTo>
                  <a:lnTo>
                    <a:pt x="483774" y="17359"/>
                  </a:lnTo>
                  <a:lnTo>
                    <a:pt x="491085" y="19645"/>
                  </a:lnTo>
                  <a:lnTo>
                    <a:pt x="498109" y="21931"/>
                  </a:lnTo>
                  <a:lnTo>
                    <a:pt x="504991" y="24217"/>
                  </a:lnTo>
                  <a:lnTo>
                    <a:pt x="528899" y="10620"/>
                  </a:lnTo>
                  <a:lnTo>
                    <a:pt x="561379" y="2309"/>
                  </a:lnTo>
                  <a:lnTo>
                    <a:pt x="598431" y="0"/>
                  </a:lnTo>
                  <a:lnTo>
                    <a:pt x="636055" y="4405"/>
                  </a:lnTo>
                  <a:lnTo>
                    <a:pt x="646033" y="6953"/>
                  </a:lnTo>
                  <a:lnTo>
                    <a:pt x="655296" y="9929"/>
                  </a:lnTo>
                  <a:lnTo>
                    <a:pt x="663701" y="13192"/>
                  </a:lnTo>
                  <a:lnTo>
                    <a:pt x="671107" y="16597"/>
                  </a:lnTo>
                  <a:lnTo>
                    <a:pt x="704564" y="5167"/>
                  </a:lnTo>
                  <a:lnTo>
                    <a:pt x="744450" y="595"/>
                  </a:lnTo>
                  <a:lnTo>
                    <a:pt x="785764" y="2881"/>
                  </a:lnTo>
                  <a:lnTo>
                    <a:pt x="823507" y="12025"/>
                  </a:lnTo>
                  <a:lnTo>
                    <a:pt x="837176" y="17383"/>
                  </a:lnTo>
                  <a:lnTo>
                    <a:pt x="848272" y="24026"/>
                  </a:lnTo>
                  <a:lnTo>
                    <a:pt x="856511" y="31527"/>
                  </a:lnTo>
                  <a:lnTo>
                    <a:pt x="861607" y="39457"/>
                  </a:lnTo>
                  <a:lnTo>
                    <a:pt x="904065" y="48815"/>
                  </a:lnTo>
                  <a:lnTo>
                    <a:pt x="933807" y="64031"/>
                  </a:lnTo>
                  <a:lnTo>
                    <a:pt x="948404" y="82962"/>
                  </a:lnTo>
                  <a:lnTo>
                    <a:pt x="945427" y="103465"/>
                  </a:lnTo>
                  <a:lnTo>
                    <a:pt x="943903" y="106513"/>
                  </a:lnTo>
                  <a:lnTo>
                    <a:pt x="942379" y="108037"/>
                  </a:lnTo>
                  <a:lnTo>
                    <a:pt x="939331" y="111085"/>
                  </a:lnTo>
                  <a:lnTo>
                    <a:pt x="966335" y="134612"/>
                  </a:lnTo>
                  <a:lnTo>
                    <a:pt x="951761" y="183951"/>
                  </a:lnTo>
                  <a:lnTo>
                    <a:pt x="911899" y="204049"/>
                  </a:lnTo>
                  <a:lnTo>
                    <a:pt x="859393" y="214550"/>
                  </a:lnTo>
                  <a:lnTo>
                    <a:pt x="840271" y="216241"/>
                  </a:lnTo>
                  <a:lnTo>
                    <a:pt x="829865" y="238553"/>
                  </a:lnTo>
                  <a:lnTo>
                    <a:pt x="801600" y="256436"/>
                  </a:lnTo>
                  <a:lnTo>
                    <a:pt x="759904" y="268319"/>
                  </a:lnTo>
                  <a:lnTo>
                    <a:pt x="709207" y="272629"/>
                  </a:lnTo>
                  <a:lnTo>
                    <a:pt x="691229" y="272057"/>
                  </a:lnTo>
                  <a:lnTo>
                    <a:pt x="673965" y="270343"/>
                  </a:lnTo>
                  <a:lnTo>
                    <a:pt x="657558" y="267485"/>
                  </a:lnTo>
                  <a:lnTo>
                    <a:pt x="642151" y="263485"/>
                  </a:lnTo>
                  <a:lnTo>
                    <a:pt x="613481" y="286702"/>
                  </a:lnTo>
                  <a:lnTo>
                    <a:pt x="568237" y="302918"/>
                  </a:lnTo>
                  <a:lnTo>
                    <a:pt x="512706" y="310848"/>
                  </a:lnTo>
                  <a:lnTo>
                    <a:pt x="453175" y="309205"/>
                  </a:lnTo>
                  <a:lnTo>
                    <a:pt x="428744" y="304704"/>
                  </a:lnTo>
                  <a:lnTo>
                    <a:pt x="406312" y="298346"/>
                  </a:lnTo>
                  <a:lnTo>
                    <a:pt x="386738" y="290560"/>
                  </a:lnTo>
                  <a:lnTo>
                    <a:pt x="370879" y="281773"/>
                  </a:lnTo>
                  <a:lnTo>
                    <a:pt x="319222" y="290783"/>
                  </a:lnTo>
                  <a:lnTo>
                    <a:pt x="265589" y="292404"/>
                  </a:lnTo>
                  <a:lnTo>
                    <a:pt x="213858" y="286930"/>
                  </a:lnTo>
                  <a:lnTo>
                    <a:pt x="167907" y="274653"/>
                  </a:lnTo>
                  <a:lnTo>
                    <a:pt x="131611" y="255865"/>
                  </a:lnTo>
                  <a:lnTo>
                    <a:pt x="131611" y="254341"/>
                  </a:lnTo>
                  <a:lnTo>
                    <a:pt x="130087" y="254341"/>
                  </a:lnTo>
                  <a:lnTo>
                    <a:pt x="91535" y="253126"/>
                  </a:lnTo>
                  <a:lnTo>
                    <a:pt x="58269" y="245768"/>
                  </a:lnTo>
                  <a:lnTo>
                    <a:pt x="33861" y="233553"/>
                  </a:lnTo>
                  <a:lnTo>
                    <a:pt x="21883" y="217765"/>
                  </a:lnTo>
                  <a:lnTo>
                    <a:pt x="21859" y="207787"/>
                  </a:lnTo>
                  <a:lnTo>
                    <a:pt x="26265" y="198524"/>
                  </a:lnTo>
                  <a:lnTo>
                    <a:pt x="34956" y="190119"/>
                  </a:lnTo>
                  <a:lnTo>
                    <a:pt x="47791" y="182713"/>
                  </a:lnTo>
                  <a:lnTo>
                    <a:pt x="18526" y="171307"/>
                  </a:lnTo>
                  <a:lnTo>
                    <a:pt x="2262" y="156614"/>
                  </a:lnTo>
                  <a:lnTo>
                    <a:pt x="0" y="140493"/>
                  </a:lnTo>
                  <a:lnTo>
                    <a:pt x="12739" y="124801"/>
                  </a:lnTo>
                  <a:lnTo>
                    <a:pt x="26336" y="116538"/>
                  </a:lnTo>
                  <a:lnTo>
                    <a:pt x="43791" y="110132"/>
                  </a:lnTo>
                  <a:lnTo>
                    <a:pt x="64388" y="105727"/>
                  </a:lnTo>
                  <a:lnTo>
                    <a:pt x="87415" y="103465"/>
                  </a:lnTo>
                  <a:lnTo>
                    <a:pt x="87415" y="101941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88944" y="4895088"/>
              <a:ext cx="970280" cy="310515"/>
            </a:xfrm>
            <a:custGeom>
              <a:avLst/>
              <a:gdLst/>
              <a:ahLst/>
              <a:cxnLst/>
              <a:rect l="l" t="t" r="r" b="b"/>
              <a:pathLst>
                <a:path w="970279" h="310514">
                  <a:moveTo>
                    <a:pt x="837068" y="16644"/>
                  </a:moveTo>
                  <a:lnTo>
                    <a:pt x="671449" y="16644"/>
                  </a:lnTo>
                  <a:lnTo>
                    <a:pt x="704564" y="5095"/>
                  </a:lnTo>
                  <a:lnTo>
                    <a:pt x="744450" y="0"/>
                  </a:lnTo>
                  <a:lnTo>
                    <a:pt x="785764" y="1762"/>
                  </a:lnTo>
                  <a:lnTo>
                    <a:pt x="823507" y="10668"/>
                  </a:lnTo>
                  <a:lnTo>
                    <a:pt x="837068" y="16644"/>
                  </a:lnTo>
                  <a:close/>
                </a:path>
                <a:path w="970279" h="310514">
                  <a:moveTo>
                    <a:pt x="847331" y="22860"/>
                  </a:moveTo>
                  <a:lnTo>
                    <a:pt x="504991" y="22860"/>
                  </a:lnTo>
                  <a:lnTo>
                    <a:pt x="527914" y="10668"/>
                  </a:lnTo>
                  <a:lnTo>
                    <a:pt x="529096" y="10096"/>
                  </a:lnTo>
                  <a:lnTo>
                    <a:pt x="561379" y="2286"/>
                  </a:lnTo>
                  <a:lnTo>
                    <a:pt x="598431" y="142"/>
                  </a:lnTo>
                  <a:lnTo>
                    <a:pt x="636055" y="4572"/>
                  </a:lnTo>
                  <a:lnTo>
                    <a:pt x="646033" y="7119"/>
                  </a:lnTo>
                  <a:lnTo>
                    <a:pt x="655296" y="10096"/>
                  </a:lnTo>
                  <a:lnTo>
                    <a:pt x="663702" y="13358"/>
                  </a:lnTo>
                  <a:lnTo>
                    <a:pt x="670848" y="16644"/>
                  </a:lnTo>
                  <a:lnTo>
                    <a:pt x="837097" y="16644"/>
                  </a:lnTo>
                  <a:lnTo>
                    <a:pt x="847331" y="22860"/>
                  </a:lnTo>
                  <a:close/>
                </a:path>
                <a:path w="970279" h="310514">
                  <a:moveTo>
                    <a:pt x="859800" y="36576"/>
                  </a:moveTo>
                  <a:lnTo>
                    <a:pt x="314491" y="36576"/>
                  </a:lnTo>
                  <a:lnTo>
                    <a:pt x="345090" y="20383"/>
                  </a:lnTo>
                  <a:lnTo>
                    <a:pt x="385548" y="11049"/>
                  </a:lnTo>
                  <a:lnTo>
                    <a:pt x="430863" y="9144"/>
                  </a:lnTo>
                  <a:lnTo>
                    <a:pt x="476035" y="15240"/>
                  </a:lnTo>
                  <a:lnTo>
                    <a:pt x="483774" y="16644"/>
                  </a:lnTo>
                  <a:lnTo>
                    <a:pt x="491085" y="18478"/>
                  </a:lnTo>
                  <a:lnTo>
                    <a:pt x="498109" y="20597"/>
                  </a:lnTo>
                  <a:lnTo>
                    <a:pt x="504991" y="22860"/>
                  </a:lnTo>
                  <a:lnTo>
                    <a:pt x="847331" y="22860"/>
                  </a:lnTo>
                  <a:lnTo>
                    <a:pt x="848272" y="23431"/>
                  </a:lnTo>
                  <a:lnTo>
                    <a:pt x="856511" y="31027"/>
                  </a:lnTo>
                  <a:lnTo>
                    <a:pt x="859800" y="36576"/>
                  </a:lnTo>
                  <a:close/>
                </a:path>
                <a:path w="970279" h="310514">
                  <a:moveTo>
                    <a:pt x="265589" y="292132"/>
                  </a:moveTo>
                  <a:lnTo>
                    <a:pt x="213858" y="286438"/>
                  </a:lnTo>
                  <a:lnTo>
                    <a:pt x="167907" y="274234"/>
                  </a:lnTo>
                  <a:lnTo>
                    <a:pt x="131611" y="256032"/>
                  </a:lnTo>
                  <a:lnTo>
                    <a:pt x="131611" y="254508"/>
                  </a:lnTo>
                  <a:lnTo>
                    <a:pt x="130087" y="254508"/>
                  </a:lnTo>
                  <a:lnTo>
                    <a:pt x="91535" y="253269"/>
                  </a:lnTo>
                  <a:lnTo>
                    <a:pt x="33861" y="233076"/>
                  </a:lnTo>
                  <a:lnTo>
                    <a:pt x="21859" y="207311"/>
                  </a:lnTo>
                  <a:lnTo>
                    <a:pt x="26265" y="198501"/>
                  </a:lnTo>
                  <a:lnTo>
                    <a:pt x="34956" y="190261"/>
                  </a:lnTo>
                  <a:lnTo>
                    <a:pt x="47791" y="182880"/>
                  </a:lnTo>
                  <a:lnTo>
                    <a:pt x="18526" y="171450"/>
                  </a:lnTo>
                  <a:lnTo>
                    <a:pt x="2262" y="156591"/>
                  </a:lnTo>
                  <a:lnTo>
                    <a:pt x="0" y="140017"/>
                  </a:lnTo>
                  <a:lnTo>
                    <a:pt x="12739" y="123444"/>
                  </a:lnTo>
                  <a:lnTo>
                    <a:pt x="26336" y="116062"/>
                  </a:lnTo>
                  <a:lnTo>
                    <a:pt x="43791" y="110109"/>
                  </a:lnTo>
                  <a:lnTo>
                    <a:pt x="64389" y="105870"/>
                  </a:lnTo>
                  <a:lnTo>
                    <a:pt x="87415" y="103632"/>
                  </a:lnTo>
                  <a:lnTo>
                    <a:pt x="87415" y="102108"/>
                  </a:lnTo>
                  <a:lnTo>
                    <a:pt x="117324" y="52768"/>
                  </a:lnTo>
                  <a:lnTo>
                    <a:pt x="160496" y="35885"/>
                  </a:lnTo>
                  <a:lnTo>
                    <a:pt x="216955" y="27432"/>
                  </a:lnTo>
                  <a:lnTo>
                    <a:pt x="242268" y="27146"/>
                  </a:lnTo>
                  <a:lnTo>
                    <a:pt x="267438" y="28575"/>
                  </a:lnTo>
                  <a:lnTo>
                    <a:pt x="291750" y="31718"/>
                  </a:lnTo>
                  <a:lnTo>
                    <a:pt x="314491" y="36576"/>
                  </a:lnTo>
                  <a:lnTo>
                    <a:pt x="859800" y="36576"/>
                  </a:lnTo>
                  <a:lnTo>
                    <a:pt x="861607" y="39624"/>
                  </a:lnTo>
                  <a:lnTo>
                    <a:pt x="904065" y="48768"/>
                  </a:lnTo>
                  <a:lnTo>
                    <a:pt x="933807" y="63627"/>
                  </a:lnTo>
                  <a:lnTo>
                    <a:pt x="948404" y="82486"/>
                  </a:lnTo>
                  <a:lnTo>
                    <a:pt x="945427" y="103632"/>
                  </a:lnTo>
                  <a:lnTo>
                    <a:pt x="943903" y="105156"/>
                  </a:lnTo>
                  <a:lnTo>
                    <a:pt x="942379" y="108204"/>
                  </a:lnTo>
                  <a:lnTo>
                    <a:pt x="939331" y="109728"/>
                  </a:lnTo>
                  <a:lnTo>
                    <a:pt x="966335" y="133469"/>
                  </a:lnTo>
                  <a:lnTo>
                    <a:pt x="970192" y="159067"/>
                  </a:lnTo>
                  <a:lnTo>
                    <a:pt x="911899" y="202692"/>
                  </a:lnTo>
                  <a:lnTo>
                    <a:pt x="859393" y="214693"/>
                  </a:lnTo>
                  <a:lnTo>
                    <a:pt x="840271" y="216408"/>
                  </a:lnTo>
                  <a:lnTo>
                    <a:pt x="829865" y="238077"/>
                  </a:lnTo>
                  <a:lnTo>
                    <a:pt x="801600" y="256032"/>
                  </a:lnTo>
                  <a:lnTo>
                    <a:pt x="775641" y="263651"/>
                  </a:lnTo>
                  <a:lnTo>
                    <a:pt x="642151" y="263651"/>
                  </a:lnTo>
                  <a:lnTo>
                    <a:pt x="619545" y="281939"/>
                  </a:lnTo>
                  <a:lnTo>
                    <a:pt x="370879" y="281939"/>
                  </a:lnTo>
                  <a:lnTo>
                    <a:pt x="319222" y="290803"/>
                  </a:lnTo>
                  <a:lnTo>
                    <a:pt x="265589" y="292132"/>
                  </a:lnTo>
                  <a:close/>
                </a:path>
                <a:path w="970279" h="310514">
                  <a:moveTo>
                    <a:pt x="709207" y="272796"/>
                  </a:moveTo>
                  <a:lnTo>
                    <a:pt x="691229" y="272224"/>
                  </a:lnTo>
                  <a:lnTo>
                    <a:pt x="673965" y="270510"/>
                  </a:lnTo>
                  <a:lnTo>
                    <a:pt x="657558" y="267652"/>
                  </a:lnTo>
                  <a:lnTo>
                    <a:pt x="642151" y="263651"/>
                  </a:lnTo>
                  <a:lnTo>
                    <a:pt x="775641" y="263651"/>
                  </a:lnTo>
                  <a:lnTo>
                    <a:pt x="759904" y="268271"/>
                  </a:lnTo>
                  <a:lnTo>
                    <a:pt x="709207" y="272796"/>
                  </a:lnTo>
                  <a:close/>
                </a:path>
                <a:path w="970279" h="310514">
                  <a:moveTo>
                    <a:pt x="512706" y="310372"/>
                  </a:moveTo>
                  <a:lnTo>
                    <a:pt x="453175" y="307848"/>
                  </a:lnTo>
                  <a:lnTo>
                    <a:pt x="406312" y="297751"/>
                  </a:lnTo>
                  <a:lnTo>
                    <a:pt x="370879" y="281939"/>
                  </a:lnTo>
                  <a:lnTo>
                    <a:pt x="619545" y="281939"/>
                  </a:lnTo>
                  <a:lnTo>
                    <a:pt x="613481" y="286845"/>
                  </a:lnTo>
                  <a:lnTo>
                    <a:pt x="568237" y="302895"/>
                  </a:lnTo>
                  <a:lnTo>
                    <a:pt x="512706" y="310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88944" y="4895088"/>
              <a:ext cx="970280" cy="310515"/>
            </a:xfrm>
            <a:custGeom>
              <a:avLst/>
              <a:gdLst/>
              <a:ahLst/>
              <a:cxnLst/>
              <a:rect l="l" t="t" r="r" b="b"/>
              <a:pathLst>
                <a:path w="970279" h="310514">
                  <a:moveTo>
                    <a:pt x="87415" y="102107"/>
                  </a:moveTo>
                  <a:lnTo>
                    <a:pt x="117324" y="52768"/>
                  </a:lnTo>
                  <a:lnTo>
                    <a:pt x="160496" y="35885"/>
                  </a:lnTo>
                  <a:lnTo>
                    <a:pt x="216955" y="27431"/>
                  </a:lnTo>
                  <a:lnTo>
                    <a:pt x="242268" y="27146"/>
                  </a:lnTo>
                  <a:lnTo>
                    <a:pt x="267438" y="28574"/>
                  </a:lnTo>
                  <a:lnTo>
                    <a:pt x="291750" y="31718"/>
                  </a:lnTo>
                  <a:lnTo>
                    <a:pt x="314491" y="36575"/>
                  </a:lnTo>
                  <a:lnTo>
                    <a:pt x="345090" y="20383"/>
                  </a:lnTo>
                  <a:lnTo>
                    <a:pt x="385548" y="11048"/>
                  </a:lnTo>
                  <a:lnTo>
                    <a:pt x="430863" y="9143"/>
                  </a:lnTo>
                  <a:lnTo>
                    <a:pt x="476035" y="15239"/>
                  </a:lnTo>
                  <a:lnTo>
                    <a:pt x="483774" y="16644"/>
                  </a:lnTo>
                  <a:lnTo>
                    <a:pt x="491085" y="18478"/>
                  </a:lnTo>
                  <a:lnTo>
                    <a:pt x="498109" y="20597"/>
                  </a:lnTo>
                  <a:lnTo>
                    <a:pt x="504991" y="22859"/>
                  </a:lnTo>
                  <a:lnTo>
                    <a:pt x="528899" y="10144"/>
                  </a:lnTo>
                  <a:lnTo>
                    <a:pt x="561379" y="2285"/>
                  </a:lnTo>
                  <a:lnTo>
                    <a:pt x="598431" y="142"/>
                  </a:lnTo>
                  <a:lnTo>
                    <a:pt x="636055" y="4571"/>
                  </a:lnTo>
                  <a:lnTo>
                    <a:pt x="646033" y="7119"/>
                  </a:lnTo>
                  <a:lnTo>
                    <a:pt x="655296" y="10096"/>
                  </a:lnTo>
                  <a:lnTo>
                    <a:pt x="663701" y="13358"/>
                  </a:lnTo>
                  <a:lnTo>
                    <a:pt x="671107" y="16763"/>
                  </a:lnTo>
                  <a:lnTo>
                    <a:pt x="704564" y="5095"/>
                  </a:lnTo>
                  <a:lnTo>
                    <a:pt x="744450" y="0"/>
                  </a:lnTo>
                  <a:lnTo>
                    <a:pt x="785764" y="1762"/>
                  </a:lnTo>
                  <a:lnTo>
                    <a:pt x="823507" y="10667"/>
                  </a:lnTo>
                  <a:lnTo>
                    <a:pt x="837176" y="16692"/>
                  </a:lnTo>
                  <a:lnTo>
                    <a:pt x="848272" y="23431"/>
                  </a:lnTo>
                  <a:lnTo>
                    <a:pt x="856511" y="31027"/>
                  </a:lnTo>
                  <a:lnTo>
                    <a:pt x="861607" y="39623"/>
                  </a:lnTo>
                  <a:lnTo>
                    <a:pt x="904065" y="48767"/>
                  </a:lnTo>
                  <a:lnTo>
                    <a:pt x="933807" y="63626"/>
                  </a:lnTo>
                  <a:lnTo>
                    <a:pt x="948404" y="82486"/>
                  </a:lnTo>
                  <a:lnTo>
                    <a:pt x="945427" y="103631"/>
                  </a:lnTo>
                  <a:lnTo>
                    <a:pt x="943903" y="105155"/>
                  </a:lnTo>
                  <a:lnTo>
                    <a:pt x="942379" y="108203"/>
                  </a:lnTo>
                  <a:lnTo>
                    <a:pt x="939331" y="109727"/>
                  </a:lnTo>
                  <a:lnTo>
                    <a:pt x="966335" y="133469"/>
                  </a:lnTo>
                  <a:lnTo>
                    <a:pt x="970192" y="159067"/>
                  </a:lnTo>
                  <a:lnTo>
                    <a:pt x="911899" y="202691"/>
                  </a:lnTo>
                  <a:lnTo>
                    <a:pt x="859393" y="214693"/>
                  </a:lnTo>
                  <a:lnTo>
                    <a:pt x="840271" y="216407"/>
                  </a:lnTo>
                  <a:lnTo>
                    <a:pt x="829865" y="238077"/>
                  </a:lnTo>
                  <a:lnTo>
                    <a:pt x="801600" y="256031"/>
                  </a:lnTo>
                  <a:lnTo>
                    <a:pt x="759904" y="268271"/>
                  </a:lnTo>
                  <a:lnTo>
                    <a:pt x="709207" y="272795"/>
                  </a:lnTo>
                  <a:lnTo>
                    <a:pt x="691229" y="272224"/>
                  </a:lnTo>
                  <a:lnTo>
                    <a:pt x="673965" y="270509"/>
                  </a:lnTo>
                  <a:lnTo>
                    <a:pt x="657558" y="267652"/>
                  </a:lnTo>
                  <a:lnTo>
                    <a:pt x="642151" y="263651"/>
                  </a:lnTo>
                  <a:lnTo>
                    <a:pt x="613481" y="286845"/>
                  </a:lnTo>
                  <a:lnTo>
                    <a:pt x="568237" y="302894"/>
                  </a:lnTo>
                  <a:lnTo>
                    <a:pt x="512706" y="310372"/>
                  </a:lnTo>
                  <a:lnTo>
                    <a:pt x="453175" y="307847"/>
                  </a:lnTo>
                  <a:lnTo>
                    <a:pt x="428744" y="303585"/>
                  </a:lnTo>
                  <a:lnTo>
                    <a:pt x="406312" y="297751"/>
                  </a:lnTo>
                  <a:lnTo>
                    <a:pt x="386738" y="290488"/>
                  </a:lnTo>
                  <a:lnTo>
                    <a:pt x="370879" y="281939"/>
                  </a:lnTo>
                  <a:lnTo>
                    <a:pt x="319222" y="290803"/>
                  </a:lnTo>
                  <a:lnTo>
                    <a:pt x="265589" y="292132"/>
                  </a:lnTo>
                  <a:lnTo>
                    <a:pt x="213858" y="286438"/>
                  </a:lnTo>
                  <a:lnTo>
                    <a:pt x="167907" y="274234"/>
                  </a:lnTo>
                  <a:lnTo>
                    <a:pt x="131611" y="256031"/>
                  </a:lnTo>
                  <a:lnTo>
                    <a:pt x="131611" y="254507"/>
                  </a:lnTo>
                  <a:lnTo>
                    <a:pt x="130087" y="254507"/>
                  </a:lnTo>
                  <a:lnTo>
                    <a:pt x="91535" y="253269"/>
                  </a:lnTo>
                  <a:lnTo>
                    <a:pt x="58269" y="245744"/>
                  </a:lnTo>
                  <a:lnTo>
                    <a:pt x="33861" y="233076"/>
                  </a:lnTo>
                  <a:lnTo>
                    <a:pt x="21883" y="216407"/>
                  </a:lnTo>
                  <a:lnTo>
                    <a:pt x="21859" y="207311"/>
                  </a:lnTo>
                  <a:lnTo>
                    <a:pt x="26265" y="198500"/>
                  </a:lnTo>
                  <a:lnTo>
                    <a:pt x="34956" y="190261"/>
                  </a:lnTo>
                  <a:lnTo>
                    <a:pt x="47791" y="182879"/>
                  </a:lnTo>
                  <a:lnTo>
                    <a:pt x="18526" y="171449"/>
                  </a:lnTo>
                  <a:lnTo>
                    <a:pt x="2262" y="156590"/>
                  </a:lnTo>
                  <a:lnTo>
                    <a:pt x="0" y="140017"/>
                  </a:lnTo>
                  <a:lnTo>
                    <a:pt x="12739" y="123443"/>
                  </a:lnTo>
                  <a:lnTo>
                    <a:pt x="26336" y="116062"/>
                  </a:lnTo>
                  <a:lnTo>
                    <a:pt x="43791" y="110108"/>
                  </a:lnTo>
                  <a:lnTo>
                    <a:pt x="64388" y="105870"/>
                  </a:lnTo>
                  <a:lnTo>
                    <a:pt x="87415" y="103631"/>
                  </a:lnTo>
                  <a:lnTo>
                    <a:pt x="87415" y="102107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32993" y="1181861"/>
          <a:ext cx="10302875" cy="4664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0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534"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Objective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C46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C46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07950" indent="6985">
                        <a:lnSpc>
                          <a:spcPct val="101600"/>
                        </a:lnSpc>
                        <a:spcBef>
                          <a:spcPts val="24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C46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74295" indent="51435">
                        <a:lnSpc>
                          <a:spcPct val="101600"/>
                        </a:lnSpc>
                        <a:spcBef>
                          <a:spcPts val="24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9220" marR="100965" algn="ctr">
                        <a:lnSpc>
                          <a:spcPct val="100299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Reviewers</a:t>
                      </a:r>
                      <a:r>
                        <a:rPr sz="105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05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about their helpfulness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1" spc="-10" dirty="0">
                          <a:latin typeface="Calibri"/>
                          <a:cs typeface="Calibri"/>
                        </a:rPr>
                        <a:t>Kudos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450"/>
                        </a:lnSpc>
                      </a:pPr>
                      <a:r>
                        <a:rPr sz="8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Reinf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80645" marR="21590">
                        <a:lnSpc>
                          <a:spcPts val="1060"/>
                        </a:lnSpc>
                        <a:tabLst>
                          <a:tab pos="6463030" algn="l"/>
                        </a:tabLst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give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reviewers,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would reflect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reviewer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profile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75" spc="-15" baseline="-16339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</a:t>
                      </a:r>
                      <a:endParaRPr sz="1275" baseline="-16339">
                        <a:latin typeface="Calibri"/>
                        <a:cs typeface="Calibri"/>
                      </a:endParaRPr>
                    </a:p>
                    <a:p>
                      <a:pPr marL="80645" marR="245110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credentials.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helpful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feature,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reflects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against individual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reviews.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could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 redeemed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gifts/benefits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fixed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time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intervals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50"/>
                        </a:lnSpc>
                      </a:pPr>
                      <a:r>
                        <a:rPr sz="8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orcer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ts val="880"/>
                        </a:lnSpc>
                        <a:spcBef>
                          <a:spcPts val="35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</a:t>
                      </a:r>
                      <a:r>
                        <a:rPr sz="850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#1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299720" marR="296545" indent="4254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50" b="1" i="1" dirty="0">
                          <a:latin typeface="Calibri"/>
                          <a:cs typeface="Calibri"/>
                        </a:rPr>
                        <a:t>Degree</a:t>
                      </a:r>
                      <a:r>
                        <a:rPr sz="1050" b="1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i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050" b="1" i="1" spc="-10" dirty="0">
                          <a:latin typeface="Calibri"/>
                          <a:cs typeface="Calibri"/>
                        </a:rPr>
                        <a:t>helpfulness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4892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mention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degree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helpfulness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scale</a:t>
                      </a:r>
                      <a:r>
                        <a:rPr sz="10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(for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e.g.: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5).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replace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current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helpful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button,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now 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will have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mention every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time,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helpful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them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R="21590" algn="r">
                        <a:lnSpc>
                          <a:spcPts val="565"/>
                        </a:lnSpc>
                      </a:pPr>
                      <a:r>
                        <a:rPr sz="8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Rei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ts val="905"/>
                        </a:lnSpc>
                        <a:spcBef>
                          <a:spcPts val="195"/>
                        </a:spcBef>
                      </a:pPr>
                      <a:r>
                        <a:rPr sz="8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nforcer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9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27965" marR="222250" indent="7620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Extreme opinions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36880" marR="152400" indent="-280670">
                        <a:lnSpc>
                          <a:spcPct val="100000"/>
                        </a:lnSpc>
                      </a:pPr>
                      <a:r>
                        <a:rPr sz="1050" b="1" i="1" dirty="0">
                          <a:latin typeface="Calibri"/>
                          <a:cs typeface="Calibri"/>
                        </a:rPr>
                        <a:t>Extreme</a:t>
                      </a:r>
                      <a:r>
                        <a:rPr sz="1050" b="1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i="1" spc="-10" dirty="0">
                          <a:latin typeface="Calibri"/>
                          <a:cs typeface="Calibri"/>
                        </a:rPr>
                        <a:t>reviews metric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1590">
                        <a:lnSpc>
                          <a:spcPct val="100299"/>
                        </a:lnSpc>
                        <a:spcBef>
                          <a:spcPts val="240"/>
                        </a:spcBef>
                        <a:tabLst>
                          <a:tab pos="6560820" algn="l"/>
                        </a:tabLst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section 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place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separate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metric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displayed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everyone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summarizes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75" spc="-37" baseline="26143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</a:t>
                      </a:r>
                      <a:r>
                        <a:rPr sz="1275" spc="750" baseline="26143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extreme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(%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reviews).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motivate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property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owners/service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providers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keep</a:t>
                      </a:r>
                      <a:r>
                        <a:rPr sz="10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positive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extremes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increasing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negative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 extremes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check.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Would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help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offering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owners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segregate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extreme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them,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required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ture</a:t>
                      </a:r>
                      <a:r>
                        <a:rPr sz="850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#2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320040" marR="313055" indent="5143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050" b="1" i="1" spc="-10" dirty="0">
                          <a:latin typeface="Calibri"/>
                          <a:cs typeface="Calibri"/>
                        </a:rPr>
                        <a:t>Changed weightage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765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Give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weightage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extreme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opinions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1-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9-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impact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ratings.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negative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impact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weightage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ratings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might lead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false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perceptions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9700" marR="132080" indent="635" algn="ctr">
                        <a:lnSpc>
                          <a:spcPct val="100299"/>
                        </a:lnSpc>
                        <a:spcBef>
                          <a:spcPts val="5"/>
                        </a:spcBef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Making 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review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0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latin typeface="Calibri"/>
                          <a:cs typeface="Calibri"/>
                        </a:rPr>
                        <a:t>less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boring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1" spc="-10" dirty="0">
                          <a:latin typeface="Calibri"/>
                          <a:cs typeface="Calibri"/>
                        </a:rPr>
                        <a:t>Gamification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117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Gamification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reviewing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system: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Let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reviewers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know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how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far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away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achieving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next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level.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act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trigger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reviews,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could lead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ingenuine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reviews.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Moreover,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actual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form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tabLst>
                          <a:tab pos="6598920" algn="l"/>
                        </a:tabLst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filling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still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boring.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Also,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feature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unless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tangible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progressing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75" spc="-37" baseline="9803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</a:t>
                      </a:r>
                      <a:endParaRPr sz="1275" baseline="9803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405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9685">
                        <a:lnSpc>
                          <a:spcPts val="985"/>
                        </a:lnSpc>
                      </a:pPr>
                      <a:r>
                        <a:rPr sz="8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ercome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81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1" dirty="0">
                          <a:latin typeface="Calibri"/>
                          <a:cs typeface="Calibri"/>
                        </a:rPr>
                        <a:t>Interactive</a:t>
                      </a:r>
                      <a:r>
                        <a:rPr sz="1050" b="1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i="1" spc="-10" dirty="0">
                          <a:latin typeface="Calibri"/>
                          <a:cs typeface="Calibri"/>
                        </a:rPr>
                        <a:t>forms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340"/>
                        </a:lnSpc>
                      </a:pPr>
                      <a:r>
                        <a:rPr sz="8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80645" marR="21590">
                        <a:lnSpc>
                          <a:spcPts val="1155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Use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interactive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forms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(custom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responses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mapped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ratings)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interactive.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example,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tabLst>
                          <a:tab pos="6598920" algn="l"/>
                        </a:tabLst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rates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4/10,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could display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“Oh,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sorry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had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anything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perfect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experience.</a:t>
                      </a:r>
                      <a:r>
                        <a:rPr sz="10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aspects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you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did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find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satisfactory?”,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followed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relevant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headers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reviewer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select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75" spc="-37" baseline="3267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</a:t>
                      </a:r>
                      <a:endParaRPr sz="1275" baseline="3267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5"/>
                        </a:lnSpc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ature</a:t>
                      </a:r>
                      <a:r>
                        <a:rPr sz="8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#1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ercome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8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6215" marR="160020" indent="-29209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05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reviewers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050" b="1" i="1" dirty="0">
                          <a:latin typeface="Calibri"/>
                          <a:cs typeface="Calibri"/>
                        </a:rPr>
                        <a:t>Indirect </a:t>
                      </a:r>
                      <a:r>
                        <a:rPr sz="1050" b="1" i="1" spc="-10" dirty="0">
                          <a:latin typeface="Calibri"/>
                          <a:cs typeface="Calibri"/>
                        </a:rPr>
                        <a:t>benefits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530"/>
                        </a:lnSpc>
                      </a:pPr>
                      <a:r>
                        <a:rPr sz="8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80645" marR="499745">
                        <a:lnSpc>
                          <a:spcPts val="1260"/>
                        </a:lnSpc>
                        <a:spcBef>
                          <a:spcPts val="3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travel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vouchers,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discounts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travel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related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reviewers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criteria.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These forms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ensure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continued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usage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platform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engaging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users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45"/>
                        </a:lnSpc>
                      </a:pPr>
                      <a:r>
                        <a:rPr sz="8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ature</a:t>
                      </a:r>
                      <a:r>
                        <a:rPr sz="850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#2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050" b="1" i="1" dirty="0">
                          <a:latin typeface="Calibri"/>
                          <a:cs typeface="Calibri"/>
                        </a:rPr>
                        <a:t>Direct</a:t>
                      </a:r>
                      <a:r>
                        <a:rPr sz="1050" b="1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i="1" spc="-10" dirty="0">
                          <a:latin typeface="Calibri"/>
                          <a:cs typeface="Calibri"/>
                        </a:rPr>
                        <a:t>benefits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159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cash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incentives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reviewers.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however,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ensure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continuity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engagement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527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423130" y="5997968"/>
            <a:ext cx="1001141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3440" marR="5080" indent="-2111375">
              <a:lnSpc>
                <a:spcPct val="101899"/>
              </a:lnSpc>
              <a:spcBef>
                <a:spcPts val="95"/>
              </a:spcBef>
            </a:pP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Using</a:t>
            </a:r>
            <a:r>
              <a:rPr sz="1550" b="1" i="1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u="sng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Calibri"/>
                <a:cs typeface="Calibri"/>
              </a:rPr>
              <a:t>Impact/Effort</a:t>
            </a:r>
            <a:r>
              <a:rPr sz="1550" b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values,</a:t>
            </a:r>
            <a:r>
              <a:rPr sz="1550" b="1" i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we</a:t>
            </a:r>
            <a:r>
              <a:rPr sz="1550" b="1" i="1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will</a:t>
            </a:r>
            <a:r>
              <a:rPr sz="1550" b="1" i="1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go</a:t>
            </a:r>
            <a:r>
              <a:rPr sz="1550" b="1" i="1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with</a:t>
            </a:r>
            <a:r>
              <a:rPr sz="1550" b="1" i="1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r>
              <a:rPr sz="1550" b="1" i="1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features</a:t>
            </a:r>
            <a:r>
              <a:rPr sz="1550" b="1" i="1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that</a:t>
            </a:r>
            <a:r>
              <a:rPr sz="1550" b="1" i="1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will</a:t>
            </a:r>
            <a:r>
              <a:rPr sz="1550" b="1" i="1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4472C3"/>
                </a:solidFill>
                <a:latin typeface="Calibri"/>
                <a:cs typeface="Calibri"/>
              </a:rPr>
              <a:t>reinforce</a:t>
            </a:r>
            <a:r>
              <a:rPr sz="1550" b="1" i="1" spc="55" dirty="0">
                <a:solidFill>
                  <a:srgbClr val="4472C3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4472C3"/>
                </a:solidFill>
                <a:latin typeface="Calibri"/>
                <a:cs typeface="Calibri"/>
              </a:rPr>
              <a:t>the</a:t>
            </a:r>
            <a:r>
              <a:rPr sz="1550" b="1" i="1" spc="40" dirty="0">
                <a:solidFill>
                  <a:srgbClr val="4472C3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4472C3"/>
                </a:solidFill>
                <a:latin typeface="Calibri"/>
                <a:cs typeface="Calibri"/>
              </a:rPr>
              <a:t>motivations</a:t>
            </a:r>
            <a:r>
              <a:rPr sz="1550" b="1" i="1" spc="30" dirty="0">
                <a:solidFill>
                  <a:srgbClr val="4472C3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to</a:t>
            </a:r>
            <a:r>
              <a:rPr sz="1550" b="1" i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write</a:t>
            </a:r>
            <a:r>
              <a:rPr sz="1550" b="1" i="1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reviews</a:t>
            </a:r>
            <a:r>
              <a:rPr sz="1550" b="1" i="1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1550" b="1" i="1" spc="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r>
              <a:rPr sz="1550" b="1" i="1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spc="-10" dirty="0">
                <a:solidFill>
                  <a:srgbClr val="7E7E7E"/>
                </a:solidFill>
                <a:latin typeface="Calibri"/>
                <a:cs typeface="Calibri"/>
              </a:rPr>
              <a:t>features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that</a:t>
            </a:r>
            <a:r>
              <a:rPr sz="1550" b="1" i="1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will</a:t>
            </a:r>
            <a:r>
              <a:rPr sz="1550" b="1" i="1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latin typeface="Calibri"/>
                <a:cs typeface="Calibri"/>
              </a:rPr>
              <a:t>overcome</a:t>
            </a:r>
            <a:r>
              <a:rPr sz="1550" b="1" i="1" spc="35" dirty="0">
                <a:latin typeface="Calibri"/>
                <a:cs typeface="Calibri"/>
              </a:rPr>
              <a:t> </a:t>
            </a:r>
            <a:r>
              <a:rPr sz="1550" b="1" i="1" dirty="0">
                <a:latin typeface="Calibri"/>
                <a:cs typeface="Calibri"/>
              </a:rPr>
              <a:t>the</a:t>
            </a:r>
            <a:r>
              <a:rPr sz="1550" b="1" i="1" spc="70" dirty="0">
                <a:latin typeface="Calibri"/>
                <a:cs typeface="Calibri"/>
              </a:rPr>
              <a:t> </a:t>
            </a:r>
            <a:r>
              <a:rPr sz="1550" b="1" i="1" dirty="0">
                <a:latin typeface="Calibri"/>
                <a:cs typeface="Calibri"/>
              </a:rPr>
              <a:t>negative</a:t>
            </a:r>
            <a:r>
              <a:rPr sz="1550" b="1" i="1" spc="35" dirty="0">
                <a:latin typeface="Calibri"/>
                <a:cs typeface="Calibri"/>
              </a:rPr>
              <a:t> </a:t>
            </a:r>
            <a:r>
              <a:rPr sz="1550" b="1" i="1" dirty="0">
                <a:latin typeface="Calibri"/>
                <a:cs typeface="Calibri"/>
              </a:rPr>
              <a:t>aspects</a:t>
            </a:r>
            <a:r>
              <a:rPr sz="1550" b="1" i="1" spc="60" dirty="0"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sz="1550" b="1" i="1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sz="1550" b="1" i="1" spc="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review</a:t>
            </a:r>
            <a:r>
              <a:rPr sz="1550" b="1" i="1" spc="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dirty="0">
                <a:solidFill>
                  <a:srgbClr val="7E7E7E"/>
                </a:solidFill>
                <a:latin typeface="Calibri"/>
                <a:cs typeface="Calibri"/>
              </a:rPr>
              <a:t>writing</a:t>
            </a:r>
            <a:r>
              <a:rPr sz="1550" b="1" i="1" spc="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550" b="1" i="1" spc="-10" dirty="0">
                <a:solidFill>
                  <a:srgbClr val="7E7E7E"/>
                </a:solidFill>
                <a:latin typeface="Calibri"/>
                <a:cs typeface="Calibri"/>
              </a:rPr>
              <a:t>process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775192" y="1778507"/>
            <a:ext cx="114300" cy="60960"/>
          </a:xfrm>
          <a:custGeom>
            <a:avLst/>
            <a:gdLst/>
            <a:ahLst/>
            <a:cxnLst/>
            <a:rect l="l" t="t" r="r" b="b"/>
            <a:pathLst>
              <a:path w="114300" h="60960">
                <a:moveTo>
                  <a:pt x="60959" y="4572"/>
                </a:moveTo>
                <a:lnTo>
                  <a:pt x="45005" y="5143"/>
                </a:lnTo>
                <a:lnTo>
                  <a:pt x="29336" y="4572"/>
                </a:lnTo>
                <a:lnTo>
                  <a:pt x="14239" y="2857"/>
                </a:lnTo>
                <a:lnTo>
                  <a:pt x="0" y="0"/>
                </a:lnTo>
              </a:path>
              <a:path w="114300" h="60960">
                <a:moveTo>
                  <a:pt x="114299" y="59436"/>
                </a:moveTo>
                <a:lnTo>
                  <a:pt x="108323" y="60317"/>
                </a:lnTo>
                <a:lnTo>
                  <a:pt x="101917" y="60769"/>
                </a:lnTo>
                <a:lnTo>
                  <a:pt x="95226" y="60936"/>
                </a:lnTo>
                <a:lnTo>
                  <a:pt x="88391" y="6096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04376" y="1853183"/>
            <a:ext cx="15240" cy="10795"/>
          </a:xfrm>
          <a:custGeom>
            <a:avLst/>
            <a:gdLst/>
            <a:ahLst/>
            <a:cxnLst/>
            <a:rect l="l" t="t" r="r" b="b"/>
            <a:pathLst>
              <a:path w="15240" h="10794">
                <a:moveTo>
                  <a:pt x="15239" y="10668"/>
                </a:moveTo>
                <a:lnTo>
                  <a:pt x="9144" y="7620"/>
                </a:lnTo>
                <a:lnTo>
                  <a:pt x="3047" y="3048"/>
                </a:lnTo>
                <a:lnTo>
                  <a:pt x="0" y="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10700" y="1836419"/>
            <a:ext cx="6350" cy="12700"/>
          </a:xfrm>
          <a:custGeom>
            <a:avLst/>
            <a:gdLst/>
            <a:ahLst/>
            <a:cxnLst/>
            <a:rect l="l" t="t" r="r" b="b"/>
            <a:pathLst>
              <a:path w="6350" h="12700">
                <a:moveTo>
                  <a:pt x="6095" y="0"/>
                </a:moveTo>
                <a:lnTo>
                  <a:pt x="4571" y="4572"/>
                </a:lnTo>
                <a:lnTo>
                  <a:pt x="3047" y="7620"/>
                </a:lnTo>
                <a:lnTo>
                  <a:pt x="0" y="12192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543288" y="1763267"/>
            <a:ext cx="79375" cy="44450"/>
          </a:xfrm>
          <a:custGeom>
            <a:avLst/>
            <a:gdLst/>
            <a:ahLst/>
            <a:cxnLst/>
            <a:rect l="l" t="t" r="r" b="b"/>
            <a:pathLst>
              <a:path w="79375" h="44450">
                <a:moveTo>
                  <a:pt x="0" y="0"/>
                </a:moveTo>
                <a:lnTo>
                  <a:pt x="32956" y="8191"/>
                </a:lnTo>
                <a:lnTo>
                  <a:pt x="57912" y="18669"/>
                </a:lnTo>
                <a:lnTo>
                  <a:pt x="73723" y="30861"/>
                </a:lnTo>
                <a:lnTo>
                  <a:pt x="79247" y="44196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694164" y="1716023"/>
            <a:ext cx="33655" cy="17145"/>
          </a:xfrm>
          <a:custGeom>
            <a:avLst/>
            <a:gdLst/>
            <a:ahLst/>
            <a:cxnLst/>
            <a:rect l="l" t="t" r="r" b="b"/>
            <a:pathLst>
              <a:path w="33654" h="17144">
                <a:moveTo>
                  <a:pt x="33527" y="0"/>
                </a:moveTo>
                <a:lnTo>
                  <a:pt x="27003" y="5191"/>
                </a:lnTo>
                <a:lnTo>
                  <a:pt x="19049" y="9524"/>
                </a:lnTo>
                <a:lnTo>
                  <a:pt x="9953" y="13287"/>
                </a:lnTo>
                <a:lnTo>
                  <a:pt x="0" y="16763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817864" y="1709927"/>
            <a:ext cx="5080" cy="9525"/>
          </a:xfrm>
          <a:custGeom>
            <a:avLst/>
            <a:gdLst/>
            <a:ahLst/>
            <a:cxnLst/>
            <a:rect l="l" t="t" r="r" b="b"/>
            <a:pathLst>
              <a:path w="5079" h="9525">
                <a:moveTo>
                  <a:pt x="4572" y="9143"/>
                </a:moveTo>
                <a:lnTo>
                  <a:pt x="3048" y="6095"/>
                </a:lnTo>
                <a:lnTo>
                  <a:pt x="0" y="3047"/>
                </a:lnTo>
                <a:lnTo>
                  <a:pt x="0" y="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872728" y="2732531"/>
            <a:ext cx="116205" cy="60960"/>
          </a:xfrm>
          <a:custGeom>
            <a:avLst/>
            <a:gdLst/>
            <a:ahLst/>
            <a:cxnLst/>
            <a:rect l="l" t="t" r="r" b="b"/>
            <a:pathLst>
              <a:path w="116204" h="60960">
                <a:moveTo>
                  <a:pt x="60959" y="4572"/>
                </a:moveTo>
                <a:lnTo>
                  <a:pt x="45005" y="4286"/>
                </a:lnTo>
                <a:lnTo>
                  <a:pt x="29336" y="3429"/>
                </a:lnTo>
                <a:lnTo>
                  <a:pt x="14239" y="2000"/>
                </a:lnTo>
                <a:lnTo>
                  <a:pt x="0" y="0"/>
                </a:lnTo>
              </a:path>
              <a:path w="116204" h="60960">
                <a:moveTo>
                  <a:pt x="115823" y="57912"/>
                </a:moveTo>
                <a:lnTo>
                  <a:pt x="108965" y="59031"/>
                </a:lnTo>
                <a:lnTo>
                  <a:pt x="102107" y="60007"/>
                </a:lnTo>
                <a:lnTo>
                  <a:pt x="95249" y="60698"/>
                </a:lnTo>
                <a:lnTo>
                  <a:pt x="88391" y="6096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01911" y="2805683"/>
            <a:ext cx="15240" cy="10795"/>
          </a:xfrm>
          <a:custGeom>
            <a:avLst/>
            <a:gdLst/>
            <a:ahLst/>
            <a:cxnLst/>
            <a:rect l="l" t="t" r="r" b="b"/>
            <a:pathLst>
              <a:path w="15240" h="10794">
                <a:moveTo>
                  <a:pt x="15239" y="10668"/>
                </a:moveTo>
                <a:lnTo>
                  <a:pt x="9144" y="7620"/>
                </a:lnTo>
                <a:lnTo>
                  <a:pt x="3047" y="4572"/>
                </a:lnTo>
                <a:lnTo>
                  <a:pt x="0" y="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508235" y="2790443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4">
                <a:moveTo>
                  <a:pt x="6095" y="0"/>
                </a:moveTo>
                <a:lnTo>
                  <a:pt x="4571" y="3048"/>
                </a:lnTo>
                <a:lnTo>
                  <a:pt x="3047" y="7620"/>
                </a:lnTo>
                <a:lnTo>
                  <a:pt x="0" y="10668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642347" y="2609087"/>
            <a:ext cx="184785" cy="152400"/>
          </a:xfrm>
          <a:custGeom>
            <a:avLst/>
            <a:gdLst/>
            <a:ahLst/>
            <a:cxnLst/>
            <a:rect l="l" t="t" r="r" b="b"/>
            <a:pathLst>
              <a:path w="184784" h="152400">
                <a:moveTo>
                  <a:pt x="0" y="108203"/>
                </a:moveTo>
                <a:lnTo>
                  <a:pt x="32075" y="115752"/>
                </a:lnTo>
                <a:lnTo>
                  <a:pt x="56578" y="126301"/>
                </a:lnTo>
                <a:lnTo>
                  <a:pt x="72223" y="138850"/>
                </a:lnTo>
                <a:lnTo>
                  <a:pt x="77723" y="152399"/>
                </a:lnTo>
              </a:path>
              <a:path w="184784" h="152400">
                <a:moveTo>
                  <a:pt x="184403" y="60959"/>
                </a:moveTo>
                <a:lnTo>
                  <a:pt x="177212" y="65508"/>
                </a:lnTo>
                <a:lnTo>
                  <a:pt x="169163" y="69913"/>
                </a:lnTo>
                <a:lnTo>
                  <a:pt x="159972" y="74033"/>
                </a:lnTo>
                <a:lnTo>
                  <a:pt x="149351" y="77723"/>
                </a:lnTo>
              </a:path>
              <a:path w="184784" h="152400">
                <a:moveTo>
                  <a:pt x="100583" y="0"/>
                </a:moveTo>
                <a:lnTo>
                  <a:pt x="102108" y="1523"/>
                </a:lnTo>
                <a:lnTo>
                  <a:pt x="102108" y="4571"/>
                </a:lnTo>
                <a:lnTo>
                  <a:pt x="102108" y="7619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520428" y="2589275"/>
            <a:ext cx="18415" cy="10795"/>
          </a:xfrm>
          <a:custGeom>
            <a:avLst/>
            <a:gdLst/>
            <a:ahLst/>
            <a:cxnLst/>
            <a:rect l="l" t="t" r="r" b="b"/>
            <a:pathLst>
              <a:path w="18415" h="10794">
                <a:moveTo>
                  <a:pt x="0" y="10667"/>
                </a:moveTo>
                <a:lnTo>
                  <a:pt x="4572" y="6095"/>
                </a:lnTo>
                <a:lnTo>
                  <a:pt x="10668" y="3047"/>
                </a:lnTo>
                <a:lnTo>
                  <a:pt x="18288" y="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354311" y="2595371"/>
            <a:ext cx="7620" cy="9525"/>
          </a:xfrm>
          <a:custGeom>
            <a:avLst/>
            <a:gdLst/>
            <a:ahLst/>
            <a:cxnLst/>
            <a:rect l="l" t="t" r="r" b="b"/>
            <a:pathLst>
              <a:path w="7620" h="9525">
                <a:moveTo>
                  <a:pt x="0" y="9144"/>
                </a:moveTo>
                <a:lnTo>
                  <a:pt x="1523" y="6096"/>
                </a:lnTo>
                <a:lnTo>
                  <a:pt x="4571" y="3048"/>
                </a:lnTo>
                <a:lnTo>
                  <a:pt x="7619" y="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157716" y="2607563"/>
            <a:ext cx="32384" cy="7620"/>
          </a:xfrm>
          <a:custGeom>
            <a:avLst/>
            <a:gdLst/>
            <a:ahLst/>
            <a:cxnLst/>
            <a:rect l="l" t="t" r="r" b="b"/>
            <a:pathLst>
              <a:path w="32384" h="7619">
                <a:moveTo>
                  <a:pt x="0" y="0"/>
                </a:moveTo>
                <a:lnTo>
                  <a:pt x="8643" y="1404"/>
                </a:lnTo>
                <a:lnTo>
                  <a:pt x="16573" y="3238"/>
                </a:lnTo>
                <a:lnTo>
                  <a:pt x="24217" y="5357"/>
                </a:lnTo>
                <a:lnTo>
                  <a:pt x="32003" y="7619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915400" y="2663951"/>
            <a:ext cx="5080" cy="9525"/>
          </a:xfrm>
          <a:custGeom>
            <a:avLst/>
            <a:gdLst/>
            <a:ahLst/>
            <a:cxnLst/>
            <a:rect l="l" t="t" r="r" b="b"/>
            <a:pathLst>
              <a:path w="5079" h="9525">
                <a:moveTo>
                  <a:pt x="4572" y="9143"/>
                </a:moveTo>
                <a:lnTo>
                  <a:pt x="3048" y="6095"/>
                </a:lnTo>
                <a:lnTo>
                  <a:pt x="1524" y="3047"/>
                </a:lnTo>
                <a:lnTo>
                  <a:pt x="0" y="0"/>
                </a:lnTo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938259" y="4501896"/>
            <a:ext cx="56515" cy="6985"/>
          </a:xfrm>
          <a:custGeom>
            <a:avLst/>
            <a:gdLst/>
            <a:ahLst/>
            <a:cxnLst/>
            <a:rect l="l" t="t" r="r" b="b"/>
            <a:pathLst>
              <a:path w="56515" h="6985">
                <a:moveTo>
                  <a:pt x="56388" y="6096"/>
                </a:moveTo>
                <a:lnTo>
                  <a:pt x="41576" y="6429"/>
                </a:lnTo>
                <a:lnTo>
                  <a:pt x="27051" y="5334"/>
                </a:lnTo>
                <a:lnTo>
                  <a:pt x="13096" y="3095"/>
                </a:lnTo>
                <a:lnTo>
                  <a:pt x="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019032" y="4570476"/>
            <a:ext cx="26034" cy="3175"/>
          </a:xfrm>
          <a:custGeom>
            <a:avLst/>
            <a:gdLst/>
            <a:ahLst/>
            <a:cxnLst/>
            <a:rect l="l" t="t" r="r" b="b"/>
            <a:pathLst>
              <a:path w="26034" h="3175">
                <a:moveTo>
                  <a:pt x="25908" y="0"/>
                </a:moveTo>
                <a:lnTo>
                  <a:pt x="19931" y="1119"/>
                </a:lnTo>
                <a:lnTo>
                  <a:pt x="13525" y="2095"/>
                </a:lnTo>
                <a:lnTo>
                  <a:pt x="6834" y="2786"/>
                </a:lnTo>
                <a:lnTo>
                  <a:pt x="0" y="3048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44583" y="4588764"/>
            <a:ext cx="15240" cy="12700"/>
          </a:xfrm>
          <a:custGeom>
            <a:avLst/>
            <a:gdLst/>
            <a:ahLst/>
            <a:cxnLst/>
            <a:rect l="l" t="t" r="r" b="b"/>
            <a:pathLst>
              <a:path w="15240" h="12700">
                <a:moveTo>
                  <a:pt x="15240" y="12191"/>
                </a:moveTo>
                <a:lnTo>
                  <a:pt x="9144" y="9143"/>
                </a:lnTo>
                <a:lnTo>
                  <a:pt x="3047" y="4571"/>
                </a:lnTo>
                <a:lnTo>
                  <a:pt x="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531095" y="4570476"/>
            <a:ext cx="6350" cy="13970"/>
          </a:xfrm>
          <a:custGeom>
            <a:avLst/>
            <a:gdLst/>
            <a:ahLst/>
            <a:cxnLst/>
            <a:rect l="l" t="t" r="r" b="b"/>
            <a:pathLst>
              <a:path w="6350" h="13970">
                <a:moveTo>
                  <a:pt x="6095" y="0"/>
                </a:moveTo>
                <a:lnTo>
                  <a:pt x="4571" y="4572"/>
                </a:lnTo>
                <a:lnTo>
                  <a:pt x="3047" y="9144"/>
                </a:lnTo>
                <a:lnTo>
                  <a:pt x="0" y="13716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656064" y="4485132"/>
            <a:ext cx="73660" cy="52069"/>
          </a:xfrm>
          <a:custGeom>
            <a:avLst/>
            <a:gdLst/>
            <a:ahLst/>
            <a:cxnLst/>
            <a:rect l="l" t="t" r="r" b="b"/>
            <a:pathLst>
              <a:path w="73659" h="52070">
                <a:moveTo>
                  <a:pt x="0" y="0"/>
                </a:moveTo>
                <a:lnTo>
                  <a:pt x="30075" y="8739"/>
                </a:lnTo>
                <a:lnTo>
                  <a:pt x="53149" y="20764"/>
                </a:lnTo>
                <a:lnTo>
                  <a:pt x="67937" y="35361"/>
                </a:lnTo>
                <a:lnTo>
                  <a:pt x="73152" y="51816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796271" y="4430267"/>
            <a:ext cx="32384" cy="20320"/>
          </a:xfrm>
          <a:custGeom>
            <a:avLst/>
            <a:gdLst/>
            <a:ahLst/>
            <a:cxnLst/>
            <a:rect l="l" t="t" r="r" b="b"/>
            <a:pathLst>
              <a:path w="32384" h="20320">
                <a:moveTo>
                  <a:pt x="32003" y="0"/>
                </a:moveTo>
                <a:lnTo>
                  <a:pt x="25717" y="5453"/>
                </a:lnTo>
                <a:lnTo>
                  <a:pt x="18287" y="10477"/>
                </a:lnTo>
                <a:lnTo>
                  <a:pt x="9715" y="15216"/>
                </a:lnTo>
                <a:lnTo>
                  <a:pt x="0" y="19812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750552" y="4358640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3" y="3047"/>
                </a:lnTo>
                <a:lnTo>
                  <a:pt x="1523" y="6095"/>
                </a:lnTo>
                <a:lnTo>
                  <a:pt x="1523" y="9143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541764" y="4337303"/>
            <a:ext cx="17145" cy="10795"/>
          </a:xfrm>
          <a:custGeom>
            <a:avLst/>
            <a:gdLst/>
            <a:ahLst/>
            <a:cxnLst/>
            <a:rect l="l" t="t" r="r" b="b"/>
            <a:pathLst>
              <a:path w="17145" h="10795">
                <a:moveTo>
                  <a:pt x="0" y="10668"/>
                </a:moveTo>
                <a:lnTo>
                  <a:pt x="4571" y="7619"/>
                </a:lnTo>
                <a:lnTo>
                  <a:pt x="10668" y="3047"/>
                </a:lnTo>
                <a:lnTo>
                  <a:pt x="1676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386316" y="4343400"/>
            <a:ext cx="7620" cy="10795"/>
          </a:xfrm>
          <a:custGeom>
            <a:avLst/>
            <a:gdLst/>
            <a:ahLst/>
            <a:cxnLst/>
            <a:rect l="l" t="t" r="r" b="b"/>
            <a:pathLst>
              <a:path w="7620" h="10795">
                <a:moveTo>
                  <a:pt x="0" y="10668"/>
                </a:moveTo>
                <a:lnTo>
                  <a:pt x="1523" y="7620"/>
                </a:lnTo>
                <a:lnTo>
                  <a:pt x="4571" y="3048"/>
                </a:lnTo>
                <a:lnTo>
                  <a:pt x="7619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203435" y="4357115"/>
            <a:ext cx="29209" cy="10795"/>
          </a:xfrm>
          <a:custGeom>
            <a:avLst/>
            <a:gdLst/>
            <a:ahLst/>
            <a:cxnLst/>
            <a:rect l="l" t="t" r="r" b="b"/>
            <a:pathLst>
              <a:path w="29209" h="10795">
                <a:moveTo>
                  <a:pt x="0" y="0"/>
                </a:moveTo>
                <a:lnTo>
                  <a:pt x="7739" y="2309"/>
                </a:lnTo>
                <a:lnTo>
                  <a:pt x="15049" y="4762"/>
                </a:lnTo>
                <a:lnTo>
                  <a:pt x="22074" y="7500"/>
                </a:lnTo>
                <a:lnTo>
                  <a:pt x="28955" y="10667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976359" y="4422647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6096" y="10668"/>
                </a:moveTo>
                <a:lnTo>
                  <a:pt x="3048" y="7620"/>
                </a:lnTo>
                <a:lnTo>
                  <a:pt x="1524" y="4572"/>
                </a:lnTo>
                <a:lnTo>
                  <a:pt x="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938259" y="5076443"/>
            <a:ext cx="56515" cy="6350"/>
          </a:xfrm>
          <a:custGeom>
            <a:avLst/>
            <a:gdLst/>
            <a:ahLst/>
            <a:cxnLst/>
            <a:rect l="l" t="t" r="r" b="b"/>
            <a:pathLst>
              <a:path w="56515" h="6350">
                <a:moveTo>
                  <a:pt x="56388" y="6096"/>
                </a:moveTo>
                <a:lnTo>
                  <a:pt x="41576" y="5786"/>
                </a:lnTo>
                <a:lnTo>
                  <a:pt x="27051" y="4762"/>
                </a:lnTo>
                <a:lnTo>
                  <a:pt x="13096" y="2881"/>
                </a:lnTo>
                <a:lnTo>
                  <a:pt x="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019032" y="5145023"/>
            <a:ext cx="26034" cy="3175"/>
          </a:xfrm>
          <a:custGeom>
            <a:avLst/>
            <a:gdLst/>
            <a:ahLst/>
            <a:cxnLst/>
            <a:rect l="l" t="t" r="r" b="b"/>
            <a:pathLst>
              <a:path w="26034" h="3175">
                <a:moveTo>
                  <a:pt x="25908" y="0"/>
                </a:moveTo>
                <a:lnTo>
                  <a:pt x="19931" y="1119"/>
                </a:lnTo>
                <a:lnTo>
                  <a:pt x="13525" y="2095"/>
                </a:lnTo>
                <a:lnTo>
                  <a:pt x="6834" y="2786"/>
                </a:lnTo>
                <a:lnTo>
                  <a:pt x="0" y="3048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244583" y="5163311"/>
            <a:ext cx="15240" cy="12700"/>
          </a:xfrm>
          <a:custGeom>
            <a:avLst/>
            <a:gdLst/>
            <a:ahLst/>
            <a:cxnLst/>
            <a:rect l="l" t="t" r="r" b="b"/>
            <a:pathLst>
              <a:path w="15240" h="12700">
                <a:moveTo>
                  <a:pt x="15240" y="12191"/>
                </a:moveTo>
                <a:lnTo>
                  <a:pt x="9144" y="7619"/>
                </a:lnTo>
                <a:lnTo>
                  <a:pt x="3047" y="4571"/>
                </a:lnTo>
                <a:lnTo>
                  <a:pt x="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531095" y="5143499"/>
            <a:ext cx="6350" cy="13970"/>
          </a:xfrm>
          <a:custGeom>
            <a:avLst/>
            <a:gdLst/>
            <a:ahLst/>
            <a:cxnLst/>
            <a:rect l="l" t="t" r="r" b="b"/>
            <a:pathLst>
              <a:path w="6350" h="13970">
                <a:moveTo>
                  <a:pt x="6095" y="0"/>
                </a:moveTo>
                <a:lnTo>
                  <a:pt x="4571" y="4571"/>
                </a:lnTo>
                <a:lnTo>
                  <a:pt x="3047" y="9143"/>
                </a:lnTo>
                <a:lnTo>
                  <a:pt x="0" y="13715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656064" y="5059679"/>
            <a:ext cx="73660" cy="50800"/>
          </a:xfrm>
          <a:custGeom>
            <a:avLst/>
            <a:gdLst/>
            <a:ahLst/>
            <a:cxnLst/>
            <a:rect l="l" t="t" r="r" b="b"/>
            <a:pathLst>
              <a:path w="73659" h="50800">
                <a:moveTo>
                  <a:pt x="0" y="0"/>
                </a:moveTo>
                <a:lnTo>
                  <a:pt x="30075" y="8715"/>
                </a:lnTo>
                <a:lnTo>
                  <a:pt x="53149" y="20574"/>
                </a:lnTo>
                <a:lnTo>
                  <a:pt x="67937" y="34718"/>
                </a:lnTo>
                <a:lnTo>
                  <a:pt x="73152" y="50292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796271" y="5004815"/>
            <a:ext cx="32384" cy="18415"/>
          </a:xfrm>
          <a:custGeom>
            <a:avLst/>
            <a:gdLst/>
            <a:ahLst/>
            <a:cxnLst/>
            <a:rect l="l" t="t" r="r" b="b"/>
            <a:pathLst>
              <a:path w="32384" h="18414">
                <a:moveTo>
                  <a:pt x="32003" y="0"/>
                </a:moveTo>
                <a:lnTo>
                  <a:pt x="25717" y="5429"/>
                </a:lnTo>
                <a:lnTo>
                  <a:pt x="18287" y="10287"/>
                </a:lnTo>
                <a:lnTo>
                  <a:pt x="9715" y="14573"/>
                </a:lnTo>
                <a:lnTo>
                  <a:pt x="0" y="18288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750552" y="4933187"/>
            <a:ext cx="1905" cy="9525"/>
          </a:xfrm>
          <a:custGeom>
            <a:avLst/>
            <a:gdLst/>
            <a:ahLst/>
            <a:cxnLst/>
            <a:rect l="l" t="t" r="r" b="b"/>
            <a:pathLst>
              <a:path w="1904" h="9525">
                <a:moveTo>
                  <a:pt x="0" y="0"/>
                </a:moveTo>
                <a:lnTo>
                  <a:pt x="1523" y="3047"/>
                </a:lnTo>
                <a:lnTo>
                  <a:pt x="1523" y="6095"/>
                </a:lnTo>
                <a:lnTo>
                  <a:pt x="1523" y="9143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541764" y="4910327"/>
            <a:ext cx="17145" cy="12700"/>
          </a:xfrm>
          <a:custGeom>
            <a:avLst/>
            <a:gdLst/>
            <a:ahLst/>
            <a:cxnLst/>
            <a:rect l="l" t="t" r="r" b="b"/>
            <a:pathLst>
              <a:path w="17145" h="12700">
                <a:moveTo>
                  <a:pt x="0" y="12192"/>
                </a:moveTo>
                <a:lnTo>
                  <a:pt x="4571" y="7619"/>
                </a:lnTo>
                <a:lnTo>
                  <a:pt x="10668" y="4572"/>
                </a:lnTo>
                <a:lnTo>
                  <a:pt x="16764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386316" y="4917947"/>
            <a:ext cx="7620" cy="10795"/>
          </a:xfrm>
          <a:custGeom>
            <a:avLst/>
            <a:gdLst/>
            <a:ahLst/>
            <a:cxnLst/>
            <a:rect l="l" t="t" r="r" b="b"/>
            <a:pathLst>
              <a:path w="7620" h="10795">
                <a:moveTo>
                  <a:pt x="0" y="10668"/>
                </a:moveTo>
                <a:lnTo>
                  <a:pt x="1523" y="6096"/>
                </a:lnTo>
                <a:lnTo>
                  <a:pt x="4571" y="3048"/>
                </a:lnTo>
                <a:lnTo>
                  <a:pt x="7619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203435" y="4931663"/>
            <a:ext cx="29209" cy="9525"/>
          </a:xfrm>
          <a:custGeom>
            <a:avLst/>
            <a:gdLst/>
            <a:ahLst/>
            <a:cxnLst/>
            <a:rect l="l" t="t" r="r" b="b"/>
            <a:pathLst>
              <a:path w="29209" h="9525">
                <a:moveTo>
                  <a:pt x="0" y="0"/>
                </a:moveTo>
                <a:lnTo>
                  <a:pt x="7739" y="2285"/>
                </a:lnTo>
                <a:lnTo>
                  <a:pt x="15049" y="4571"/>
                </a:lnTo>
                <a:lnTo>
                  <a:pt x="22074" y="6857"/>
                </a:lnTo>
                <a:lnTo>
                  <a:pt x="28955" y="9143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976359" y="4997195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6096" y="10668"/>
                </a:moveTo>
                <a:lnTo>
                  <a:pt x="3048" y="7620"/>
                </a:lnTo>
                <a:lnTo>
                  <a:pt x="1524" y="3048"/>
                </a:lnTo>
                <a:lnTo>
                  <a:pt x="0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4492" y="4884100"/>
            <a:ext cx="3288791" cy="13170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1840" y="4732020"/>
            <a:ext cx="3428999" cy="18120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0094" y="4784889"/>
            <a:ext cx="2790825" cy="18948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635" marR="247015" algn="ctr">
              <a:lnSpc>
                <a:spcPct val="102099"/>
              </a:lnSpc>
              <a:spcBef>
                <a:spcPts val="90"/>
              </a:spcBef>
            </a:pPr>
            <a:r>
              <a:rPr sz="1200" b="1" dirty="0">
                <a:latin typeface="Calibri"/>
                <a:cs typeface="Calibri"/>
              </a:rPr>
              <a:t>Feature #2: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Extreme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reviews</a:t>
            </a:r>
            <a:r>
              <a:rPr sz="1200" b="1" spc="5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metric </a:t>
            </a:r>
            <a:r>
              <a:rPr sz="1200" b="1" dirty="0">
                <a:latin typeface="Calibri"/>
                <a:cs typeface="Calibri"/>
              </a:rPr>
              <a:t>Actor: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Listing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owners/users </a:t>
            </a:r>
            <a:r>
              <a:rPr sz="1200" b="1" dirty="0">
                <a:latin typeface="Calibri"/>
                <a:cs typeface="Calibri"/>
              </a:rPr>
              <a:t>Benefactor: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All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users</a:t>
            </a:r>
            <a:endParaRPr sz="1200">
              <a:latin typeface="Calibri"/>
              <a:cs typeface="Calibri"/>
            </a:endParaRPr>
          </a:p>
          <a:p>
            <a:pPr marL="12700" marR="5080" indent="635" algn="ctr">
              <a:lnSpc>
                <a:spcPct val="1022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Simple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yet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powerful,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new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metric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will </a:t>
            </a:r>
            <a:r>
              <a:rPr sz="1200" dirty="0">
                <a:latin typeface="Calibri"/>
                <a:cs typeface="Calibri"/>
              </a:rPr>
              <a:t>display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against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every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listing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change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results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case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very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good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or </a:t>
            </a:r>
            <a:r>
              <a:rPr sz="1200" dirty="0">
                <a:latin typeface="Calibri"/>
                <a:cs typeface="Calibri"/>
              </a:rPr>
              <a:t>very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bad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reviews</a:t>
            </a:r>
            <a:endParaRPr sz="1200">
              <a:latin typeface="Calibri"/>
              <a:cs typeface="Calibri"/>
            </a:endParaRPr>
          </a:p>
          <a:p>
            <a:pPr marL="36830" marR="29845" indent="-635" algn="ctr">
              <a:lnSpc>
                <a:spcPct val="102099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sorting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criteria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include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Extreme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review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cohorts,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focus </a:t>
            </a:r>
            <a:r>
              <a:rPr sz="1200" dirty="0">
                <a:latin typeface="Calibri"/>
                <a:cs typeface="Calibri"/>
              </a:rPr>
              <a:t>on/try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avoid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extreme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rated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offerings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332" y="1803882"/>
            <a:ext cx="2837180" cy="1708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7865" marR="690880" algn="ctr">
              <a:lnSpc>
                <a:spcPct val="102099"/>
              </a:lnSpc>
              <a:spcBef>
                <a:spcPts val="90"/>
              </a:spcBef>
            </a:pPr>
            <a:r>
              <a:rPr sz="1200" b="1" dirty="0">
                <a:latin typeface="Calibri"/>
                <a:cs typeface="Calibri"/>
              </a:rPr>
              <a:t>Feature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#1: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Kudos </a:t>
            </a:r>
            <a:r>
              <a:rPr sz="1200" b="1" dirty="0">
                <a:latin typeface="Calibri"/>
                <a:cs typeface="Calibri"/>
              </a:rPr>
              <a:t>Actor: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All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users </a:t>
            </a:r>
            <a:r>
              <a:rPr sz="1200" b="1" dirty="0">
                <a:latin typeface="Calibri"/>
                <a:cs typeface="Calibri"/>
              </a:rPr>
              <a:t>Benefactor: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Reviewers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ct val="102299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It’s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incentive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 the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reviewers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 keep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up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good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work.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reviewer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receive </a:t>
            </a:r>
            <a:r>
              <a:rPr sz="1200" dirty="0">
                <a:latin typeface="Calibri"/>
                <a:cs typeface="Calibri"/>
              </a:rPr>
              <a:t>Kudos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contributions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TripAdvisor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platform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accumulate </a:t>
            </a:r>
            <a:r>
              <a:rPr sz="1200" dirty="0">
                <a:latin typeface="Calibri"/>
                <a:cs typeface="Calibri"/>
              </a:rPr>
              <a:t>against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profile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later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be </a:t>
            </a:r>
            <a:r>
              <a:rPr sz="1200" dirty="0">
                <a:latin typeface="Calibri"/>
                <a:cs typeface="Calibri"/>
              </a:rPr>
              <a:t>redeemed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benefits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4492" y="1537716"/>
            <a:ext cx="3589019" cy="195071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773923" y="2077211"/>
            <a:ext cx="561340" cy="2165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873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305"/>
              </a:spcBef>
            </a:pPr>
            <a:r>
              <a:rPr sz="500" b="1" spc="-10" dirty="0">
                <a:latin typeface="Calibri"/>
                <a:cs typeface="Calibri"/>
              </a:rPr>
              <a:t>Wanderlust</a:t>
            </a:r>
            <a:endParaRPr sz="5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  <a:spcBef>
                <a:spcPts val="15"/>
              </a:spcBef>
            </a:pPr>
            <a:r>
              <a:rPr sz="350" spc="-10" dirty="0">
                <a:latin typeface="Calibri"/>
                <a:cs typeface="Calibri"/>
              </a:rPr>
              <a:t>@Wanderlust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3392" y="2710688"/>
            <a:ext cx="234315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latin typeface="Calibri"/>
                <a:cs typeface="Calibri"/>
              </a:rPr>
              <a:t>Wanderlust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75" dirty="0"/>
              <a:t> </a:t>
            </a:r>
            <a:r>
              <a:rPr dirty="0"/>
              <a:t>Feature</a:t>
            </a:r>
            <a:r>
              <a:rPr spc="-50" dirty="0"/>
              <a:t> </a:t>
            </a:r>
            <a:r>
              <a:rPr dirty="0"/>
              <a:t>additions:</a:t>
            </a:r>
            <a:r>
              <a:rPr spc="-65" dirty="0"/>
              <a:t> </a:t>
            </a:r>
            <a:r>
              <a:rPr spc="-10" dirty="0"/>
              <a:t>Reinforcing</a:t>
            </a:r>
            <a:r>
              <a:rPr spc="-3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positive</a:t>
            </a:r>
            <a:r>
              <a:rPr spc="-50" dirty="0"/>
              <a:t> </a:t>
            </a:r>
            <a:r>
              <a:rPr dirty="0"/>
              <a:t>aspects</a:t>
            </a:r>
            <a:r>
              <a:rPr spc="-5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review</a:t>
            </a:r>
            <a:r>
              <a:rPr spc="-45" dirty="0"/>
              <a:t> </a:t>
            </a:r>
            <a:r>
              <a:rPr dirty="0"/>
              <a:t>writing</a:t>
            </a:r>
            <a:r>
              <a:rPr spc="-50" dirty="0"/>
              <a:t> </a:t>
            </a:r>
            <a:r>
              <a:rPr spc="-10" dirty="0"/>
              <a:t>process</a:t>
            </a: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7203" y="1397508"/>
            <a:ext cx="3253740" cy="210007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09415" y="3572255"/>
            <a:ext cx="2769107" cy="61264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305378" y="3596164"/>
            <a:ext cx="13004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Calibri"/>
                <a:cs typeface="Calibri"/>
              </a:rPr>
              <a:t>Reviewer’s perspective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2745" y="4317037"/>
            <a:ext cx="15455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Calibri"/>
                <a:cs typeface="Calibri"/>
              </a:rPr>
              <a:t>Non-reviewer’s</a:t>
            </a:r>
            <a:r>
              <a:rPr sz="1050" b="1" spc="15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perspective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885" y="1621013"/>
            <a:ext cx="3177540" cy="4744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89305" marR="781050" algn="ctr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Calibri"/>
                <a:cs typeface="Calibri"/>
              </a:rPr>
              <a:t>Feature</a:t>
            </a:r>
            <a:r>
              <a:rPr sz="1050" b="1" dirty="0">
                <a:latin typeface="Calibri"/>
                <a:cs typeface="Calibri"/>
              </a:rPr>
              <a:t> #1:</a:t>
            </a:r>
            <a:r>
              <a:rPr sz="1050" b="1" spc="20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Interactive </a:t>
            </a:r>
            <a:r>
              <a:rPr sz="1050" b="1" spc="-20" dirty="0">
                <a:latin typeface="Calibri"/>
                <a:cs typeface="Calibri"/>
              </a:rPr>
              <a:t>forms </a:t>
            </a:r>
            <a:r>
              <a:rPr sz="1050" b="1" dirty="0">
                <a:latin typeface="Calibri"/>
                <a:cs typeface="Calibri"/>
              </a:rPr>
              <a:t>Actor:</a:t>
            </a:r>
            <a:r>
              <a:rPr sz="1050" b="1" spc="-40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Reviewers</a:t>
            </a:r>
            <a:endParaRPr sz="105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050" b="1" spc="-10" dirty="0">
                <a:latin typeface="Calibri"/>
                <a:cs typeface="Calibri"/>
              </a:rPr>
              <a:t>Benefactor:</a:t>
            </a:r>
            <a:r>
              <a:rPr sz="1050" b="1" spc="40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Reviewers/Listing</a:t>
            </a:r>
            <a:r>
              <a:rPr sz="1050" b="1" spc="15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owners</a:t>
            </a:r>
            <a:endParaRPr sz="1050">
              <a:latin typeface="Calibri"/>
              <a:cs typeface="Calibri"/>
            </a:endParaRPr>
          </a:p>
          <a:p>
            <a:pPr marL="160655" marR="27305" indent="-14859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63195" algn="l"/>
              </a:tabLst>
            </a:pPr>
            <a:r>
              <a:rPr sz="1050" dirty="0">
                <a:latin typeface="Calibri"/>
                <a:cs typeface="Calibri"/>
              </a:rPr>
              <a:t>The</a:t>
            </a:r>
            <a:r>
              <a:rPr sz="1050" spc="-10" dirty="0">
                <a:latin typeface="Calibri"/>
                <a:cs typeface="Calibri"/>
              </a:rPr>
              <a:t> triggers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 fill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forms would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notifications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and 	</a:t>
            </a:r>
            <a:r>
              <a:rPr sz="1050" spc="-10" dirty="0">
                <a:latin typeface="Calibri"/>
                <a:cs typeface="Calibri"/>
              </a:rPr>
              <a:t>e-</a:t>
            </a:r>
            <a:r>
              <a:rPr sz="1050" dirty="0">
                <a:latin typeface="Calibri"/>
                <a:cs typeface="Calibri"/>
              </a:rPr>
              <a:t>mails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that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would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appeal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helpful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aspect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of 	</a:t>
            </a:r>
            <a:r>
              <a:rPr sz="1050" dirty="0">
                <a:latin typeface="Calibri"/>
                <a:cs typeface="Calibri"/>
              </a:rPr>
              <a:t>reviewing</a:t>
            </a:r>
            <a:r>
              <a:rPr sz="1050" spc="-5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(already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happens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some </a:t>
            </a:r>
            <a:r>
              <a:rPr sz="1050" spc="-10" dirty="0">
                <a:latin typeface="Calibri"/>
                <a:cs typeface="Calibri"/>
              </a:rPr>
              <a:t>extent)</a:t>
            </a:r>
            <a:endParaRPr sz="1050">
              <a:latin typeface="Calibri"/>
              <a:cs typeface="Calibri"/>
            </a:endParaRPr>
          </a:p>
          <a:p>
            <a:pPr marL="160655" marR="547370" indent="-148590">
              <a:lnSpc>
                <a:spcPct val="100000"/>
              </a:lnSpc>
              <a:buFont typeface="Arial MT"/>
              <a:buChar char="•"/>
              <a:tabLst>
                <a:tab pos="163195" algn="l"/>
              </a:tabLst>
            </a:pPr>
            <a:r>
              <a:rPr sz="1050" dirty="0">
                <a:latin typeface="Calibri"/>
                <a:cs typeface="Calibri"/>
              </a:rPr>
              <a:t>The </a:t>
            </a:r>
            <a:r>
              <a:rPr sz="1050" spc="-10" dirty="0">
                <a:latin typeface="Calibri"/>
                <a:cs typeface="Calibri"/>
              </a:rPr>
              <a:t>feature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we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introduce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is a new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form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filling 	</a:t>
            </a:r>
            <a:r>
              <a:rPr sz="1050" dirty="0">
                <a:latin typeface="Calibri"/>
                <a:cs typeface="Calibri"/>
              </a:rPr>
              <a:t>experience</a:t>
            </a:r>
            <a:r>
              <a:rPr sz="1050" spc="-5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which:</a:t>
            </a:r>
            <a:endParaRPr sz="1050">
              <a:latin typeface="Calibri"/>
              <a:cs typeface="Calibri"/>
            </a:endParaRPr>
          </a:p>
          <a:p>
            <a:pPr marL="561340" marR="5080" lvl="1" indent="-14859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563880" algn="l"/>
              </a:tabLst>
            </a:pPr>
            <a:r>
              <a:rPr sz="1050" dirty="0">
                <a:latin typeface="Calibri"/>
                <a:cs typeface="Calibri"/>
              </a:rPr>
              <a:t>Presents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one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question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at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time, so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user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not 	</a:t>
            </a:r>
            <a:r>
              <a:rPr sz="1050" dirty="0">
                <a:latin typeface="Calibri"/>
                <a:cs typeface="Calibri"/>
              </a:rPr>
              <a:t>overwhelmed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or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bored.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Displays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progress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the 	</a:t>
            </a:r>
            <a:r>
              <a:rPr sz="1050" dirty="0">
                <a:latin typeface="Calibri"/>
                <a:cs typeface="Calibri"/>
              </a:rPr>
              <a:t>review</a:t>
            </a:r>
            <a:r>
              <a:rPr sz="1050" spc="-4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process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at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same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20" dirty="0">
                <a:latin typeface="Calibri"/>
                <a:cs typeface="Calibri"/>
              </a:rPr>
              <a:t>time</a:t>
            </a:r>
            <a:endParaRPr sz="1050">
              <a:latin typeface="Calibri"/>
              <a:cs typeface="Calibri"/>
            </a:endParaRPr>
          </a:p>
          <a:p>
            <a:pPr marL="561340" marR="229235" lvl="1" indent="-148590">
              <a:lnSpc>
                <a:spcPct val="100000"/>
              </a:lnSpc>
              <a:buFont typeface="Arial MT"/>
              <a:buChar char="•"/>
              <a:tabLst>
                <a:tab pos="563880" algn="l"/>
              </a:tabLst>
            </a:pPr>
            <a:r>
              <a:rPr sz="1050" spc="-10" dirty="0">
                <a:latin typeface="Calibri"/>
                <a:cs typeface="Calibri"/>
              </a:rPr>
              <a:t>Would interact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with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 user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on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 basis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of 	</a:t>
            </a:r>
            <a:r>
              <a:rPr sz="1050" dirty="0">
                <a:latin typeface="Calibri"/>
                <a:cs typeface="Calibri"/>
              </a:rPr>
              <a:t>their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responses</a:t>
            </a:r>
            <a:endParaRPr sz="1050">
              <a:latin typeface="Calibri"/>
              <a:cs typeface="Calibri"/>
            </a:endParaRPr>
          </a:p>
          <a:p>
            <a:pPr marL="561340" marR="270510" lvl="1" indent="-14859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563880" algn="l"/>
              </a:tabLst>
            </a:pPr>
            <a:r>
              <a:rPr sz="1050" dirty="0">
                <a:latin typeface="Calibri"/>
                <a:cs typeface="Calibri"/>
              </a:rPr>
              <a:t>Has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background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pictures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 property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to 	</a:t>
            </a:r>
            <a:r>
              <a:rPr sz="1050" dirty="0">
                <a:latin typeface="Calibri"/>
                <a:cs typeface="Calibri"/>
              </a:rPr>
              <a:t>induce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nostalgia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50">
              <a:latin typeface="Calibri"/>
              <a:cs typeface="Calibri"/>
            </a:endParaRPr>
          </a:p>
          <a:p>
            <a:pPr marL="897890" marR="706120" algn="ctr">
              <a:lnSpc>
                <a:spcPct val="100000"/>
              </a:lnSpc>
            </a:pPr>
            <a:r>
              <a:rPr sz="1050" b="1" spc="-10" dirty="0">
                <a:latin typeface="Calibri"/>
                <a:cs typeface="Calibri"/>
              </a:rPr>
              <a:t>Feature</a:t>
            </a:r>
            <a:r>
              <a:rPr sz="1050" b="1" spc="-25" dirty="0">
                <a:latin typeface="Calibri"/>
                <a:cs typeface="Calibri"/>
              </a:rPr>
              <a:t> </a:t>
            </a:r>
            <a:r>
              <a:rPr sz="1050" b="1" dirty="0">
                <a:latin typeface="Calibri"/>
                <a:cs typeface="Calibri"/>
              </a:rPr>
              <a:t>#2:</a:t>
            </a:r>
            <a:r>
              <a:rPr sz="1050" b="1" spc="-5" dirty="0">
                <a:latin typeface="Calibri"/>
                <a:cs typeface="Calibri"/>
              </a:rPr>
              <a:t> </a:t>
            </a:r>
            <a:r>
              <a:rPr sz="1050" b="1" dirty="0">
                <a:latin typeface="Calibri"/>
                <a:cs typeface="Calibri"/>
              </a:rPr>
              <a:t>Indirect </a:t>
            </a:r>
            <a:r>
              <a:rPr sz="1050" b="1" spc="-10" dirty="0">
                <a:latin typeface="Calibri"/>
                <a:cs typeface="Calibri"/>
              </a:rPr>
              <a:t>benefits </a:t>
            </a:r>
            <a:r>
              <a:rPr sz="1050" b="1" dirty="0">
                <a:latin typeface="Calibri"/>
                <a:cs typeface="Calibri"/>
              </a:rPr>
              <a:t>Actor:</a:t>
            </a:r>
            <a:r>
              <a:rPr sz="1050" b="1" spc="-40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Reviewers</a:t>
            </a:r>
            <a:r>
              <a:rPr sz="1050" b="1" spc="500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Benefactor:</a:t>
            </a:r>
            <a:r>
              <a:rPr sz="1050" b="1" spc="30" dirty="0">
                <a:latin typeface="Calibri"/>
                <a:cs typeface="Calibri"/>
              </a:rPr>
              <a:t> </a:t>
            </a:r>
            <a:r>
              <a:rPr sz="1050" b="1" spc="-10" dirty="0">
                <a:latin typeface="Calibri"/>
                <a:cs typeface="Calibri"/>
              </a:rPr>
              <a:t>Reviewers</a:t>
            </a:r>
            <a:endParaRPr sz="1050">
              <a:latin typeface="Calibri"/>
              <a:cs typeface="Calibri"/>
            </a:endParaRPr>
          </a:p>
          <a:p>
            <a:pPr marL="193675" marR="136525">
              <a:lnSpc>
                <a:spcPct val="100000"/>
              </a:lnSpc>
              <a:spcBef>
                <a:spcPts val="10"/>
              </a:spcBef>
            </a:pPr>
            <a:r>
              <a:rPr sz="1050" dirty="0">
                <a:latin typeface="Calibri"/>
                <a:cs typeface="Calibri"/>
              </a:rPr>
              <a:t>The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platform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already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has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progressive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levels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of </a:t>
            </a:r>
            <a:r>
              <a:rPr sz="1050" dirty="0">
                <a:latin typeface="Calibri"/>
                <a:cs typeface="Calibri"/>
              </a:rPr>
              <a:t>contribution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recognition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for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reviewers.</a:t>
            </a:r>
            <a:r>
              <a:rPr sz="1050" spc="-4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It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can</a:t>
            </a:r>
            <a:r>
              <a:rPr sz="1050" spc="-10" dirty="0">
                <a:latin typeface="Calibri"/>
                <a:cs typeface="Calibri"/>
              </a:rPr>
              <a:t> further </a:t>
            </a:r>
            <a:r>
              <a:rPr sz="1050" dirty="0">
                <a:latin typeface="Calibri"/>
                <a:cs typeface="Calibri"/>
              </a:rPr>
              <a:t>be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tied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</a:t>
            </a:r>
            <a:r>
              <a:rPr sz="1050" spc="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indirect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benefits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like </a:t>
            </a:r>
            <a:r>
              <a:rPr sz="1050" spc="-10" dirty="0">
                <a:latin typeface="Calibri"/>
                <a:cs typeface="Calibri"/>
              </a:rPr>
              <a:t>vouchers,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discounts, </a:t>
            </a:r>
            <a:r>
              <a:rPr sz="1050" spc="-20" dirty="0">
                <a:latin typeface="Calibri"/>
                <a:cs typeface="Calibri"/>
              </a:rPr>
              <a:t>etc.</a:t>
            </a:r>
            <a:endParaRPr sz="1050">
              <a:latin typeface="Calibri"/>
              <a:cs typeface="Calibri"/>
            </a:endParaRPr>
          </a:p>
          <a:p>
            <a:pPr marL="342265" marR="60960" indent="-148590">
              <a:lnSpc>
                <a:spcPts val="1270"/>
              </a:lnSpc>
              <a:spcBef>
                <a:spcPts val="35"/>
              </a:spcBef>
              <a:buFont typeface="Arial MT"/>
              <a:buChar char="•"/>
              <a:tabLst>
                <a:tab pos="344805" algn="l"/>
              </a:tabLst>
            </a:pPr>
            <a:r>
              <a:rPr sz="1050" dirty="0">
                <a:latin typeface="Calibri"/>
                <a:cs typeface="Calibri"/>
              </a:rPr>
              <a:t>Point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allocation can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take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place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on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basis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20" dirty="0">
                <a:latin typeface="Calibri"/>
                <a:cs typeface="Calibri"/>
              </a:rPr>
              <a:t>fixed 	</a:t>
            </a:r>
            <a:r>
              <a:rPr sz="1050" spc="-10" dirty="0">
                <a:latin typeface="Calibri"/>
                <a:cs typeface="Calibri"/>
              </a:rPr>
              <a:t>criteria</a:t>
            </a:r>
            <a:endParaRPr sz="1050">
              <a:latin typeface="Calibri"/>
              <a:cs typeface="Calibri"/>
            </a:endParaRPr>
          </a:p>
          <a:p>
            <a:pPr marL="342265" marR="111760" indent="-148590">
              <a:lnSpc>
                <a:spcPts val="1260"/>
              </a:lnSpc>
              <a:buFont typeface="Arial MT"/>
              <a:buChar char="•"/>
              <a:tabLst>
                <a:tab pos="344805" algn="l"/>
              </a:tabLst>
            </a:pPr>
            <a:r>
              <a:rPr sz="1050" dirty="0">
                <a:latin typeface="Calibri"/>
                <a:cs typeface="Calibri"/>
              </a:rPr>
              <a:t>The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number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kudos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received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can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also </a:t>
            </a:r>
            <a:r>
              <a:rPr sz="1050" spc="-10" dirty="0">
                <a:latin typeface="Calibri"/>
                <a:cs typeface="Calibri"/>
              </a:rPr>
              <a:t>contribute 	</a:t>
            </a:r>
            <a:r>
              <a:rPr sz="1050" dirty="0">
                <a:latin typeface="Calibri"/>
                <a:cs typeface="Calibri"/>
              </a:rPr>
              <a:t>to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points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that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1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reviewer</a:t>
            </a:r>
            <a:r>
              <a:rPr sz="1050" spc="-5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can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redeem</a:t>
            </a:r>
            <a:endParaRPr sz="1050">
              <a:latin typeface="Calibri"/>
              <a:cs typeface="Calibri"/>
            </a:endParaRPr>
          </a:p>
          <a:p>
            <a:pPr marL="342265" indent="-148590">
              <a:lnSpc>
                <a:spcPts val="1220"/>
              </a:lnSpc>
              <a:buFont typeface="Arial MT"/>
              <a:buChar char="•"/>
              <a:tabLst>
                <a:tab pos="342265" algn="l"/>
              </a:tabLst>
            </a:pPr>
            <a:r>
              <a:rPr sz="1050" dirty="0">
                <a:latin typeface="Calibri"/>
                <a:cs typeface="Calibri"/>
              </a:rPr>
              <a:t>All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this</a:t>
            </a:r>
            <a:r>
              <a:rPr sz="1050" spc="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will</a:t>
            </a:r>
            <a:r>
              <a:rPr sz="1050" spc="2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incentivize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review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writing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6423" y="4023359"/>
            <a:ext cx="4094988" cy="23987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75" dirty="0"/>
              <a:t> </a:t>
            </a:r>
            <a:r>
              <a:rPr dirty="0"/>
              <a:t>Feature</a:t>
            </a:r>
            <a:r>
              <a:rPr spc="-50" dirty="0"/>
              <a:t> </a:t>
            </a:r>
            <a:r>
              <a:rPr dirty="0"/>
              <a:t>additions:</a:t>
            </a:r>
            <a:r>
              <a:rPr spc="-65" dirty="0"/>
              <a:t> </a:t>
            </a:r>
            <a:r>
              <a:rPr spc="-10" dirty="0"/>
              <a:t>Overcoming</a:t>
            </a:r>
            <a:r>
              <a:rPr spc="-5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negative</a:t>
            </a:r>
            <a:r>
              <a:rPr spc="-30" dirty="0"/>
              <a:t> </a:t>
            </a:r>
            <a:r>
              <a:rPr dirty="0"/>
              <a:t>aspects</a:t>
            </a:r>
            <a:r>
              <a:rPr spc="-5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review</a:t>
            </a:r>
            <a:r>
              <a:rPr spc="-20" dirty="0"/>
              <a:t> </a:t>
            </a:r>
            <a:r>
              <a:rPr dirty="0"/>
              <a:t>writing</a:t>
            </a:r>
            <a:r>
              <a:rPr spc="-50" dirty="0"/>
              <a:t> </a:t>
            </a:r>
            <a:r>
              <a:rPr spc="-10" dirty="0"/>
              <a:t>process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5972" y="1616963"/>
            <a:ext cx="3377183" cy="20802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75932" y="1616963"/>
            <a:ext cx="3435096" cy="2069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1377" y="778282"/>
            <a:ext cx="34677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spc="-50" dirty="0"/>
              <a:t> </a:t>
            </a:r>
            <a:r>
              <a:rPr dirty="0"/>
              <a:t>Success</a:t>
            </a:r>
            <a:r>
              <a:rPr spc="-25" dirty="0"/>
              <a:t> </a:t>
            </a:r>
            <a:r>
              <a:rPr dirty="0"/>
              <a:t>metrics</a:t>
            </a:r>
            <a:r>
              <a:rPr spc="-2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spc="-10" dirty="0"/>
              <a:t>tracked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19" y="1554480"/>
            <a:ext cx="7446263" cy="868679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9486" y="1549145"/>
          <a:ext cx="7533640" cy="5192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Metrics</a:t>
                      </a:r>
                      <a:r>
                        <a:rPr sz="950" b="1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9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95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tracked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Summary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could</a:t>
                      </a:r>
                      <a:r>
                        <a:rPr sz="95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go wrong</a:t>
                      </a:r>
                      <a:r>
                        <a:rPr sz="9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95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95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solution?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58140" marR="224790" indent="-127000">
                        <a:lnSpc>
                          <a:spcPct val="102099"/>
                        </a:lnSpc>
                      </a:pPr>
                      <a:r>
                        <a:rPr sz="950" b="1" spc="-10" dirty="0">
                          <a:latin typeface="Calibri"/>
                          <a:cs typeface="Calibri"/>
                        </a:rPr>
                        <a:t>Interactive forms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87680" marR="226060" indent="-254635">
                        <a:lnSpc>
                          <a:spcPct val="102099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 questions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answered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bounce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 marR="136525" indent="1905" algn="ctr">
                        <a:lnSpc>
                          <a:spcPct val="101600"/>
                        </a:lnSpc>
                        <a:spcBef>
                          <a:spcPts val="72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this metric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portray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that the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finding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review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process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interesting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 marR="117475" indent="-635" algn="ctr">
                        <a:lnSpc>
                          <a:spcPct val="102200"/>
                        </a:lnSpc>
                        <a:spcBef>
                          <a:spcPts val="25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picture</a:t>
                      </a:r>
                      <a:r>
                        <a:rPr sz="9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display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9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9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incite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negative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emotions</a:t>
                      </a:r>
                      <a:r>
                        <a:rPr sz="9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9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9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extent</a:t>
                      </a:r>
                      <a:r>
                        <a:rPr sz="9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9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9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9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bounce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off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process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dirty="0">
                          <a:latin typeface="Calibri"/>
                          <a:cs typeface="Calibri"/>
                        </a:rPr>
                        <a:t>Indirect</a:t>
                      </a:r>
                      <a:r>
                        <a:rPr sz="95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benefits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7320" marR="140335" indent="-1905" algn="ctr">
                        <a:lnSpc>
                          <a:spcPct val="101600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# of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users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redeeming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benefits/Number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winning benefits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115570" marR="108585" indent="-2540" algn="ctr">
                        <a:lnSpc>
                          <a:spcPct val="101600"/>
                        </a:lnSpc>
                        <a:spcBef>
                          <a:spcPts val="244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Since,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we will provide benefits through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tie-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ups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third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party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providers,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keep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track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percentage of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benefits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actually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redeemed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hence,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useful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our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users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4775" marR="100330" indent="635" algn="ctr">
                        <a:lnSpc>
                          <a:spcPct val="102200"/>
                        </a:lnSpc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Reviewers</a:t>
                      </a:r>
                      <a:r>
                        <a:rPr sz="9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9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resort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writing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ingenuine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just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win</a:t>
                      </a:r>
                      <a:r>
                        <a:rPr sz="9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prizes.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stricter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background</a:t>
                      </a:r>
                      <a:r>
                        <a:rPr sz="9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9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9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latin typeface="Calibri"/>
                          <a:cs typeface="Calibri"/>
                        </a:rPr>
                        <a:t>validate</a:t>
                      </a:r>
                      <a:r>
                        <a:rPr sz="9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latin typeface="Calibri"/>
                          <a:cs typeface="Calibri"/>
                        </a:rPr>
                        <a:t>reviews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3100" marR="235585" indent="-429895">
                        <a:lnSpc>
                          <a:spcPct val="102099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CTR on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Redeem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benefits section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discovery</a:t>
                      </a:r>
                      <a:r>
                        <a:rPr sz="9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feature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b="1" spc="-10" dirty="0">
                          <a:latin typeface="Calibri"/>
                          <a:cs typeface="Calibri"/>
                        </a:rPr>
                        <a:t>Kudos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giving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kudos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adoption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feature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12395" marR="107950" algn="ctr">
                        <a:lnSpc>
                          <a:spcPct val="101600"/>
                        </a:lnSpc>
                        <a:spcBef>
                          <a:spcPts val="244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Reviewers</a:t>
                      </a:r>
                      <a:r>
                        <a:rPr sz="9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collect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friends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families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 win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benefits.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checks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prevent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this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are: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375920" indent="-149225"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Arial MT"/>
                        <a:buChar char="•"/>
                        <a:tabLst>
                          <a:tab pos="375920" algn="l"/>
                        </a:tabLst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Point value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kept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low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342900" marR="187960" indent="-128270">
                        <a:lnSpc>
                          <a:spcPct val="101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42900" algn="l"/>
                          <a:tab pos="363855" algn="l"/>
                        </a:tabLst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	Kudos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redemption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vetted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review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activities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the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0407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950" spc="-10" dirty="0">
                          <a:latin typeface="Calibri"/>
                          <a:cs typeface="Calibri"/>
                        </a:rPr>
                        <a:t>platform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3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86715" marR="262890" indent="-116205">
                        <a:lnSpc>
                          <a:spcPct val="102099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# of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kudos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received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reviewer</a:t>
                      </a:r>
                      <a:r>
                        <a:rPr sz="9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week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60020" marR="153670" indent="2540">
                        <a:lnSpc>
                          <a:spcPct val="102099"/>
                        </a:lnSpc>
                        <a:spcBef>
                          <a:spcPts val="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reviewer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working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9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objective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9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Kudos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342900" marR="75565" indent="-260985">
                        <a:lnSpc>
                          <a:spcPct val="102099"/>
                        </a:lnSpc>
                        <a:spcBef>
                          <a:spcPts val="815"/>
                        </a:spcBef>
                      </a:pPr>
                      <a:r>
                        <a:rPr sz="950" b="1" dirty="0">
                          <a:latin typeface="Calibri"/>
                          <a:cs typeface="Calibri"/>
                        </a:rPr>
                        <a:t>Extreme</a:t>
                      </a:r>
                      <a:r>
                        <a:rPr sz="95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reviews metric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5885" algn="ctr">
                        <a:lnSpc>
                          <a:spcPct val="101600"/>
                        </a:lnSpc>
                        <a:spcBef>
                          <a:spcPts val="244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change in extreme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(1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star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and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star)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9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listed offering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178435" indent="33020">
                        <a:lnSpc>
                          <a:spcPct val="102099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Abnormal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users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resorting to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ingenuine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reviews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8265" marR="84455" algn="ctr">
                        <a:lnSpc>
                          <a:spcPct val="101800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Could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lead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 ingenuine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reviews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just to promote/demote one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listing.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need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stricter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background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validate</a:t>
                      </a:r>
                      <a:r>
                        <a:rPr sz="9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reviews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72745" marR="138430" indent="-228600">
                        <a:lnSpc>
                          <a:spcPct val="102099"/>
                        </a:lnSpc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change in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owners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replying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extreme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reviews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130175" indent="-635" algn="ctr">
                        <a:lnSpc>
                          <a:spcPct val="101800"/>
                        </a:lnSpc>
                        <a:spcBef>
                          <a:spcPts val="240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this feature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helping/motivating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the offering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owners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drill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down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take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extreme reviews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105410" algn="ctr">
                        <a:lnSpc>
                          <a:spcPct val="101600"/>
                        </a:lnSpc>
                        <a:spcBef>
                          <a:spcPts val="244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extreme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reviews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used</a:t>
                      </a:r>
                      <a:r>
                        <a:rPr sz="9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as sorting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criteria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listings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511809" marR="75565" indent="-431800">
                        <a:lnSpc>
                          <a:spcPct val="102099"/>
                        </a:lnSpc>
                        <a:spcBef>
                          <a:spcPts val="815"/>
                        </a:spcBef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indicate</a:t>
                      </a:r>
                      <a:r>
                        <a:rPr sz="9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discovery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success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 feature</a:t>
                      </a:r>
                      <a:r>
                        <a:rPr sz="9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9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sorting</a:t>
                      </a:r>
                      <a:r>
                        <a:rPr sz="9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criteria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06691" y="1244597"/>
            <a:ext cx="195326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Calibri"/>
                <a:cs typeface="Calibri"/>
              </a:rPr>
              <a:t>Feature</a:t>
            </a:r>
            <a:r>
              <a:rPr sz="1550" spc="40" dirty="0">
                <a:latin typeface="Calibri"/>
                <a:cs typeface="Calibri"/>
              </a:rPr>
              <a:t> </a:t>
            </a:r>
            <a:r>
              <a:rPr sz="1550" dirty="0">
                <a:latin typeface="Calibri"/>
                <a:cs typeface="Calibri"/>
              </a:rPr>
              <a:t>specific</a:t>
            </a:r>
            <a:r>
              <a:rPr sz="1550" spc="5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metrics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3172" y="3260890"/>
            <a:ext cx="15748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latin typeface="Calibri"/>
                <a:cs typeface="Calibri"/>
              </a:rPr>
              <a:t>Supporting</a:t>
            </a:r>
            <a:r>
              <a:rPr sz="1550" spc="110" dirty="0">
                <a:latin typeface="Calibri"/>
                <a:cs typeface="Calibri"/>
              </a:rPr>
              <a:t> </a:t>
            </a:r>
            <a:r>
              <a:rPr sz="1550" spc="-10" dirty="0">
                <a:latin typeface="Calibri"/>
                <a:cs typeface="Calibri"/>
              </a:rPr>
              <a:t>metrics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163305" y="3566159"/>
            <a:ext cx="2299335" cy="1294765"/>
            <a:chOff x="8163305" y="3566159"/>
            <a:chExt cx="2299335" cy="12947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8639" y="3572255"/>
              <a:ext cx="2287524" cy="12832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164067" y="3566159"/>
              <a:ext cx="2298700" cy="1294130"/>
            </a:xfrm>
            <a:custGeom>
              <a:avLst/>
              <a:gdLst/>
              <a:ahLst/>
              <a:cxnLst/>
              <a:rect l="l" t="t" r="r" b="b"/>
              <a:pathLst>
                <a:path w="2298700" h="1294129">
                  <a:moveTo>
                    <a:pt x="1149096" y="0"/>
                  </a:moveTo>
                  <a:lnTo>
                    <a:pt x="1149096" y="1293875"/>
                  </a:lnTo>
                </a:path>
                <a:path w="2298700" h="1294129">
                  <a:moveTo>
                    <a:pt x="0" y="835151"/>
                  </a:moveTo>
                  <a:lnTo>
                    <a:pt x="2298192" y="835151"/>
                  </a:lnTo>
                </a:path>
                <a:path w="2298700" h="1294129">
                  <a:moveTo>
                    <a:pt x="4571" y="0"/>
                  </a:moveTo>
                  <a:lnTo>
                    <a:pt x="4571" y="1293875"/>
                  </a:lnTo>
                </a:path>
                <a:path w="2298700" h="1294129">
                  <a:moveTo>
                    <a:pt x="2292096" y="0"/>
                  </a:moveTo>
                  <a:lnTo>
                    <a:pt x="2292096" y="1293875"/>
                  </a:lnTo>
                </a:path>
                <a:path w="2298700" h="1294129">
                  <a:moveTo>
                    <a:pt x="0" y="6096"/>
                  </a:moveTo>
                  <a:lnTo>
                    <a:pt x="2298192" y="6096"/>
                  </a:lnTo>
                </a:path>
                <a:path w="2298700" h="1294129">
                  <a:moveTo>
                    <a:pt x="0" y="1289304"/>
                  </a:moveTo>
                  <a:lnTo>
                    <a:pt x="2298192" y="1289304"/>
                  </a:lnTo>
                </a:path>
              </a:pathLst>
            </a:custGeom>
            <a:ln w="1066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34332" y="3870488"/>
            <a:ext cx="812800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latin typeface="Calibri"/>
                <a:cs typeface="Calibri"/>
              </a:rPr>
              <a:t>Engagement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54734" y="4512094"/>
            <a:ext cx="57086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latin typeface="Calibri"/>
                <a:cs typeface="Calibri"/>
              </a:rPr>
              <a:t>Revenue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90426" y="3590027"/>
            <a:ext cx="986155" cy="1225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765" marR="16510" indent="-1905" algn="ctr">
              <a:lnSpc>
                <a:spcPct val="102099"/>
              </a:lnSpc>
              <a:spcBef>
                <a:spcPts val="90"/>
              </a:spcBef>
            </a:pPr>
            <a:r>
              <a:rPr sz="1200" b="1" dirty="0">
                <a:latin typeface="Calibri"/>
                <a:cs typeface="Calibri"/>
              </a:rPr>
              <a:t>%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change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in </a:t>
            </a:r>
            <a:r>
              <a:rPr sz="1200" b="1" spc="-10" dirty="0">
                <a:latin typeface="Calibri"/>
                <a:cs typeface="Calibri"/>
              </a:rPr>
              <a:t>weekly reviews/rating</a:t>
            </a:r>
            <a:endParaRPr sz="1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40"/>
              </a:spcBef>
            </a:pPr>
            <a:r>
              <a:rPr sz="1200" b="1" dirty="0">
                <a:latin typeface="Calibri"/>
                <a:cs typeface="Calibri"/>
              </a:rPr>
              <a:t>,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WAU,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MAU</a:t>
            </a:r>
            <a:endParaRPr sz="1200">
              <a:latin typeface="Calibri"/>
              <a:cs typeface="Calibri"/>
            </a:endParaRPr>
          </a:p>
          <a:p>
            <a:pPr marL="12700" marR="5080" algn="ctr">
              <a:lnSpc>
                <a:spcPct val="101699"/>
              </a:lnSpc>
              <a:spcBef>
                <a:spcPts val="635"/>
              </a:spcBef>
            </a:pPr>
            <a:r>
              <a:rPr sz="1200" b="1" dirty="0">
                <a:latin typeface="Calibri"/>
                <a:cs typeface="Calibri"/>
              </a:rPr>
              <a:t>%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change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ad </a:t>
            </a:r>
            <a:r>
              <a:rPr sz="1200" b="1" spc="-10" dirty="0">
                <a:latin typeface="Calibri"/>
                <a:cs typeface="Calibri"/>
              </a:rPr>
              <a:t>revenue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2508</Words>
  <Application>Microsoft Office PowerPoint</Application>
  <PresentationFormat>Custom</PresentationFormat>
  <Paragraphs>302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SimSun-ExtB</vt:lpstr>
      <vt:lpstr>Arial MT</vt:lpstr>
      <vt:lpstr>Calibri</vt:lpstr>
      <vt:lpstr>Segoe UI Symbol</vt:lpstr>
      <vt:lpstr>Times New Roman</vt:lpstr>
      <vt:lpstr>Wingdings</vt:lpstr>
      <vt:lpstr>Office Theme</vt:lpstr>
      <vt:lpstr>PowerPoint Presentation</vt:lpstr>
      <vt:lpstr>Analysis of</vt:lpstr>
      <vt:lpstr>1. Identifying the problem</vt:lpstr>
      <vt:lpstr>2. User research: Survey/interviews</vt:lpstr>
      <vt:lpstr>3. Problems/pain points to be targeted</vt:lpstr>
      <vt:lpstr>5. Detailing of proposed solutions</vt:lpstr>
      <vt:lpstr>6. Feature additions: Reinforcing the positive aspects of review writing process</vt:lpstr>
      <vt:lpstr>7. Feature additions: Overcoming the negative aspects of review writing process</vt:lpstr>
      <vt:lpstr>8. Success metrics to be tracked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Final project</dc:title>
  <dc:creator>Mayank Kumar</dc:creator>
  <cp:lastModifiedBy>Mayank Kumar</cp:lastModifiedBy>
  <cp:revision>1</cp:revision>
  <dcterms:created xsi:type="dcterms:W3CDTF">2026-05-21T10:21:49Z</dcterms:created>
  <dcterms:modified xsi:type="dcterms:W3CDTF">2026-05-21T10:23:53Z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2022-10-21T00:00:00Z</vt:filetime>
  </property>
  <property fmtid="{D5CDD505-2E9C-101B-9397-08002B2CF9AE}" pid="4" name="LastSaved">
    <vt:filetime>2026-05-21T00:00:00Z</vt:filetime>
  </property>
  <property fmtid="{D5CDD505-2E9C-101B-9397-08002B2CF9AE}" pid="5" name="Producer">
    <vt:lpwstr>Microsoft: Print To PDF</vt:lpwstr>
  </property>
</Properties>
</file>