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631184" y="3391661"/>
            <a:ext cx="4929631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8508" y="-7492"/>
            <a:ext cx="7094982" cy="6910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689" y="1751964"/>
            <a:ext cx="11261725" cy="4388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money.com/articles/stocks/zomato-vs-swiggy-who-is-winning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5.png"/><Relationship Id="rId4" Type="http://schemas.openxmlformats.org/officeDocument/2006/relationships/image" Target="../media/image44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Mayank%20Kumar\Downloads\personal\Resume%20folder\mayank.pm11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://www.linkedin.com/in/mayankkumarp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45" dirty="0">
                <a:latin typeface="Calibri Light"/>
                <a:cs typeface="Calibri Light"/>
              </a:rPr>
              <a:t>Investor</a:t>
            </a:r>
            <a:r>
              <a:rPr sz="4000" b="0" spc="-180" dirty="0">
                <a:latin typeface="Calibri Light"/>
                <a:cs typeface="Calibri Light"/>
              </a:rPr>
              <a:t> </a:t>
            </a:r>
            <a:r>
              <a:rPr sz="4000" b="0" spc="-10" dirty="0">
                <a:latin typeface="Calibri Light"/>
                <a:cs typeface="Calibri Light"/>
              </a:rPr>
              <a:t>pitch</a:t>
            </a:r>
            <a:r>
              <a:rPr sz="4000" b="0" spc="-215" dirty="0">
                <a:latin typeface="Calibri Light"/>
                <a:cs typeface="Calibri Light"/>
              </a:rPr>
              <a:t> </a:t>
            </a:r>
            <a:r>
              <a:rPr sz="4000" b="0" spc="-10" dirty="0">
                <a:latin typeface="Calibri Light"/>
                <a:cs typeface="Calibri Light"/>
              </a:rPr>
              <a:t>for</a:t>
            </a:r>
            <a:r>
              <a:rPr sz="4000" b="0" spc="-195" dirty="0">
                <a:latin typeface="Calibri Light"/>
                <a:cs typeface="Calibri Light"/>
              </a:rPr>
              <a:t> </a:t>
            </a:r>
            <a:r>
              <a:rPr sz="4000" b="0" spc="-10" dirty="0">
                <a:latin typeface="Calibri Light"/>
                <a:cs typeface="Calibri Light"/>
              </a:rPr>
              <a:t>Swiggy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03114" y="4209669"/>
            <a:ext cx="21343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lang="en-US" sz="2400" spc="-75" dirty="0">
                <a:latin typeface="Calibri"/>
                <a:cs typeface="Calibri"/>
              </a:rPr>
              <a:t>Mayank Kumar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 descr="Icon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9828" y="854963"/>
            <a:ext cx="2517648" cy="25176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158" rIns="0" bIns="0" rtlCol="0">
            <a:spAutoFit/>
          </a:bodyPr>
          <a:lstStyle/>
          <a:p>
            <a:pPr marL="2362835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Introduction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48183" y="5802884"/>
            <a:ext cx="874458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Constraints </a:t>
            </a:r>
            <a:r>
              <a:rPr sz="1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-</a:t>
            </a:r>
            <a:r>
              <a:rPr sz="1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&gt;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spc="-25" dirty="0">
                <a:latin typeface="Calibri"/>
                <a:cs typeface="Calibri"/>
              </a:rPr>
              <a:t>Target </a:t>
            </a:r>
            <a:r>
              <a:rPr sz="1400" dirty="0">
                <a:latin typeface="Calibri"/>
                <a:cs typeface="Calibri"/>
              </a:rPr>
              <a:t>food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ordering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personas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only,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other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stakeholders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platform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(delivery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partners,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restaurant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owners)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Consider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only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free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services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(Do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consider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Swiggy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One)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121" y="2850419"/>
            <a:ext cx="11723373" cy="14407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817479" y="3365372"/>
            <a:ext cx="84645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176530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latin typeface="Calibri"/>
                <a:cs typeface="Calibri"/>
              </a:rPr>
              <a:t>Metrics identification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39453" y="3365372"/>
            <a:ext cx="866140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82880" marR="5080" indent="-170815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latin typeface="Calibri"/>
                <a:cs typeface="Calibri"/>
              </a:rPr>
              <a:t>Go-to-market strategy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28229" y="3449192"/>
            <a:ext cx="7512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Wireframes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0771" y="3281553"/>
            <a:ext cx="854710" cy="5441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-635" algn="ctr">
              <a:lnSpc>
                <a:spcPts val="1320"/>
              </a:lnSpc>
              <a:spcBef>
                <a:spcPts val="240"/>
              </a:spcBef>
            </a:pPr>
            <a:r>
              <a:rPr sz="1200" spc="-10" dirty="0">
                <a:latin typeface="Calibri"/>
                <a:cs typeface="Calibri"/>
              </a:rPr>
              <a:t>Listing solutions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prioritization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41570" y="3197428"/>
            <a:ext cx="846455" cy="71247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1905" algn="ctr">
              <a:lnSpc>
                <a:spcPct val="91700"/>
              </a:lnSpc>
              <a:spcBef>
                <a:spcPts val="220"/>
              </a:spcBef>
            </a:pPr>
            <a:r>
              <a:rPr sz="1200" dirty="0">
                <a:latin typeface="Calibri"/>
                <a:cs typeface="Calibri"/>
              </a:rPr>
              <a:t>Pain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points identification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prioritization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90976" y="3365372"/>
            <a:ext cx="80962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269875" marR="5080" indent="-257810">
              <a:lnSpc>
                <a:spcPts val="132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Generic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user 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3551" y="3197428"/>
            <a:ext cx="846455" cy="71247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635" algn="ctr">
              <a:lnSpc>
                <a:spcPct val="91700"/>
              </a:lnSpc>
              <a:spcBef>
                <a:spcPts val="220"/>
              </a:spcBef>
            </a:pPr>
            <a:r>
              <a:rPr sz="1200" spc="-10" dirty="0">
                <a:latin typeface="Calibri"/>
                <a:cs typeface="Calibri"/>
              </a:rPr>
              <a:t>Personas identification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spc="-10" dirty="0">
                <a:latin typeface="Calibri"/>
                <a:cs typeface="Calibri"/>
              </a:rPr>
              <a:t>prioritization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0816" y="3365372"/>
            <a:ext cx="837565" cy="375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31750">
              <a:lnSpc>
                <a:spcPts val="1320"/>
              </a:lnSpc>
              <a:spcBef>
                <a:spcPts val="240"/>
              </a:spcBef>
            </a:pPr>
            <a:r>
              <a:rPr sz="1200" dirty="0">
                <a:latin typeface="Calibri"/>
                <a:cs typeface="Calibri"/>
              </a:rPr>
              <a:t>Decide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upon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objective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6620" y="774268"/>
            <a:ext cx="11196320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Swiggy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Indian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online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food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ordering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delivery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platform</a:t>
            </a:r>
            <a:r>
              <a:rPr sz="1600" spc="-10" dirty="0">
                <a:latin typeface="Calibri"/>
                <a:cs typeface="Calibri"/>
              </a:rPr>
              <a:t>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Founded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July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2014, Swiggy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Bangalore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500 </a:t>
            </a:r>
            <a:r>
              <a:rPr sz="1600" dirty="0">
                <a:latin typeface="Calibri"/>
                <a:cs typeface="Calibri"/>
              </a:rPr>
              <a:t>Indian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cities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September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2021.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Besides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food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delivery,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Swiggy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on-demand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grocery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deliveries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under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name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Instamart,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same-</a:t>
            </a:r>
            <a:r>
              <a:rPr sz="1600" dirty="0">
                <a:latin typeface="Calibri"/>
                <a:cs typeface="Calibri"/>
              </a:rPr>
              <a:t>day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package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service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called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Swiggy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Genie.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0875" y="2511044"/>
            <a:ext cx="35648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For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exercise,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follow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given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approach: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3954" y="4536185"/>
            <a:ext cx="11474450" cy="922019"/>
          </a:xfrm>
          <a:prstGeom prst="rect">
            <a:avLst/>
          </a:prstGeom>
          <a:solidFill>
            <a:srgbClr val="C5DFB4"/>
          </a:solidFill>
          <a:ln w="28575">
            <a:solidFill>
              <a:srgbClr val="538235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sz="1800" b="1" spc="-10" dirty="0">
                <a:latin typeface="Calibri"/>
                <a:cs typeface="Calibri"/>
              </a:rPr>
              <a:t>Objective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Since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investor’s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pitch,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goal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enhancement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logically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Swiggy’s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existing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offerings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potential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revenue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generator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company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3954" y="1774698"/>
            <a:ext cx="11405870" cy="58547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2540000" marR="212725" indent="-2324735">
              <a:lnSpc>
                <a:spcPct val="100000"/>
              </a:lnSpc>
              <a:spcBef>
                <a:spcPts val="254"/>
              </a:spcBef>
            </a:pP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Vision</a:t>
            </a:r>
            <a:r>
              <a:rPr sz="16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statement: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“Our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mission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elevate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quality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life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urban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consumer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unparalleled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convenience.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Convenience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is </a:t>
            </a:r>
            <a:r>
              <a:rPr sz="1600" dirty="0">
                <a:latin typeface="Calibri"/>
                <a:cs typeface="Calibri"/>
              </a:rPr>
              <a:t>what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tick.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It's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say,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"Let's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this."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9920" y="1028700"/>
            <a:ext cx="9022080" cy="4800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Competitive</a:t>
            </a:r>
            <a:r>
              <a:rPr spc="-85" dirty="0"/>
              <a:t> </a:t>
            </a:r>
            <a:r>
              <a:rPr dirty="0"/>
              <a:t>landscape</a:t>
            </a:r>
            <a:r>
              <a:rPr spc="-9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benchmarking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5413" y="834389"/>
            <a:ext cx="11097895" cy="56261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798195" marR="354330" indent="-439420">
              <a:lnSpc>
                <a:spcPct val="80000"/>
              </a:lnSpc>
              <a:spcBef>
                <a:spcPts val="285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food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delivery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business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India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duopoly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Swiggy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Zomato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fighting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closely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market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share,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targeting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profitability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multiple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offerings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increasing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efficiency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7395" y="6552996"/>
            <a:ext cx="5428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Sources:</a:t>
            </a:r>
            <a:r>
              <a:rPr sz="1200" spc="430" dirty="0">
                <a:latin typeface="Calibri"/>
                <a:cs typeface="Calibri"/>
              </a:rPr>
              <a:t> </a:t>
            </a:r>
            <a:r>
              <a:rPr sz="12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https://www.indmoney.com/articles/stocks/zomato-</a:t>
            </a:r>
            <a:r>
              <a:rPr sz="12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vs-swiggy-who-is-winning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38543" y="2004695"/>
          <a:ext cx="11337925" cy="2962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8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Restaurant</a:t>
                      </a:r>
                      <a:r>
                        <a:rPr sz="16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Partners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(Feb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2022)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390000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128000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MAU</a:t>
                      </a:r>
                      <a:r>
                        <a:rPr sz="16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(Feb</a:t>
                      </a:r>
                      <a:r>
                        <a:rPr sz="16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2022)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32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 million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20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 million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Revenue</a:t>
                      </a:r>
                      <a:r>
                        <a:rPr sz="1600" b="1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(FY22)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4192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crore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5705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crore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Profits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(FY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22)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-1222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crore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-3628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crore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Dining</a:t>
                      </a:r>
                      <a:r>
                        <a:rPr sz="16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Offering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Zomato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Gold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Dining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DineOut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Grocery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Blinkit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Instamart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Subscriptions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Zomato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latin typeface="Calibri"/>
                          <a:cs typeface="Calibri"/>
                        </a:rPr>
                        <a:t>Gold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Swiggy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One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Special</a:t>
                      </a:r>
                      <a:r>
                        <a:rPr sz="16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Services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Zomato</a:t>
                      </a:r>
                      <a:r>
                        <a:rPr sz="16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Legends,</a:t>
                      </a:r>
                      <a:r>
                        <a:rPr sz="16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Zomato</a:t>
                      </a:r>
                      <a:r>
                        <a:rPr sz="16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UPI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Swiggy</a:t>
                      </a:r>
                      <a:r>
                        <a:rPr sz="16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latin typeface="Calibri"/>
                          <a:cs typeface="Calibri"/>
                        </a:rPr>
                        <a:t>Genie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45413" y="5151882"/>
            <a:ext cx="11097895" cy="132461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485775" marR="480695" algn="ctr">
              <a:lnSpc>
                <a:spcPct val="100000"/>
              </a:lnSpc>
              <a:spcBef>
                <a:spcPts val="245"/>
              </a:spcBef>
            </a:pPr>
            <a:r>
              <a:rPr sz="1800" b="1" i="1" dirty="0">
                <a:latin typeface="Calibri"/>
                <a:cs typeface="Calibri"/>
              </a:rPr>
              <a:t>Zomato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is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focussed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on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building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an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end-</a:t>
            </a:r>
            <a:r>
              <a:rPr sz="1800" b="1" i="1" spc="-25" dirty="0">
                <a:latin typeface="Calibri"/>
                <a:cs typeface="Calibri"/>
              </a:rPr>
              <a:t>to-</a:t>
            </a:r>
            <a:r>
              <a:rPr sz="1800" b="1" i="1" dirty="0">
                <a:latin typeface="Calibri"/>
                <a:cs typeface="Calibri"/>
              </a:rPr>
              <a:t>end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food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delivery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and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dining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experience,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whereas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Swiggy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sees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spc="-25" dirty="0">
                <a:latin typeface="Calibri"/>
                <a:cs typeface="Calibri"/>
              </a:rPr>
              <a:t>its </a:t>
            </a:r>
            <a:r>
              <a:rPr sz="1800" b="1" i="1" dirty="0">
                <a:latin typeface="Calibri"/>
                <a:cs typeface="Calibri"/>
              </a:rPr>
              <a:t>delivery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network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as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its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strength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to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provide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convenience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to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its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customers</a:t>
            </a:r>
            <a:endParaRPr sz="1800">
              <a:latin typeface="Calibri"/>
              <a:cs typeface="Calibri"/>
            </a:endParaRPr>
          </a:p>
          <a:p>
            <a:pPr marL="175260" marR="169545" algn="ctr">
              <a:lnSpc>
                <a:spcPct val="100000"/>
              </a:lnSpc>
              <a:spcBef>
                <a:spcPts val="1945"/>
              </a:spcBef>
            </a:pPr>
            <a:r>
              <a:rPr sz="1400" dirty="0">
                <a:latin typeface="Calibri"/>
                <a:cs typeface="Calibri"/>
              </a:rPr>
              <a:t>With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introduction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ONDC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arena,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there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might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some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temporary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challenges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both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players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face.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focussing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competencies (food/delivery)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customer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service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give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these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players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higher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ground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over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government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backed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initiative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63311" y="1469136"/>
            <a:ext cx="5290185" cy="579120"/>
            <a:chOff x="5163311" y="1469136"/>
            <a:chExt cx="5290185" cy="5791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9220" y="1548384"/>
              <a:ext cx="1453896" cy="434339"/>
            </a:xfrm>
            <a:prstGeom prst="rect">
              <a:avLst/>
            </a:prstGeom>
          </p:spPr>
        </p:pic>
        <p:pic>
          <p:nvPicPr>
            <p:cNvPr id="10" name="object 10" descr="Zomato Logo and symbol, meaning, history, 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3311" y="1469136"/>
              <a:ext cx="1030224" cy="5791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438" rIns="0" bIns="0" rtlCol="0">
            <a:spAutoFit/>
          </a:bodyPr>
          <a:lstStyle/>
          <a:p>
            <a:pPr marL="175450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User</a:t>
            </a:r>
            <a:r>
              <a:rPr sz="3600" spc="-20" dirty="0"/>
              <a:t> </a:t>
            </a:r>
            <a:r>
              <a:rPr sz="3600" spc="-10" dirty="0"/>
              <a:t>segmentation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40537" y="894714"/>
            <a:ext cx="574929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Calibri"/>
                <a:cs typeface="Calibri"/>
              </a:rPr>
              <a:t>Let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segment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population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India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into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different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age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brackets</a:t>
            </a:r>
            <a:endParaRPr sz="17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5396" y="1317116"/>
          <a:ext cx="11470003" cy="4448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4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9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7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4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segment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Age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bracket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86055" marR="1790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Percentage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total population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Food</a:t>
                      </a:r>
                      <a:r>
                        <a:rPr sz="16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ordering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apps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usage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Constraints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food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ordering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apps</a:t>
                      </a:r>
                      <a:r>
                        <a:rPr sz="16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usage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Children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0-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16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30%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4775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ideal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target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group,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directly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order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food;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their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parents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do.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78460" marR="558165" indent="-287020">
                        <a:lnSpc>
                          <a:spcPct val="100000"/>
                        </a:lnSpc>
                        <a:spcBef>
                          <a:spcPts val="26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decision makers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household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personal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income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Students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17-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22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15%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most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active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ordering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apps.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26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steady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income,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leading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to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37846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wealth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consciousness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L="217170" marR="212090" indent="177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Independent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working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class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23-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30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15%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most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active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ordering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apps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26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Health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consciousness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Wealth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consciousness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Living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Family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20" dirty="0">
                          <a:latin typeface="Calibri"/>
                          <a:cs typeface="Calibri"/>
                        </a:rPr>
                        <a:t>31-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60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30%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9883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Occasional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users,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usage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frequency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cannot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increased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psychological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need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set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examples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younger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generation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122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Health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consciousness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Psychological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Retired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61+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10%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56845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ideal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target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group,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are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avid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ordering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apps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55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26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tech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savvy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378460" marR="397510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Prejudiced</a:t>
                      </a:r>
                      <a:r>
                        <a:rPr sz="16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against</a:t>
                      </a:r>
                      <a:r>
                        <a:rPr sz="16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‘outside food’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61950" y="6006846"/>
            <a:ext cx="11470005" cy="64643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805" marR="17399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active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analysed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first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points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could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tended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constitutes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users </a:t>
            </a:r>
            <a:r>
              <a:rPr sz="1800" dirty="0">
                <a:latin typeface="Calibri"/>
                <a:cs typeface="Calibri"/>
              </a:rPr>
              <a:t>who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likely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adopt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offerings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quickest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returns,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product-</a:t>
            </a:r>
            <a:r>
              <a:rPr sz="1800" dirty="0">
                <a:latin typeface="Calibri"/>
                <a:cs typeface="Calibri"/>
              </a:rPr>
              <a:t>market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established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091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User</a:t>
            </a:r>
            <a:r>
              <a:rPr sz="3600" spc="-10" dirty="0"/>
              <a:t> personas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336799" y="868671"/>
            <a:ext cx="5668010" cy="3400425"/>
            <a:chOff x="336799" y="868671"/>
            <a:chExt cx="5668010" cy="3400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799" y="868671"/>
              <a:ext cx="5667765" cy="34000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45007" y="954023"/>
              <a:ext cx="5455920" cy="3234055"/>
            </a:xfrm>
            <a:custGeom>
              <a:avLst/>
              <a:gdLst/>
              <a:ahLst/>
              <a:cxnLst/>
              <a:rect l="l" t="t" r="r" b="b"/>
              <a:pathLst>
                <a:path w="5455920" h="3234054">
                  <a:moveTo>
                    <a:pt x="4916932" y="0"/>
                  </a:moveTo>
                  <a:lnTo>
                    <a:pt x="539000" y="0"/>
                  </a:lnTo>
                  <a:lnTo>
                    <a:pt x="489939" y="2202"/>
                  </a:lnTo>
                  <a:lnTo>
                    <a:pt x="442113" y="8683"/>
                  </a:lnTo>
                  <a:lnTo>
                    <a:pt x="395710" y="19252"/>
                  </a:lnTo>
                  <a:lnTo>
                    <a:pt x="350923" y="33718"/>
                  </a:lnTo>
                  <a:lnTo>
                    <a:pt x="307941" y="51893"/>
                  </a:lnTo>
                  <a:lnTo>
                    <a:pt x="266953" y="73584"/>
                  </a:lnTo>
                  <a:lnTo>
                    <a:pt x="228152" y="98603"/>
                  </a:lnTo>
                  <a:lnTo>
                    <a:pt x="191726" y="126758"/>
                  </a:lnTo>
                  <a:lnTo>
                    <a:pt x="157867" y="157861"/>
                  </a:lnTo>
                  <a:lnTo>
                    <a:pt x="126764" y="191719"/>
                  </a:lnTo>
                  <a:lnTo>
                    <a:pt x="98607" y="228144"/>
                  </a:lnTo>
                  <a:lnTo>
                    <a:pt x="73588" y="266944"/>
                  </a:lnTo>
                  <a:lnTo>
                    <a:pt x="51895" y="307930"/>
                  </a:lnTo>
                  <a:lnTo>
                    <a:pt x="33720" y="350912"/>
                  </a:lnTo>
                  <a:lnTo>
                    <a:pt x="19253" y="395699"/>
                  </a:lnTo>
                  <a:lnTo>
                    <a:pt x="8683" y="442100"/>
                  </a:lnTo>
                  <a:lnTo>
                    <a:pt x="2202" y="489927"/>
                  </a:lnTo>
                  <a:lnTo>
                    <a:pt x="0" y="538988"/>
                  </a:lnTo>
                  <a:lnTo>
                    <a:pt x="0" y="2694940"/>
                  </a:lnTo>
                  <a:lnTo>
                    <a:pt x="2202" y="2744000"/>
                  </a:lnTo>
                  <a:lnTo>
                    <a:pt x="8683" y="2791827"/>
                  </a:lnTo>
                  <a:lnTo>
                    <a:pt x="19253" y="2838228"/>
                  </a:lnTo>
                  <a:lnTo>
                    <a:pt x="33720" y="2883015"/>
                  </a:lnTo>
                  <a:lnTo>
                    <a:pt x="51895" y="2925997"/>
                  </a:lnTo>
                  <a:lnTo>
                    <a:pt x="73588" y="2966983"/>
                  </a:lnTo>
                  <a:lnTo>
                    <a:pt x="98607" y="3005783"/>
                  </a:lnTo>
                  <a:lnTo>
                    <a:pt x="126764" y="3042208"/>
                  </a:lnTo>
                  <a:lnTo>
                    <a:pt x="157867" y="3076067"/>
                  </a:lnTo>
                  <a:lnTo>
                    <a:pt x="191726" y="3107169"/>
                  </a:lnTo>
                  <a:lnTo>
                    <a:pt x="228152" y="3135324"/>
                  </a:lnTo>
                  <a:lnTo>
                    <a:pt x="266953" y="3160343"/>
                  </a:lnTo>
                  <a:lnTo>
                    <a:pt x="307941" y="3182034"/>
                  </a:lnTo>
                  <a:lnTo>
                    <a:pt x="350923" y="3200209"/>
                  </a:lnTo>
                  <a:lnTo>
                    <a:pt x="395710" y="3214675"/>
                  </a:lnTo>
                  <a:lnTo>
                    <a:pt x="442113" y="3225244"/>
                  </a:lnTo>
                  <a:lnTo>
                    <a:pt x="489939" y="3231725"/>
                  </a:lnTo>
                  <a:lnTo>
                    <a:pt x="539000" y="3233928"/>
                  </a:lnTo>
                  <a:lnTo>
                    <a:pt x="4916932" y="3233928"/>
                  </a:lnTo>
                  <a:lnTo>
                    <a:pt x="4965992" y="3231725"/>
                  </a:lnTo>
                  <a:lnTo>
                    <a:pt x="5013819" y="3225244"/>
                  </a:lnTo>
                  <a:lnTo>
                    <a:pt x="5060220" y="3214675"/>
                  </a:lnTo>
                  <a:lnTo>
                    <a:pt x="5105007" y="3200209"/>
                  </a:lnTo>
                  <a:lnTo>
                    <a:pt x="5147989" y="3182034"/>
                  </a:lnTo>
                  <a:lnTo>
                    <a:pt x="5188975" y="3160343"/>
                  </a:lnTo>
                  <a:lnTo>
                    <a:pt x="5227775" y="3135324"/>
                  </a:lnTo>
                  <a:lnTo>
                    <a:pt x="5264200" y="3107169"/>
                  </a:lnTo>
                  <a:lnTo>
                    <a:pt x="5298058" y="3076066"/>
                  </a:lnTo>
                  <a:lnTo>
                    <a:pt x="5329161" y="3042208"/>
                  </a:lnTo>
                  <a:lnTo>
                    <a:pt x="5357316" y="3005783"/>
                  </a:lnTo>
                  <a:lnTo>
                    <a:pt x="5382335" y="2966983"/>
                  </a:lnTo>
                  <a:lnTo>
                    <a:pt x="5404026" y="2925997"/>
                  </a:lnTo>
                  <a:lnTo>
                    <a:pt x="5422201" y="2883015"/>
                  </a:lnTo>
                  <a:lnTo>
                    <a:pt x="5436667" y="2838228"/>
                  </a:lnTo>
                  <a:lnTo>
                    <a:pt x="5447236" y="2791827"/>
                  </a:lnTo>
                  <a:lnTo>
                    <a:pt x="5453717" y="2744000"/>
                  </a:lnTo>
                  <a:lnTo>
                    <a:pt x="5455920" y="2694940"/>
                  </a:lnTo>
                  <a:lnTo>
                    <a:pt x="5455920" y="538988"/>
                  </a:lnTo>
                  <a:lnTo>
                    <a:pt x="5453717" y="489927"/>
                  </a:lnTo>
                  <a:lnTo>
                    <a:pt x="5447236" y="442100"/>
                  </a:lnTo>
                  <a:lnTo>
                    <a:pt x="5436667" y="395699"/>
                  </a:lnTo>
                  <a:lnTo>
                    <a:pt x="5422201" y="350912"/>
                  </a:lnTo>
                  <a:lnTo>
                    <a:pt x="5404026" y="307930"/>
                  </a:lnTo>
                  <a:lnTo>
                    <a:pt x="5382335" y="266944"/>
                  </a:lnTo>
                  <a:lnTo>
                    <a:pt x="5357316" y="228144"/>
                  </a:lnTo>
                  <a:lnTo>
                    <a:pt x="5329161" y="191719"/>
                  </a:lnTo>
                  <a:lnTo>
                    <a:pt x="5298058" y="157861"/>
                  </a:lnTo>
                  <a:lnTo>
                    <a:pt x="5264200" y="126758"/>
                  </a:lnTo>
                  <a:lnTo>
                    <a:pt x="5227775" y="98603"/>
                  </a:lnTo>
                  <a:lnTo>
                    <a:pt x="5188975" y="73584"/>
                  </a:lnTo>
                  <a:lnTo>
                    <a:pt x="5147989" y="51893"/>
                  </a:lnTo>
                  <a:lnTo>
                    <a:pt x="5105007" y="33718"/>
                  </a:lnTo>
                  <a:lnTo>
                    <a:pt x="5060220" y="19252"/>
                  </a:lnTo>
                  <a:lnTo>
                    <a:pt x="5013819" y="8683"/>
                  </a:lnTo>
                  <a:lnTo>
                    <a:pt x="4965992" y="2202"/>
                  </a:lnTo>
                  <a:lnTo>
                    <a:pt x="4916932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5007" y="954023"/>
              <a:ext cx="5455920" cy="3234055"/>
            </a:xfrm>
            <a:custGeom>
              <a:avLst/>
              <a:gdLst/>
              <a:ahLst/>
              <a:cxnLst/>
              <a:rect l="l" t="t" r="r" b="b"/>
              <a:pathLst>
                <a:path w="5455920" h="3234054">
                  <a:moveTo>
                    <a:pt x="0" y="538988"/>
                  </a:moveTo>
                  <a:lnTo>
                    <a:pt x="2202" y="489927"/>
                  </a:lnTo>
                  <a:lnTo>
                    <a:pt x="8683" y="442100"/>
                  </a:lnTo>
                  <a:lnTo>
                    <a:pt x="19253" y="395699"/>
                  </a:lnTo>
                  <a:lnTo>
                    <a:pt x="33720" y="350912"/>
                  </a:lnTo>
                  <a:lnTo>
                    <a:pt x="51895" y="307930"/>
                  </a:lnTo>
                  <a:lnTo>
                    <a:pt x="73588" y="266944"/>
                  </a:lnTo>
                  <a:lnTo>
                    <a:pt x="98607" y="228144"/>
                  </a:lnTo>
                  <a:lnTo>
                    <a:pt x="126764" y="191719"/>
                  </a:lnTo>
                  <a:lnTo>
                    <a:pt x="157867" y="157861"/>
                  </a:lnTo>
                  <a:lnTo>
                    <a:pt x="191726" y="126758"/>
                  </a:lnTo>
                  <a:lnTo>
                    <a:pt x="228152" y="98603"/>
                  </a:lnTo>
                  <a:lnTo>
                    <a:pt x="266953" y="73584"/>
                  </a:lnTo>
                  <a:lnTo>
                    <a:pt x="307941" y="51893"/>
                  </a:lnTo>
                  <a:lnTo>
                    <a:pt x="350923" y="33718"/>
                  </a:lnTo>
                  <a:lnTo>
                    <a:pt x="395710" y="19252"/>
                  </a:lnTo>
                  <a:lnTo>
                    <a:pt x="442113" y="8683"/>
                  </a:lnTo>
                  <a:lnTo>
                    <a:pt x="489939" y="2202"/>
                  </a:lnTo>
                  <a:lnTo>
                    <a:pt x="539000" y="0"/>
                  </a:lnTo>
                  <a:lnTo>
                    <a:pt x="4916932" y="0"/>
                  </a:lnTo>
                  <a:lnTo>
                    <a:pt x="4965992" y="2202"/>
                  </a:lnTo>
                  <a:lnTo>
                    <a:pt x="5013819" y="8683"/>
                  </a:lnTo>
                  <a:lnTo>
                    <a:pt x="5060220" y="19252"/>
                  </a:lnTo>
                  <a:lnTo>
                    <a:pt x="5105007" y="33718"/>
                  </a:lnTo>
                  <a:lnTo>
                    <a:pt x="5147989" y="51893"/>
                  </a:lnTo>
                  <a:lnTo>
                    <a:pt x="5188975" y="73584"/>
                  </a:lnTo>
                  <a:lnTo>
                    <a:pt x="5227775" y="98603"/>
                  </a:lnTo>
                  <a:lnTo>
                    <a:pt x="5264200" y="126758"/>
                  </a:lnTo>
                  <a:lnTo>
                    <a:pt x="5298058" y="157861"/>
                  </a:lnTo>
                  <a:lnTo>
                    <a:pt x="5329161" y="191719"/>
                  </a:lnTo>
                  <a:lnTo>
                    <a:pt x="5357316" y="228144"/>
                  </a:lnTo>
                  <a:lnTo>
                    <a:pt x="5382335" y="266944"/>
                  </a:lnTo>
                  <a:lnTo>
                    <a:pt x="5404026" y="307930"/>
                  </a:lnTo>
                  <a:lnTo>
                    <a:pt x="5422201" y="350912"/>
                  </a:lnTo>
                  <a:lnTo>
                    <a:pt x="5436667" y="395699"/>
                  </a:lnTo>
                  <a:lnTo>
                    <a:pt x="5447236" y="442100"/>
                  </a:lnTo>
                  <a:lnTo>
                    <a:pt x="5453717" y="489927"/>
                  </a:lnTo>
                  <a:lnTo>
                    <a:pt x="5455920" y="538988"/>
                  </a:lnTo>
                  <a:lnTo>
                    <a:pt x="5455920" y="2694940"/>
                  </a:lnTo>
                  <a:lnTo>
                    <a:pt x="5453717" y="2744000"/>
                  </a:lnTo>
                  <a:lnTo>
                    <a:pt x="5447236" y="2791827"/>
                  </a:lnTo>
                  <a:lnTo>
                    <a:pt x="5436667" y="2838228"/>
                  </a:lnTo>
                  <a:lnTo>
                    <a:pt x="5422201" y="2883015"/>
                  </a:lnTo>
                  <a:lnTo>
                    <a:pt x="5404026" y="2925997"/>
                  </a:lnTo>
                  <a:lnTo>
                    <a:pt x="5382335" y="2966983"/>
                  </a:lnTo>
                  <a:lnTo>
                    <a:pt x="5357316" y="3005783"/>
                  </a:lnTo>
                  <a:lnTo>
                    <a:pt x="5329161" y="3042208"/>
                  </a:lnTo>
                  <a:lnTo>
                    <a:pt x="5298058" y="3076066"/>
                  </a:lnTo>
                  <a:lnTo>
                    <a:pt x="5264200" y="3107169"/>
                  </a:lnTo>
                  <a:lnTo>
                    <a:pt x="5227775" y="3135324"/>
                  </a:lnTo>
                  <a:lnTo>
                    <a:pt x="5188975" y="3160343"/>
                  </a:lnTo>
                  <a:lnTo>
                    <a:pt x="5147989" y="3182034"/>
                  </a:lnTo>
                  <a:lnTo>
                    <a:pt x="5105007" y="3200209"/>
                  </a:lnTo>
                  <a:lnTo>
                    <a:pt x="5060220" y="3214675"/>
                  </a:lnTo>
                  <a:lnTo>
                    <a:pt x="5013819" y="3225244"/>
                  </a:lnTo>
                  <a:lnTo>
                    <a:pt x="4965992" y="3231725"/>
                  </a:lnTo>
                  <a:lnTo>
                    <a:pt x="4916932" y="3233928"/>
                  </a:lnTo>
                  <a:lnTo>
                    <a:pt x="539000" y="3233928"/>
                  </a:lnTo>
                  <a:lnTo>
                    <a:pt x="489939" y="3231725"/>
                  </a:lnTo>
                  <a:lnTo>
                    <a:pt x="442113" y="3225244"/>
                  </a:lnTo>
                  <a:lnTo>
                    <a:pt x="395710" y="3214675"/>
                  </a:lnTo>
                  <a:lnTo>
                    <a:pt x="350923" y="3200209"/>
                  </a:lnTo>
                  <a:lnTo>
                    <a:pt x="307941" y="3182034"/>
                  </a:lnTo>
                  <a:lnTo>
                    <a:pt x="266953" y="3160343"/>
                  </a:lnTo>
                  <a:lnTo>
                    <a:pt x="228152" y="3135324"/>
                  </a:lnTo>
                  <a:lnTo>
                    <a:pt x="191726" y="3107169"/>
                  </a:lnTo>
                  <a:lnTo>
                    <a:pt x="157867" y="3076067"/>
                  </a:lnTo>
                  <a:lnTo>
                    <a:pt x="126764" y="3042208"/>
                  </a:lnTo>
                  <a:lnTo>
                    <a:pt x="98607" y="3005783"/>
                  </a:lnTo>
                  <a:lnTo>
                    <a:pt x="73588" y="2966983"/>
                  </a:lnTo>
                  <a:lnTo>
                    <a:pt x="51895" y="2925997"/>
                  </a:lnTo>
                  <a:lnTo>
                    <a:pt x="33720" y="2883015"/>
                  </a:lnTo>
                  <a:lnTo>
                    <a:pt x="19253" y="2838228"/>
                  </a:lnTo>
                  <a:lnTo>
                    <a:pt x="8683" y="2791827"/>
                  </a:lnTo>
                  <a:lnTo>
                    <a:pt x="2202" y="2744000"/>
                  </a:lnTo>
                  <a:lnTo>
                    <a:pt x="0" y="2694940"/>
                  </a:lnTo>
                  <a:lnTo>
                    <a:pt x="0" y="53898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81024" y="1132712"/>
            <a:ext cx="38277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Rishabh,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age</a:t>
            </a:r>
            <a:r>
              <a:rPr sz="1600" b="1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27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(Independent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Working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Class)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1024" y="1376552"/>
            <a:ext cx="460121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Has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decent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paying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job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city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Lives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solo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rented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BHK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Leaves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office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after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preparing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himself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breakfast,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has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lunch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office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024" y="2230374"/>
            <a:ext cx="33286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User</a:t>
            </a:r>
            <a:r>
              <a:rPr sz="1400" b="1" spc="-10" dirty="0">
                <a:latin typeface="Calibri"/>
                <a:cs typeface="Calibri"/>
              </a:rPr>
              <a:t> behaviour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regarding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food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consumption: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1024" y="2443733"/>
            <a:ext cx="4970145" cy="1093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Has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lunch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office</a:t>
            </a:r>
            <a:r>
              <a:rPr sz="1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cafeteria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uses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food</a:t>
            </a:r>
            <a:r>
              <a:rPr sz="1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delivery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apps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Limited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energy/bandwidth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cook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dinner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after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resorts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ordering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food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online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conscious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fact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spends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lot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more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ordering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vs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getting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food</a:t>
            </a:r>
            <a:r>
              <a:rPr sz="1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cooked</a:t>
            </a:r>
            <a:r>
              <a:rPr sz="1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at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home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3017" y="3724147"/>
            <a:ext cx="3876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latin typeface="Calibri"/>
                <a:cs typeface="Calibri"/>
              </a:rPr>
              <a:t>Ordering</a:t>
            </a:r>
            <a:r>
              <a:rPr sz="1400" b="1" i="1" spc="-4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food</a:t>
            </a:r>
            <a:r>
              <a:rPr sz="1400" b="1" i="1" spc="-4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vs</a:t>
            </a:r>
            <a:r>
              <a:rPr sz="1400" b="1" i="1" spc="-1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going</a:t>
            </a:r>
            <a:r>
              <a:rPr sz="1400" b="1" i="1" spc="-4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out</a:t>
            </a:r>
            <a:r>
              <a:rPr sz="1400" b="1" i="1" spc="-2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to</a:t>
            </a:r>
            <a:r>
              <a:rPr sz="1400" b="1" i="1" spc="-2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eat:</a:t>
            </a:r>
            <a:r>
              <a:rPr sz="1400" b="1" i="1" spc="-35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80-</a:t>
            </a:r>
            <a:r>
              <a:rPr sz="1400" b="1" i="1" dirty="0">
                <a:latin typeface="Calibri"/>
                <a:cs typeface="Calibri"/>
              </a:rPr>
              <a:t>20</a:t>
            </a:r>
            <a:r>
              <a:rPr sz="1400" b="1" i="1" spc="-20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distribution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12759" y="877775"/>
            <a:ext cx="5668010" cy="3401695"/>
            <a:chOff x="6112759" y="877775"/>
            <a:chExt cx="5668010" cy="340169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2759" y="877775"/>
              <a:ext cx="5667765" cy="340166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220967" y="963168"/>
              <a:ext cx="5455920" cy="3235960"/>
            </a:xfrm>
            <a:custGeom>
              <a:avLst/>
              <a:gdLst/>
              <a:ahLst/>
              <a:cxnLst/>
              <a:rect l="l" t="t" r="r" b="b"/>
              <a:pathLst>
                <a:path w="5455920" h="3235960">
                  <a:moveTo>
                    <a:pt x="4916678" y="0"/>
                  </a:moveTo>
                  <a:lnTo>
                    <a:pt x="539241" y="0"/>
                  </a:lnTo>
                  <a:lnTo>
                    <a:pt x="490160" y="2203"/>
                  </a:lnTo>
                  <a:lnTo>
                    <a:pt x="442312" y="8687"/>
                  </a:lnTo>
                  <a:lnTo>
                    <a:pt x="395890" y="19262"/>
                  </a:lnTo>
                  <a:lnTo>
                    <a:pt x="351083" y="33736"/>
                  </a:lnTo>
                  <a:lnTo>
                    <a:pt x="308081" y="51919"/>
                  </a:lnTo>
                  <a:lnTo>
                    <a:pt x="267076" y="73622"/>
                  </a:lnTo>
                  <a:lnTo>
                    <a:pt x="228257" y="98653"/>
                  </a:lnTo>
                  <a:lnTo>
                    <a:pt x="191815" y="126823"/>
                  </a:lnTo>
                  <a:lnTo>
                    <a:pt x="157940" y="157940"/>
                  </a:lnTo>
                  <a:lnTo>
                    <a:pt x="126823" y="191815"/>
                  </a:lnTo>
                  <a:lnTo>
                    <a:pt x="98653" y="228257"/>
                  </a:lnTo>
                  <a:lnTo>
                    <a:pt x="73622" y="267076"/>
                  </a:lnTo>
                  <a:lnTo>
                    <a:pt x="51919" y="308081"/>
                  </a:lnTo>
                  <a:lnTo>
                    <a:pt x="33736" y="351083"/>
                  </a:lnTo>
                  <a:lnTo>
                    <a:pt x="19262" y="395890"/>
                  </a:lnTo>
                  <a:lnTo>
                    <a:pt x="8687" y="442312"/>
                  </a:lnTo>
                  <a:lnTo>
                    <a:pt x="2203" y="490160"/>
                  </a:lnTo>
                  <a:lnTo>
                    <a:pt x="0" y="539242"/>
                  </a:lnTo>
                  <a:lnTo>
                    <a:pt x="0" y="2696210"/>
                  </a:lnTo>
                  <a:lnTo>
                    <a:pt x="2203" y="2745291"/>
                  </a:lnTo>
                  <a:lnTo>
                    <a:pt x="8687" y="2793139"/>
                  </a:lnTo>
                  <a:lnTo>
                    <a:pt x="19262" y="2839561"/>
                  </a:lnTo>
                  <a:lnTo>
                    <a:pt x="33736" y="2884368"/>
                  </a:lnTo>
                  <a:lnTo>
                    <a:pt x="51919" y="2927370"/>
                  </a:lnTo>
                  <a:lnTo>
                    <a:pt x="73622" y="2968375"/>
                  </a:lnTo>
                  <a:lnTo>
                    <a:pt x="98653" y="3007194"/>
                  </a:lnTo>
                  <a:lnTo>
                    <a:pt x="126823" y="3043636"/>
                  </a:lnTo>
                  <a:lnTo>
                    <a:pt x="157940" y="3077511"/>
                  </a:lnTo>
                  <a:lnTo>
                    <a:pt x="191815" y="3108628"/>
                  </a:lnTo>
                  <a:lnTo>
                    <a:pt x="228257" y="3136798"/>
                  </a:lnTo>
                  <a:lnTo>
                    <a:pt x="267076" y="3161829"/>
                  </a:lnTo>
                  <a:lnTo>
                    <a:pt x="308081" y="3183532"/>
                  </a:lnTo>
                  <a:lnTo>
                    <a:pt x="351083" y="3201715"/>
                  </a:lnTo>
                  <a:lnTo>
                    <a:pt x="395890" y="3216189"/>
                  </a:lnTo>
                  <a:lnTo>
                    <a:pt x="442312" y="3226764"/>
                  </a:lnTo>
                  <a:lnTo>
                    <a:pt x="490160" y="3233248"/>
                  </a:lnTo>
                  <a:lnTo>
                    <a:pt x="539241" y="3235452"/>
                  </a:lnTo>
                  <a:lnTo>
                    <a:pt x="4916678" y="3235452"/>
                  </a:lnTo>
                  <a:lnTo>
                    <a:pt x="4965759" y="3233248"/>
                  </a:lnTo>
                  <a:lnTo>
                    <a:pt x="5013607" y="3226764"/>
                  </a:lnTo>
                  <a:lnTo>
                    <a:pt x="5060029" y="3216189"/>
                  </a:lnTo>
                  <a:lnTo>
                    <a:pt x="5104836" y="3201715"/>
                  </a:lnTo>
                  <a:lnTo>
                    <a:pt x="5147838" y="3183532"/>
                  </a:lnTo>
                  <a:lnTo>
                    <a:pt x="5188843" y="3161829"/>
                  </a:lnTo>
                  <a:lnTo>
                    <a:pt x="5227662" y="3136798"/>
                  </a:lnTo>
                  <a:lnTo>
                    <a:pt x="5264104" y="3108628"/>
                  </a:lnTo>
                  <a:lnTo>
                    <a:pt x="5297979" y="3077511"/>
                  </a:lnTo>
                  <a:lnTo>
                    <a:pt x="5329096" y="3043636"/>
                  </a:lnTo>
                  <a:lnTo>
                    <a:pt x="5357266" y="3007194"/>
                  </a:lnTo>
                  <a:lnTo>
                    <a:pt x="5382297" y="2968375"/>
                  </a:lnTo>
                  <a:lnTo>
                    <a:pt x="5404000" y="2927370"/>
                  </a:lnTo>
                  <a:lnTo>
                    <a:pt x="5422183" y="2884368"/>
                  </a:lnTo>
                  <a:lnTo>
                    <a:pt x="5436657" y="2839561"/>
                  </a:lnTo>
                  <a:lnTo>
                    <a:pt x="5447232" y="2793139"/>
                  </a:lnTo>
                  <a:lnTo>
                    <a:pt x="5453716" y="2745291"/>
                  </a:lnTo>
                  <a:lnTo>
                    <a:pt x="5455920" y="2696210"/>
                  </a:lnTo>
                  <a:lnTo>
                    <a:pt x="5455920" y="539242"/>
                  </a:lnTo>
                  <a:lnTo>
                    <a:pt x="5453716" y="490160"/>
                  </a:lnTo>
                  <a:lnTo>
                    <a:pt x="5447232" y="442312"/>
                  </a:lnTo>
                  <a:lnTo>
                    <a:pt x="5436657" y="395890"/>
                  </a:lnTo>
                  <a:lnTo>
                    <a:pt x="5422183" y="351083"/>
                  </a:lnTo>
                  <a:lnTo>
                    <a:pt x="5404000" y="308081"/>
                  </a:lnTo>
                  <a:lnTo>
                    <a:pt x="5382297" y="267076"/>
                  </a:lnTo>
                  <a:lnTo>
                    <a:pt x="5357266" y="228257"/>
                  </a:lnTo>
                  <a:lnTo>
                    <a:pt x="5329096" y="191815"/>
                  </a:lnTo>
                  <a:lnTo>
                    <a:pt x="5297979" y="157940"/>
                  </a:lnTo>
                  <a:lnTo>
                    <a:pt x="5264104" y="126823"/>
                  </a:lnTo>
                  <a:lnTo>
                    <a:pt x="5227662" y="98653"/>
                  </a:lnTo>
                  <a:lnTo>
                    <a:pt x="5188843" y="73622"/>
                  </a:lnTo>
                  <a:lnTo>
                    <a:pt x="5147838" y="51919"/>
                  </a:lnTo>
                  <a:lnTo>
                    <a:pt x="5104836" y="33736"/>
                  </a:lnTo>
                  <a:lnTo>
                    <a:pt x="5060029" y="19262"/>
                  </a:lnTo>
                  <a:lnTo>
                    <a:pt x="5013607" y="8687"/>
                  </a:lnTo>
                  <a:lnTo>
                    <a:pt x="4965759" y="2203"/>
                  </a:lnTo>
                  <a:lnTo>
                    <a:pt x="4916678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20967" y="963168"/>
              <a:ext cx="5455920" cy="3235960"/>
            </a:xfrm>
            <a:custGeom>
              <a:avLst/>
              <a:gdLst/>
              <a:ahLst/>
              <a:cxnLst/>
              <a:rect l="l" t="t" r="r" b="b"/>
              <a:pathLst>
                <a:path w="5455920" h="3235960">
                  <a:moveTo>
                    <a:pt x="0" y="539242"/>
                  </a:moveTo>
                  <a:lnTo>
                    <a:pt x="2203" y="490160"/>
                  </a:lnTo>
                  <a:lnTo>
                    <a:pt x="8687" y="442312"/>
                  </a:lnTo>
                  <a:lnTo>
                    <a:pt x="19262" y="395890"/>
                  </a:lnTo>
                  <a:lnTo>
                    <a:pt x="33736" y="351083"/>
                  </a:lnTo>
                  <a:lnTo>
                    <a:pt x="51919" y="308081"/>
                  </a:lnTo>
                  <a:lnTo>
                    <a:pt x="73622" y="267076"/>
                  </a:lnTo>
                  <a:lnTo>
                    <a:pt x="98653" y="228257"/>
                  </a:lnTo>
                  <a:lnTo>
                    <a:pt x="126823" y="191815"/>
                  </a:lnTo>
                  <a:lnTo>
                    <a:pt x="157940" y="157940"/>
                  </a:lnTo>
                  <a:lnTo>
                    <a:pt x="191815" y="126823"/>
                  </a:lnTo>
                  <a:lnTo>
                    <a:pt x="228257" y="98653"/>
                  </a:lnTo>
                  <a:lnTo>
                    <a:pt x="267076" y="73622"/>
                  </a:lnTo>
                  <a:lnTo>
                    <a:pt x="308081" y="51919"/>
                  </a:lnTo>
                  <a:lnTo>
                    <a:pt x="351083" y="33736"/>
                  </a:lnTo>
                  <a:lnTo>
                    <a:pt x="395890" y="19262"/>
                  </a:lnTo>
                  <a:lnTo>
                    <a:pt x="442312" y="8687"/>
                  </a:lnTo>
                  <a:lnTo>
                    <a:pt x="490160" y="2203"/>
                  </a:lnTo>
                  <a:lnTo>
                    <a:pt x="539241" y="0"/>
                  </a:lnTo>
                  <a:lnTo>
                    <a:pt x="4916678" y="0"/>
                  </a:lnTo>
                  <a:lnTo>
                    <a:pt x="4965759" y="2203"/>
                  </a:lnTo>
                  <a:lnTo>
                    <a:pt x="5013607" y="8687"/>
                  </a:lnTo>
                  <a:lnTo>
                    <a:pt x="5060029" y="19262"/>
                  </a:lnTo>
                  <a:lnTo>
                    <a:pt x="5104836" y="33736"/>
                  </a:lnTo>
                  <a:lnTo>
                    <a:pt x="5147838" y="51919"/>
                  </a:lnTo>
                  <a:lnTo>
                    <a:pt x="5188843" y="73622"/>
                  </a:lnTo>
                  <a:lnTo>
                    <a:pt x="5227662" y="98653"/>
                  </a:lnTo>
                  <a:lnTo>
                    <a:pt x="5264104" y="126823"/>
                  </a:lnTo>
                  <a:lnTo>
                    <a:pt x="5297979" y="157940"/>
                  </a:lnTo>
                  <a:lnTo>
                    <a:pt x="5329096" y="191815"/>
                  </a:lnTo>
                  <a:lnTo>
                    <a:pt x="5357266" y="228257"/>
                  </a:lnTo>
                  <a:lnTo>
                    <a:pt x="5382297" y="267076"/>
                  </a:lnTo>
                  <a:lnTo>
                    <a:pt x="5404000" y="308081"/>
                  </a:lnTo>
                  <a:lnTo>
                    <a:pt x="5422183" y="351083"/>
                  </a:lnTo>
                  <a:lnTo>
                    <a:pt x="5436657" y="395890"/>
                  </a:lnTo>
                  <a:lnTo>
                    <a:pt x="5447232" y="442312"/>
                  </a:lnTo>
                  <a:lnTo>
                    <a:pt x="5453716" y="490160"/>
                  </a:lnTo>
                  <a:lnTo>
                    <a:pt x="5455920" y="539242"/>
                  </a:lnTo>
                  <a:lnTo>
                    <a:pt x="5455920" y="2696210"/>
                  </a:lnTo>
                  <a:lnTo>
                    <a:pt x="5453716" y="2745291"/>
                  </a:lnTo>
                  <a:lnTo>
                    <a:pt x="5447232" y="2793139"/>
                  </a:lnTo>
                  <a:lnTo>
                    <a:pt x="5436657" y="2839561"/>
                  </a:lnTo>
                  <a:lnTo>
                    <a:pt x="5422183" y="2884368"/>
                  </a:lnTo>
                  <a:lnTo>
                    <a:pt x="5404000" y="2927370"/>
                  </a:lnTo>
                  <a:lnTo>
                    <a:pt x="5382297" y="2968375"/>
                  </a:lnTo>
                  <a:lnTo>
                    <a:pt x="5357266" y="3007194"/>
                  </a:lnTo>
                  <a:lnTo>
                    <a:pt x="5329096" y="3043636"/>
                  </a:lnTo>
                  <a:lnTo>
                    <a:pt x="5297979" y="3077511"/>
                  </a:lnTo>
                  <a:lnTo>
                    <a:pt x="5264104" y="3108628"/>
                  </a:lnTo>
                  <a:lnTo>
                    <a:pt x="5227662" y="3136798"/>
                  </a:lnTo>
                  <a:lnTo>
                    <a:pt x="5188843" y="3161829"/>
                  </a:lnTo>
                  <a:lnTo>
                    <a:pt x="5147838" y="3183532"/>
                  </a:lnTo>
                  <a:lnTo>
                    <a:pt x="5104836" y="3201715"/>
                  </a:lnTo>
                  <a:lnTo>
                    <a:pt x="5060029" y="3216189"/>
                  </a:lnTo>
                  <a:lnTo>
                    <a:pt x="5013607" y="3226764"/>
                  </a:lnTo>
                  <a:lnTo>
                    <a:pt x="4965759" y="3233248"/>
                  </a:lnTo>
                  <a:lnTo>
                    <a:pt x="4916678" y="3235452"/>
                  </a:lnTo>
                  <a:lnTo>
                    <a:pt x="539241" y="3235452"/>
                  </a:lnTo>
                  <a:lnTo>
                    <a:pt x="490160" y="3233248"/>
                  </a:lnTo>
                  <a:lnTo>
                    <a:pt x="442312" y="3226764"/>
                  </a:lnTo>
                  <a:lnTo>
                    <a:pt x="395890" y="3216189"/>
                  </a:lnTo>
                  <a:lnTo>
                    <a:pt x="351083" y="3201715"/>
                  </a:lnTo>
                  <a:lnTo>
                    <a:pt x="308081" y="3183532"/>
                  </a:lnTo>
                  <a:lnTo>
                    <a:pt x="267076" y="3161829"/>
                  </a:lnTo>
                  <a:lnTo>
                    <a:pt x="228257" y="3136798"/>
                  </a:lnTo>
                  <a:lnTo>
                    <a:pt x="191815" y="3108628"/>
                  </a:lnTo>
                  <a:lnTo>
                    <a:pt x="157940" y="3077511"/>
                  </a:lnTo>
                  <a:lnTo>
                    <a:pt x="126823" y="3043636"/>
                  </a:lnTo>
                  <a:lnTo>
                    <a:pt x="98653" y="3007194"/>
                  </a:lnTo>
                  <a:lnTo>
                    <a:pt x="73622" y="2968375"/>
                  </a:lnTo>
                  <a:lnTo>
                    <a:pt x="51919" y="2927370"/>
                  </a:lnTo>
                  <a:lnTo>
                    <a:pt x="33736" y="2884368"/>
                  </a:lnTo>
                  <a:lnTo>
                    <a:pt x="19262" y="2839561"/>
                  </a:lnTo>
                  <a:lnTo>
                    <a:pt x="8687" y="2793139"/>
                  </a:lnTo>
                  <a:lnTo>
                    <a:pt x="2203" y="2745291"/>
                  </a:lnTo>
                  <a:lnTo>
                    <a:pt x="0" y="2696210"/>
                  </a:lnTo>
                  <a:lnTo>
                    <a:pt x="0" y="53924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458458" y="1141933"/>
            <a:ext cx="1976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Divya,</a:t>
            </a: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age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r>
              <a:rPr sz="16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(Student)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58458" y="1386332"/>
            <a:ext cx="430466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0195" marR="5080" indent="-278130">
              <a:lnSpc>
                <a:spcPct val="100000"/>
              </a:lnSpc>
              <a:spcBef>
                <a:spcPts val="105"/>
              </a:spcBef>
              <a:buChar char="•"/>
              <a:tabLst>
                <a:tab pos="290195" algn="l"/>
                <a:tab pos="299085" algn="l"/>
              </a:tabLst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Delhi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lives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Paying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Guest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near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r>
              <a:rPr sz="1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premises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friend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groups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58458" y="2026412"/>
            <a:ext cx="29889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 behaviour</a:t>
            </a:r>
            <a:r>
              <a:rPr sz="14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regarding</a:t>
            </a:r>
            <a:r>
              <a:rPr sz="1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food</a:t>
            </a:r>
            <a:r>
              <a:rPr sz="14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ordering: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58458" y="2239772"/>
            <a:ext cx="4928235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fixed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eating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schedule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Hangs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out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with</a:t>
            </a:r>
            <a:r>
              <a:rPr sz="14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friends</a:t>
            </a:r>
            <a:r>
              <a:rPr sz="14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at</a:t>
            </a:r>
            <a:r>
              <a:rPr sz="14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the</a:t>
            </a:r>
            <a:r>
              <a:rPr sz="14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food</a:t>
            </a:r>
            <a:r>
              <a:rPr sz="14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hotspots/stalls/tapris</a:t>
            </a:r>
            <a:r>
              <a:rPr sz="14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around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the</a:t>
            </a:r>
            <a:r>
              <a:rPr sz="1400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university</a:t>
            </a:r>
            <a:r>
              <a:rPr sz="14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area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Receives</a:t>
            </a:r>
            <a:r>
              <a:rPr sz="14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monthly</a:t>
            </a:r>
            <a:r>
              <a:rPr sz="14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allowance</a:t>
            </a:r>
            <a:r>
              <a:rPr sz="14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from</a:t>
            </a:r>
            <a:r>
              <a:rPr sz="1400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parents,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has</a:t>
            </a:r>
            <a:r>
              <a:rPr sz="14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limited</a:t>
            </a:r>
            <a:r>
              <a:rPr sz="14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budget</a:t>
            </a:r>
            <a:endParaRPr sz="1400">
              <a:latin typeface="Calibri"/>
              <a:cs typeface="Calibri"/>
            </a:endParaRPr>
          </a:p>
          <a:p>
            <a:pPr marL="299085" marR="623570" indent="-287020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Orders</a:t>
            </a:r>
            <a:r>
              <a:rPr sz="14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out</a:t>
            </a:r>
            <a:r>
              <a:rPr sz="14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whenever</a:t>
            </a:r>
            <a:r>
              <a:rPr sz="14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not</a:t>
            </a:r>
            <a:r>
              <a:rPr sz="14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feeling</a:t>
            </a:r>
            <a:r>
              <a:rPr sz="14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like</a:t>
            </a:r>
            <a:r>
              <a:rPr sz="1400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going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out</a:t>
            </a:r>
            <a:r>
              <a:rPr sz="1400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or</a:t>
            </a:r>
            <a:r>
              <a:rPr sz="1400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when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burdened</a:t>
            </a:r>
            <a:r>
              <a:rPr sz="1400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with</a:t>
            </a:r>
            <a:r>
              <a:rPr sz="1400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college</a:t>
            </a:r>
            <a:r>
              <a:rPr sz="1400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work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10527" y="3733546"/>
            <a:ext cx="3876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solidFill>
                  <a:srgbClr val="FFFFFF"/>
                </a:solidFill>
                <a:latin typeface="Calibri"/>
                <a:cs typeface="Calibri"/>
              </a:rPr>
              <a:t>Ordering</a:t>
            </a:r>
            <a:r>
              <a:rPr sz="1400" b="1" i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FFFFFF"/>
                </a:solidFill>
                <a:latin typeface="Calibri"/>
                <a:cs typeface="Calibri"/>
              </a:rPr>
              <a:t>food</a:t>
            </a:r>
            <a:r>
              <a:rPr sz="1400" b="1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1400" b="1" i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FFFFFF"/>
                </a:solidFill>
                <a:latin typeface="Calibri"/>
                <a:cs typeface="Calibri"/>
              </a:rPr>
              <a:t>going</a:t>
            </a:r>
            <a:r>
              <a:rPr sz="1400" b="1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FFFFFF"/>
                </a:solidFill>
                <a:latin typeface="Calibri"/>
                <a:cs typeface="Calibri"/>
              </a:rPr>
              <a:t>out</a:t>
            </a:r>
            <a:r>
              <a:rPr sz="1400" b="1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400" b="1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i="1" dirty="0">
                <a:solidFill>
                  <a:srgbClr val="FFFFFF"/>
                </a:solidFill>
                <a:latin typeface="Calibri"/>
                <a:cs typeface="Calibri"/>
              </a:rPr>
              <a:t>eat:</a:t>
            </a:r>
            <a:r>
              <a:rPr sz="1400" b="1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FFFFFF"/>
                </a:solidFill>
                <a:latin typeface="Calibri"/>
                <a:cs typeface="Calibri"/>
              </a:rPr>
              <a:t>20-</a:t>
            </a:r>
            <a:r>
              <a:rPr sz="1400" b="1" i="1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r>
              <a:rPr sz="1400" b="1" i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FFFFFF"/>
                </a:solidFill>
                <a:latin typeface="Calibri"/>
                <a:cs typeface="Calibri"/>
              </a:rPr>
              <a:t>distribution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1781" y="6179058"/>
            <a:ext cx="11233785" cy="58547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sense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target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Rishabh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10" dirty="0">
                <a:latin typeface="Calibri"/>
                <a:cs typeface="Calibri"/>
              </a:rPr>
              <a:t> urgent,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unresolved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points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possibly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solved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10" dirty="0">
                <a:latin typeface="Calibri"/>
                <a:cs typeface="Calibri"/>
              </a:rPr>
              <a:t> Swiggy.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Hence,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moving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forwards,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detail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points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independent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working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them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646676" y="548640"/>
            <a:ext cx="7543165" cy="2259330"/>
            <a:chOff x="4646676" y="548640"/>
            <a:chExt cx="7543165" cy="2259330"/>
          </a:xfrm>
        </p:grpSpPr>
        <p:pic>
          <p:nvPicPr>
            <p:cNvPr id="23" name="object 23" descr="A person with dark hair  Description automatically generated with low confidence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88167" y="548640"/>
              <a:ext cx="1701546" cy="2259329"/>
            </a:xfrm>
            <a:prstGeom prst="rect">
              <a:avLst/>
            </a:prstGeom>
          </p:spPr>
        </p:pic>
        <p:pic>
          <p:nvPicPr>
            <p:cNvPr id="24" name="object 24" descr="A person smiling for the camera  Description automatically generated with medium confidence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6676" y="548640"/>
              <a:ext cx="1797557" cy="2189226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541019" y="4337303"/>
            <a:ext cx="6101080" cy="1702435"/>
            <a:chOff x="541019" y="4337303"/>
            <a:chExt cx="6101080" cy="1702435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019" y="4337303"/>
              <a:ext cx="6100572" cy="170230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49396" y="4742687"/>
              <a:ext cx="1443355" cy="993775"/>
            </a:xfrm>
            <a:custGeom>
              <a:avLst/>
              <a:gdLst/>
              <a:ahLst/>
              <a:cxnLst/>
              <a:rect l="l" t="t" r="r" b="b"/>
              <a:pathLst>
                <a:path w="1443354" h="993775">
                  <a:moveTo>
                    <a:pt x="0" y="0"/>
                  </a:moveTo>
                  <a:lnTo>
                    <a:pt x="0" y="993648"/>
                  </a:lnTo>
                </a:path>
                <a:path w="1443354" h="993775">
                  <a:moveTo>
                    <a:pt x="1443227" y="0"/>
                  </a:moveTo>
                  <a:lnTo>
                    <a:pt x="1443227" y="993648"/>
                  </a:lnTo>
                </a:path>
              </a:pathLst>
            </a:custGeom>
            <a:ln w="9525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6167" y="5541263"/>
              <a:ext cx="2894076" cy="20421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6167" y="5210492"/>
              <a:ext cx="1786128" cy="2118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06167" y="4878260"/>
              <a:ext cx="2894076" cy="21189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06167" y="5422391"/>
              <a:ext cx="1498092" cy="2118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106167" y="5091620"/>
              <a:ext cx="2363724" cy="2118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6167" y="4759388"/>
              <a:ext cx="1786128" cy="2118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06167" y="5580887"/>
              <a:ext cx="2886456" cy="990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06167" y="5250179"/>
              <a:ext cx="1731263" cy="9905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06167" y="4917947"/>
              <a:ext cx="2886456" cy="990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106167" y="5131307"/>
              <a:ext cx="2308860" cy="990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06167" y="5462015"/>
              <a:ext cx="1443228" cy="9905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06167" y="4799075"/>
              <a:ext cx="1731263" cy="9906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106167" y="4742687"/>
              <a:ext cx="0" cy="993775"/>
            </a:xfrm>
            <a:custGeom>
              <a:avLst/>
              <a:gdLst/>
              <a:ahLst/>
              <a:cxnLst/>
              <a:rect l="l" t="t" r="r" b="b"/>
              <a:pathLst>
                <a:path h="993775">
                  <a:moveTo>
                    <a:pt x="0" y="99364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055622" y="5814771"/>
            <a:ext cx="3027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4785" algn="l"/>
                <a:tab pos="2859405" algn="l"/>
              </a:tabLst>
            </a:pPr>
            <a:r>
              <a:rPr sz="1200" spc="-50" dirty="0">
                <a:solidFill>
                  <a:srgbClr val="D9D9D9"/>
                </a:solidFill>
                <a:latin typeface="Calibri"/>
                <a:cs typeface="Calibri"/>
              </a:rPr>
              <a:t>0</a:t>
            </a:r>
            <a:r>
              <a:rPr sz="1200" dirty="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sz="1200" spc="-50" dirty="0">
                <a:solidFill>
                  <a:srgbClr val="D9D9D9"/>
                </a:solidFill>
                <a:latin typeface="Calibri"/>
                <a:cs typeface="Calibri"/>
              </a:rPr>
              <a:t>5</a:t>
            </a:r>
            <a:r>
              <a:rPr sz="1200" dirty="0">
                <a:solidFill>
                  <a:srgbClr val="D9D9D9"/>
                </a:solidFill>
                <a:latin typeface="Calibri"/>
                <a:cs typeface="Calibri"/>
              </a:rPr>
              <a:t>	</a:t>
            </a:r>
            <a:r>
              <a:rPr sz="1200" spc="-25" dirty="0">
                <a:solidFill>
                  <a:srgbClr val="D9D9D9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91590" y="5463032"/>
            <a:ext cx="90551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D9D9D9"/>
                </a:solidFill>
                <a:latin typeface="Calibri"/>
                <a:cs typeface="Calibri"/>
              </a:rPr>
              <a:t>Time</a:t>
            </a:r>
            <a:r>
              <a:rPr sz="1050" spc="-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D9D9D9"/>
                </a:solidFill>
                <a:latin typeface="Calibri"/>
                <a:cs typeface="Calibri"/>
              </a:rPr>
              <a:t>availability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79119" y="5131384"/>
            <a:ext cx="101790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D9D9D9"/>
                </a:solidFill>
                <a:latin typeface="Calibri"/>
                <a:cs typeface="Calibri"/>
              </a:rPr>
              <a:t>Money</a:t>
            </a:r>
            <a:r>
              <a:rPr sz="105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D9D9D9"/>
                </a:solidFill>
                <a:latin typeface="Calibri"/>
                <a:cs typeface="Calibri"/>
              </a:rPr>
              <a:t>availability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2561" y="4718380"/>
            <a:ext cx="1364615" cy="349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D9D9D9"/>
                </a:solidFill>
                <a:latin typeface="Calibri"/>
                <a:cs typeface="Calibri"/>
              </a:rPr>
              <a:t>Bandwidth</a:t>
            </a:r>
            <a:r>
              <a:rPr sz="1050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9D9D9"/>
                </a:solidFill>
                <a:latin typeface="Calibri"/>
                <a:cs typeface="Calibri"/>
              </a:rPr>
              <a:t>to</a:t>
            </a:r>
            <a:r>
              <a:rPr sz="1050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D9D9D9"/>
                </a:solidFill>
                <a:latin typeface="Calibri"/>
                <a:cs typeface="Calibri"/>
              </a:rPr>
              <a:t>try</a:t>
            </a:r>
            <a:r>
              <a:rPr sz="1050" spc="-15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D9D9D9"/>
                </a:solidFill>
                <a:latin typeface="Calibri"/>
                <a:cs typeface="Calibri"/>
              </a:rPr>
              <a:t>various</a:t>
            </a:r>
            <a:endParaRPr sz="10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050" spc="-10" dirty="0">
                <a:solidFill>
                  <a:srgbClr val="D9D9D9"/>
                </a:solidFill>
                <a:latin typeface="Calibri"/>
                <a:cs typeface="Calibri"/>
              </a:rPr>
              <a:t>options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07947" y="4379963"/>
            <a:ext cx="5016246" cy="357390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1204366" y="4413250"/>
            <a:ext cx="4752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75" dirty="0">
                <a:solidFill>
                  <a:srgbClr val="F1F1F1"/>
                </a:solidFill>
                <a:latin typeface="Calibri"/>
                <a:cs typeface="Calibri"/>
              </a:rPr>
              <a:t>Comparative</a:t>
            </a:r>
            <a:r>
              <a:rPr sz="1200" b="1" spc="2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200" b="1" spc="75" dirty="0">
                <a:solidFill>
                  <a:srgbClr val="F1F1F1"/>
                </a:solidFill>
                <a:latin typeface="Calibri"/>
                <a:cs typeface="Calibri"/>
              </a:rPr>
              <a:t>analysis</a:t>
            </a:r>
            <a:r>
              <a:rPr sz="1200" b="1" spc="27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1F1F1"/>
                </a:solidFill>
                <a:latin typeface="Calibri"/>
                <a:cs typeface="Calibri"/>
              </a:rPr>
              <a:t>of</a:t>
            </a:r>
            <a:r>
              <a:rPr sz="1200" b="1" spc="24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200" b="1" spc="75" dirty="0">
                <a:solidFill>
                  <a:srgbClr val="F1F1F1"/>
                </a:solidFill>
                <a:latin typeface="Calibri"/>
                <a:cs typeface="Calibri"/>
              </a:rPr>
              <a:t>students</a:t>
            </a:r>
            <a:r>
              <a:rPr sz="1200" b="1" spc="2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1F1F1"/>
                </a:solidFill>
                <a:latin typeface="Calibri"/>
                <a:cs typeface="Calibri"/>
              </a:rPr>
              <a:t>vs</a:t>
            </a:r>
            <a:r>
              <a:rPr sz="1200" b="1" spc="2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200" b="1" spc="80" dirty="0">
                <a:solidFill>
                  <a:srgbClr val="F1F1F1"/>
                </a:solidFill>
                <a:latin typeface="Calibri"/>
                <a:cs typeface="Calibri"/>
              </a:rPr>
              <a:t>independent</a:t>
            </a:r>
            <a:r>
              <a:rPr sz="1200" b="1" spc="26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200" b="1" spc="75" dirty="0">
                <a:solidFill>
                  <a:srgbClr val="F1F1F1"/>
                </a:solidFill>
                <a:latin typeface="Calibri"/>
                <a:cs typeface="Calibri"/>
              </a:rPr>
              <a:t>working</a:t>
            </a:r>
            <a:r>
              <a:rPr sz="1200" b="1" spc="229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1200" b="1" spc="50" dirty="0">
                <a:solidFill>
                  <a:srgbClr val="F1F1F1"/>
                </a:solidFill>
                <a:latin typeface="Calibri"/>
                <a:cs typeface="Calibri"/>
              </a:rPr>
              <a:t>class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417820" y="4957571"/>
            <a:ext cx="83820" cy="485140"/>
            <a:chOff x="5417820" y="4957571"/>
            <a:chExt cx="83820" cy="485140"/>
          </a:xfrm>
        </p:grpSpPr>
        <p:pic>
          <p:nvPicPr>
            <p:cNvPr id="48" name="object 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17820" y="4957571"/>
              <a:ext cx="83820" cy="8381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17820" y="5358383"/>
              <a:ext cx="83820" cy="83819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5527040" y="4878451"/>
            <a:ext cx="849630" cy="6096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sz="1200" spc="-10" dirty="0">
                <a:solidFill>
                  <a:srgbClr val="D9D9D9"/>
                </a:solidFill>
                <a:latin typeface="Calibri"/>
                <a:cs typeface="Calibri"/>
              </a:rPr>
              <a:t>Independent </a:t>
            </a:r>
            <a:r>
              <a:rPr sz="1200" dirty="0">
                <a:solidFill>
                  <a:srgbClr val="D9D9D9"/>
                </a:solidFill>
                <a:latin typeface="Calibri"/>
                <a:cs typeface="Calibri"/>
              </a:rPr>
              <a:t>working</a:t>
            </a:r>
            <a:r>
              <a:rPr sz="1200" spc="-30" dirty="0">
                <a:solidFill>
                  <a:srgbClr val="D9D9D9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D9D9D9"/>
                </a:solidFill>
                <a:latin typeface="Calibri"/>
                <a:cs typeface="Calibri"/>
              </a:rPr>
              <a:t>class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200" spc="-10" dirty="0">
                <a:solidFill>
                  <a:srgbClr val="D9D9D9"/>
                </a:solidFill>
                <a:latin typeface="Calibri"/>
                <a:cs typeface="Calibri"/>
              </a:rPr>
              <a:t>Students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816090" y="4342638"/>
            <a:ext cx="4959350" cy="156972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1200" b="1" dirty="0">
                <a:latin typeface="Calibri"/>
                <a:cs typeface="Calibri"/>
              </a:rPr>
              <a:t>Intensity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vs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Frequency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issues</a:t>
            </a:r>
            <a:endParaRPr sz="1200">
              <a:latin typeface="Calibri"/>
              <a:cs typeface="Calibri"/>
            </a:endParaRPr>
          </a:p>
          <a:p>
            <a:pPr marL="90805" marR="212090">
              <a:lnSpc>
                <a:spcPct val="100000"/>
              </a:lnSpc>
              <a:spcBef>
                <a:spcPts val="1440"/>
              </a:spcBef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Intensity</a:t>
            </a:r>
            <a:r>
              <a:rPr sz="12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2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issue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independent</a:t>
            </a:r>
            <a:r>
              <a:rPr sz="12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working</a:t>
            </a:r>
            <a:r>
              <a:rPr sz="12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class</a:t>
            </a:r>
            <a:r>
              <a:rPr sz="12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2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greater</a:t>
            </a:r>
            <a:r>
              <a:rPr sz="12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than</a:t>
            </a:r>
            <a:r>
              <a:rPr sz="1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2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students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10" dirty="0">
                <a:latin typeface="Calibri"/>
                <a:cs typeface="Calibri"/>
              </a:rPr>
              <a:t> students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more flexible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bandwidth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check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new </a:t>
            </a:r>
            <a:r>
              <a:rPr sz="1200" dirty="0">
                <a:latin typeface="Calibri"/>
                <a:cs typeface="Calibri"/>
              </a:rPr>
              <a:t>options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online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offline,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independent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working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class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not.</a:t>
            </a:r>
            <a:endParaRPr sz="1200">
              <a:latin typeface="Calibri"/>
              <a:cs typeface="Calibri"/>
            </a:endParaRPr>
          </a:p>
          <a:p>
            <a:pPr marL="90805" marR="103505">
              <a:lnSpc>
                <a:spcPct val="100000"/>
              </a:lnSpc>
              <a:spcBef>
                <a:spcPts val="1445"/>
              </a:spcBef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Frequency</a:t>
            </a:r>
            <a:r>
              <a:rPr sz="12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issue</a:t>
            </a:r>
            <a:r>
              <a:rPr sz="12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2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independent</a:t>
            </a:r>
            <a:r>
              <a:rPr sz="12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working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class</a:t>
            </a:r>
            <a:r>
              <a:rPr sz="1200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greater</a:t>
            </a:r>
            <a:r>
              <a:rPr sz="12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than</a:t>
            </a:r>
            <a:r>
              <a:rPr sz="12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students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almost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daily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problem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people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irregular/long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hours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00">
              <a:lnSpc>
                <a:spcPct val="100000"/>
              </a:lnSpc>
              <a:spcBef>
                <a:spcPts val="105"/>
              </a:spcBef>
            </a:pPr>
            <a:r>
              <a:rPr dirty="0"/>
              <a:t>User</a:t>
            </a:r>
            <a:r>
              <a:rPr spc="-50" dirty="0"/>
              <a:t> </a:t>
            </a:r>
            <a:r>
              <a:rPr dirty="0"/>
              <a:t>flow</a:t>
            </a:r>
            <a:r>
              <a:rPr spc="-6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an</a:t>
            </a:r>
            <a:r>
              <a:rPr spc="-60" dirty="0"/>
              <a:t> </a:t>
            </a:r>
            <a:r>
              <a:rPr dirty="0"/>
              <a:t>existing</a:t>
            </a:r>
            <a:r>
              <a:rPr spc="-50" dirty="0"/>
              <a:t> </a:t>
            </a:r>
            <a:r>
              <a:rPr dirty="0"/>
              <a:t>regular</a:t>
            </a:r>
            <a:r>
              <a:rPr spc="-60" dirty="0"/>
              <a:t> </a:t>
            </a:r>
            <a:r>
              <a:rPr spc="-20" dirty="0"/>
              <a:t>user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78358" y="592073"/>
            <a:ext cx="1603375" cy="3703320"/>
            <a:chOff x="578358" y="592073"/>
            <a:chExt cx="1603375" cy="3703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408" y="611123"/>
              <a:ext cx="1565148" cy="36240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7883" y="601598"/>
              <a:ext cx="1584325" cy="3684270"/>
            </a:xfrm>
            <a:custGeom>
              <a:avLst/>
              <a:gdLst/>
              <a:ahLst/>
              <a:cxnLst/>
              <a:rect l="l" t="t" r="r" b="b"/>
              <a:pathLst>
                <a:path w="1584325" h="3684270">
                  <a:moveTo>
                    <a:pt x="0" y="3684270"/>
                  </a:moveTo>
                  <a:lnTo>
                    <a:pt x="1584198" y="3684270"/>
                  </a:lnTo>
                  <a:lnTo>
                    <a:pt x="1584198" y="0"/>
                  </a:lnTo>
                  <a:lnTo>
                    <a:pt x="0" y="0"/>
                  </a:lnTo>
                  <a:lnTo>
                    <a:pt x="0" y="368427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0424921" y="592073"/>
            <a:ext cx="1603375" cy="3703320"/>
            <a:chOff x="10424921" y="592073"/>
            <a:chExt cx="1603375" cy="37033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43971" y="611123"/>
              <a:ext cx="1565148" cy="362403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434446" y="601598"/>
              <a:ext cx="1584325" cy="3684270"/>
            </a:xfrm>
            <a:custGeom>
              <a:avLst/>
              <a:gdLst/>
              <a:ahLst/>
              <a:cxnLst/>
              <a:rect l="l" t="t" r="r" b="b"/>
              <a:pathLst>
                <a:path w="1584325" h="3684270">
                  <a:moveTo>
                    <a:pt x="0" y="3684270"/>
                  </a:moveTo>
                  <a:lnTo>
                    <a:pt x="1584198" y="3684270"/>
                  </a:lnTo>
                  <a:lnTo>
                    <a:pt x="1584198" y="0"/>
                  </a:lnTo>
                  <a:lnTo>
                    <a:pt x="0" y="0"/>
                  </a:lnTo>
                  <a:lnTo>
                    <a:pt x="0" y="368427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234945" y="592073"/>
            <a:ext cx="8135620" cy="3703320"/>
            <a:chOff x="2234945" y="592073"/>
            <a:chExt cx="8135620" cy="370332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87383" y="611123"/>
              <a:ext cx="1563624" cy="36240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7858" y="601598"/>
              <a:ext cx="1583055" cy="3684270"/>
            </a:xfrm>
            <a:custGeom>
              <a:avLst/>
              <a:gdLst/>
              <a:ahLst/>
              <a:cxnLst/>
              <a:rect l="l" t="t" r="r" b="b"/>
              <a:pathLst>
                <a:path w="1583054" h="3684270">
                  <a:moveTo>
                    <a:pt x="0" y="3684270"/>
                  </a:moveTo>
                  <a:lnTo>
                    <a:pt x="1582674" y="3684270"/>
                  </a:lnTo>
                  <a:lnTo>
                    <a:pt x="1582674" y="0"/>
                  </a:lnTo>
                  <a:lnTo>
                    <a:pt x="0" y="0"/>
                  </a:lnTo>
                  <a:lnTo>
                    <a:pt x="0" y="368427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7560" y="611123"/>
              <a:ext cx="1563624" cy="36652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138035" y="601598"/>
              <a:ext cx="1583055" cy="3684270"/>
            </a:xfrm>
            <a:custGeom>
              <a:avLst/>
              <a:gdLst/>
              <a:ahLst/>
              <a:cxnLst/>
              <a:rect l="l" t="t" r="r" b="b"/>
              <a:pathLst>
                <a:path w="1583054" h="3684270">
                  <a:moveTo>
                    <a:pt x="0" y="3684270"/>
                  </a:moveTo>
                  <a:lnTo>
                    <a:pt x="1582674" y="3684270"/>
                  </a:lnTo>
                  <a:lnTo>
                    <a:pt x="1582674" y="0"/>
                  </a:lnTo>
                  <a:lnTo>
                    <a:pt x="0" y="0"/>
                  </a:lnTo>
                  <a:lnTo>
                    <a:pt x="0" y="368427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6211" y="611123"/>
              <a:ext cx="1563624" cy="362403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496686" y="601598"/>
              <a:ext cx="1583055" cy="3684270"/>
            </a:xfrm>
            <a:custGeom>
              <a:avLst/>
              <a:gdLst/>
              <a:ahLst/>
              <a:cxnLst/>
              <a:rect l="l" t="t" r="r" b="b"/>
              <a:pathLst>
                <a:path w="1583054" h="3684270">
                  <a:moveTo>
                    <a:pt x="0" y="3684270"/>
                  </a:moveTo>
                  <a:lnTo>
                    <a:pt x="1582674" y="3684270"/>
                  </a:lnTo>
                  <a:lnTo>
                    <a:pt x="1582674" y="0"/>
                  </a:lnTo>
                  <a:lnTo>
                    <a:pt x="0" y="0"/>
                  </a:lnTo>
                  <a:lnTo>
                    <a:pt x="0" y="368427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53995" y="611123"/>
              <a:ext cx="1565147" cy="362403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244470" y="601598"/>
              <a:ext cx="1584325" cy="3684270"/>
            </a:xfrm>
            <a:custGeom>
              <a:avLst/>
              <a:gdLst/>
              <a:ahLst/>
              <a:cxnLst/>
              <a:rect l="l" t="t" r="r" b="b"/>
              <a:pathLst>
                <a:path w="1584325" h="3684270">
                  <a:moveTo>
                    <a:pt x="0" y="3684270"/>
                  </a:moveTo>
                  <a:lnTo>
                    <a:pt x="1584197" y="3684270"/>
                  </a:lnTo>
                  <a:lnTo>
                    <a:pt x="1584197" y="0"/>
                  </a:lnTo>
                  <a:lnTo>
                    <a:pt x="0" y="0"/>
                  </a:lnTo>
                  <a:lnTo>
                    <a:pt x="0" y="368427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80103" y="611123"/>
              <a:ext cx="1563624" cy="362403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870578" y="601598"/>
              <a:ext cx="1583055" cy="3684270"/>
            </a:xfrm>
            <a:custGeom>
              <a:avLst/>
              <a:gdLst/>
              <a:ahLst/>
              <a:cxnLst/>
              <a:rect l="l" t="t" r="r" b="b"/>
              <a:pathLst>
                <a:path w="1583054" h="3684270">
                  <a:moveTo>
                    <a:pt x="0" y="3684270"/>
                  </a:moveTo>
                  <a:lnTo>
                    <a:pt x="1582674" y="3684270"/>
                  </a:lnTo>
                  <a:lnTo>
                    <a:pt x="1582674" y="0"/>
                  </a:lnTo>
                  <a:lnTo>
                    <a:pt x="0" y="0"/>
                  </a:lnTo>
                  <a:lnTo>
                    <a:pt x="0" y="368427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14248" y="4362704"/>
            <a:ext cx="14643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1.</a:t>
            </a:r>
            <a:r>
              <a:rPr sz="12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Location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access: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location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is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turned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 </a:t>
            </a:r>
            <a:r>
              <a:rPr sz="1200" spc="-10" dirty="0">
                <a:latin typeface="Calibri"/>
                <a:cs typeface="Calibri"/>
              </a:rPr>
              <a:t>existing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dirty="0">
                <a:latin typeface="Calibri"/>
                <a:cs typeface="Calibri"/>
              </a:rPr>
              <a:t>either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turn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location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location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their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saved </a:t>
            </a:r>
            <a:r>
              <a:rPr sz="1200" spc="-10" dirty="0">
                <a:latin typeface="Calibri"/>
                <a:cs typeface="Calibri"/>
              </a:rPr>
              <a:t>addresses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33370" y="4362704"/>
            <a:ext cx="136842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5125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2.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Choosing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service: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select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service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</a:t>
            </a:r>
            <a:r>
              <a:rPr sz="1200" spc="-25" dirty="0">
                <a:latin typeface="Calibri"/>
                <a:cs typeface="Calibri"/>
              </a:rPr>
              <a:t> he </a:t>
            </a:r>
            <a:r>
              <a:rPr sz="1200" dirty="0">
                <a:latin typeface="Calibri"/>
                <a:cs typeface="Calibri"/>
              </a:rPr>
              <a:t>wants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opt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from </a:t>
            </a:r>
            <a:r>
              <a:rPr sz="1200" dirty="0">
                <a:latin typeface="Calibri"/>
                <a:cs typeface="Calibri"/>
              </a:rPr>
              <a:t>food,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grocery,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genie, </a:t>
            </a:r>
            <a:r>
              <a:rPr sz="1200" spc="-25" dirty="0">
                <a:latin typeface="Calibri"/>
                <a:cs typeface="Calibri"/>
              </a:rPr>
              <a:t>etc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84853" y="4362704"/>
            <a:ext cx="1616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3.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Selecting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restaurant/food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category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select </a:t>
            </a:r>
            <a:r>
              <a:rPr sz="1200" spc="-25" dirty="0">
                <a:latin typeface="Calibri"/>
                <a:cs typeface="Calibri"/>
              </a:rPr>
              <a:t>the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84853" y="5094478"/>
            <a:ext cx="169798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that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(s)he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wants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order </a:t>
            </a:r>
            <a:r>
              <a:rPr sz="1200" dirty="0">
                <a:latin typeface="Calibri"/>
                <a:cs typeface="Calibri"/>
              </a:rPr>
              <a:t>from.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first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the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most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taking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parts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of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flow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53836" y="4362704"/>
            <a:ext cx="1493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4.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Selecting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2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item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After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zeroing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down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on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restaurant,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has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84853" y="4911039"/>
            <a:ext cx="32442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restaurant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food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category</a:t>
            </a:r>
            <a:r>
              <a:rPr sz="1200" spc="29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select 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final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items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53836" y="5094478"/>
            <a:ext cx="14478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they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order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them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cart </a:t>
            </a:r>
            <a:r>
              <a:rPr sz="1200" spc="-10" dirty="0">
                <a:latin typeface="Calibri"/>
                <a:cs typeface="Calibri"/>
              </a:rPr>
              <a:t>individually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67753" y="4545583"/>
            <a:ext cx="15989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cases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where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is </a:t>
            </a:r>
            <a:r>
              <a:rPr sz="1200" dirty="0">
                <a:latin typeface="Calibri"/>
                <a:cs typeface="Calibri"/>
              </a:rPr>
              <a:t>applicable,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 </a:t>
            </a:r>
            <a:r>
              <a:rPr sz="1200" spc="-10" dirty="0">
                <a:latin typeface="Calibri"/>
                <a:cs typeface="Calibri"/>
              </a:rPr>
              <a:t>customize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order</a:t>
            </a:r>
            <a:r>
              <a:rPr sz="1200" spc="-20" dirty="0">
                <a:latin typeface="Calibri"/>
                <a:cs typeface="Calibri"/>
              </a:rPr>
              <a:t> from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various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options available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167753" y="4362704"/>
            <a:ext cx="3168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5.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Customization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items</a:t>
            </a:r>
            <a:r>
              <a:rPr sz="1200" b="1" spc="285" dirty="0">
                <a:latin typeface="Calibri"/>
                <a:cs typeface="Calibri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6.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Delivery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instructions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850630" y="4545583"/>
            <a:ext cx="16122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applying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offers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User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special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cooking instructions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goes </a:t>
            </a:r>
            <a:r>
              <a:rPr sz="1200" dirty="0">
                <a:latin typeface="Calibri"/>
                <a:cs typeface="Calibri"/>
              </a:rPr>
              <a:t>through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applicable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offers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order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for </a:t>
            </a:r>
            <a:r>
              <a:rPr sz="1200" spc="-10" dirty="0">
                <a:latin typeface="Calibri"/>
                <a:cs typeface="Calibri"/>
              </a:rPr>
              <a:t>discounts/benefits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550779" y="4362704"/>
            <a:ext cx="123253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7.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Final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payment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Selecting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spc="-10" dirty="0">
                <a:latin typeface="Calibri"/>
                <a:cs typeface="Calibri"/>
              </a:rPr>
              <a:t>payment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mode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and </a:t>
            </a:r>
            <a:r>
              <a:rPr sz="1200" dirty="0">
                <a:latin typeface="Calibri"/>
                <a:cs typeface="Calibri"/>
              </a:rPr>
              <a:t>going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through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steps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complete payment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spc="-20" dirty="0">
                <a:latin typeface="Calibri"/>
                <a:cs typeface="Calibri"/>
              </a:rPr>
              <a:t>order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94645" y="5901093"/>
          <a:ext cx="11988799" cy="913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9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5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4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4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00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281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marL="90805" marR="259079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20" dirty="0">
                          <a:latin typeface="Calibri"/>
                          <a:cs typeface="Calibri"/>
                        </a:rPr>
                        <a:t>Psych 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rating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000"/>
                      </a:solidFill>
                      <a:prstDash val="solid"/>
                    </a:lnL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R="12890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psych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6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600" b="1" spc="-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600" b="1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psych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b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psych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8CAAC"/>
                    </a:solidFill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b="1" spc="-1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psych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8CAAC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6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600" b="1" spc="-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600" b="1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psych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6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1600" b="1" spc="-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600" b="1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psych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FF4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6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b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 </a:t>
                      </a:r>
                      <a:r>
                        <a:rPr sz="16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psych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5250" marB="0"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8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20" dirty="0">
                          <a:latin typeface="Calibri"/>
                          <a:cs typeface="Calibri"/>
                        </a:rPr>
                        <a:t>Time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b="1" spc="-10" dirty="0">
                          <a:latin typeface="Calibri"/>
                          <a:cs typeface="Calibri"/>
                        </a:rPr>
                        <a:t>share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000"/>
                      </a:solidFill>
                      <a:prstDash val="solid"/>
                    </a:lnL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890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5%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30%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8CAAC"/>
                    </a:solidFill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8CAAC"/>
                    </a:solidFill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10%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400" b="1" spc="-25" dirty="0">
                          <a:latin typeface="Calibri"/>
                          <a:cs typeface="Calibri"/>
                        </a:rPr>
                        <a:t>20%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R w="127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8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072" rIns="0" bIns="0" rtlCol="0">
            <a:spAutoFit/>
          </a:bodyPr>
          <a:lstStyle/>
          <a:p>
            <a:pPr marL="24212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Pain</a:t>
            </a:r>
            <a:r>
              <a:rPr sz="3600" spc="-120" dirty="0"/>
              <a:t> </a:t>
            </a:r>
            <a:r>
              <a:rPr sz="3600" spc="-10" dirty="0"/>
              <a:t>points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8151" y="819149"/>
            <a:ext cx="1024699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latin typeface="Calibri"/>
                <a:cs typeface="Calibri"/>
              </a:rPr>
              <a:t>I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journey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listed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previous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slide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point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points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regular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user.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 </a:t>
            </a:r>
            <a:r>
              <a:rPr sz="1600" spc="-25" dirty="0">
                <a:latin typeface="Calibri"/>
                <a:cs typeface="Calibri"/>
              </a:rPr>
              <a:t>be </a:t>
            </a:r>
            <a:r>
              <a:rPr sz="1600" dirty="0">
                <a:latin typeface="Calibri"/>
                <a:cs typeface="Calibri"/>
              </a:rPr>
              <a:t>noted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problems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originate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because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repeated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usage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platform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regular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basis.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2896" y="1434972"/>
          <a:ext cx="10932795" cy="2683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35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Pain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points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Severity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issue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(1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lowest,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: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highest)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start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setting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location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every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location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phone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turned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explore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6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restaurants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options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every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want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order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 marR="1206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particular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customised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certain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way,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specify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customisation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every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item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repeat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special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delivery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instructions</a:t>
                      </a:r>
                      <a:r>
                        <a:rPr sz="16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directions</a:t>
                      </a:r>
                      <a:r>
                        <a:rPr sz="16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reach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6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(if</a:t>
                      </a:r>
                      <a:r>
                        <a:rPr sz="16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required)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every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order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Go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checkout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process</a:t>
                      </a:r>
                      <a:r>
                        <a:rPr sz="16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6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every</a:t>
                      </a:r>
                      <a:r>
                        <a:rPr sz="16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order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object 5" descr="See the source 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369" y="2356104"/>
            <a:ext cx="392754" cy="434339"/>
          </a:xfrm>
          <a:prstGeom prst="rect">
            <a:avLst/>
          </a:prstGeom>
        </p:spPr>
      </p:pic>
      <p:pic>
        <p:nvPicPr>
          <p:cNvPr id="6" name="object 6" descr="A picture containing sign, stop, red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95204" y="2019300"/>
            <a:ext cx="301751" cy="28498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883140" y="2407920"/>
            <a:ext cx="1271270" cy="307975"/>
            <a:chOff x="9883140" y="2407920"/>
            <a:chExt cx="1271270" cy="307975"/>
          </a:xfrm>
        </p:grpSpPr>
        <p:pic>
          <p:nvPicPr>
            <p:cNvPr id="8" name="object 8" descr="A picture containing sign, stop, red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83140" y="2407920"/>
              <a:ext cx="301751" cy="286512"/>
            </a:xfrm>
            <a:prstGeom prst="rect">
              <a:avLst/>
            </a:prstGeom>
          </p:spPr>
        </p:pic>
        <p:pic>
          <p:nvPicPr>
            <p:cNvPr id="9" name="object 9" descr="A picture containing sign, stop, red  Description automatically generate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19944" y="2415540"/>
              <a:ext cx="301751" cy="2865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52176" y="2430780"/>
              <a:ext cx="601979" cy="284988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2616" y="2881883"/>
            <a:ext cx="601979" cy="28651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65664" y="3371088"/>
            <a:ext cx="600455" cy="28651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13264" y="3774947"/>
            <a:ext cx="905255" cy="28498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51509" y="5243321"/>
            <a:ext cx="10890885" cy="1263650"/>
          </a:xfrm>
          <a:custGeom>
            <a:avLst/>
            <a:gdLst/>
            <a:ahLst/>
            <a:cxnLst/>
            <a:rect l="l" t="t" r="r" b="b"/>
            <a:pathLst>
              <a:path w="10890885" h="1263650">
                <a:moveTo>
                  <a:pt x="0" y="210565"/>
                </a:moveTo>
                <a:lnTo>
                  <a:pt x="5561" y="162272"/>
                </a:lnTo>
                <a:lnTo>
                  <a:pt x="21401" y="117947"/>
                </a:lnTo>
                <a:lnTo>
                  <a:pt x="46258" y="78851"/>
                </a:lnTo>
                <a:lnTo>
                  <a:pt x="78867" y="46246"/>
                </a:lnTo>
                <a:lnTo>
                  <a:pt x="117963" y="21395"/>
                </a:lnTo>
                <a:lnTo>
                  <a:pt x="162284" y="5559"/>
                </a:lnTo>
                <a:lnTo>
                  <a:pt x="210565" y="0"/>
                </a:lnTo>
                <a:lnTo>
                  <a:pt x="10679938" y="0"/>
                </a:lnTo>
                <a:lnTo>
                  <a:pt x="10728231" y="5559"/>
                </a:lnTo>
                <a:lnTo>
                  <a:pt x="10772556" y="21395"/>
                </a:lnTo>
                <a:lnTo>
                  <a:pt x="10811652" y="46246"/>
                </a:lnTo>
                <a:lnTo>
                  <a:pt x="10844257" y="78851"/>
                </a:lnTo>
                <a:lnTo>
                  <a:pt x="10869108" y="117947"/>
                </a:lnTo>
                <a:lnTo>
                  <a:pt x="10884944" y="162272"/>
                </a:lnTo>
                <a:lnTo>
                  <a:pt x="10890504" y="210565"/>
                </a:lnTo>
                <a:lnTo>
                  <a:pt x="10890504" y="1052829"/>
                </a:lnTo>
                <a:lnTo>
                  <a:pt x="10884944" y="1101111"/>
                </a:lnTo>
                <a:lnTo>
                  <a:pt x="10869108" y="1145432"/>
                </a:lnTo>
                <a:lnTo>
                  <a:pt x="10844257" y="1184528"/>
                </a:lnTo>
                <a:lnTo>
                  <a:pt x="10811652" y="1217137"/>
                </a:lnTo>
                <a:lnTo>
                  <a:pt x="10772556" y="1241994"/>
                </a:lnTo>
                <a:lnTo>
                  <a:pt x="10728231" y="1257834"/>
                </a:lnTo>
                <a:lnTo>
                  <a:pt x="10679938" y="1263395"/>
                </a:lnTo>
                <a:lnTo>
                  <a:pt x="210565" y="1263395"/>
                </a:lnTo>
                <a:lnTo>
                  <a:pt x="162284" y="1257834"/>
                </a:lnTo>
                <a:lnTo>
                  <a:pt x="117963" y="1241994"/>
                </a:lnTo>
                <a:lnTo>
                  <a:pt x="78867" y="1217137"/>
                </a:lnTo>
                <a:lnTo>
                  <a:pt x="46258" y="1184528"/>
                </a:lnTo>
                <a:lnTo>
                  <a:pt x="21401" y="1145432"/>
                </a:lnTo>
                <a:lnTo>
                  <a:pt x="5561" y="1101111"/>
                </a:lnTo>
                <a:lnTo>
                  <a:pt x="0" y="1052829"/>
                </a:lnTo>
                <a:lnTo>
                  <a:pt x="0" y="210565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08151" y="4302963"/>
            <a:ext cx="10590530" cy="191516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28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taking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monotonous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food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process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selecting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food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category/restaurant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then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the </a:t>
            </a:r>
            <a:r>
              <a:rPr sz="1600" b="1" dirty="0">
                <a:latin typeface="Calibri"/>
                <a:cs typeface="Calibri"/>
              </a:rPr>
              <a:t>food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item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ordered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because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users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have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spend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time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think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of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new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food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items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every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time</a:t>
            </a:r>
            <a:r>
              <a:rPr sz="1600" dirty="0">
                <a:latin typeface="Calibri"/>
                <a:cs typeface="Calibri"/>
              </a:rPr>
              <a:t>.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paradox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of </a:t>
            </a:r>
            <a:r>
              <a:rPr sz="1600" i="1" dirty="0">
                <a:latin typeface="Calibri"/>
                <a:cs typeface="Calibri"/>
              </a:rPr>
              <a:t>choice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is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root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cause,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which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should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be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tackled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by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our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solution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600">
              <a:latin typeface="Calibri"/>
              <a:cs typeface="Calibri"/>
            </a:endParaRPr>
          </a:p>
          <a:p>
            <a:pPr marL="185420" algn="ctr">
              <a:lnSpc>
                <a:spcPct val="100000"/>
              </a:lnSpc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obs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one:</a:t>
            </a:r>
            <a:endParaRPr sz="1800">
              <a:latin typeface="Calibri"/>
              <a:cs typeface="Calibri"/>
            </a:endParaRPr>
          </a:p>
          <a:p>
            <a:pPr marL="95250" marR="285115">
              <a:lnSpc>
                <a:spcPts val="1939"/>
              </a:lnSpc>
              <a:spcBef>
                <a:spcPts val="1040"/>
              </a:spcBef>
            </a:pPr>
            <a:r>
              <a:rPr sz="1800" b="1" i="1" dirty="0">
                <a:latin typeface="Calibri"/>
                <a:cs typeface="Calibri"/>
              </a:rPr>
              <a:t>When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food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regularly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but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deal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searching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a </a:t>
            </a:r>
            <a:r>
              <a:rPr sz="1800" spc="-20" dirty="0">
                <a:latin typeface="Calibri"/>
                <a:cs typeface="Calibri"/>
              </a:rPr>
              <a:t>restaurant/food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every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instance,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help</a:t>
            </a:r>
            <a:r>
              <a:rPr sz="1800" b="1" i="1" spc="-4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me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avoid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repetition,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so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that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mental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bandwidth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00903" y="75057"/>
            <a:ext cx="17900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Solutions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8563" y="813180"/>
          <a:ext cx="11370308" cy="5992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0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4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48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48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Solution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14300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Features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MVP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84518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Drawbacks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Reach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Confidence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Effort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Swiggy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14668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Regular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8826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functionality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gives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ability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schedule</a:t>
                      </a:r>
                      <a:r>
                        <a:rPr sz="1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defined</a:t>
                      </a:r>
                      <a:r>
                        <a:rPr sz="14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days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Options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available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will</a:t>
                      </a:r>
                      <a:r>
                        <a:rPr sz="14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be: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70510" marR="157480" indent="-17907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27178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items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restaurants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they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want 	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against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start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the 	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week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month,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edited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per 	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requirement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71145" indent="-17907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7114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receive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everyday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70510" marR="255270" indent="-179070" algn="just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7178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Combined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orders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(This 	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save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20%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user 	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flow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each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fulfilled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order)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36854" algn="just">
                        <a:lnSpc>
                          <a:spcPct val="100000"/>
                        </a:lnSpc>
                      </a:pPr>
                      <a:r>
                        <a:rPr sz="1400" b="1" i="1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400" b="1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b="1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dirty="0">
                          <a:latin typeface="Calibri"/>
                          <a:cs typeface="Calibri"/>
                        </a:rPr>
                        <a:t>maximum</a:t>
                      </a:r>
                      <a:r>
                        <a:rPr sz="1400" b="1" i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dirty="0">
                          <a:latin typeface="Calibri"/>
                          <a:cs typeface="Calibri"/>
                        </a:rPr>
                        <a:t>negative</a:t>
                      </a:r>
                      <a:r>
                        <a:rPr sz="1400" b="1" i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dirty="0">
                          <a:latin typeface="Calibri"/>
                          <a:cs typeface="Calibri"/>
                        </a:rPr>
                        <a:t>psych</a:t>
                      </a:r>
                      <a:r>
                        <a:rPr sz="1400" b="1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dirty="0">
                          <a:latin typeface="Calibri"/>
                          <a:cs typeface="Calibri"/>
                        </a:rPr>
                        <a:t>steps</a:t>
                      </a:r>
                      <a:r>
                        <a:rPr sz="1400" b="1" i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b="1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spc="-25" dirty="0">
                          <a:latin typeface="Calibri"/>
                          <a:cs typeface="Calibri"/>
                        </a:rPr>
                        <a:t>the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282575" algn="just">
                        <a:lnSpc>
                          <a:spcPct val="100000"/>
                        </a:lnSpc>
                      </a:pPr>
                      <a:r>
                        <a:rPr sz="1400" b="1" i="1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b="1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dirty="0">
                          <a:latin typeface="Calibri"/>
                          <a:cs typeface="Calibri"/>
                        </a:rPr>
                        <a:t>journey</a:t>
                      </a:r>
                      <a:r>
                        <a:rPr sz="1400" b="1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400" b="1" i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dirty="0">
                          <a:latin typeface="Calibri"/>
                          <a:cs typeface="Calibri"/>
                        </a:rPr>
                        <a:t>focussed</a:t>
                      </a:r>
                      <a:r>
                        <a:rPr sz="1400" b="1" i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400" b="1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400" b="1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i="1" spc="-10" dirty="0">
                          <a:latin typeface="Calibri"/>
                          <a:cs typeface="Calibri"/>
                        </a:rPr>
                        <a:t>approach.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379095" marR="92710" indent="-287020">
                        <a:lnSpc>
                          <a:spcPct val="100000"/>
                        </a:lnSpc>
                        <a:spcBef>
                          <a:spcPts val="1110"/>
                        </a:spcBef>
                        <a:buFont typeface="Arial MT"/>
                        <a:buChar char="•"/>
                        <a:tabLst>
                          <a:tab pos="379095" algn="l"/>
                        </a:tabLst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price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points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still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problem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solved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through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special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discounts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menu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items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Swiggy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Regular</a:t>
                      </a:r>
                      <a:r>
                        <a:rPr sz="14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users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9095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37909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Combined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for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9095" marR="13779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weeks’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worth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orders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may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result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huge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credit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(liability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company),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we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start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advance payment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move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post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payment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repeat</a:t>
                      </a:r>
                      <a:r>
                        <a:rPr sz="14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customers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74.67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2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71450" marR="164465" indent="7620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Tiffin service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72085" marR="164465" indent="-19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Tie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tiffin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services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available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city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would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provide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where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tiffin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providers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menu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options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users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choose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among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them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solution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solves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choice paradox</a:t>
                      </a:r>
                      <a:r>
                        <a:rPr sz="1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price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issues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379095" indent="-286385">
                        <a:lnSpc>
                          <a:spcPct val="100000"/>
                        </a:lnSpc>
                        <a:spcBef>
                          <a:spcPts val="1120"/>
                        </a:spcBef>
                        <a:buFont typeface="Arial MT"/>
                        <a:buChar char="•"/>
                        <a:tabLst>
                          <a:tab pos="37909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available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everywhere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379095" marR="23558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9095" algn="l"/>
                        </a:tabLst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Scaling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tiffin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service providers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4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increased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order</a:t>
                      </a:r>
                      <a:r>
                        <a:rPr sz="14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volume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challenge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8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26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8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26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8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26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8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26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8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40.50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260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8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00990" marR="114935" indent="-17843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Calibri"/>
                          <a:cs typeface="Calibri"/>
                        </a:rPr>
                        <a:t>Surprise </a:t>
                      </a:r>
                      <a:r>
                        <a:rPr sz="1600" b="1" spc="-25" dirty="0">
                          <a:latin typeface="Calibri"/>
                          <a:cs typeface="Calibri"/>
                        </a:rPr>
                        <a:t>me!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9539" marR="121920" indent="24130" algn="just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preferred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restaurants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food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items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app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chooses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random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item</a:t>
                      </a:r>
                      <a:r>
                        <a:rPr sz="14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restaurant</a:t>
                      </a:r>
                      <a:r>
                        <a:rPr sz="1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list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cart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every</a:t>
                      </a:r>
                      <a:r>
                        <a:rPr sz="14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day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86995" indent="-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chances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food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randomizer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coming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up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choice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really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wants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eat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given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instance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is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4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subjective,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successful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0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45.00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200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E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593335"/>
            <a:ext cx="926591" cy="999744"/>
          </a:xfrm>
          <a:prstGeom prst="rect">
            <a:avLst/>
          </a:prstGeom>
        </p:spPr>
      </p:pic>
      <p:pic>
        <p:nvPicPr>
          <p:cNvPr id="5" name="object 5" descr="A picture containing watch  Description automatically generated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374392"/>
            <a:ext cx="926591" cy="999743"/>
          </a:xfrm>
          <a:prstGeom prst="rect">
            <a:avLst/>
          </a:prstGeom>
        </p:spPr>
      </p:pic>
      <p:pic>
        <p:nvPicPr>
          <p:cNvPr id="6" name="object 6" descr="Logo  Description automatically generated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788150"/>
            <a:ext cx="926591" cy="9997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075676" y="45719"/>
            <a:ext cx="3937000" cy="67691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116839" marR="106680" algn="ctr">
              <a:lnSpc>
                <a:spcPct val="99400"/>
              </a:lnSpc>
              <a:spcBef>
                <a:spcPts val="295"/>
              </a:spcBef>
            </a:pPr>
            <a:r>
              <a:rPr sz="1200" dirty="0">
                <a:latin typeface="Calibri"/>
                <a:cs typeface="Calibri"/>
              </a:rPr>
              <a:t>Reach,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Impact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Confidence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should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 </a:t>
            </a:r>
            <a:r>
              <a:rPr sz="1200" b="1" dirty="0">
                <a:latin typeface="Calibri"/>
                <a:cs typeface="Calibri"/>
              </a:rPr>
              <a:t>high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possible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Effort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should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low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possible.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Solution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having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highest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(R*I*C)/E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value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prioritised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others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388" y="5837631"/>
            <a:ext cx="126428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 be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new </a:t>
            </a:r>
            <a:r>
              <a:rPr sz="1200" dirty="0">
                <a:latin typeface="Calibri"/>
                <a:cs typeface="Calibri"/>
              </a:rPr>
              <a:t>option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Swiggy </a:t>
            </a:r>
            <a:r>
              <a:rPr sz="1200" b="1" dirty="0">
                <a:latin typeface="Calibri"/>
                <a:cs typeface="Calibri"/>
              </a:rPr>
              <a:t>Regular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services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in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Home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page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that </a:t>
            </a:r>
            <a:r>
              <a:rPr sz="1200" dirty="0">
                <a:latin typeface="Calibri"/>
                <a:cs typeface="Calibri"/>
              </a:rPr>
              <a:t>opens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default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034028" y="80772"/>
            <a:ext cx="5866130" cy="3888104"/>
            <a:chOff x="4034028" y="80772"/>
            <a:chExt cx="5866130" cy="388810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11668" y="80772"/>
              <a:ext cx="1888235" cy="3887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4028" y="80772"/>
              <a:ext cx="1888236" cy="38877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27420" y="85344"/>
              <a:ext cx="1879092" cy="387400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621394" y="4451095"/>
            <a:ext cx="113474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Payment: </a:t>
            </a:r>
            <a:r>
              <a:rPr sz="1200" dirty="0">
                <a:latin typeface="Calibri"/>
                <a:cs typeface="Calibri"/>
              </a:rPr>
              <a:t>Advance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payment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arranged </a:t>
            </a:r>
            <a:r>
              <a:rPr sz="1200" dirty="0">
                <a:latin typeface="Calibri"/>
                <a:cs typeface="Calibri"/>
              </a:rPr>
              <a:t>through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adding </a:t>
            </a:r>
            <a:r>
              <a:rPr sz="1200" b="1" dirty="0">
                <a:latin typeface="Calibri"/>
                <a:cs typeface="Calibri"/>
              </a:rPr>
              <a:t>money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in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Swiggy </a:t>
            </a:r>
            <a:r>
              <a:rPr sz="1200" b="1" dirty="0">
                <a:latin typeface="Calibri"/>
                <a:cs typeface="Calibri"/>
              </a:rPr>
              <a:t>wallet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money </a:t>
            </a:r>
            <a:r>
              <a:rPr sz="1200" b="1" dirty="0">
                <a:latin typeface="Calibri"/>
                <a:cs typeface="Calibri"/>
              </a:rPr>
              <a:t>will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only</a:t>
            </a:r>
            <a:r>
              <a:rPr sz="1200" b="1" spc="-25" dirty="0">
                <a:latin typeface="Calibri"/>
                <a:cs typeface="Calibri"/>
              </a:rPr>
              <a:t> be </a:t>
            </a:r>
            <a:r>
              <a:rPr sz="1200" b="1" dirty="0">
                <a:latin typeface="Calibri"/>
                <a:cs typeface="Calibri"/>
              </a:rPr>
              <a:t>deducted</a:t>
            </a:r>
            <a:r>
              <a:rPr sz="1200" b="1" spc="-5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after </a:t>
            </a:r>
            <a:r>
              <a:rPr sz="1200" b="1" dirty="0">
                <a:latin typeface="Calibri"/>
                <a:cs typeface="Calibri"/>
              </a:rPr>
              <a:t>each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order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is </a:t>
            </a:r>
            <a:r>
              <a:rPr sz="1200" b="1" spc="-10" dirty="0">
                <a:latin typeface="Calibri"/>
                <a:cs typeface="Calibri"/>
              </a:rPr>
              <a:t>successfully delivered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23288" y="1824227"/>
            <a:ext cx="1876043" cy="3886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99547" y="2923030"/>
            <a:ext cx="1879092" cy="386333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188078" y="4451095"/>
            <a:ext cx="163258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3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threshold </a:t>
            </a:r>
            <a:r>
              <a:rPr sz="1200" b="1" dirty="0">
                <a:latin typeface="Calibri"/>
                <a:cs typeface="Calibri"/>
              </a:rPr>
              <a:t>number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of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days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(5-7)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for </a:t>
            </a:r>
            <a:r>
              <a:rPr sz="1200" b="1" dirty="0">
                <a:latin typeface="Calibri"/>
                <a:cs typeface="Calibri"/>
              </a:rPr>
              <a:t>an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order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qualify</a:t>
            </a:r>
            <a:r>
              <a:rPr sz="1200" b="1" spc="-25" dirty="0">
                <a:latin typeface="Calibri"/>
                <a:cs typeface="Calibri"/>
              </a:rPr>
              <a:t> for </a:t>
            </a:r>
            <a:r>
              <a:rPr sz="1200" b="1" dirty="0">
                <a:latin typeface="Calibri"/>
                <a:cs typeface="Calibri"/>
              </a:rPr>
              <a:t>Swiggy</a:t>
            </a:r>
            <a:r>
              <a:rPr sz="1200" b="1" spc="-20" dirty="0">
                <a:latin typeface="Calibri"/>
                <a:cs typeface="Calibri"/>
              </a:rPr>
              <a:t> Regular.</a:t>
            </a:r>
            <a:r>
              <a:rPr sz="1200" b="1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This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will </a:t>
            </a:r>
            <a:r>
              <a:rPr sz="1200" dirty="0">
                <a:latin typeface="Calibri"/>
                <a:cs typeface="Calibri"/>
              </a:rPr>
              <a:t>ensure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b="1" dirty="0">
                <a:latin typeface="Calibri"/>
                <a:cs typeface="Calibri"/>
              </a:rPr>
              <a:t>discounted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rates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that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the </a:t>
            </a:r>
            <a:r>
              <a:rPr sz="1200" b="1" spc="-10" dirty="0">
                <a:latin typeface="Calibri"/>
                <a:cs typeface="Calibri"/>
              </a:rPr>
              <a:t>customer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enjoys </a:t>
            </a:r>
            <a:r>
              <a:rPr sz="1200" b="1" spc="-25" dirty="0">
                <a:latin typeface="Calibri"/>
                <a:cs typeface="Calibri"/>
              </a:rPr>
              <a:t>is </a:t>
            </a:r>
            <a:r>
              <a:rPr sz="1200" b="1" spc="-10" dirty="0">
                <a:latin typeface="Calibri"/>
                <a:cs typeface="Calibri"/>
              </a:rPr>
              <a:t>compensated</a:t>
            </a:r>
            <a:r>
              <a:rPr sz="1200" b="1" dirty="0">
                <a:latin typeface="Calibri"/>
                <a:cs typeface="Calibri"/>
              </a:rPr>
              <a:t> by the </a:t>
            </a:r>
            <a:r>
              <a:rPr sz="1200" b="1" spc="-25" dirty="0">
                <a:latin typeface="Calibri"/>
                <a:cs typeface="Calibri"/>
              </a:rPr>
              <a:t>LTV </a:t>
            </a:r>
            <a:r>
              <a:rPr sz="1200" b="1" dirty="0">
                <a:latin typeface="Calibri"/>
                <a:cs typeface="Calibri"/>
              </a:rPr>
              <a:t>s(he)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provides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to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the </a:t>
            </a:r>
            <a:r>
              <a:rPr sz="1200" b="1" spc="-10" dirty="0">
                <a:latin typeface="Calibri"/>
                <a:cs typeface="Calibri"/>
              </a:rPr>
              <a:t>company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Multiple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schedules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set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simultaneously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6868" y="1822704"/>
            <a:ext cx="1711452" cy="38877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31238" y="5796483"/>
            <a:ext cx="16027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635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Inside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Swiggy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Regular </a:t>
            </a:r>
            <a:r>
              <a:rPr sz="1200" dirty="0">
                <a:latin typeface="Calibri"/>
                <a:cs typeface="Calibri"/>
              </a:rPr>
              <a:t>section,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there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be </a:t>
            </a:r>
            <a:r>
              <a:rPr sz="1200" dirty="0">
                <a:latin typeface="Calibri"/>
                <a:cs typeface="Calibri"/>
              </a:rPr>
              <a:t>option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to</a:t>
            </a:r>
            <a:endParaRPr sz="1200">
              <a:latin typeface="Calibri"/>
              <a:cs typeface="Calibri"/>
            </a:endParaRPr>
          </a:p>
          <a:p>
            <a:pPr marL="309880" indent="-228600">
              <a:lnSpc>
                <a:spcPct val="100000"/>
              </a:lnSpc>
              <a:buAutoNum type="arabicPeriod"/>
              <a:tabLst>
                <a:tab pos="309880" algn="l"/>
              </a:tabLst>
            </a:pPr>
            <a:r>
              <a:rPr sz="1200" b="1" dirty="0">
                <a:latin typeface="Calibri"/>
                <a:cs typeface="Calibri"/>
              </a:rPr>
              <a:t>Set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new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schedule</a:t>
            </a:r>
            <a:endParaRPr sz="1200">
              <a:latin typeface="Calibri"/>
              <a:cs typeface="Calibri"/>
            </a:endParaRPr>
          </a:p>
          <a:p>
            <a:pPr marL="165100" indent="-152400">
              <a:lnSpc>
                <a:spcPct val="100000"/>
              </a:lnSpc>
              <a:buAutoNum type="arabicPeriod"/>
              <a:tabLst>
                <a:tab pos="165100" algn="l"/>
              </a:tabLst>
            </a:pPr>
            <a:r>
              <a:rPr sz="1200" b="1" dirty="0">
                <a:latin typeface="Calibri"/>
                <a:cs typeface="Calibri"/>
              </a:rPr>
              <a:t>Edit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existing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schedules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15025" y="6097320"/>
            <a:ext cx="24739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User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will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see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discounted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price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they </a:t>
            </a:r>
            <a:r>
              <a:rPr sz="1200" b="1" dirty="0">
                <a:latin typeface="Calibri"/>
                <a:cs typeface="Calibri"/>
              </a:rPr>
              <a:t>get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for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this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option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as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compared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25" dirty="0">
                <a:latin typeface="Calibri"/>
                <a:cs typeface="Calibri"/>
              </a:rPr>
              <a:t>to </a:t>
            </a:r>
            <a:r>
              <a:rPr sz="1200" b="1" dirty="0">
                <a:latin typeface="Calibri"/>
                <a:cs typeface="Calibri"/>
              </a:rPr>
              <a:t>normal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ordering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15025" y="3924680"/>
            <a:ext cx="2613025" cy="2015489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290"/>
              </a:spcBef>
            </a:pPr>
            <a:r>
              <a:rPr sz="1800" b="1" dirty="0">
                <a:latin typeface="Calibri"/>
                <a:cs typeface="Calibri"/>
              </a:rPr>
              <a:t>1.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new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schedule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200" b="1" dirty="0">
                <a:latin typeface="Calibri"/>
                <a:cs typeface="Calibri"/>
              </a:rPr>
              <a:t>User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flow</a:t>
            </a:r>
            <a:r>
              <a:rPr sz="1200" spc="-10" dirty="0">
                <a:latin typeface="Calibri"/>
                <a:cs typeface="Calibri"/>
              </a:rPr>
              <a:t>:</a:t>
            </a:r>
            <a:endParaRPr sz="1200">
              <a:latin typeface="Calibri"/>
              <a:cs typeface="Calibri"/>
            </a:endParaRPr>
          </a:p>
          <a:p>
            <a:pPr marL="128270" indent="-119380">
              <a:lnSpc>
                <a:spcPct val="100000"/>
              </a:lnSpc>
              <a:buSzPct val="91666"/>
              <a:buAutoNum type="arabicPeriod"/>
              <a:tabLst>
                <a:tab pos="128270" algn="l"/>
              </a:tabLst>
            </a:pPr>
            <a:r>
              <a:rPr sz="1200" dirty="0">
                <a:latin typeface="Calibri"/>
                <a:cs typeface="Calibri"/>
              </a:rPr>
              <a:t>Set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number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days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schedule</a:t>
            </a:r>
            <a:endParaRPr sz="1200">
              <a:latin typeface="Calibri"/>
              <a:cs typeface="Calibri"/>
            </a:endParaRPr>
          </a:p>
          <a:p>
            <a:pPr marL="128270" indent="-119380">
              <a:lnSpc>
                <a:spcPct val="100000"/>
              </a:lnSpc>
              <a:buSzPct val="91666"/>
              <a:buAutoNum type="arabicPeriod"/>
              <a:tabLst>
                <a:tab pos="128270" algn="l"/>
              </a:tabLst>
            </a:pPr>
            <a:r>
              <a:rPr sz="1200" dirty="0">
                <a:latin typeface="Calibri"/>
                <a:cs typeface="Calibri"/>
              </a:rPr>
              <a:t>Set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starting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date</a:t>
            </a:r>
            <a:endParaRPr sz="1200">
              <a:latin typeface="Calibri"/>
              <a:cs typeface="Calibri"/>
            </a:endParaRPr>
          </a:p>
          <a:p>
            <a:pPr marL="121285" marR="64135" indent="-112395">
              <a:lnSpc>
                <a:spcPct val="100000"/>
              </a:lnSpc>
              <a:buSzPct val="91666"/>
              <a:buAutoNum type="arabicPeriod"/>
              <a:tabLst>
                <a:tab pos="121285" algn="l"/>
                <a:tab pos="128270" algn="l"/>
              </a:tabLst>
            </a:pPr>
            <a:r>
              <a:rPr sz="1200" dirty="0">
                <a:latin typeface="Calibri"/>
                <a:cs typeface="Calibri"/>
              </a:rPr>
              <a:t>	Set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food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items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time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ordering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for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day</a:t>
            </a:r>
            <a:endParaRPr sz="1200">
              <a:latin typeface="Calibri"/>
              <a:cs typeface="Calibri"/>
            </a:endParaRPr>
          </a:p>
          <a:p>
            <a:pPr marL="121285" marR="5080" indent="-112395">
              <a:lnSpc>
                <a:spcPct val="100000"/>
              </a:lnSpc>
              <a:buSzPct val="91666"/>
              <a:buAutoNum type="arabicPeriod"/>
              <a:tabLst>
                <a:tab pos="121285" algn="l"/>
                <a:tab pos="128270" algn="l"/>
              </a:tabLst>
            </a:pPr>
            <a:r>
              <a:rPr sz="1200" dirty="0">
                <a:latin typeface="Calibri"/>
                <a:cs typeface="Calibri"/>
              </a:rPr>
              <a:t>	User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tick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Repeat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Cycle</a:t>
            </a:r>
            <a:r>
              <a:rPr sz="1200" b="1" spc="50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checkbox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order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continue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the </a:t>
            </a:r>
            <a:r>
              <a:rPr sz="1200" dirty="0">
                <a:latin typeface="Calibri"/>
                <a:cs typeface="Calibri"/>
              </a:rPr>
              <a:t>defined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cycle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once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current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ends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96754" y="374141"/>
            <a:ext cx="1882139" cy="2298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2.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Edit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schedule</a:t>
            </a:r>
            <a:endParaRPr sz="1800">
              <a:latin typeface="Calibri"/>
              <a:cs typeface="Calibri"/>
            </a:endParaRPr>
          </a:p>
          <a:p>
            <a:pPr marL="38100" marR="30480">
              <a:lnSpc>
                <a:spcPct val="100000"/>
              </a:lnSpc>
              <a:spcBef>
                <a:spcPts val="1335"/>
              </a:spcBef>
            </a:pPr>
            <a:r>
              <a:rPr sz="1200" dirty="0">
                <a:latin typeface="Calibri"/>
                <a:cs typeface="Calibri"/>
              </a:rPr>
              <a:t>Options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25" dirty="0">
                <a:latin typeface="Calibri"/>
                <a:cs typeface="Calibri"/>
              </a:rPr>
              <a:t> to </a:t>
            </a:r>
            <a:r>
              <a:rPr sz="1200" b="1" dirty="0">
                <a:latin typeface="Calibri"/>
                <a:cs typeface="Calibri"/>
              </a:rPr>
              <a:t>cancel/modify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their</a:t>
            </a:r>
            <a:r>
              <a:rPr sz="1200" b="1" spc="-4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existing </a:t>
            </a:r>
            <a:r>
              <a:rPr sz="1200" b="1" dirty="0">
                <a:latin typeface="Calibri"/>
                <a:cs typeface="Calibri"/>
              </a:rPr>
              <a:t>schedules.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orders </a:t>
            </a:r>
            <a:r>
              <a:rPr sz="1200" b="1" dirty="0">
                <a:latin typeface="Calibri"/>
                <a:cs typeface="Calibri"/>
              </a:rPr>
              <a:t>already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executed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will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not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35" dirty="0">
                <a:latin typeface="Calibri"/>
                <a:cs typeface="Calibri"/>
              </a:rPr>
              <a:t>be </a:t>
            </a:r>
            <a:r>
              <a:rPr sz="1200" b="1" dirty="0">
                <a:latin typeface="Calibri"/>
                <a:cs typeface="Calibri"/>
              </a:rPr>
              <a:t>editable</a:t>
            </a:r>
            <a:r>
              <a:rPr sz="1200" dirty="0">
                <a:latin typeface="Calibri"/>
                <a:cs typeface="Calibri"/>
              </a:rPr>
              <a:t>.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example,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below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screen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who</a:t>
            </a:r>
            <a:r>
              <a:rPr sz="1200" spc="50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trying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edit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schedule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on </a:t>
            </a:r>
            <a:r>
              <a:rPr sz="1200" dirty="0">
                <a:latin typeface="Calibri"/>
                <a:cs typeface="Calibri"/>
              </a:rPr>
              <a:t>2</a:t>
            </a:r>
            <a:r>
              <a:rPr sz="1200" baseline="24305" dirty="0">
                <a:latin typeface="Calibri"/>
                <a:cs typeface="Calibri"/>
              </a:rPr>
              <a:t>nd</a:t>
            </a:r>
            <a:r>
              <a:rPr sz="1200" spc="135" baseline="2430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November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2022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(before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restaurant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receives</a:t>
            </a:r>
            <a:r>
              <a:rPr sz="1200" spc="5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order)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853846" y="399745"/>
            <a:ext cx="199961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Wireframes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66038" y="1083055"/>
            <a:ext cx="19754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“Swiggy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Regular”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46397" y="4057650"/>
            <a:ext cx="5991225" cy="2685415"/>
          </a:xfrm>
          <a:custGeom>
            <a:avLst/>
            <a:gdLst/>
            <a:ahLst/>
            <a:cxnLst/>
            <a:rect l="l" t="t" r="r" b="b"/>
            <a:pathLst>
              <a:path w="5991225" h="2685415">
                <a:moveTo>
                  <a:pt x="0" y="447548"/>
                </a:moveTo>
                <a:lnTo>
                  <a:pt x="2626" y="398788"/>
                </a:lnTo>
                <a:lnTo>
                  <a:pt x="10324" y="351548"/>
                </a:lnTo>
                <a:lnTo>
                  <a:pt x="22819" y="306100"/>
                </a:lnTo>
                <a:lnTo>
                  <a:pt x="39839" y="262718"/>
                </a:lnTo>
                <a:lnTo>
                  <a:pt x="61110" y="221676"/>
                </a:lnTo>
                <a:lnTo>
                  <a:pt x="86360" y="183245"/>
                </a:lnTo>
                <a:lnTo>
                  <a:pt x="115314" y="147700"/>
                </a:lnTo>
                <a:lnTo>
                  <a:pt x="147700" y="115314"/>
                </a:lnTo>
                <a:lnTo>
                  <a:pt x="183245" y="86359"/>
                </a:lnTo>
                <a:lnTo>
                  <a:pt x="221676" y="61110"/>
                </a:lnTo>
                <a:lnTo>
                  <a:pt x="262718" y="39839"/>
                </a:lnTo>
                <a:lnTo>
                  <a:pt x="306100" y="22819"/>
                </a:lnTo>
                <a:lnTo>
                  <a:pt x="351548" y="10324"/>
                </a:lnTo>
                <a:lnTo>
                  <a:pt x="398788" y="2626"/>
                </a:lnTo>
                <a:lnTo>
                  <a:pt x="447548" y="0"/>
                </a:lnTo>
                <a:lnTo>
                  <a:pt x="5543296" y="0"/>
                </a:lnTo>
                <a:lnTo>
                  <a:pt x="5592055" y="2626"/>
                </a:lnTo>
                <a:lnTo>
                  <a:pt x="5639295" y="10324"/>
                </a:lnTo>
                <a:lnTo>
                  <a:pt x="5684743" y="22819"/>
                </a:lnTo>
                <a:lnTo>
                  <a:pt x="5728125" y="39839"/>
                </a:lnTo>
                <a:lnTo>
                  <a:pt x="5769167" y="61110"/>
                </a:lnTo>
                <a:lnTo>
                  <a:pt x="5807598" y="86360"/>
                </a:lnTo>
                <a:lnTo>
                  <a:pt x="5843143" y="115314"/>
                </a:lnTo>
                <a:lnTo>
                  <a:pt x="5875529" y="147700"/>
                </a:lnTo>
                <a:lnTo>
                  <a:pt x="5904484" y="183245"/>
                </a:lnTo>
                <a:lnTo>
                  <a:pt x="5929733" y="221676"/>
                </a:lnTo>
                <a:lnTo>
                  <a:pt x="5951004" y="262718"/>
                </a:lnTo>
                <a:lnTo>
                  <a:pt x="5968024" y="306100"/>
                </a:lnTo>
                <a:lnTo>
                  <a:pt x="5980519" y="351548"/>
                </a:lnTo>
                <a:lnTo>
                  <a:pt x="5988217" y="398788"/>
                </a:lnTo>
                <a:lnTo>
                  <a:pt x="5990844" y="447548"/>
                </a:lnTo>
                <a:lnTo>
                  <a:pt x="5990844" y="2237727"/>
                </a:lnTo>
                <a:lnTo>
                  <a:pt x="5988217" y="2286493"/>
                </a:lnTo>
                <a:lnTo>
                  <a:pt x="5980519" y="2333739"/>
                </a:lnTo>
                <a:lnTo>
                  <a:pt x="5968024" y="2379190"/>
                </a:lnTo>
                <a:lnTo>
                  <a:pt x="5951004" y="2422574"/>
                </a:lnTo>
                <a:lnTo>
                  <a:pt x="5929733" y="2463619"/>
                </a:lnTo>
                <a:lnTo>
                  <a:pt x="5904483" y="2502050"/>
                </a:lnTo>
                <a:lnTo>
                  <a:pt x="5875529" y="2537594"/>
                </a:lnTo>
                <a:lnTo>
                  <a:pt x="5843143" y="2569980"/>
                </a:lnTo>
                <a:lnTo>
                  <a:pt x="5807598" y="2598933"/>
                </a:lnTo>
                <a:lnTo>
                  <a:pt x="5769167" y="2624181"/>
                </a:lnTo>
                <a:lnTo>
                  <a:pt x="5728125" y="2645451"/>
                </a:lnTo>
                <a:lnTo>
                  <a:pt x="5684743" y="2662469"/>
                </a:lnTo>
                <a:lnTo>
                  <a:pt x="5639295" y="2674963"/>
                </a:lnTo>
                <a:lnTo>
                  <a:pt x="5592055" y="2682660"/>
                </a:lnTo>
                <a:lnTo>
                  <a:pt x="5543296" y="2685286"/>
                </a:lnTo>
                <a:lnTo>
                  <a:pt x="447548" y="2685286"/>
                </a:lnTo>
                <a:lnTo>
                  <a:pt x="398788" y="2682660"/>
                </a:lnTo>
                <a:lnTo>
                  <a:pt x="351548" y="2674963"/>
                </a:lnTo>
                <a:lnTo>
                  <a:pt x="306100" y="2662469"/>
                </a:lnTo>
                <a:lnTo>
                  <a:pt x="262718" y="2645451"/>
                </a:lnTo>
                <a:lnTo>
                  <a:pt x="221676" y="2624181"/>
                </a:lnTo>
                <a:lnTo>
                  <a:pt x="183245" y="2598933"/>
                </a:lnTo>
                <a:lnTo>
                  <a:pt x="147700" y="2569980"/>
                </a:lnTo>
                <a:lnTo>
                  <a:pt x="115314" y="2537594"/>
                </a:lnTo>
                <a:lnTo>
                  <a:pt x="86359" y="2502050"/>
                </a:lnTo>
                <a:lnTo>
                  <a:pt x="61110" y="2463619"/>
                </a:lnTo>
                <a:lnTo>
                  <a:pt x="39839" y="2422574"/>
                </a:lnTo>
                <a:lnTo>
                  <a:pt x="22819" y="2379190"/>
                </a:lnTo>
                <a:lnTo>
                  <a:pt x="10324" y="2333739"/>
                </a:lnTo>
                <a:lnTo>
                  <a:pt x="2626" y="2286493"/>
                </a:lnTo>
                <a:lnTo>
                  <a:pt x="0" y="2237727"/>
                </a:lnTo>
                <a:lnTo>
                  <a:pt x="0" y="447548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042397" y="279654"/>
            <a:ext cx="2002789" cy="2577465"/>
          </a:xfrm>
          <a:custGeom>
            <a:avLst/>
            <a:gdLst/>
            <a:ahLst/>
            <a:cxnLst/>
            <a:rect l="l" t="t" r="r" b="b"/>
            <a:pathLst>
              <a:path w="2002790" h="2577465">
                <a:moveTo>
                  <a:pt x="0" y="333756"/>
                </a:moveTo>
                <a:lnTo>
                  <a:pt x="3619" y="284447"/>
                </a:lnTo>
                <a:lnTo>
                  <a:pt x="14135" y="237381"/>
                </a:lnTo>
                <a:lnTo>
                  <a:pt x="31028" y="193075"/>
                </a:lnTo>
                <a:lnTo>
                  <a:pt x="53783" y="152045"/>
                </a:lnTo>
                <a:lnTo>
                  <a:pt x="81882" y="114808"/>
                </a:lnTo>
                <a:lnTo>
                  <a:pt x="114808" y="81882"/>
                </a:lnTo>
                <a:lnTo>
                  <a:pt x="152045" y="53783"/>
                </a:lnTo>
                <a:lnTo>
                  <a:pt x="193075" y="31028"/>
                </a:lnTo>
                <a:lnTo>
                  <a:pt x="237381" y="14135"/>
                </a:lnTo>
                <a:lnTo>
                  <a:pt x="284447" y="3619"/>
                </a:lnTo>
                <a:lnTo>
                  <a:pt x="333755" y="0"/>
                </a:lnTo>
                <a:lnTo>
                  <a:pt x="1668779" y="0"/>
                </a:lnTo>
                <a:lnTo>
                  <a:pt x="1718088" y="3619"/>
                </a:lnTo>
                <a:lnTo>
                  <a:pt x="1765154" y="14135"/>
                </a:lnTo>
                <a:lnTo>
                  <a:pt x="1809460" y="31028"/>
                </a:lnTo>
                <a:lnTo>
                  <a:pt x="1850490" y="53783"/>
                </a:lnTo>
                <a:lnTo>
                  <a:pt x="1887727" y="81882"/>
                </a:lnTo>
                <a:lnTo>
                  <a:pt x="1920653" y="114808"/>
                </a:lnTo>
                <a:lnTo>
                  <a:pt x="1948752" y="152045"/>
                </a:lnTo>
                <a:lnTo>
                  <a:pt x="1971507" y="193075"/>
                </a:lnTo>
                <a:lnTo>
                  <a:pt x="1988400" y="237381"/>
                </a:lnTo>
                <a:lnTo>
                  <a:pt x="1998916" y="284447"/>
                </a:lnTo>
                <a:lnTo>
                  <a:pt x="2002535" y="333756"/>
                </a:lnTo>
                <a:lnTo>
                  <a:pt x="2002535" y="2243328"/>
                </a:lnTo>
                <a:lnTo>
                  <a:pt x="1998916" y="2292636"/>
                </a:lnTo>
                <a:lnTo>
                  <a:pt x="1988400" y="2339702"/>
                </a:lnTo>
                <a:lnTo>
                  <a:pt x="1971507" y="2384008"/>
                </a:lnTo>
                <a:lnTo>
                  <a:pt x="1948752" y="2425038"/>
                </a:lnTo>
                <a:lnTo>
                  <a:pt x="1920653" y="2462275"/>
                </a:lnTo>
                <a:lnTo>
                  <a:pt x="1887727" y="2495201"/>
                </a:lnTo>
                <a:lnTo>
                  <a:pt x="1850490" y="2523300"/>
                </a:lnTo>
                <a:lnTo>
                  <a:pt x="1809460" y="2546055"/>
                </a:lnTo>
                <a:lnTo>
                  <a:pt x="1765154" y="2562948"/>
                </a:lnTo>
                <a:lnTo>
                  <a:pt x="1718088" y="2573464"/>
                </a:lnTo>
                <a:lnTo>
                  <a:pt x="1668779" y="2577084"/>
                </a:lnTo>
                <a:lnTo>
                  <a:pt x="333755" y="2577084"/>
                </a:lnTo>
                <a:lnTo>
                  <a:pt x="284447" y="2573464"/>
                </a:lnTo>
                <a:lnTo>
                  <a:pt x="237381" y="2562948"/>
                </a:lnTo>
                <a:lnTo>
                  <a:pt x="193075" y="2546055"/>
                </a:lnTo>
                <a:lnTo>
                  <a:pt x="152045" y="2523300"/>
                </a:lnTo>
                <a:lnTo>
                  <a:pt x="114808" y="2495201"/>
                </a:lnTo>
                <a:lnTo>
                  <a:pt x="81882" y="2462275"/>
                </a:lnTo>
                <a:lnTo>
                  <a:pt x="53783" y="2425038"/>
                </a:lnTo>
                <a:lnTo>
                  <a:pt x="31028" y="2384008"/>
                </a:lnTo>
                <a:lnTo>
                  <a:pt x="14135" y="2339702"/>
                </a:lnTo>
                <a:lnTo>
                  <a:pt x="3619" y="2292636"/>
                </a:lnTo>
                <a:lnTo>
                  <a:pt x="0" y="2243328"/>
                </a:lnTo>
                <a:lnTo>
                  <a:pt x="0" y="333756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5829046" y="1927605"/>
            <a:ext cx="2392045" cy="497840"/>
            <a:chOff x="5829046" y="1927605"/>
            <a:chExt cx="2392045" cy="497840"/>
          </a:xfrm>
        </p:grpSpPr>
        <p:sp>
          <p:nvSpPr>
            <p:cNvPr id="21" name="object 21"/>
            <p:cNvSpPr/>
            <p:nvPr/>
          </p:nvSpPr>
          <p:spPr>
            <a:xfrm>
              <a:off x="5835396" y="1933955"/>
              <a:ext cx="347980" cy="485140"/>
            </a:xfrm>
            <a:custGeom>
              <a:avLst/>
              <a:gdLst/>
              <a:ahLst/>
              <a:cxnLst/>
              <a:rect l="l" t="t" r="r" b="b"/>
              <a:pathLst>
                <a:path w="347979" h="485139">
                  <a:moveTo>
                    <a:pt x="173736" y="0"/>
                  </a:moveTo>
                  <a:lnTo>
                    <a:pt x="173736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173736" y="363474"/>
                  </a:lnTo>
                  <a:lnTo>
                    <a:pt x="173736" y="484632"/>
                  </a:lnTo>
                  <a:lnTo>
                    <a:pt x="347471" y="242316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35396" y="1933955"/>
              <a:ext cx="347980" cy="485140"/>
            </a:xfrm>
            <a:custGeom>
              <a:avLst/>
              <a:gdLst/>
              <a:ahLst/>
              <a:cxnLst/>
              <a:rect l="l" t="t" r="r" b="b"/>
              <a:pathLst>
                <a:path w="347979" h="485139">
                  <a:moveTo>
                    <a:pt x="0" y="121158"/>
                  </a:moveTo>
                  <a:lnTo>
                    <a:pt x="173736" y="121158"/>
                  </a:lnTo>
                  <a:lnTo>
                    <a:pt x="173736" y="0"/>
                  </a:lnTo>
                  <a:lnTo>
                    <a:pt x="347471" y="242316"/>
                  </a:lnTo>
                  <a:lnTo>
                    <a:pt x="173736" y="484632"/>
                  </a:lnTo>
                  <a:lnTo>
                    <a:pt x="173736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68412" y="1933955"/>
              <a:ext cx="346075" cy="485140"/>
            </a:xfrm>
            <a:custGeom>
              <a:avLst/>
              <a:gdLst/>
              <a:ahLst/>
              <a:cxnLst/>
              <a:rect l="l" t="t" r="r" b="b"/>
              <a:pathLst>
                <a:path w="346075" h="485139">
                  <a:moveTo>
                    <a:pt x="172974" y="0"/>
                  </a:moveTo>
                  <a:lnTo>
                    <a:pt x="172974" y="121158"/>
                  </a:lnTo>
                  <a:lnTo>
                    <a:pt x="0" y="121158"/>
                  </a:lnTo>
                  <a:lnTo>
                    <a:pt x="0" y="363474"/>
                  </a:lnTo>
                  <a:lnTo>
                    <a:pt x="172974" y="363474"/>
                  </a:lnTo>
                  <a:lnTo>
                    <a:pt x="172974" y="484632"/>
                  </a:lnTo>
                  <a:lnTo>
                    <a:pt x="345948" y="242316"/>
                  </a:lnTo>
                  <a:lnTo>
                    <a:pt x="1729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68412" y="1933955"/>
              <a:ext cx="346075" cy="485140"/>
            </a:xfrm>
            <a:custGeom>
              <a:avLst/>
              <a:gdLst/>
              <a:ahLst/>
              <a:cxnLst/>
              <a:rect l="l" t="t" r="r" b="b"/>
              <a:pathLst>
                <a:path w="346075" h="485139">
                  <a:moveTo>
                    <a:pt x="0" y="121158"/>
                  </a:moveTo>
                  <a:lnTo>
                    <a:pt x="172974" y="121158"/>
                  </a:lnTo>
                  <a:lnTo>
                    <a:pt x="172974" y="0"/>
                  </a:lnTo>
                  <a:lnTo>
                    <a:pt x="345948" y="242316"/>
                  </a:lnTo>
                  <a:lnTo>
                    <a:pt x="172974" y="484632"/>
                  </a:lnTo>
                  <a:lnTo>
                    <a:pt x="172974" y="363474"/>
                  </a:lnTo>
                  <a:lnTo>
                    <a:pt x="0" y="363474"/>
                  </a:lnTo>
                  <a:lnTo>
                    <a:pt x="0" y="12115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071" rIns="0" bIns="0" rtlCol="0">
            <a:spAutoFit/>
          </a:bodyPr>
          <a:lstStyle/>
          <a:p>
            <a:pPr marL="2751455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Metrics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24789" y="1751964"/>
          <a:ext cx="11172190" cy="4388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2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L1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L2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Discovery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807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CTR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Home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screen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734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Swiggy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Regular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being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clicked compared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other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options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Home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page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Adoption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Weekly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#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schedules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set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667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%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schedules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completed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i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keep</a:t>
                      </a:r>
                      <a:r>
                        <a:rPr sz="1800" b="1" i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tab</a:t>
                      </a:r>
                      <a:r>
                        <a:rPr sz="1800" b="1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b="1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10" dirty="0">
                          <a:latin typeface="Calibri"/>
                          <a:cs typeface="Calibri"/>
                        </a:rPr>
                        <a:t>cancellations</a:t>
                      </a:r>
                      <a:r>
                        <a:rPr sz="1800" b="1" i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before</a:t>
                      </a:r>
                      <a:r>
                        <a:rPr sz="1800" b="1" i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completion</a:t>
                      </a:r>
                      <a:r>
                        <a:rPr sz="1800" b="1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5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i="1" spc="-10" dirty="0">
                          <a:latin typeface="Calibri"/>
                          <a:cs typeface="Calibri"/>
                        </a:rPr>
                        <a:t>schedule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Engagement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2987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spent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‘Swiggy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Regular’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section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user,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WAU,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DAU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378460" indent="-28638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schedules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user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8460" marR="108585" indent="-2870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846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Hourly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distribution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Swiggy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Regular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orders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during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800" b="1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denote</a:t>
                      </a:r>
                      <a:r>
                        <a:rPr sz="1800" b="1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800" b="1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times</a:t>
                      </a:r>
                      <a:r>
                        <a:rPr sz="1800" b="1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b="1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day</a:t>
                      </a:r>
                      <a:r>
                        <a:rPr sz="1800" b="1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b="1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popular</a:t>
                      </a:r>
                      <a:r>
                        <a:rPr sz="1800" b="1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b="1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800" b="1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10" dirty="0">
                          <a:latin typeface="Calibri"/>
                          <a:cs typeface="Calibri"/>
                        </a:rPr>
                        <a:t>option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Revenue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59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Weekly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cart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value,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Average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Revenue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User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051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wallet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split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normal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orders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Swiggy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Regular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orders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Retention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Monthly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repeat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schedules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per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user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Net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CTR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Repeat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cycle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checkbox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800" b="1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i="1" spc="-10" dirty="0">
                          <a:latin typeface="Calibri"/>
                          <a:cs typeface="Calibri"/>
                        </a:rPr>
                        <a:t>positive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b="1" i="1" spc="-10" dirty="0">
                          <a:latin typeface="Calibri"/>
                          <a:cs typeface="Calibri"/>
                        </a:rPr>
                        <a:t>clicks-</a:t>
                      </a:r>
                      <a:r>
                        <a:rPr sz="1800" b="1" i="1" dirty="0">
                          <a:latin typeface="Calibri"/>
                          <a:cs typeface="Calibri"/>
                        </a:rPr>
                        <a:t>negative </a:t>
                      </a:r>
                      <a:r>
                        <a:rPr sz="1800" b="1" i="1" spc="-10" dirty="0">
                          <a:latin typeface="Calibri"/>
                          <a:cs typeface="Calibri"/>
                        </a:rPr>
                        <a:t>clicks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59685" y="1066038"/>
            <a:ext cx="7854950" cy="401320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29"/>
              </a:spcBef>
            </a:pPr>
            <a:r>
              <a:rPr sz="2000" b="1" dirty="0">
                <a:latin typeface="Calibri"/>
                <a:cs typeface="Calibri"/>
              </a:rPr>
              <a:t>North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Star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Metric:</a:t>
            </a:r>
            <a:r>
              <a:rPr sz="2000" b="1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Revenue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Swiggy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Regular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5469" y="524846"/>
            <a:ext cx="3701142" cy="59132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681" rIns="0" bIns="0" rtlCol="0">
            <a:spAutoFit/>
          </a:bodyPr>
          <a:lstStyle/>
          <a:p>
            <a:pPr marL="1695450">
              <a:lnSpc>
                <a:spcPct val="100000"/>
              </a:lnSpc>
              <a:spcBef>
                <a:spcPts val="100"/>
              </a:spcBef>
            </a:pPr>
            <a:r>
              <a:rPr dirty="0"/>
              <a:t>Go-to</a:t>
            </a:r>
            <a:r>
              <a:rPr spc="-114" dirty="0"/>
              <a:t> </a:t>
            </a:r>
            <a:r>
              <a:rPr dirty="0"/>
              <a:t>market</a:t>
            </a:r>
            <a:r>
              <a:rPr spc="-110" dirty="0"/>
              <a:t> </a:t>
            </a:r>
            <a:r>
              <a:rPr spc="-10" dirty="0"/>
              <a:t>strategy</a:t>
            </a:r>
          </a:p>
        </p:txBody>
      </p:sp>
      <p:sp>
        <p:nvSpPr>
          <p:cNvPr id="4" name="object 4"/>
          <p:cNvSpPr/>
          <p:nvPr/>
        </p:nvSpPr>
        <p:spPr>
          <a:xfrm>
            <a:off x="477773" y="832866"/>
            <a:ext cx="4043679" cy="5896610"/>
          </a:xfrm>
          <a:custGeom>
            <a:avLst/>
            <a:gdLst/>
            <a:ahLst/>
            <a:cxnLst/>
            <a:rect l="l" t="t" r="r" b="b"/>
            <a:pathLst>
              <a:path w="4043679" h="5896609">
                <a:moveTo>
                  <a:pt x="0" y="5896356"/>
                </a:moveTo>
                <a:lnTo>
                  <a:pt x="4043172" y="5896356"/>
                </a:lnTo>
                <a:lnTo>
                  <a:pt x="4043172" y="0"/>
                </a:lnTo>
                <a:lnTo>
                  <a:pt x="0" y="0"/>
                </a:lnTo>
                <a:lnTo>
                  <a:pt x="0" y="5896356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5142" y="704223"/>
            <a:ext cx="3411854" cy="106743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994"/>
              </a:spcBef>
            </a:pPr>
            <a:r>
              <a:rPr sz="2000" b="1" dirty="0">
                <a:latin typeface="Calibri"/>
                <a:cs typeface="Calibri"/>
              </a:rPr>
              <a:t>Pre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launch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1939"/>
              </a:lnSpc>
              <a:spcBef>
                <a:spcPts val="1050"/>
              </a:spcBef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Objective: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Ensure</a:t>
            </a:r>
            <a:r>
              <a:rPr sz="1800" i="1" spc="-4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product-</a:t>
            </a:r>
            <a:r>
              <a:rPr sz="1800" i="1" dirty="0">
                <a:latin typeface="Calibri"/>
                <a:cs typeface="Calibri"/>
              </a:rPr>
              <a:t>market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fit </a:t>
            </a:r>
            <a:r>
              <a:rPr sz="1800" i="1" dirty="0">
                <a:latin typeface="Calibri"/>
                <a:cs typeface="Calibri"/>
              </a:rPr>
              <a:t>(PMF)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with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chosen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target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group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142" y="1845309"/>
            <a:ext cx="3804920" cy="488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05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spc="-25" dirty="0">
                <a:latin typeface="Calibri"/>
                <a:cs typeface="Calibri"/>
              </a:rPr>
              <a:t>Train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internal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teams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(e.g.: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sz="1800" dirty="0">
                <a:latin typeface="Calibri"/>
                <a:cs typeface="Calibri"/>
              </a:rPr>
              <a:t>support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offering)</a:t>
            </a:r>
            <a:endParaRPr sz="1800">
              <a:latin typeface="Calibri"/>
              <a:cs typeface="Calibri"/>
            </a:endParaRPr>
          </a:p>
          <a:p>
            <a:pPr marL="241300" marR="12065" indent="-229235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Calibri"/>
                <a:cs typeface="Calibri"/>
              </a:rPr>
              <a:t>Establish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metrics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under </a:t>
            </a:r>
            <a:r>
              <a:rPr sz="1800" dirty="0">
                <a:latin typeface="Calibri"/>
                <a:cs typeface="Calibri"/>
              </a:rPr>
              <a:t>surveillance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signal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smooth </a:t>
            </a:r>
            <a:r>
              <a:rPr sz="1800" dirty="0">
                <a:latin typeface="Calibri"/>
                <a:cs typeface="Calibri"/>
              </a:rPr>
              <a:t>onboarding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engagement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users</a:t>
            </a:r>
            <a:endParaRPr sz="1800">
              <a:latin typeface="Calibri"/>
              <a:cs typeface="Calibri"/>
            </a:endParaRPr>
          </a:p>
          <a:p>
            <a:pPr marL="241300" marR="99695" indent="-229235">
              <a:lnSpc>
                <a:spcPct val="9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spc="-10" dirty="0">
                <a:latin typeface="Calibri"/>
                <a:cs typeface="Calibri"/>
              </a:rPr>
              <a:t>Establish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beta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release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for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chosen </a:t>
            </a:r>
            <a:r>
              <a:rPr sz="1800" b="1" dirty="0">
                <a:latin typeface="Calibri"/>
                <a:cs typeface="Calibri"/>
              </a:rPr>
              <a:t>cohort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users.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UX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in-</a:t>
            </a:r>
            <a:r>
              <a:rPr sz="1800" b="1" spc="-25" dirty="0">
                <a:latin typeface="Calibri"/>
                <a:cs typeface="Calibri"/>
              </a:rPr>
              <a:t>app </a:t>
            </a:r>
            <a:r>
              <a:rPr sz="1800" b="1" dirty="0">
                <a:latin typeface="Calibri"/>
                <a:cs typeface="Calibri"/>
              </a:rPr>
              <a:t>behaviour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tracked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using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tools </a:t>
            </a:r>
            <a:r>
              <a:rPr sz="1800" b="1" dirty="0">
                <a:latin typeface="Calibri"/>
                <a:cs typeface="Calibri"/>
              </a:rPr>
              <a:t>like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heatmaps.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Track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metrics</a:t>
            </a:r>
            <a:r>
              <a:rPr sz="1800" spc="-25" dirty="0">
                <a:latin typeface="Calibri"/>
                <a:cs typeface="Calibri"/>
              </a:rPr>
              <a:t> for </a:t>
            </a:r>
            <a:r>
              <a:rPr sz="1800" b="1" dirty="0">
                <a:latin typeface="Calibri"/>
                <a:cs typeface="Calibri"/>
              </a:rPr>
              <a:t>estimated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vs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actual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values</a:t>
            </a:r>
            <a:endParaRPr sz="1800">
              <a:latin typeface="Calibri"/>
              <a:cs typeface="Calibri"/>
            </a:endParaRPr>
          </a:p>
          <a:p>
            <a:pPr marL="241300" marR="163195" indent="-229235" algn="just">
              <a:lnSpc>
                <a:spcPct val="901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Monitor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feedback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reported </a:t>
            </a:r>
            <a:r>
              <a:rPr sz="1800" dirty="0">
                <a:latin typeface="Calibri"/>
                <a:cs typeface="Calibri"/>
              </a:rPr>
              <a:t>bugs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inculcate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before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final </a:t>
            </a:r>
            <a:r>
              <a:rPr sz="1800" dirty="0">
                <a:latin typeface="Calibri"/>
                <a:cs typeface="Calibri"/>
              </a:rPr>
              <a:t>launch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Conduct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PMF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surveys</a:t>
            </a:r>
            <a:endParaRPr sz="1800">
              <a:latin typeface="Calibri"/>
              <a:cs typeface="Calibri"/>
            </a:endParaRPr>
          </a:p>
          <a:p>
            <a:pPr marL="241300" marR="5080" indent="-229235">
              <a:lnSpc>
                <a:spcPct val="9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b="1" dirty="0">
                <a:latin typeface="Calibri"/>
                <a:cs typeface="Calibri"/>
              </a:rPr>
              <a:t>Promotion: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Notifications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target </a:t>
            </a:r>
            <a:r>
              <a:rPr sz="1800" dirty="0">
                <a:latin typeface="Calibri"/>
                <a:cs typeface="Calibri"/>
              </a:rPr>
              <a:t>cohorts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pre-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timings </a:t>
            </a:r>
            <a:r>
              <a:rPr sz="1800" dirty="0">
                <a:latin typeface="Calibri"/>
                <a:cs typeface="Calibri"/>
              </a:rPr>
              <a:t>(e.g: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lunch/dinner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hours)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43450" y="819150"/>
            <a:ext cx="3552825" cy="5676900"/>
          </a:xfrm>
          <a:custGeom>
            <a:avLst/>
            <a:gdLst/>
            <a:ahLst/>
            <a:cxnLst/>
            <a:rect l="l" t="t" r="r" b="b"/>
            <a:pathLst>
              <a:path w="3552825" h="5676900">
                <a:moveTo>
                  <a:pt x="0" y="5676900"/>
                </a:moveTo>
                <a:lnTo>
                  <a:pt x="3552444" y="5676900"/>
                </a:lnTo>
                <a:lnTo>
                  <a:pt x="3552444" y="0"/>
                </a:lnTo>
                <a:lnTo>
                  <a:pt x="0" y="0"/>
                </a:lnTo>
                <a:lnTo>
                  <a:pt x="0" y="567690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22697" y="691651"/>
            <a:ext cx="3286125" cy="131318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960119">
              <a:lnSpc>
                <a:spcPct val="100000"/>
              </a:lnSpc>
              <a:spcBef>
                <a:spcPts val="990"/>
              </a:spcBef>
            </a:pPr>
            <a:r>
              <a:rPr sz="2000" b="1" dirty="0">
                <a:latin typeface="Calibri"/>
                <a:cs typeface="Calibri"/>
              </a:rPr>
              <a:t>During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launch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015"/>
              </a:spcBef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Objective: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Ensure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smooth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launch, </a:t>
            </a:r>
            <a:r>
              <a:rPr sz="1800" i="1" dirty="0">
                <a:latin typeface="Calibri"/>
                <a:cs typeface="Calibri"/>
              </a:rPr>
              <a:t>feature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discovery,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and</a:t>
            </a:r>
            <a:r>
              <a:rPr sz="1800" i="1" spc="-5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engagement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feature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at</a:t>
            </a:r>
            <a:r>
              <a:rPr sz="1800" i="1" spc="-10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scale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2697" y="2253741"/>
            <a:ext cx="3352800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5557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identified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target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groups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aware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feature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through </a:t>
            </a:r>
            <a:r>
              <a:rPr sz="1800" b="1" dirty="0">
                <a:latin typeface="Calibri"/>
                <a:cs typeface="Calibri"/>
              </a:rPr>
              <a:t>notifications,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in-app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popups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new </a:t>
            </a:r>
            <a:r>
              <a:rPr sz="1800" spc="-10" dirty="0">
                <a:latin typeface="Calibri"/>
                <a:cs typeface="Calibri"/>
              </a:rPr>
              <a:t>feature</a:t>
            </a:r>
            <a:endParaRPr sz="1800">
              <a:latin typeface="Calibri"/>
              <a:cs typeface="Calibri"/>
            </a:endParaRPr>
          </a:p>
          <a:p>
            <a:pPr marL="299085" marR="31305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run-</a:t>
            </a:r>
            <a:r>
              <a:rPr sz="1800" dirty="0">
                <a:latin typeface="Calibri"/>
                <a:cs typeface="Calibri"/>
              </a:rPr>
              <a:t>through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0" dirty="0">
                <a:latin typeface="Calibri"/>
                <a:cs typeface="Calibri"/>
              </a:rPr>
              <a:t> steps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in-app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make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onboarding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simpler</a:t>
            </a:r>
            <a:endParaRPr sz="18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latin typeface="Calibri"/>
                <a:cs typeface="Calibri"/>
              </a:rPr>
              <a:t>Features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A-B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tested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can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be </a:t>
            </a:r>
            <a:r>
              <a:rPr sz="1800" b="1" dirty="0">
                <a:latin typeface="Calibri"/>
                <a:cs typeface="Calibri"/>
              </a:rPr>
              <a:t>tested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scale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feedback collected</a:t>
            </a:r>
            <a:endParaRPr sz="1800">
              <a:latin typeface="Calibri"/>
              <a:cs typeface="Calibri"/>
            </a:endParaRPr>
          </a:p>
          <a:p>
            <a:pPr marL="299085" marR="3937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discovery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engagement </a:t>
            </a:r>
            <a:r>
              <a:rPr sz="1800" b="1" dirty="0">
                <a:latin typeface="Calibri"/>
                <a:cs typeface="Calibri"/>
              </a:rPr>
              <a:t>metrics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should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specially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paid </a:t>
            </a:r>
            <a:r>
              <a:rPr sz="1800" b="1" spc="-10" dirty="0">
                <a:latin typeface="Calibri"/>
                <a:cs typeface="Calibri"/>
              </a:rPr>
              <a:t>attention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518397" y="819150"/>
            <a:ext cx="3552825" cy="5096510"/>
          </a:xfrm>
          <a:custGeom>
            <a:avLst/>
            <a:gdLst/>
            <a:ahLst/>
            <a:cxnLst/>
            <a:rect l="l" t="t" r="r" b="b"/>
            <a:pathLst>
              <a:path w="3552825" h="5096510">
                <a:moveTo>
                  <a:pt x="0" y="5096256"/>
                </a:moveTo>
                <a:lnTo>
                  <a:pt x="3552444" y="5096256"/>
                </a:lnTo>
                <a:lnTo>
                  <a:pt x="3552444" y="0"/>
                </a:lnTo>
                <a:lnTo>
                  <a:pt x="0" y="0"/>
                </a:lnTo>
                <a:lnTo>
                  <a:pt x="0" y="5096256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98154" y="691651"/>
            <a:ext cx="3364229" cy="156019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087120">
              <a:lnSpc>
                <a:spcPct val="100000"/>
              </a:lnSpc>
              <a:spcBef>
                <a:spcPts val="990"/>
              </a:spcBef>
            </a:pPr>
            <a:r>
              <a:rPr sz="2000" b="1" dirty="0">
                <a:latin typeface="Calibri"/>
                <a:cs typeface="Calibri"/>
              </a:rPr>
              <a:t>Post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launch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90000"/>
              </a:lnSpc>
              <a:spcBef>
                <a:spcPts val="1015"/>
              </a:spcBef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Objective: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Continuous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feedback </a:t>
            </a:r>
            <a:r>
              <a:rPr sz="1800" i="1" dirty="0">
                <a:latin typeface="Calibri"/>
                <a:cs typeface="Calibri"/>
              </a:rPr>
              <a:t>from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app</a:t>
            </a:r>
            <a:r>
              <a:rPr sz="1800" i="1" spc="-1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usage</a:t>
            </a:r>
            <a:r>
              <a:rPr sz="1800" i="1" spc="-1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through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established </a:t>
            </a:r>
            <a:r>
              <a:rPr sz="1800" i="1" dirty="0">
                <a:latin typeface="Calibri"/>
                <a:cs typeface="Calibri"/>
              </a:rPr>
              <a:t>channels.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Agile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deployment</a:t>
            </a:r>
            <a:r>
              <a:rPr sz="1800" i="1" spc="-70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of </a:t>
            </a:r>
            <a:r>
              <a:rPr sz="1800" i="1" spc="-10" dirty="0">
                <a:latin typeface="Calibri"/>
                <a:cs typeface="Calibri"/>
              </a:rPr>
              <a:t>improvements </a:t>
            </a:r>
            <a:r>
              <a:rPr sz="1800" i="1" dirty="0">
                <a:latin typeface="Calibri"/>
                <a:cs typeface="Calibri"/>
              </a:rPr>
              <a:t>and</a:t>
            </a:r>
            <a:r>
              <a:rPr sz="1800" i="1" spc="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bug</a:t>
            </a:r>
            <a:r>
              <a:rPr sz="1800" i="1" spc="-5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fixes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98154" y="2500629"/>
            <a:ext cx="3387725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PMF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surveys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groups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Calibri"/>
                <a:cs typeface="Calibri"/>
              </a:rPr>
              <a:t>NPS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scores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measured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evaluated</a:t>
            </a:r>
            <a:endParaRPr sz="18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retention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10" dirty="0">
                <a:latin typeface="Calibri"/>
                <a:cs typeface="Calibri"/>
              </a:rPr>
              <a:t> health</a:t>
            </a:r>
            <a:r>
              <a:rPr sz="1800" b="1" spc="50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metrics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should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paid</a:t>
            </a:r>
            <a:r>
              <a:rPr sz="1800" b="1" spc="-10" dirty="0">
                <a:latin typeface="Calibri"/>
                <a:cs typeface="Calibri"/>
              </a:rPr>
              <a:t> attention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begins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scale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critical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mass</a:t>
            </a:r>
            <a:endParaRPr sz="1800">
              <a:latin typeface="Calibri"/>
              <a:cs typeface="Calibri"/>
            </a:endParaRPr>
          </a:p>
          <a:p>
            <a:pPr marL="299085" marR="38100" indent="-28702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latin typeface="Calibri"/>
                <a:cs typeface="Calibri"/>
              </a:rPr>
              <a:t>Reported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bugs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fixed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b="1" dirty="0">
                <a:latin typeface="Calibri"/>
                <a:cs typeface="Calibri"/>
              </a:rPr>
              <a:t>shorter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sprint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cycles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till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stable </a:t>
            </a:r>
            <a:r>
              <a:rPr sz="1800" b="1" dirty="0">
                <a:latin typeface="Calibri"/>
                <a:cs typeface="Calibri"/>
              </a:rPr>
              <a:t>version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exists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market</a:t>
            </a:r>
            <a:endParaRPr sz="1800">
              <a:latin typeface="Calibri"/>
              <a:cs typeface="Calibri"/>
            </a:endParaRPr>
          </a:p>
          <a:p>
            <a:pPr marL="298450" indent="-285750" algn="just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sz="1800" spc="-10" dirty="0">
                <a:latin typeface="Calibri"/>
                <a:cs typeface="Calibri"/>
              </a:rPr>
              <a:t>Adequate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customer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support</a:t>
            </a:r>
            <a:endParaRPr sz="1800">
              <a:latin typeface="Calibri"/>
              <a:cs typeface="Calibri"/>
            </a:endParaRPr>
          </a:p>
          <a:p>
            <a:pPr marL="299085" algn="just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available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62373" y="3512565"/>
            <a:ext cx="738505" cy="541655"/>
            <a:chOff x="4262373" y="3512565"/>
            <a:chExt cx="738505" cy="541655"/>
          </a:xfrm>
        </p:grpSpPr>
        <p:sp>
          <p:nvSpPr>
            <p:cNvPr id="14" name="object 14"/>
            <p:cNvSpPr/>
            <p:nvPr/>
          </p:nvSpPr>
          <p:spPr>
            <a:xfrm>
              <a:off x="4268723" y="3518915"/>
              <a:ext cx="725805" cy="528955"/>
            </a:xfrm>
            <a:custGeom>
              <a:avLst/>
              <a:gdLst/>
              <a:ahLst/>
              <a:cxnLst/>
              <a:rect l="l" t="t" r="r" b="b"/>
              <a:pathLst>
                <a:path w="725804" h="528954">
                  <a:moveTo>
                    <a:pt x="461010" y="0"/>
                  </a:moveTo>
                  <a:lnTo>
                    <a:pt x="461010" y="132207"/>
                  </a:lnTo>
                  <a:lnTo>
                    <a:pt x="0" y="132207"/>
                  </a:lnTo>
                  <a:lnTo>
                    <a:pt x="0" y="396621"/>
                  </a:lnTo>
                  <a:lnTo>
                    <a:pt x="461010" y="396621"/>
                  </a:lnTo>
                  <a:lnTo>
                    <a:pt x="461010" y="528828"/>
                  </a:lnTo>
                  <a:lnTo>
                    <a:pt x="725424" y="264414"/>
                  </a:lnTo>
                  <a:lnTo>
                    <a:pt x="46101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68723" y="3518915"/>
              <a:ext cx="725805" cy="528955"/>
            </a:xfrm>
            <a:custGeom>
              <a:avLst/>
              <a:gdLst/>
              <a:ahLst/>
              <a:cxnLst/>
              <a:rect l="l" t="t" r="r" b="b"/>
              <a:pathLst>
                <a:path w="725804" h="528954">
                  <a:moveTo>
                    <a:pt x="0" y="132207"/>
                  </a:moveTo>
                  <a:lnTo>
                    <a:pt x="461010" y="132207"/>
                  </a:lnTo>
                  <a:lnTo>
                    <a:pt x="461010" y="0"/>
                  </a:lnTo>
                  <a:lnTo>
                    <a:pt x="725424" y="264414"/>
                  </a:lnTo>
                  <a:lnTo>
                    <a:pt x="461010" y="528828"/>
                  </a:lnTo>
                  <a:lnTo>
                    <a:pt x="461010" y="396621"/>
                  </a:lnTo>
                  <a:lnTo>
                    <a:pt x="0" y="396621"/>
                  </a:lnTo>
                  <a:lnTo>
                    <a:pt x="0" y="132207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037321" y="3526282"/>
            <a:ext cx="738505" cy="541655"/>
            <a:chOff x="8037321" y="3526282"/>
            <a:chExt cx="738505" cy="541655"/>
          </a:xfrm>
        </p:grpSpPr>
        <p:sp>
          <p:nvSpPr>
            <p:cNvPr id="17" name="object 17"/>
            <p:cNvSpPr/>
            <p:nvPr/>
          </p:nvSpPr>
          <p:spPr>
            <a:xfrm>
              <a:off x="8043671" y="3532632"/>
              <a:ext cx="725805" cy="528955"/>
            </a:xfrm>
            <a:custGeom>
              <a:avLst/>
              <a:gdLst/>
              <a:ahLst/>
              <a:cxnLst/>
              <a:rect l="l" t="t" r="r" b="b"/>
              <a:pathLst>
                <a:path w="725804" h="528954">
                  <a:moveTo>
                    <a:pt x="461009" y="0"/>
                  </a:moveTo>
                  <a:lnTo>
                    <a:pt x="461009" y="132206"/>
                  </a:lnTo>
                  <a:lnTo>
                    <a:pt x="0" y="132206"/>
                  </a:lnTo>
                  <a:lnTo>
                    <a:pt x="0" y="396620"/>
                  </a:lnTo>
                  <a:lnTo>
                    <a:pt x="461009" y="396620"/>
                  </a:lnTo>
                  <a:lnTo>
                    <a:pt x="461009" y="528827"/>
                  </a:lnTo>
                  <a:lnTo>
                    <a:pt x="725424" y="264413"/>
                  </a:lnTo>
                  <a:lnTo>
                    <a:pt x="46100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43671" y="3532632"/>
              <a:ext cx="725805" cy="528955"/>
            </a:xfrm>
            <a:custGeom>
              <a:avLst/>
              <a:gdLst/>
              <a:ahLst/>
              <a:cxnLst/>
              <a:rect l="l" t="t" r="r" b="b"/>
              <a:pathLst>
                <a:path w="725804" h="528954">
                  <a:moveTo>
                    <a:pt x="0" y="132206"/>
                  </a:moveTo>
                  <a:lnTo>
                    <a:pt x="461009" y="132206"/>
                  </a:lnTo>
                  <a:lnTo>
                    <a:pt x="461009" y="0"/>
                  </a:lnTo>
                  <a:lnTo>
                    <a:pt x="725424" y="264413"/>
                  </a:lnTo>
                  <a:lnTo>
                    <a:pt x="461009" y="528827"/>
                  </a:lnTo>
                  <a:lnTo>
                    <a:pt x="461009" y="396620"/>
                  </a:lnTo>
                  <a:lnTo>
                    <a:pt x="0" y="396620"/>
                  </a:lnTo>
                  <a:lnTo>
                    <a:pt x="0" y="13220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60797" y="3374847"/>
            <a:ext cx="24739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Calibri Light"/>
                <a:cs typeface="Calibri Light"/>
              </a:rPr>
              <a:t>Thank</a:t>
            </a:r>
            <a:r>
              <a:rPr sz="4400" b="0" spc="-235" dirty="0">
                <a:latin typeface="Calibri Light"/>
                <a:cs typeface="Calibri Light"/>
              </a:rPr>
              <a:t> </a:t>
            </a:r>
            <a:r>
              <a:rPr sz="4400" b="0" spc="-25" dirty="0">
                <a:latin typeface="Calibri Light"/>
                <a:cs typeface="Calibri Light"/>
              </a:rPr>
              <a:t>you!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3621" y="4123410"/>
            <a:ext cx="4525645" cy="1154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05" algn="ctr">
              <a:lnSpc>
                <a:spcPct val="131500"/>
              </a:lnSpc>
              <a:spcBef>
                <a:spcPts val="100"/>
              </a:spcBef>
            </a:pPr>
            <a:r>
              <a:rPr lang="en-IN" sz="1800" u="sng" dirty="0">
                <a:hlinkClick r:id="rId3"/>
              </a:rPr>
              <a:t>mayank.pm11@gmail.com</a:t>
            </a:r>
            <a:r>
              <a:rPr lang="en-IN" sz="1800" dirty="0"/>
              <a:t> | </a:t>
            </a:r>
            <a:r>
              <a:rPr lang="en-IN" sz="1800" u="sng" dirty="0">
                <a:hlinkClick r:id="rId4"/>
              </a:rPr>
              <a:t>linkedin.com/in/</a:t>
            </a:r>
            <a:r>
              <a:rPr lang="en-IN" sz="1800" u="sng" dirty="0" err="1">
                <a:hlinkClick r:id="rId4"/>
              </a:rPr>
              <a:t>mayankkumar</a:t>
            </a:r>
            <a:endParaRPr sz="2000" dirty="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765"/>
              </a:spcBef>
            </a:pPr>
            <a:r>
              <a:rPr sz="2000" spc="-10" dirty="0">
                <a:latin typeface="Calibri"/>
                <a:cs typeface="Calibri"/>
              </a:rPr>
              <a:t>+91-</a:t>
            </a:r>
            <a:r>
              <a:rPr lang="en-US" sz="2000" spc="-10" dirty="0">
                <a:latin typeface="Calibri"/>
                <a:cs typeface="Calibri"/>
              </a:rPr>
              <a:t>9121717703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5" name="object 5" descr="Icon  Description automatically generated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19828" y="873252"/>
            <a:ext cx="2517648" cy="25176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2474</Words>
  <Application>Microsoft Office PowerPoint</Application>
  <PresentationFormat>Widescreen</PresentationFormat>
  <Paragraphs>332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MT</vt:lpstr>
      <vt:lpstr>Calibri</vt:lpstr>
      <vt:lpstr>Calibri Light</vt:lpstr>
      <vt:lpstr>Times New Roman</vt:lpstr>
      <vt:lpstr>Wingdings</vt:lpstr>
      <vt:lpstr>Office Theme</vt:lpstr>
      <vt:lpstr>Investor pitch for Swiggy</vt:lpstr>
      <vt:lpstr>Introduction</vt:lpstr>
      <vt:lpstr>Competitive landscape and benchmarking</vt:lpstr>
      <vt:lpstr>User segmentation</vt:lpstr>
      <vt:lpstr>User personas</vt:lpstr>
      <vt:lpstr>User flow for an existing regular user</vt:lpstr>
      <vt:lpstr>Pain points</vt:lpstr>
      <vt:lpstr>Solutions</vt:lpstr>
      <vt:lpstr>Wireframes</vt:lpstr>
      <vt:lpstr>Metrics</vt:lpstr>
      <vt:lpstr>Go-to market strategy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would you improve Swiggy?</dc:title>
  <dc:creator>Mayank Kumar</dc:creator>
  <cp:lastModifiedBy>Mayank Kumar</cp:lastModifiedBy>
  <cp:revision>1</cp:revision>
  <dcterms:created xsi:type="dcterms:W3CDTF">2026-05-21T09:13:07Z</dcterms:created>
  <dcterms:modified xsi:type="dcterms:W3CDTF">2026-05-21T09:27:17Z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2023-05-21T00:00:00Z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2026-05-21T00:00:00Z</vt:filetime>
  </property>
  <property fmtid="{D5CDD505-2E9C-101B-9397-08002B2CF9AE}" pid="6" name="Producer">
    <vt:lpwstr>Microsoft® PowerPoint® 2019</vt:lpwstr>
  </property>
</Properties>
</file>