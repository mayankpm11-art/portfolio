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8000" y="342900"/>
            <a:ext cx="6096000" cy="6172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0964" y="95250"/>
            <a:ext cx="4093210" cy="404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1997" y="3048380"/>
            <a:ext cx="10757535" cy="1379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647wIsS7ZS75QKY5thoXknsXimu6m2k1emLhf8rsK9I/edit?usp=shar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6.png"/><Relationship Id="rId7" Type="http://schemas.openxmlformats.org/officeDocument/2006/relationships/image" Target="../media/image20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98441" y="2494610"/>
            <a:ext cx="354520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PROBLEM</a:t>
            </a:r>
            <a:r>
              <a:rPr sz="3000" spc="-70" dirty="0"/>
              <a:t> </a:t>
            </a:r>
            <a:r>
              <a:rPr sz="3000" spc="-50" dirty="0"/>
              <a:t>STATEMENT</a:t>
            </a:r>
            <a:endParaRPr sz="3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065" marR="5080" indent="-3175" algn="ctr">
              <a:lnSpc>
                <a:spcPct val="90000"/>
              </a:lnSpc>
              <a:spcBef>
                <a:spcPts val="385"/>
              </a:spcBef>
            </a:pPr>
            <a:r>
              <a:rPr dirty="0"/>
              <a:t>Design</a:t>
            </a:r>
            <a:r>
              <a:rPr spc="-6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search</a:t>
            </a:r>
            <a:r>
              <a:rPr spc="-70" dirty="0"/>
              <a:t> </a:t>
            </a:r>
            <a:r>
              <a:rPr spc="-10" dirty="0"/>
              <a:t>experience</a:t>
            </a:r>
            <a:r>
              <a:rPr spc="-6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map/location</a:t>
            </a:r>
            <a:r>
              <a:rPr spc="-80" dirty="0"/>
              <a:t> </a:t>
            </a:r>
            <a:r>
              <a:rPr dirty="0"/>
              <a:t>search.</a:t>
            </a:r>
            <a:r>
              <a:rPr spc="-75" dirty="0"/>
              <a:t> </a:t>
            </a:r>
            <a:r>
              <a:rPr dirty="0"/>
              <a:t>This</a:t>
            </a:r>
            <a:r>
              <a:rPr spc="-60" dirty="0"/>
              <a:t> </a:t>
            </a:r>
            <a:r>
              <a:rPr dirty="0"/>
              <a:t>should</a:t>
            </a:r>
            <a:r>
              <a:rPr spc="-55" dirty="0"/>
              <a:t> </a:t>
            </a:r>
            <a:r>
              <a:rPr dirty="0"/>
              <a:t>cover</a:t>
            </a:r>
            <a:r>
              <a:rPr spc="-5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10" dirty="0"/>
              <a:t>detailed </a:t>
            </a:r>
            <a:r>
              <a:rPr dirty="0"/>
              <a:t>benchmarking</a:t>
            </a:r>
            <a:r>
              <a:rPr spc="-8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search</a:t>
            </a:r>
            <a:r>
              <a:rPr spc="-70" dirty="0"/>
              <a:t> </a:t>
            </a:r>
            <a:r>
              <a:rPr dirty="0"/>
              <a:t>options</a:t>
            </a:r>
            <a:r>
              <a:rPr spc="-65" dirty="0"/>
              <a:t> </a:t>
            </a:r>
            <a:r>
              <a:rPr spc="-10" dirty="0"/>
              <a:t>available</a:t>
            </a:r>
            <a:r>
              <a:rPr spc="-50" dirty="0"/>
              <a:t> </a:t>
            </a:r>
            <a:r>
              <a:rPr dirty="0"/>
              <a:t>(Google,</a:t>
            </a:r>
            <a:r>
              <a:rPr spc="-70" dirty="0"/>
              <a:t> </a:t>
            </a:r>
            <a:r>
              <a:rPr dirty="0"/>
              <a:t>Apple</a:t>
            </a:r>
            <a:r>
              <a:rPr spc="-55" dirty="0"/>
              <a:t> </a:t>
            </a:r>
            <a:r>
              <a:rPr dirty="0"/>
              <a:t>etc.)</a:t>
            </a:r>
            <a:r>
              <a:rPr spc="-8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specifically</a:t>
            </a:r>
            <a:r>
              <a:rPr spc="-65" dirty="0"/>
              <a:t> </a:t>
            </a:r>
            <a:r>
              <a:rPr dirty="0"/>
              <a:t>what</a:t>
            </a:r>
            <a:r>
              <a:rPr spc="-70" dirty="0"/>
              <a:t> </a:t>
            </a:r>
            <a:r>
              <a:rPr spc="-25" dirty="0"/>
              <a:t>we </a:t>
            </a:r>
            <a:r>
              <a:rPr dirty="0"/>
              <a:t>can</a:t>
            </a:r>
            <a:r>
              <a:rPr spc="-55" dirty="0"/>
              <a:t> </a:t>
            </a:r>
            <a:r>
              <a:rPr dirty="0"/>
              <a:t>do</a:t>
            </a:r>
            <a:r>
              <a:rPr spc="-65" dirty="0"/>
              <a:t> </a:t>
            </a:r>
            <a:r>
              <a:rPr spc="-20" dirty="0"/>
              <a:t>differently</a:t>
            </a:r>
            <a:r>
              <a:rPr spc="-5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maps</a:t>
            </a:r>
            <a:r>
              <a:rPr spc="-50" dirty="0"/>
              <a:t> </a:t>
            </a:r>
            <a:r>
              <a:rPr dirty="0"/>
              <a:t>search</a:t>
            </a:r>
            <a:r>
              <a:rPr spc="-60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dirty="0"/>
              <a:t>India.</a:t>
            </a:r>
            <a:r>
              <a:rPr spc="-60" dirty="0"/>
              <a:t> </a:t>
            </a:r>
            <a:r>
              <a:rPr dirty="0"/>
              <a:t>Careful</a:t>
            </a:r>
            <a:r>
              <a:rPr spc="-65" dirty="0"/>
              <a:t> </a:t>
            </a:r>
            <a:r>
              <a:rPr spc="-10" dirty="0"/>
              <a:t>consideration</a:t>
            </a:r>
            <a:r>
              <a:rPr spc="-55" dirty="0"/>
              <a:t> </a:t>
            </a:r>
            <a:r>
              <a:rPr dirty="0"/>
              <a:t>on</a:t>
            </a:r>
            <a:r>
              <a:rPr spc="-55" dirty="0"/>
              <a:t> </a:t>
            </a:r>
            <a:r>
              <a:rPr dirty="0"/>
              <a:t>current</a:t>
            </a:r>
            <a:r>
              <a:rPr spc="-45" dirty="0"/>
              <a:t> </a:t>
            </a:r>
            <a:r>
              <a:rPr dirty="0"/>
              <a:t>trends</a:t>
            </a:r>
            <a:r>
              <a:rPr spc="-50" dirty="0"/>
              <a:t> </a:t>
            </a:r>
            <a:r>
              <a:rPr spc="-25" dirty="0"/>
              <a:t>and </a:t>
            </a:r>
            <a:r>
              <a:rPr dirty="0"/>
              <a:t>potential</a:t>
            </a:r>
            <a:r>
              <a:rPr spc="-70" dirty="0"/>
              <a:t> </a:t>
            </a:r>
            <a:r>
              <a:rPr dirty="0"/>
              <a:t>usage</a:t>
            </a:r>
            <a:r>
              <a:rPr spc="-5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search</a:t>
            </a:r>
            <a:r>
              <a:rPr spc="-6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future</a:t>
            </a:r>
            <a:r>
              <a:rPr spc="-40" dirty="0"/>
              <a:t> </a:t>
            </a:r>
            <a:r>
              <a:rPr dirty="0"/>
              <a:t>(Where</a:t>
            </a:r>
            <a:r>
              <a:rPr spc="-55" dirty="0"/>
              <a:t> </a:t>
            </a:r>
            <a:r>
              <a:rPr dirty="0"/>
              <a:t>we</a:t>
            </a:r>
            <a:r>
              <a:rPr spc="-65" dirty="0"/>
              <a:t> </a:t>
            </a:r>
            <a:r>
              <a:rPr dirty="0"/>
              <a:t>will</a:t>
            </a:r>
            <a:r>
              <a:rPr spc="-65" dirty="0"/>
              <a:t> </a:t>
            </a:r>
            <a:r>
              <a:rPr dirty="0"/>
              <a:t>have</a:t>
            </a:r>
            <a:r>
              <a:rPr spc="-40" dirty="0"/>
              <a:t> </a:t>
            </a:r>
            <a:r>
              <a:rPr dirty="0"/>
              <a:t>AR/VR</a:t>
            </a:r>
            <a:r>
              <a:rPr spc="-75" dirty="0"/>
              <a:t> </a:t>
            </a:r>
            <a:r>
              <a:rPr dirty="0"/>
              <a:t>applications</a:t>
            </a:r>
            <a:r>
              <a:rPr spc="-60" dirty="0"/>
              <a:t> </a:t>
            </a:r>
            <a:r>
              <a:rPr spc="-20" dirty="0"/>
              <a:t>etc.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002" y="321380"/>
            <a:ext cx="1360553" cy="5279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932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spc="-25" dirty="0"/>
              <a:t> </a:t>
            </a:r>
            <a:r>
              <a:rPr spc="-10" dirty="0"/>
              <a:t>implications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3377" y="1296161"/>
            <a:ext cx="3899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OLA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MAPS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would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plethora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cases: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1540865"/>
            <a:ext cx="10633075" cy="13042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43865" indent="-431165">
              <a:lnSpc>
                <a:spcPct val="100000"/>
              </a:lnSpc>
              <a:spcBef>
                <a:spcPts val="434"/>
              </a:spcBef>
              <a:buAutoNum type="arabicParenR"/>
              <a:tabLst>
                <a:tab pos="443865" algn="l"/>
              </a:tabLst>
            </a:pPr>
            <a:r>
              <a:rPr sz="1400" b="1" dirty="0">
                <a:solidFill>
                  <a:srgbClr val="538235"/>
                </a:solidFill>
                <a:latin typeface="Calibri"/>
                <a:cs typeface="Calibri"/>
              </a:rPr>
              <a:t>Ola</a:t>
            </a:r>
            <a:r>
              <a:rPr sz="1400" b="1" spc="-1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38235"/>
                </a:solidFill>
                <a:latin typeface="Calibri"/>
                <a:cs typeface="Calibri"/>
              </a:rPr>
              <a:t>rides</a:t>
            </a:r>
            <a:r>
              <a:rPr sz="1400" b="1" spc="-4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38235"/>
                </a:solidFill>
                <a:latin typeface="Calibri"/>
                <a:cs typeface="Calibri"/>
              </a:rPr>
              <a:t>application</a:t>
            </a:r>
            <a:r>
              <a:rPr sz="1400" spc="-10" dirty="0">
                <a:solidFill>
                  <a:srgbClr val="538235"/>
                </a:solidFill>
                <a:latin typeface="Calibri"/>
                <a:cs typeface="Calibri"/>
              </a:rPr>
              <a:t>:</a:t>
            </a:r>
            <a:r>
              <a:rPr sz="1400" spc="-5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both</a:t>
            </a:r>
            <a:r>
              <a:rPr sz="1400" spc="-1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driver</a:t>
            </a:r>
            <a:r>
              <a:rPr sz="1400" spc="-1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and</a:t>
            </a:r>
            <a:r>
              <a:rPr sz="1400" spc="-10" dirty="0">
                <a:solidFill>
                  <a:srgbClr val="538235"/>
                </a:solidFill>
                <a:latin typeface="Calibri"/>
                <a:cs typeface="Calibri"/>
              </a:rPr>
              <a:t> passenger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apps</a:t>
            </a:r>
            <a:r>
              <a:rPr sz="1400" spc="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38235"/>
                </a:solidFill>
                <a:latin typeface="Calibri"/>
                <a:cs typeface="Calibri"/>
              </a:rPr>
              <a:t>(currently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 uses</a:t>
            </a:r>
            <a:r>
              <a:rPr sz="1400" spc="-1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Google</a:t>
            </a:r>
            <a:r>
              <a:rPr sz="1400" spc="-2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38235"/>
                </a:solidFill>
                <a:latin typeface="Calibri"/>
                <a:cs typeface="Calibri"/>
              </a:rPr>
              <a:t>Maps)</a:t>
            </a:r>
            <a:endParaRPr sz="1400">
              <a:latin typeface="Calibri"/>
              <a:cs typeface="Calibri"/>
            </a:endParaRPr>
          </a:p>
          <a:p>
            <a:pPr marL="443865" indent="-431165">
              <a:lnSpc>
                <a:spcPct val="100000"/>
              </a:lnSpc>
              <a:spcBef>
                <a:spcPts val="335"/>
              </a:spcBef>
              <a:buAutoNum type="arabicParenR"/>
              <a:tabLst>
                <a:tab pos="443865" algn="l"/>
              </a:tabLst>
            </a:pPr>
            <a:r>
              <a:rPr sz="1400" b="1" dirty="0">
                <a:solidFill>
                  <a:srgbClr val="538235"/>
                </a:solidFill>
                <a:latin typeface="Calibri"/>
                <a:cs typeface="Calibri"/>
              </a:rPr>
              <a:t>Ola</a:t>
            </a:r>
            <a:r>
              <a:rPr sz="1400" b="1" spc="-3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38235"/>
                </a:solidFill>
                <a:latin typeface="Calibri"/>
                <a:cs typeface="Calibri"/>
              </a:rPr>
              <a:t>EV’s</a:t>
            </a:r>
            <a:r>
              <a:rPr sz="1400" b="1" spc="-2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38235"/>
                </a:solidFill>
                <a:latin typeface="Calibri"/>
                <a:cs typeface="Calibri"/>
              </a:rPr>
              <a:t>digital</a:t>
            </a:r>
            <a:r>
              <a:rPr sz="1400" b="1" spc="-3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38235"/>
                </a:solidFill>
                <a:latin typeface="Calibri"/>
                <a:cs typeface="Calibri"/>
              </a:rPr>
              <a:t>interfaces</a:t>
            </a:r>
            <a:r>
              <a:rPr sz="1400" spc="-10" dirty="0">
                <a:solidFill>
                  <a:srgbClr val="538235"/>
                </a:solidFill>
                <a:latin typeface="Calibri"/>
                <a:cs typeface="Calibri"/>
              </a:rPr>
              <a:t>:</a:t>
            </a:r>
            <a:r>
              <a:rPr sz="1400" spc="-6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Ola</a:t>
            </a:r>
            <a:r>
              <a:rPr sz="1400" spc="-3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Scooter</a:t>
            </a:r>
            <a:r>
              <a:rPr sz="1400" spc="-5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38235"/>
                </a:solidFill>
                <a:latin typeface="Calibri"/>
                <a:cs typeface="Calibri"/>
              </a:rPr>
              <a:t>(currently</a:t>
            </a:r>
            <a:r>
              <a:rPr sz="1400" spc="-1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uses</a:t>
            </a:r>
            <a:r>
              <a:rPr sz="1400" spc="-2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MAPPLS</a:t>
            </a:r>
            <a:r>
              <a:rPr sz="1400" spc="-2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by</a:t>
            </a:r>
            <a:r>
              <a:rPr sz="1400" spc="-1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MapMyIndia).</a:t>
            </a:r>
            <a:r>
              <a:rPr sz="1400" spc="-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It</a:t>
            </a:r>
            <a:r>
              <a:rPr sz="1400" spc="-3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can</a:t>
            </a:r>
            <a:r>
              <a:rPr sz="1400" spc="-2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also</a:t>
            </a:r>
            <a:r>
              <a:rPr sz="1400" spc="-2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be</a:t>
            </a:r>
            <a:r>
              <a:rPr sz="1400" spc="-2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included</a:t>
            </a:r>
            <a:r>
              <a:rPr sz="1400" spc="-2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in</a:t>
            </a:r>
            <a:r>
              <a:rPr sz="1400" spc="-3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Ola</a:t>
            </a:r>
            <a:r>
              <a:rPr sz="1400" spc="-3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Car</a:t>
            </a:r>
            <a:r>
              <a:rPr sz="1400" spc="-2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to</a:t>
            </a:r>
            <a:r>
              <a:rPr sz="1400" spc="-2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be</a:t>
            </a:r>
            <a:r>
              <a:rPr sz="1400" spc="-2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launched</a:t>
            </a:r>
            <a:r>
              <a:rPr sz="1400" spc="-1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38235"/>
                </a:solidFill>
                <a:latin typeface="Calibri"/>
                <a:cs typeface="Calibri"/>
              </a:rPr>
              <a:t>in</a:t>
            </a:r>
            <a:r>
              <a:rPr sz="1400" spc="-2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38235"/>
                </a:solidFill>
                <a:latin typeface="Calibri"/>
                <a:cs typeface="Calibri"/>
              </a:rPr>
              <a:t>2024</a:t>
            </a:r>
            <a:endParaRPr sz="1400">
              <a:latin typeface="Calibri"/>
              <a:cs typeface="Calibri"/>
            </a:endParaRPr>
          </a:p>
          <a:p>
            <a:pPr marL="443865" indent="-431165">
              <a:lnSpc>
                <a:spcPct val="100000"/>
              </a:lnSpc>
              <a:spcBef>
                <a:spcPts val="325"/>
              </a:spcBef>
              <a:buAutoNum type="arabicParenR"/>
              <a:tabLst>
                <a:tab pos="443865" algn="l"/>
              </a:tabLst>
            </a:pPr>
            <a:r>
              <a:rPr sz="1400" b="1" spc="-10" dirty="0">
                <a:latin typeface="Calibri"/>
                <a:cs typeface="Calibri"/>
              </a:rPr>
              <a:t>Personal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usage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Individuals</a:t>
            </a:r>
            <a:r>
              <a:rPr sz="1400" dirty="0">
                <a:latin typeface="Calibri"/>
                <a:cs typeface="Calibri"/>
              </a:rPr>
              <a:t> could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Ola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Maps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navigate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search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experience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daily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basis</a:t>
            </a:r>
            <a:endParaRPr sz="1400">
              <a:latin typeface="Calibri"/>
              <a:cs typeface="Calibri"/>
            </a:endParaRPr>
          </a:p>
          <a:p>
            <a:pPr marL="443865" indent="-431165">
              <a:lnSpc>
                <a:spcPct val="100000"/>
              </a:lnSpc>
              <a:spcBef>
                <a:spcPts val="335"/>
              </a:spcBef>
              <a:buAutoNum type="arabicParenR"/>
              <a:tabLst>
                <a:tab pos="443865" algn="l"/>
              </a:tabLst>
            </a:pPr>
            <a:r>
              <a:rPr sz="1400" b="1" dirty="0">
                <a:latin typeface="Calibri"/>
                <a:cs typeface="Calibri"/>
              </a:rPr>
              <a:t>Delivery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services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plethora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food/grocery/package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delivery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service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partners </a:t>
            </a:r>
            <a:r>
              <a:rPr sz="1400" dirty="0">
                <a:latin typeface="Calibri"/>
                <a:cs typeface="Calibri"/>
              </a:rPr>
              <a:t>use</a:t>
            </a:r>
            <a:r>
              <a:rPr sz="1400" spc="-10" dirty="0">
                <a:latin typeface="Calibri"/>
                <a:cs typeface="Calibri"/>
              </a:rPr>
              <a:t> map/location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search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services.</a:t>
            </a:r>
            <a:endParaRPr sz="1400">
              <a:latin typeface="Calibri"/>
              <a:cs typeface="Calibri"/>
            </a:endParaRPr>
          </a:p>
          <a:p>
            <a:pPr marL="443865" indent="-431165">
              <a:lnSpc>
                <a:spcPct val="100000"/>
              </a:lnSpc>
              <a:spcBef>
                <a:spcPts val="335"/>
              </a:spcBef>
              <a:buAutoNum type="arabicParenR"/>
              <a:tabLst>
                <a:tab pos="443865" algn="l"/>
              </a:tabLst>
            </a:pPr>
            <a:r>
              <a:rPr sz="1400" b="1" dirty="0">
                <a:latin typeface="Calibri"/>
                <a:cs typeface="Calibri"/>
              </a:rPr>
              <a:t>B2B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cases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Ola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Map’s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API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could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integrate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multiple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other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apps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dependent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location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services.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3377" y="3016123"/>
            <a:ext cx="11481435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Approach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problem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statement: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400" i="1" spc="-20" dirty="0">
                <a:latin typeface="Calibri"/>
                <a:cs typeface="Calibri"/>
              </a:rPr>
              <a:t>Ideally,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each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business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case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needs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to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be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evaluated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separately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features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build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up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best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search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experience.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1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purpose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this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case,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evaluate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needs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4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Ola</a:t>
            </a:r>
            <a:r>
              <a:rPr sz="14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rides</a:t>
            </a:r>
            <a:r>
              <a:rPr sz="1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application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detail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1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build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our</a:t>
            </a:r>
            <a:r>
              <a:rPr sz="1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ideal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search</a:t>
            </a:r>
            <a:r>
              <a:rPr sz="1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experience</a:t>
            </a:r>
            <a:r>
              <a:rPr sz="14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from</a:t>
            </a:r>
            <a:r>
              <a:rPr sz="14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those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insights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reason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behind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it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is</a:t>
            </a:r>
            <a:r>
              <a:rPr sz="1400" b="1" spc="-25" dirty="0">
                <a:latin typeface="Calibri"/>
                <a:cs typeface="Calibri"/>
              </a:rPr>
              <a:t> the </a:t>
            </a:r>
            <a:r>
              <a:rPr sz="1400" b="1" spc="-10" dirty="0">
                <a:latin typeface="Calibri"/>
                <a:cs typeface="Calibri"/>
              </a:rPr>
              <a:t>quickest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most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efficient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way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build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awareness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traction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among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users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for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Ola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Maps</a:t>
            </a:r>
            <a:r>
              <a:rPr sz="1400" dirty="0">
                <a:latin typeface="Calibri"/>
                <a:cs typeface="Calibri"/>
              </a:rPr>
              <a:t>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base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Ola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rides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surpasses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base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10" dirty="0">
                <a:latin typeface="Calibri"/>
                <a:cs typeface="Calibri"/>
              </a:rPr>
              <a:t> other </a:t>
            </a:r>
            <a:r>
              <a:rPr sz="1400" dirty="0">
                <a:latin typeface="Calibri"/>
                <a:cs typeface="Calibri"/>
              </a:rPr>
              <a:t>above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mentioned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taken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individually. </a:t>
            </a:r>
            <a:r>
              <a:rPr sz="1400" i="1" dirty="0">
                <a:latin typeface="Calibri"/>
                <a:cs typeface="Calibri"/>
              </a:rPr>
              <a:t>Building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awareness</a:t>
            </a:r>
            <a:r>
              <a:rPr sz="1400" i="1" spc="-6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through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Ola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EVs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is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comparatively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difficult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as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it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is</a:t>
            </a:r>
            <a:r>
              <a:rPr sz="1400" i="1" spc="-5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dependent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on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the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demand,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reach</a:t>
            </a:r>
            <a:r>
              <a:rPr sz="1400" i="1" spc="-55" dirty="0">
                <a:latin typeface="Calibri"/>
                <a:cs typeface="Calibri"/>
              </a:rPr>
              <a:t> </a:t>
            </a:r>
            <a:r>
              <a:rPr sz="1400" i="1" spc="-25" dirty="0">
                <a:latin typeface="Calibri"/>
                <a:cs typeface="Calibri"/>
              </a:rPr>
              <a:t>and </a:t>
            </a:r>
            <a:r>
              <a:rPr sz="1400" i="1" dirty="0">
                <a:latin typeface="Calibri"/>
                <a:cs typeface="Calibri"/>
              </a:rPr>
              <a:t>performance</a:t>
            </a:r>
            <a:r>
              <a:rPr sz="1400" i="1" spc="-6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of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Ola’s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EV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segment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81766" y="1415033"/>
            <a:ext cx="969644" cy="901065"/>
          </a:xfrm>
          <a:prstGeom prst="rect">
            <a:avLst/>
          </a:prstGeom>
          <a:solidFill>
            <a:srgbClr val="C5DFB4"/>
          </a:solidFill>
          <a:ln w="38100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1440" marR="81915" indent="-1270" algn="ctr">
              <a:lnSpc>
                <a:spcPct val="100000"/>
              </a:lnSpc>
              <a:spcBef>
                <a:spcPts val="295"/>
              </a:spcBef>
            </a:pPr>
            <a:r>
              <a:rPr sz="1050" b="1" dirty="0">
                <a:latin typeface="Calibri"/>
                <a:cs typeface="Calibri"/>
              </a:rPr>
              <a:t>Easiest</a:t>
            </a:r>
            <a:r>
              <a:rPr sz="1050" b="1" spc="-25" dirty="0">
                <a:latin typeface="Calibri"/>
                <a:cs typeface="Calibri"/>
              </a:rPr>
              <a:t> to </a:t>
            </a:r>
            <a:r>
              <a:rPr sz="1050" b="1" dirty="0">
                <a:latin typeface="Calibri"/>
                <a:cs typeface="Calibri"/>
              </a:rPr>
              <a:t>integrate</a:t>
            </a:r>
            <a:r>
              <a:rPr sz="1050" b="1" spc="-45" dirty="0">
                <a:latin typeface="Calibri"/>
                <a:cs typeface="Calibri"/>
              </a:rPr>
              <a:t> </a:t>
            </a:r>
            <a:r>
              <a:rPr sz="1050" b="1" spc="-20" dirty="0">
                <a:latin typeface="Calibri"/>
                <a:cs typeface="Calibri"/>
              </a:rPr>
              <a:t>with </a:t>
            </a:r>
            <a:r>
              <a:rPr sz="1050" b="1" dirty="0">
                <a:latin typeface="Calibri"/>
                <a:cs typeface="Calibri"/>
              </a:rPr>
              <a:t>due</a:t>
            </a:r>
            <a:r>
              <a:rPr sz="1050" b="1" spc="-20" dirty="0">
                <a:latin typeface="Calibri"/>
                <a:cs typeface="Calibri"/>
              </a:rPr>
              <a:t> </a:t>
            </a:r>
            <a:r>
              <a:rPr sz="1050" b="1" spc="-25" dirty="0">
                <a:latin typeface="Calibri"/>
                <a:cs typeface="Calibri"/>
              </a:rPr>
              <a:t>to </a:t>
            </a:r>
            <a:r>
              <a:rPr sz="1050" b="1" dirty="0">
                <a:latin typeface="Calibri"/>
                <a:cs typeface="Calibri"/>
              </a:rPr>
              <a:t>ownership</a:t>
            </a:r>
            <a:r>
              <a:rPr sz="1050" b="1" spc="-60" dirty="0">
                <a:latin typeface="Calibri"/>
                <a:cs typeface="Calibri"/>
              </a:rPr>
              <a:t> </a:t>
            </a:r>
            <a:r>
              <a:rPr sz="1050" b="1" spc="-25" dirty="0">
                <a:latin typeface="Calibri"/>
                <a:cs typeface="Calibri"/>
              </a:rPr>
              <a:t>of </a:t>
            </a:r>
            <a:r>
              <a:rPr sz="1050" b="1" spc="-10" dirty="0">
                <a:latin typeface="Calibri"/>
                <a:cs typeface="Calibri"/>
              </a:rPr>
              <a:t>products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59838" y="5074920"/>
            <a:ext cx="8759190" cy="1763395"/>
            <a:chOff x="2259838" y="5074920"/>
            <a:chExt cx="8759190" cy="1763395"/>
          </a:xfrm>
        </p:grpSpPr>
        <p:sp>
          <p:nvSpPr>
            <p:cNvPr id="8" name="object 8"/>
            <p:cNvSpPr/>
            <p:nvPr/>
          </p:nvSpPr>
          <p:spPr>
            <a:xfrm>
              <a:off x="2513076" y="5074920"/>
              <a:ext cx="8505825" cy="1763395"/>
            </a:xfrm>
            <a:custGeom>
              <a:avLst/>
              <a:gdLst/>
              <a:ahLst/>
              <a:cxnLst/>
              <a:rect l="l" t="t" r="r" b="b"/>
              <a:pathLst>
                <a:path w="8505825" h="1763395">
                  <a:moveTo>
                    <a:pt x="7623809" y="0"/>
                  </a:moveTo>
                  <a:lnTo>
                    <a:pt x="7623809" y="440816"/>
                  </a:lnTo>
                  <a:lnTo>
                    <a:pt x="0" y="440816"/>
                  </a:lnTo>
                  <a:lnTo>
                    <a:pt x="0" y="1322450"/>
                  </a:lnTo>
                  <a:lnTo>
                    <a:pt x="7623809" y="1322450"/>
                  </a:lnTo>
                  <a:lnTo>
                    <a:pt x="7623809" y="1763266"/>
                  </a:lnTo>
                  <a:lnTo>
                    <a:pt x="8505444" y="881633"/>
                  </a:lnTo>
                  <a:lnTo>
                    <a:pt x="7623809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66188" y="5596128"/>
              <a:ext cx="2689860" cy="721360"/>
            </a:xfrm>
            <a:custGeom>
              <a:avLst/>
              <a:gdLst/>
              <a:ahLst/>
              <a:cxnLst/>
              <a:rect l="l" t="t" r="r" b="b"/>
              <a:pathLst>
                <a:path w="2689860" h="721360">
                  <a:moveTo>
                    <a:pt x="2569717" y="0"/>
                  </a:moveTo>
                  <a:lnTo>
                    <a:pt x="120142" y="0"/>
                  </a:lnTo>
                  <a:lnTo>
                    <a:pt x="73402" y="9440"/>
                  </a:lnTo>
                  <a:lnTo>
                    <a:pt x="35210" y="35186"/>
                  </a:lnTo>
                  <a:lnTo>
                    <a:pt x="9449" y="73375"/>
                  </a:lnTo>
                  <a:lnTo>
                    <a:pt x="0" y="120142"/>
                  </a:lnTo>
                  <a:lnTo>
                    <a:pt x="0" y="600710"/>
                  </a:lnTo>
                  <a:lnTo>
                    <a:pt x="9449" y="647476"/>
                  </a:lnTo>
                  <a:lnTo>
                    <a:pt x="35210" y="685665"/>
                  </a:lnTo>
                  <a:lnTo>
                    <a:pt x="73402" y="711411"/>
                  </a:lnTo>
                  <a:lnTo>
                    <a:pt x="120142" y="720852"/>
                  </a:lnTo>
                  <a:lnTo>
                    <a:pt x="2569717" y="720852"/>
                  </a:lnTo>
                  <a:lnTo>
                    <a:pt x="2616457" y="711411"/>
                  </a:lnTo>
                  <a:lnTo>
                    <a:pt x="2654649" y="685665"/>
                  </a:lnTo>
                  <a:lnTo>
                    <a:pt x="2680410" y="647476"/>
                  </a:lnTo>
                  <a:lnTo>
                    <a:pt x="2689860" y="600710"/>
                  </a:lnTo>
                  <a:lnTo>
                    <a:pt x="2689860" y="120142"/>
                  </a:lnTo>
                  <a:lnTo>
                    <a:pt x="2680410" y="73375"/>
                  </a:lnTo>
                  <a:lnTo>
                    <a:pt x="2654649" y="35186"/>
                  </a:lnTo>
                  <a:lnTo>
                    <a:pt x="2616457" y="9440"/>
                  </a:lnTo>
                  <a:lnTo>
                    <a:pt x="256971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66188" y="5596128"/>
              <a:ext cx="2689860" cy="721360"/>
            </a:xfrm>
            <a:custGeom>
              <a:avLst/>
              <a:gdLst/>
              <a:ahLst/>
              <a:cxnLst/>
              <a:rect l="l" t="t" r="r" b="b"/>
              <a:pathLst>
                <a:path w="2689860" h="721360">
                  <a:moveTo>
                    <a:pt x="0" y="120142"/>
                  </a:moveTo>
                  <a:lnTo>
                    <a:pt x="9449" y="73375"/>
                  </a:lnTo>
                  <a:lnTo>
                    <a:pt x="35210" y="35186"/>
                  </a:lnTo>
                  <a:lnTo>
                    <a:pt x="73402" y="9440"/>
                  </a:lnTo>
                  <a:lnTo>
                    <a:pt x="120142" y="0"/>
                  </a:lnTo>
                  <a:lnTo>
                    <a:pt x="2569717" y="0"/>
                  </a:lnTo>
                  <a:lnTo>
                    <a:pt x="2616457" y="9440"/>
                  </a:lnTo>
                  <a:lnTo>
                    <a:pt x="2654649" y="35186"/>
                  </a:lnTo>
                  <a:lnTo>
                    <a:pt x="2680410" y="73375"/>
                  </a:lnTo>
                  <a:lnTo>
                    <a:pt x="2689860" y="120142"/>
                  </a:lnTo>
                  <a:lnTo>
                    <a:pt x="2689860" y="600710"/>
                  </a:lnTo>
                  <a:lnTo>
                    <a:pt x="2680410" y="647476"/>
                  </a:lnTo>
                  <a:lnTo>
                    <a:pt x="2654649" y="685665"/>
                  </a:lnTo>
                  <a:lnTo>
                    <a:pt x="2616457" y="711411"/>
                  </a:lnTo>
                  <a:lnTo>
                    <a:pt x="2569717" y="720852"/>
                  </a:lnTo>
                  <a:lnTo>
                    <a:pt x="120142" y="720852"/>
                  </a:lnTo>
                  <a:lnTo>
                    <a:pt x="73402" y="711411"/>
                  </a:lnTo>
                  <a:lnTo>
                    <a:pt x="35210" y="685665"/>
                  </a:lnTo>
                  <a:lnTo>
                    <a:pt x="9449" y="647476"/>
                  </a:lnTo>
                  <a:lnTo>
                    <a:pt x="0" y="600710"/>
                  </a:lnTo>
                  <a:lnTo>
                    <a:pt x="0" y="12014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45766" y="5668162"/>
            <a:ext cx="23285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ts val="138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AWARENESS</a:t>
            </a:r>
            <a:endParaRPr sz="1200">
              <a:latin typeface="Calibri"/>
              <a:cs typeface="Calibri"/>
            </a:endParaRPr>
          </a:p>
          <a:p>
            <a:pPr marL="12065" marR="5080" algn="ctr">
              <a:lnSpc>
                <a:spcPts val="1320"/>
              </a:lnSpc>
              <a:spcBef>
                <a:spcPts val="85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awareness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Ola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maps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through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Ola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rides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34685" y="5589778"/>
            <a:ext cx="2702560" cy="734060"/>
            <a:chOff x="5234685" y="5589778"/>
            <a:chExt cx="2702560" cy="734060"/>
          </a:xfrm>
        </p:grpSpPr>
        <p:sp>
          <p:nvSpPr>
            <p:cNvPr id="13" name="object 13"/>
            <p:cNvSpPr/>
            <p:nvPr/>
          </p:nvSpPr>
          <p:spPr>
            <a:xfrm>
              <a:off x="5241035" y="5596128"/>
              <a:ext cx="2689860" cy="721360"/>
            </a:xfrm>
            <a:custGeom>
              <a:avLst/>
              <a:gdLst/>
              <a:ahLst/>
              <a:cxnLst/>
              <a:rect l="l" t="t" r="r" b="b"/>
              <a:pathLst>
                <a:path w="2689859" h="721360">
                  <a:moveTo>
                    <a:pt x="2569717" y="0"/>
                  </a:moveTo>
                  <a:lnTo>
                    <a:pt x="120141" y="0"/>
                  </a:lnTo>
                  <a:lnTo>
                    <a:pt x="73402" y="9440"/>
                  </a:lnTo>
                  <a:lnTo>
                    <a:pt x="35210" y="35186"/>
                  </a:lnTo>
                  <a:lnTo>
                    <a:pt x="9449" y="73375"/>
                  </a:lnTo>
                  <a:lnTo>
                    <a:pt x="0" y="120142"/>
                  </a:lnTo>
                  <a:lnTo>
                    <a:pt x="0" y="600710"/>
                  </a:lnTo>
                  <a:lnTo>
                    <a:pt x="9449" y="647476"/>
                  </a:lnTo>
                  <a:lnTo>
                    <a:pt x="35210" y="685665"/>
                  </a:lnTo>
                  <a:lnTo>
                    <a:pt x="73402" y="711411"/>
                  </a:lnTo>
                  <a:lnTo>
                    <a:pt x="120141" y="720852"/>
                  </a:lnTo>
                  <a:lnTo>
                    <a:pt x="2569717" y="720852"/>
                  </a:lnTo>
                  <a:lnTo>
                    <a:pt x="2616457" y="711411"/>
                  </a:lnTo>
                  <a:lnTo>
                    <a:pt x="2654649" y="685665"/>
                  </a:lnTo>
                  <a:lnTo>
                    <a:pt x="2680410" y="647476"/>
                  </a:lnTo>
                  <a:lnTo>
                    <a:pt x="2689860" y="600710"/>
                  </a:lnTo>
                  <a:lnTo>
                    <a:pt x="2689860" y="120142"/>
                  </a:lnTo>
                  <a:lnTo>
                    <a:pt x="2680410" y="73375"/>
                  </a:lnTo>
                  <a:lnTo>
                    <a:pt x="2654649" y="35186"/>
                  </a:lnTo>
                  <a:lnTo>
                    <a:pt x="2616457" y="9440"/>
                  </a:lnTo>
                  <a:lnTo>
                    <a:pt x="256971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41035" y="5596128"/>
              <a:ext cx="2689860" cy="721360"/>
            </a:xfrm>
            <a:custGeom>
              <a:avLst/>
              <a:gdLst/>
              <a:ahLst/>
              <a:cxnLst/>
              <a:rect l="l" t="t" r="r" b="b"/>
              <a:pathLst>
                <a:path w="2689859" h="721360">
                  <a:moveTo>
                    <a:pt x="0" y="120142"/>
                  </a:moveTo>
                  <a:lnTo>
                    <a:pt x="9449" y="73375"/>
                  </a:lnTo>
                  <a:lnTo>
                    <a:pt x="35210" y="35186"/>
                  </a:lnTo>
                  <a:lnTo>
                    <a:pt x="73402" y="9440"/>
                  </a:lnTo>
                  <a:lnTo>
                    <a:pt x="120141" y="0"/>
                  </a:lnTo>
                  <a:lnTo>
                    <a:pt x="2569717" y="0"/>
                  </a:lnTo>
                  <a:lnTo>
                    <a:pt x="2616457" y="9440"/>
                  </a:lnTo>
                  <a:lnTo>
                    <a:pt x="2654649" y="35186"/>
                  </a:lnTo>
                  <a:lnTo>
                    <a:pt x="2680410" y="73375"/>
                  </a:lnTo>
                  <a:lnTo>
                    <a:pt x="2689860" y="120142"/>
                  </a:lnTo>
                  <a:lnTo>
                    <a:pt x="2689860" y="600710"/>
                  </a:lnTo>
                  <a:lnTo>
                    <a:pt x="2680410" y="647476"/>
                  </a:lnTo>
                  <a:lnTo>
                    <a:pt x="2654649" y="685665"/>
                  </a:lnTo>
                  <a:lnTo>
                    <a:pt x="2616457" y="711411"/>
                  </a:lnTo>
                  <a:lnTo>
                    <a:pt x="2569717" y="720852"/>
                  </a:lnTo>
                  <a:lnTo>
                    <a:pt x="120141" y="720852"/>
                  </a:lnTo>
                  <a:lnTo>
                    <a:pt x="73402" y="711411"/>
                  </a:lnTo>
                  <a:lnTo>
                    <a:pt x="35210" y="685665"/>
                  </a:lnTo>
                  <a:lnTo>
                    <a:pt x="9449" y="647476"/>
                  </a:lnTo>
                  <a:lnTo>
                    <a:pt x="0" y="600710"/>
                  </a:lnTo>
                  <a:lnTo>
                    <a:pt x="0" y="12014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19776" y="5584342"/>
            <a:ext cx="25330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8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INTEREST</a:t>
            </a:r>
            <a:endParaRPr sz="1200">
              <a:latin typeface="Calibri"/>
              <a:cs typeface="Calibri"/>
            </a:endParaRPr>
          </a:p>
          <a:p>
            <a:pPr marL="12065" marR="5080" indent="635" algn="ctr">
              <a:lnSpc>
                <a:spcPts val="1320"/>
              </a:lnSpc>
              <a:spcBef>
                <a:spcPts val="85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points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engagement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shift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Ola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maps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individual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well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211057" y="5591302"/>
            <a:ext cx="3060700" cy="730885"/>
            <a:chOff x="8211057" y="5591302"/>
            <a:chExt cx="3060700" cy="730885"/>
          </a:xfrm>
        </p:grpSpPr>
        <p:sp>
          <p:nvSpPr>
            <p:cNvPr id="17" name="object 17"/>
            <p:cNvSpPr/>
            <p:nvPr/>
          </p:nvSpPr>
          <p:spPr>
            <a:xfrm>
              <a:off x="8217407" y="5597652"/>
              <a:ext cx="3048000" cy="718185"/>
            </a:xfrm>
            <a:custGeom>
              <a:avLst/>
              <a:gdLst/>
              <a:ahLst/>
              <a:cxnLst/>
              <a:rect l="l" t="t" r="r" b="b"/>
              <a:pathLst>
                <a:path w="3048000" h="718185">
                  <a:moveTo>
                    <a:pt x="2928366" y="0"/>
                  </a:moveTo>
                  <a:lnTo>
                    <a:pt x="119634" y="0"/>
                  </a:lnTo>
                  <a:lnTo>
                    <a:pt x="73080" y="9402"/>
                  </a:lnTo>
                  <a:lnTo>
                    <a:pt x="35051" y="35042"/>
                  </a:lnTo>
                  <a:lnTo>
                    <a:pt x="9405" y="73069"/>
                  </a:lnTo>
                  <a:lnTo>
                    <a:pt x="0" y="119634"/>
                  </a:lnTo>
                  <a:lnTo>
                    <a:pt x="0" y="598170"/>
                  </a:lnTo>
                  <a:lnTo>
                    <a:pt x="9405" y="644734"/>
                  </a:lnTo>
                  <a:lnTo>
                    <a:pt x="35052" y="682761"/>
                  </a:lnTo>
                  <a:lnTo>
                    <a:pt x="73080" y="708401"/>
                  </a:lnTo>
                  <a:lnTo>
                    <a:pt x="119634" y="717804"/>
                  </a:lnTo>
                  <a:lnTo>
                    <a:pt x="2928366" y="717804"/>
                  </a:lnTo>
                  <a:lnTo>
                    <a:pt x="2974919" y="708401"/>
                  </a:lnTo>
                  <a:lnTo>
                    <a:pt x="3012948" y="682761"/>
                  </a:lnTo>
                  <a:lnTo>
                    <a:pt x="3038594" y="644734"/>
                  </a:lnTo>
                  <a:lnTo>
                    <a:pt x="3048000" y="598170"/>
                  </a:lnTo>
                  <a:lnTo>
                    <a:pt x="3048000" y="119634"/>
                  </a:lnTo>
                  <a:lnTo>
                    <a:pt x="3038594" y="73069"/>
                  </a:lnTo>
                  <a:lnTo>
                    <a:pt x="3012948" y="35042"/>
                  </a:lnTo>
                  <a:lnTo>
                    <a:pt x="2974919" y="9402"/>
                  </a:lnTo>
                  <a:lnTo>
                    <a:pt x="292836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17407" y="5597652"/>
              <a:ext cx="3048000" cy="718185"/>
            </a:xfrm>
            <a:custGeom>
              <a:avLst/>
              <a:gdLst/>
              <a:ahLst/>
              <a:cxnLst/>
              <a:rect l="l" t="t" r="r" b="b"/>
              <a:pathLst>
                <a:path w="3048000" h="718185">
                  <a:moveTo>
                    <a:pt x="0" y="119634"/>
                  </a:moveTo>
                  <a:lnTo>
                    <a:pt x="9405" y="73069"/>
                  </a:lnTo>
                  <a:lnTo>
                    <a:pt x="35051" y="35042"/>
                  </a:lnTo>
                  <a:lnTo>
                    <a:pt x="73080" y="9402"/>
                  </a:lnTo>
                  <a:lnTo>
                    <a:pt x="119634" y="0"/>
                  </a:lnTo>
                  <a:lnTo>
                    <a:pt x="2928366" y="0"/>
                  </a:lnTo>
                  <a:lnTo>
                    <a:pt x="2974919" y="9402"/>
                  </a:lnTo>
                  <a:lnTo>
                    <a:pt x="3012948" y="35042"/>
                  </a:lnTo>
                  <a:lnTo>
                    <a:pt x="3038594" y="73069"/>
                  </a:lnTo>
                  <a:lnTo>
                    <a:pt x="3048000" y="119634"/>
                  </a:lnTo>
                  <a:lnTo>
                    <a:pt x="3048000" y="598170"/>
                  </a:lnTo>
                  <a:lnTo>
                    <a:pt x="3038594" y="644734"/>
                  </a:lnTo>
                  <a:lnTo>
                    <a:pt x="3012948" y="682761"/>
                  </a:lnTo>
                  <a:lnTo>
                    <a:pt x="2974919" y="708401"/>
                  </a:lnTo>
                  <a:lnTo>
                    <a:pt x="2928366" y="717804"/>
                  </a:lnTo>
                  <a:lnTo>
                    <a:pt x="119634" y="717804"/>
                  </a:lnTo>
                  <a:lnTo>
                    <a:pt x="73080" y="708401"/>
                  </a:lnTo>
                  <a:lnTo>
                    <a:pt x="35052" y="682761"/>
                  </a:lnTo>
                  <a:lnTo>
                    <a:pt x="9405" y="644734"/>
                  </a:lnTo>
                  <a:lnTo>
                    <a:pt x="0" y="598170"/>
                  </a:lnTo>
                  <a:lnTo>
                    <a:pt x="0" y="1196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335518" y="5584342"/>
            <a:ext cx="281305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8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DESIRE/ACTION</a:t>
            </a:r>
            <a:endParaRPr sz="1200">
              <a:latin typeface="Calibri"/>
              <a:cs typeface="Calibri"/>
            </a:endParaRPr>
          </a:p>
          <a:p>
            <a:pPr marL="12700" marR="5080" algn="ctr">
              <a:lnSpc>
                <a:spcPts val="1320"/>
              </a:lnSpc>
              <a:spcBef>
                <a:spcPts val="85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Leverage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benefits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Ola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maps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its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competitors,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generate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usage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demand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sectors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well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(e.g: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B2B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context)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0758" y="5652008"/>
            <a:ext cx="12839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User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psyche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alibri"/>
                <a:cs typeface="Calibri"/>
              </a:rPr>
              <a:t>development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4790" y="573786"/>
            <a:ext cx="11826240" cy="646430"/>
          </a:xfrm>
          <a:prstGeom prst="rect">
            <a:avLst/>
          </a:prstGeom>
          <a:solidFill>
            <a:srgbClr val="FFF1CC"/>
          </a:solidFill>
          <a:ln w="28575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229"/>
              </a:spcBef>
            </a:pPr>
            <a:r>
              <a:rPr sz="1800" dirty="0">
                <a:latin typeface="Calibri"/>
                <a:cs typeface="Calibri"/>
              </a:rPr>
              <a:t>Our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problem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statement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hints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designing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search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experience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for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map/location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search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currently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dominated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Google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Maps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Apple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Maps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854690" y="1530858"/>
            <a:ext cx="203200" cy="669290"/>
          </a:xfrm>
          <a:custGeom>
            <a:avLst/>
            <a:gdLst/>
            <a:ahLst/>
            <a:cxnLst/>
            <a:rect l="l" t="t" r="r" b="b"/>
            <a:pathLst>
              <a:path w="203200" h="669289">
                <a:moveTo>
                  <a:pt x="0" y="0"/>
                </a:moveTo>
                <a:lnTo>
                  <a:pt x="39463" y="1335"/>
                </a:lnTo>
                <a:lnTo>
                  <a:pt x="71675" y="4968"/>
                </a:lnTo>
                <a:lnTo>
                  <a:pt x="93386" y="10340"/>
                </a:lnTo>
                <a:lnTo>
                  <a:pt x="101345" y="16890"/>
                </a:lnTo>
                <a:lnTo>
                  <a:pt x="101345" y="317626"/>
                </a:lnTo>
                <a:lnTo>
                  <a:pt x="109305" y="324177"/>
                </a:lnTo>
                <a:lnTo>
                  <a:pt x="131016" y="329549"/>
                </a:lnTo>
                <a:lnTo>
                  <a:pt x="163228" y="333182"/>
                </a:lnTo>
                <a:lnTo>
                  <a:pt x="202691" y="334517"/>
                </a:lnTo>
                <a:lnTo>
                  <a:pt x="163228" y="335853"/>
                </a:lnTo>
                <a:lnTo>
                  <a:pt x="131016" y="339486"/>
                </a:lnTo>
                <a:lnTo>
                  <a:pt x="109305" y="344858"/>
                </a:lnTo>
                <a:lnTo>
                  <a:pt x="101345" y="351408"/>
                </a:lnTo>
                <a:lnTo>
                  <a:pt x="101345" y="652144"/>
                </a:lnTo>
                <a:lnTo>
                  <a:pt x="93386" y="658695"/>
                </a:lnTo>
                <a:lnTo>
                  <a:pt x="71675" y="664067"/>
                </a:lnTo>
                <a:lnTo>
                  <a:pt x="39463" y="667700"/>
                </a:lnTo>
                <a:lnTo>
                  <a:pt x="0" y="66903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7565" y="4505705"/>
            <a:ext cx="11376660" cy="523240"/>
          </a:xfrm>
          <a:custGeom>
            <a:avLst/>
            <a:gdLst/>
            <a:ahLst/>
            <a:cxnLst/>
            <a:rect l="l" t="t" r="r" b="b"/>
            <a:pathLst>
              <a:path w="11376660" h="523239">
                <a:moveTo>
                  <a:pt x="11376660" y="0"/>
                </a:moveTo>
                <a:lnTo>
                  <a:pt x="0" y="0"/>
                </a:lnTo>
                <a:lnTo>
                  <a:pt x="0" y="522732"/>
                </a:lnTo>
                <a:lnTo>
                  <a:pt x="11376660" y="522732"/>
                </a:lnTo>
                <a:lnTo>
                  <a:pt x="113766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37565" y="4505705"/>
            <a:ext cx="11376660" cy="52324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65"/>
              </a:spcBef>
            </a:pPr>
            <a:r>
              <a:rPr sz="1400" dirty="0">
                <a:latin typeface="Arial Black"/>
                <a:cs typeface="Arial Black"/>
              </a:rPr>
              <a:t>SEARCH</a:t>
            </a:r>
            <a:r>
              <a:rPr sz="1400" spc="-7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EXPERIENCE:</a:t>
            </a:r>
            <a:r>
              <a:rPr sz="1400" spc="-65" dirty="0">
                <a:latin typeface="Arial Black"/>
                <a:cs typeface="Arial Black"/>
              </a:rPr>
              <a:t> </a:t>
            </a:r>
            <a:r>
              <a:rPr sz="1400" spc="-35" dirty="0">
                <a:latin typeface="Arial Black"/>
                <a:cs typeface="Arial Black"/>
              </a:rPr>
              <a:t>MUST-</a:t>
            </a:r>
            <a:r>
              <a:rPr sz="1400" dirty="0">
                <a:latin typeface="Arial Black"/>
                <a:cs typeface="Arial Black"/>
              </a:rPr>
              <a:t>HAVE</a:t>
            </a:r>
            <a:r>
              <a:rPr sz="1400" spc="-55" dirty="0">
                <a:latin typeface="Arial Black"/>
                <a:cs typeface="Arial Black"/>
              </a:rPr>
              <a:t> </a:t>
            </a:r>
            <a:r>
              <a:rPr sz="1400" spc="-10" dirty="0">
                <a:latin typeface="Arial Black"/>
                <a:cs typeface="Arial Black"/>
              </a:rPr>
              <a:t>FEATURES</a:t>
            </a:r>
            <a:r>
              <a:rPr sz="1400" spc="-6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OF</a:t>
            </a:r>
            <a:r>
              <a:rPr sz="1400" spc="-5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CURRENT</a:t>
            </a:r>
            <a:r>
              <a:rPr sz="1400" spc="-75" dirty="0">
                <a:latin typeface="Arial Black"/>
                <a:cs typeface="Arial Black"/>
              </a:rPr>
              <a:t> </a:t>
            </a:r>
            <a:r>
              <a:rPr sz="1400" spc="-10" dirty="0">
                <a:latin typeface="Arial Black"/>
                <a:cs typeface="Arial Black"/>
              </a:rPr>
              <a:t>AVAILABLE</a:t>
            </a:r>
            <a:r>
              <a:rPr sz="1400" spc="-7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OPTIONS</a:t>
            </a:r>
            <a:r>
              <a:rPr sz="1400" spc="-5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+</a:t>
            </a:r>
            <a:r>
              <a:rPr sz="1400" spc="-7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NEW</a:t>
            </a:r>
            <a:r>
              <a:rPr sz="1400" spc="-50" dirty="0">
                <a:latin typeface="Arial Black"/>
                <a:cs typeface="Arial Black"/>
              </a:rPr>
              <a:t> </a:t>
            </a:r>
            <a:r>
              <a:rPr sz="1400" spc="-10" dirty="0">
                <a:latin typeface="Arial Black"/>
                <a:cs typeface="Arial Black"/>
              </a:rPr>
              <a:t>FEATURES</a:t>
            </a:r>
            <a:r>
              <a:rPr sz="1400" spc="-6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TO</a:t>
            </a:r>
            <a:r>
              <a:rPr sz="1400" spc="-5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GIVE</a:t>
            </a:r>
            <a:r>
              <a:rPr sz="1400" spc="-75" dirty="0">
                <a:latin typeface="Arial Black"/>
                <a:cs typeface="Arial Black"/>
              </a:rPr>
              <a:t> </a:t>
            </a:r>
            <a:r>
              <a:rPr sz="1400" spc="-25" dirty="0">
                <a:latin typeface="Arial Black"/>
                <a:cs typeface="Arial Black"/>
              </a:rPr>
              <a:t>OLA</a:t>
            </a:r>
            <a:endParaRPr sz="1400">
              <a:latin typeface="Arial Black"/>
              <a:cs typeface="Arial Black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 Black"/>
                <a:cs typeface="Arial Black"/>
              </a:rPr>
              <a:t>MAPS</a:t>
            </a:r>
            <a:r>
              <a:rPr sz="1400" spc="-4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AN</a:t>
            </a:r>
            <a:r>
              <a:rPr sz="1400" spc="-5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EDGE</a:t>
            </a:r>
            <a:r>
              <a:rPr sz="1400" spc="-4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OVER</a:t>
            </a:r>
            <a:r>
              <a:rPr sz="1400" spc="-45" dirty="0">
                <a:latin typeface="Arial Black"/>
                <a:cs typeface="Arial Black"/>
              </a:rPr>
              <a:t> </a:t>
            </a:r>
            <a:r>
              <a:rPr sz="1400" spc="-10" dirty="0">
                <a:latin typeface="Arial Black"/>
                <a:cs typeface="Arial Black"/>
              </a:rPr>
              <a:t>COMPETITORS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Benchmarking</a:t>
            </a:r>
            <a:r>
              <a:rPr spc="-5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popular</a:t>
            </a:r>
            <a:r>
              <a:rPr spc="-50" dirty="0"/>
              <a:t> </a:t>
            </a:r>
            <a:r>
              <a:rPr dirty="0"/>
              <a:t>map</a:t>
            </a:r>
            <a:r>
              <a:rPr spc="-10" dirty="0"/>
              <a:t> applications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5834" y="1371727"/>
          <a:ext cx="11991339" cy="5341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1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4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2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34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2415"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Category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Feature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Google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Maps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Apple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Maps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MapMyIndia</a:t>
                      </a:r>
                      <a:r>
                        <a:rPr sz="16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(MAPPLS)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OLA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Maps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3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Discovery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marL="784860" marR="54610" indent="-72390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Search</a:t>
                      </a:r>
                      <a:r>
                        <a:rPr sz="12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categories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(restaurants,</a:t>
                      </a:r>
                      <a:r>
                        <a:rPr sz="12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petrol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pumps,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hospitals)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376555" marR="13970" indent="-35687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Opens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list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nearby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options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zoomed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out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view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3970" marR="698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Opens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list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nearby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options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pointer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result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3970" marR="635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Opens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list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nearby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options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pointer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result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MUST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HAVE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3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Reviews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details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07314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Huge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crowdsourced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metadata,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listing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points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about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place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Minimal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metadata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40005" marR="33020" indent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Relatively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bigger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metadata,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most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incomplete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due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smaller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base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MUST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HAVE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74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6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Website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version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64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Available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64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available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64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Available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64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2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HAVE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47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0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Engagement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Navigation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12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modes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790575" marR="181610" indent="-60388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modes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transport available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83590" marR="71120" indent="-70739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walking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navigation available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84225" marR="173355" indent="-60388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modes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transport available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MUST</a:t>
                      </a:r>
                      <a:r>
                        <a:rPr sz="12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HAVE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marL="619125" marR="217170" indent="-3962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Contextualizing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(e.g.: places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interest</a:t>
                      </a:r>
                      <a:r>
                        <a:rPr sz="12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along</a:t>
                      </a:r>
                      <a:r>
                        <a:rPr sz="12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way)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Yes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(limited)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MUST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HAVE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Timeline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861060" marR="53975" indent="-80200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Yes,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complete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history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places visited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No,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search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history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No,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search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history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12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HAVE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Local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guide</a:t>
                      </a:r>
                      <a:r>
                        <a:rPr sz="12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activity/contributions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No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No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12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HAVE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Offline</a:t>
                      </a:r>
                      <a:r>
                        <a:rPr sz="12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activity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No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MUST</a:t>
                      </a:r>
                      <a:r>
                        <a:rPr sz="12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HAVE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61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Performance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Accuracy</a:t>
                      </a:r>
                      <a:r>
                        <a:rPr sz="12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(India)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Very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Very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MUST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ATLEAST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6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Coverage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(India)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Very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Very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MUST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ATLEAST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6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interface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Cluttered,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overload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Minimalist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Clean,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balanced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Similar</a:t>
                      </a:r>
                      <a:r>
                        <a:rPr sz="12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3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MAPPLS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8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Future</a:t>
                      </a:r>
                      <a:r>
                        <a:rPr sz="12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technology</a:t>
                      </a:r>
                      <a:r>
                        <a:rPr sz="12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orientation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687070" marR="12700" indent="-66802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Street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view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(pedestrian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only),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360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degree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view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Look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around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(AR),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Flyover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(VR)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01675" marR="105410" indent="-58991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Both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functionalities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present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MUST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HAVE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00964" y="555497"/>
            <a:ext cx="117792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Here,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compare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features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popularly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map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applications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India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identify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must-have</a:t>
            </a:r>
            <a:r>
              <a:rPr sz="1400" b="1" spc="-7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features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that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would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bring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Ola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Maps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at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par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with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current </a:t>
            </a:r>
            <a:r>
              <a:rPr sz="1400" b="1" dirty="0">
                <a:latin typeface="Calibri"/>
                <a:cs typeface="Calibri"/>
              </a:rPr>
              <a:t>top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players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market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 descr="Google Maps Logo and symbol, meaning, history, PNG, bran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2040" y="883919"/>
            <a:ext cx="432815" cy="458724"/>
          </a:xfrm>
          <a:prstGeom prst="rect">
            <a:avLst/>
          </a:prstGeom>
        </p:spPr>
      </p:pic>
      <p:pic>
        <p:nvPicPr>
          <p:cNvPr id="6" name="object 6" descr="Apple Maps icon by zklm0000 on Dribbbl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9252" y="941832"/>
            <a:ext cx="365759" cy="352044"/>
          </a:xfrm>
          <a:prstGeom prst="rect">
            <a:avLst/>
          </a:prstGeom>
        </p:spPr>
      </p:pic>
      <p:pic>
        <p:nvPicPr>
          <p:cNvPr id="7" name="object 7" descr="Mappls (MapmyIndia Move) – Apps on Google Play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79407" y="958596"/>
            <a:ext cx="365759" cy="365760"/>
          </a:xfrm>
          <a:prstGeom prst="rect">
            <a:avLst/>
          </a:prstGeom>
        </p:spPr>
      </p:pic>
      <p:pic>
        <p:nvPicPr>
          <p:cNvPr id="8" name="object 8" descr="Ola Cabs Logo and symbol, meaning, history, PNG, brand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06869" y="969546"/>
            <a:ext cx="726575" cy="279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2768" y="4244162"/>
            <a:ext cx="13481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bri"/>
                <a:cs typeface="Calibri"/>
              </a:rPr>
              <a:t>PASSENGERS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768" y="5448706"/>
            <a:ext cx="62693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INDIRECT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PASSENGERS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booking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someone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else)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511" y="4570476"/>
            <a:ext cx="11620500" cy="8732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4988" y="3212592"/>
            <a:ext cx="10503408" cy="9707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6511" y="5829298"/>
            <a:ext cx="11378184" cy="90677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2768" y="224790"/>
            <a:ext cx="11723370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Users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 OLA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rides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their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journeys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6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Ola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rides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are: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sz="1600" b="1" spc="-10" dirty="0">
                <a:latin typeface="Calibri"/>
                <a:cs typeface="Calibri"/>
              </a:rPr>
              <a:t>Passengers: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book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cabs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themselves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transfer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source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destination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sz="1600" b="1" dirty="0">
                <a:latin typeface="Calibri"/>
                <a:cs typeface="Calibri"/>
              </a:rPr>
              <a:t>Drivers: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accept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cab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bookings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passengers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vehicles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transfer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passenger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specified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source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destination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sz="1600" b="1" dirty="0">
                <a:latin typeface="Calibri"/>
                <a:cs typeface="Calibri"/>
              </a:rPr>
              <a:t>Indirect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passengers: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book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cabs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someone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Ola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app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600" dirty="0">
                <a:latin typeface="Calibri"/>
                <a:cs typeface="Calibri"/>
              </a:rPr>
              <a:t>Below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generic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journey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type:</a:t>
            </a:r>
            <a:endParaRPr sz="1600">
              <a:latin typeface="Calibri"/>
              <a:cs typeface="Calibri"/>
            </a:endParaRPr>
          </a:p>
          <a:p>
            <a:pPr marL="12700" marR="5334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highlighted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boxes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denote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engagement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gap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application.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These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are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points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user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journey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when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user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doesn’t engage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with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app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lot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hence,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presents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opportunities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that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can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leveraged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build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Ola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Maps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awareness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promote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engagement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spc="-10" dirty="0">
                <a:latin typeface="Calibri"/>
                <a:cs typeface="Calibri"/>
              </a:rPr>
              <a:t>DRIVERS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-25" dirty="0"/>
              <a:t> </a:t>
            </a:r>
            <a:r>
              <a:rPr spc="-10" dirty="0"/>
              <a:t>Segmentation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7357" y="680466"/>
            <a:ext cx="7699375" cy="2969260"/>
            <a:chOff x="197357" y="680466"/>
            <a:chExt cx="7699375" cy="2969260"/>
          </a:xfrm>
        </p:grpSpPr>
        <p:sp>
          <p:nvSpPr>
            <p:cNvPr id="4" name="object 4"/>
            <p:cNvSpPr/>
            <p:nvPr/>
          </p:nvSpPr>
          <p:spPr>
            <a:xfrm>
              <a:off x="197357" y="680466"/>
              <a:ext cx="3921760" cy="2969260"/>
            </a:xfrm>
            <a:custGeom>
              <a:avLst/>
              <a:gdLst/>
              <a:ahLst/>
              <a:cxnLst/>
              <a:rect l="l" t="t" r="r" b="b"/>
              <a:pathLst>
                <a:path w="3921760" h="2969260">
                  <a:moveTo>
                    <a:pt x="3921252" y="0"/>
                  </a:moveTo>
                  <a:lnTo>
                    <a:pt x="0" y="0"/>
                  </a:lnTo>
                  <a:lnTo>
                    <a:pt x="0" y="2968751"/>
                  </a:lnTo>
                  <a:lnTo>
                    <a:pt x="3921252" y="2968751"/>
                  </a:lnTo>
                  <a:lnTo>
                    <a:pt x="39212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18610" y="680466"/>
              <a:ext cx="3778250" cy="2969260"/>
            </a:xfrm>
            <a:custGeom>
              <a:avLst/>
              <a:gdLst/>
              <a:ahLst/>
              <a:cxnLst/>
              <a:rect l="l" t="t" r="r" b="b"/>
              <a:pathLst>
                <a:path w="3778250" h="2969260">
                  <a:moveTo>
                    <a:pt x="3777995" y="0"/>
                  </a:moveTo>
                  <a:lnTo>
                    <a:pt x="0" y="0"/>
                  </a:lnTo>
                  <a:lnTo>
                    <a:pt x="0" y="2968751"/>
                  </a:lnTo>
                  <a:lnTo>
                    <a:pt x="3777995" y="2968751"/>
                  </a:lnTo>
                  <a:lnTo>
                    <a:pt x="3777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070" y="666178"/>
          <a:ext cx="11872594" cy="2968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2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7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3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862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Passengers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0170" marR="323850">
                        <a:lnSpc>
                          <a:spcPts val="1730"/>
                        </a:lnSpc>
                        <a:spcBef>
                          <a:spcPts val="102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We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demographic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segmentation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define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passenger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cohorts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mention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cases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cab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hailing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application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34950" marR="784860" indent="-144780">
                        <a:lnSpc>
                          <a:spcPts val="1730"/>
                        </a:lnSpc>
                        <a:spcBef>
                          <a:spcPts val="590"/>
                        </a:spcBef>
                        <a:buAutoNum type="arabicPeriod"/>
                        <a:tabLst>
                          <a:tab pos="234950" algn="l"/>
                          <a:tab pos="291465" algn="l"/>
                        </a:tabLst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	College</a:t>
                      </a:r>
                      <a:r>
                        <a:rPr sz="16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students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going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college,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personal</a:t>
                      </a:r>
                      <a:r>
                        <a:rPr sz="1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use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34950" marR="471170" indent="-144780">
                        <a:lnSpc>
                          <a:spcPts val="1730"/>
                        </a:lnSpc>
                        <a:spcBef>
                          <a:spcPts val="600"/>
                        </a:spcBef>
                        <a:buAutoNum type="arabicPeriod"/>
                        <a:tabLst>
                          <a:tab pos="234950" algn="l"/>
                          <a:tab pos="291465" algn="l"/>
                        </a:tabLst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	Working</a:t>
                      </a:r>
                      <a:r>
                        <a:rPr sz="16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professionals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going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work,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personal</a:t>
                      </a:r>
                      <a:r>
                        <a:rPr sz="1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use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91465" indent="-201295">
                        <a:lnSpc>
                          <a:spcPct val="100000"/>
                        </a:lnSpc>
                        <a:spcBef>
                          <a:spcPts val="380"/>
                        </a:spcBef>
                        <a:buAutoNum type="arabicPeriod"/>
                        <a:tabLst>
                          <a:tab pos="291465" algn="l"/>
                        </a:tabLst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Senior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citizens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personal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use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Drivers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1440" marR="280670" algn="just">
                        <a:lnSpc>
                          <a:spcPts val="1730"/>
                        </a:lnSpc>
                        <a:spcBef>
                          <a:spcPts val="102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We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segmentation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type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define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driver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cohorts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mention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kinds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drivers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cohort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92735" indent="-201295" algn="just">
                        <a:lnSpc>
                          <a:spcPct val="100000"/>
                        </a:lnSpc>
                        <a:spcBef>
                          <a:spcPts val="565"/>
                        </a:spcBef>
                        <a:buAutoNum type="arabicPeriod"/>
                        <a:tabLst>
                          <a:tab pos="292735" algn="l"/>
                        </a:tabLst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wheeler</a:t>
                      </a:r>
                      <a:r>
                        <a:rPr sz="16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drivers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part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cab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drivers,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36220" algn="just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full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cab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drivers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36220" marR="645795" indent="-144780">
                        <a:lnSpc>
                          <a:spcPct val="100000"/>
                        </a:lnSpc>
                        <a:spcBef>
                          <a:spcPts val="600"/>
                        </a:spcBef>
                        <a:buAutoNum type="arabicPeriod" startAt="2"/>
                        <a:tabLst>
                          <a:tab pos="236220" algn="l"/>
                          <a:tab pos="292735" algn="l"/>
                        </a:tabLst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	3</a:t>
                      </a:r>
                      <a:r>
                        <a:rPr sz="16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wheeler</a:t>
                      </a:r>
                      <a:r>
                        <a:rPr sz="16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drivers:</a:t>
                      </a:r>
                      <a:r>
                        <a:rPr sz="16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Auto</a:t>
                      </a:r>
                      <a:r>
                        <a:rPr sz="1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drivers.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E-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Rickshaw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drivers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36220" marR="153035" indent="-144780">
                        <a:lnSpc>
                          <a:spcPct val="100000"/>
                        </a:lnSpc>
                        <a:spcBef>
                          <a:spcPts val="600"/>
                        </a:spcBef>
                        <a:buAutoNum type="arabicPeriod" startAt="2"/>
                        <a:tabLst>
                          <a:tab pos="236220" algn="l"/>
                          <a:tab pos="292735" algn="l"/>
                        </a:tabLst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	4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wheeler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drivers: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part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cab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drivers,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full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cab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drivers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Indirect</a:t>
                      </a:r>
                      <a:r>
                        <a:rPr sz="16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passengers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1440" marR="132715">
                        <a:lnSpc>
                          <a:spcPts val="1730"/>
                        </a:lnSpc>
                        <a:spcBef>
                          <a:spcPts val="102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We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behavioural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segmentation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define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indirect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passenger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cohorts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mention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use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cases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cab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hailing application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36220" marR="630555" indent="-145415">
                        <a:lnSpc>
                          <a:spcPts val="1730"/>
                        </a:lnSpc>
                        <a:spcBef>
                          <a:spcPts val="590"/>
                        </a:spcBef>
                        <a:buAutoNum type="arabicPeriod"/>
                        <a:tabLst>
                          <a:tab pos="236220" algn="l"/>
                          <a:tab pos="293370" algn="l"/>
                        </a:tabLst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	Relatives</a:t>
                      </a:r>
                      <a:r>
                        <a:rPr sz="16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senior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citizens</a:t>
                      </a:r>
                      <a:r>
                        <a:rPr sz="16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who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cannot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directly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app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36220" marR="580390" indent="-145415">
                        <a:lnSpc>
                          <a:spcPts val="1730"/>
                        </a:lnSpc>
                        <a:spcBef>
                          <a:spcPts val="600"/>
                        </a:spcBef>
                        <a:buAutoNum type="arabicPeriod"/>
                        <a:tabLst>
                          <a:tab pos="236220" algn="l"/>
                          <a:tab pos="293370" algn="l"/>
                        </a:tabLst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	Friends/relatives</a:t>
                      </a:r>
                      <a:r>
                        <a:rPr sz="16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16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who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cannot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internet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97256" y="3805656"/>
            <a:ext cx="11552555" cy="1981200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800" b="1" dirty="0">
                <a:latin typeface="Calibri"/>
                <a:cs typeface="Calibri"/>
              </a:rPr>
              <a:t>User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interviews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(Link)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1825"/>
              </a:lnSpc>
              <a:spcBef>
                <a:spcPts val="1130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All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asked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problems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face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during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different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phases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cab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trip: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Before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trip,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During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trip,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After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ts val="1825"/>
              </a:lnSpc>
            </a:pPr>
            <a:r>
              <a:rPr sz="1600" b="1" spc="-20" dirty="0">
                <a:latin typeface="Calibri"/>
                <a:cs typeface="Calibri"/>
              </a:rPr>
              <a:t>trip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ts val="173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Our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criterion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select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problem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address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first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would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be: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Focus</a:t>
            </a:r>
            <a:r>
              <a:rPr sz="1600" b="1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600" b="1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600" b="1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problem</a:t>
            </a:r>
            <a:r>
              <a:rPr sz="1600" b="1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statement-</a:t>
            </a:r>
            <a:r>
              <a:rPr sz="1600" dirty="0">
                <a:latin typeface="Calibri"/>
                <a:cs typeface="Calibri"/>
              </a:rPr>
              <a:t>&gt;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1600" b="1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has</a:t>
            </a:r>
            <a:r>
              <a:rPr sz="1600" b="1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600" b="1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align</a:t>
            </a:r>
            <a:r>
              <a:rPr sz="1600" b="1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</a:t>
            </a:r>
            <a:r>
              <a:rPr sz="1600" b="1" i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building</a:t>
            </a:r>
            <a:r>
              <a:rPr sz="1600" b="1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up</a:t>
            </a:r>
            <a:r>
              <a:rPr sz="1600" b="1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600" b="1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ideal</a:t>
            </a:r>
            <a:r>
              <a:rPr sz="1600" b="1" i="1" spc="-10" dirty="0"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search</a:t>
            </a:r>
            <a:r>
              <a:rPr sz="1600" b="1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experience</a:t>
            </a:r>
            <a:r>
              <a:rPr sz="1600" b="1" i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600" b="1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we</a:t>
            </a:r>
            <a:r>
              <a:rPr sz="16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are</a:t>
            </a:r>
            <a:r>
              <a:rPr sz="1600" b="1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looking</a:t>
            </a:r>
            <a:r>
              <a:rPr sz="1600" b="1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1600" b="1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feature</a:t>
            </a:r>
            <a:r>
              <a:rPr sz="1600" b="1" i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additions</a:t>
            </a:r>
            <a:r>
              <a:rPr sz="1600" b="1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that</a:t>
            </a:r>
            <a:r>
              <a:rPr sz="1600" b="1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would</a:t>
            </a:r>
            <a:r>
              <a:rPr sz="1600" b="1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give</a:t>
            </a:r>
            <a:r>
              <a:rPr sz="1600" b="1" i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</a:t>
            </a:r>
            <a:r>
              <a:rPr sz="1600" b="1" i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</a:t>
            </a:r>
            <a:r>
              <a:rPr sz="1600" b="1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edge</a:t>
            </a:r>
            <a:r>
              <a:rPr sz="1600" b="1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over</a:t>
            </a:r>
            <a:r>
              <a:rPr sz="1600" b="1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600" b="1" i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existing</a:t>
            </a:r>
            <a:r>
              <a:rPr sz="1600" b="1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options</a:t>
            </a:r>
            <a:r>
              <a:rPr sz="1600" b="1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1600" b="1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 </a:t>
            </a:r>
            <a:r>
              <a:rPr sz="1600" b="1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market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responses,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selected</a:t>
            </a:r>
            <a:r>
              <a:rPr sz="1600" b="1" spc="-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problems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which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could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lead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possible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feature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additions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developed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user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personas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438" y="899541"/>
            <a:ext cx="21482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Rishabh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(29,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Male):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Delhi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6438" y="1143380"/>
            <a:ext cx="2764155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9235" indent="-216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29235" algn="l"/>
              </a:tabLst>
            </a:pP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new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city</a:t>
            </a:r>
            <a:endParaRPr sz="1600">
              <a:latin typeface="Calibri"/>
              <a:cs typeface="Calibri"/>
            </a:endParaRPr>
          </a:p>
          <a:p>
            <a:pPr marL="229235" marR="5080" indent="-217170">
              <a:lnSpc>
                <a:spcPct val="100000"/>
              </a:lnSpc>
              <a:buFont typeface="Arial MT"/>
              <a:buChar char="•"/>
              <a:tabLst>
                <a:tab pos="229235" algn="l"/>
              </a:tabLst>
            </a:pPr>
            <a:r>
              <a:rPr sz="1600" dirty="0">
                <a:latin typeface="Calibri"/>
                <a:cs typeface="Calibri"/>
              </a:rPr>
              <a:t>Has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daily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hour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commute</a:t>
            </a:r>
            <a:r>
              <a:rPr sz="1600" spc="-25" dirty="0">
                <a:latin typeface="Calibri"/>
                <a:cs typeface="Calibri"/>
              </a:rPr>
              <a:t> to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office.</a:t>
            </a:r>
            <a:endParaRPr sz="1600">
              <a:latin typeface="Calibri"/>
              <a:cs typeface="Calibri"/>
            </a:endParaRPr>
          </a:p>
          <a:p>
            <a:pPr marL="229235" marR="33655" indent="-217170">
              <a:lnSpc>
                <a:spcPct val="100000"/>
              </a:lnSpc>
              <a:buFont typeface="Arial MT"/>
              <a:buChar char="•"/>
              <a:tabLst>
                <a:tab pos="229235" algn="l"/>
              </a:tabLst>
            </a:pPr>
            <a:r>
              <a:rPr sz="1600" i="1" dirty="0">
                <a:latin typeface="Calibri"/>
                <a:cs typeface="Calibri"/>
              </a:rPr>
              <a:t>Doesn’t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have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personal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vehicle, </a:t>
            </a:r>
            <a:r>
              <a:rPr sz="1600" i="1" dirty="0">
                <a:latin typeface="Calibri"/>
                <a:cs typeface="Calibri"/>
              </a:rPr>
              <a:t>so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travels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everywhere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in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the </a:t>
            </a:r>
            <a:r>
              <a:rPr sz="1600" i="1" dirty="0">
                <a:latin typeface="Calibri"/>
                <a:cs typeface="Calibri"/>
              </a:rPr>
              <a:t>city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using</a:t>
            </a:r>
            <a:r>
              <a:rPr sz="1600" i="1" spc="-10" dirty="0">
                <a:latin typeface="Calibri"/>
                <a:cs typeface="Calibri"/>
              </a:rPr>
              <a:t> </a:t>
            </a:r>
            <a:r>
              <a:rPr sz="1600" i="1" spc="-20" dirty="0">
                <a:latin typeface="Calibri"/>
                <a:cs typeface="Calibri"/>
              </a:rPr>
              <a:t>cabs</a:t>
            </a:r>
            <a:endParaRPr sz="1600">
              <a:latin typeface="Calibri"/>
              <a:cs typeface="Calibri"/>
            </a:endParaRPr>
          </a:p>
          <a:p>
            <a:pPr marL="229235" marR="90170" indent="-21717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29235" algn="l"/>
              </a:tabLst>
            </a:pPr>
            <a:r>
              <a:rPr sz="1600" i="1" spc="-10" dirty="0">
                <a:latin typeface="Calibri"/>
                <a:cs typeface="Calibri"/>
              </a:rPr>
              <a:t>Would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like</a:t>
            </a:r>
            <a:r>
              <a:rPr sz="1600" i="1" spc="-7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to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know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the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places </a:t>
            </a:r>
            <a:r>
              <a:rPr sz="1600" i="1" dirty="0">
                <a:latin typeface="Calibri"/>
                <a:cs typeface="Calibri"/>
              </a:rPr>
              <a:t>to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explore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on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weekends,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8346" y="895604"/>
            <a:ext cx="2591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Ananya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(22,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Female):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Lucknow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38346" y="1139443"/>
            <a:ext cx="3046095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marR="745490" indent="-216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28600" algn="l"/>
              </a:tabLst>
            </a:pPr>
            <a:r>
              <a:rPr sz="1600" dirty="0">
                <a:latin typeface="Calibri"/>
                <a:cs typeface="Calibri"/>
              </a:rPr>
              <a:t>Has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lived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city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since childhood</a:t>
            </a:r>
            <a:endParaRPr sz="1600">
              <a:latin typeface="Calibri"/>
              <a:cs typeface="Calibri"/>
            </a:endParaRPr>
          </a:p>
          <a:p>
            <a:pPr marL="228600" marR="5080" indent="-216535">
              <a:lnSpc>
                <a:spcPct val="100000"/>
              </a:lnSpc>
              <a:buFont typeface="Arial MT"/>
              <a:buChar char="•"/>
              <a:tabLst>
                <a:tab pos="228600" algn="l"/>
              </a:tabLst>
            </a:pPr>
            <a:r>
              <a:rPr sz="1600" dirty="0">
                <a:latin typeface="Calibri"/>
                <a:cs typeface="Calibri"/>
              </a:rPr>
              <a:t>Loves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hangout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friends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explore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new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places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city.</a:t>
            </a:r>
            <a:endParaRPr sz="1600">
              <a:latin typeface="Calibri"/>
              <a:cs typeface="Calibri"/>
            </a:endParaRPr>
          </a:p>
          <a:p>
            <a:pPr marL="228600" marR="283210" indent="-216535">
              <a:lnSpc>
                <a:spcPct val="100000"/>
              </a:lnSpc>
              <a:buFont typeface="Arial MT"/>
              <a:buChar char="•"/>
              <a:tabLst>
                <a:tab pos="228600" algn="l"/>
              </a:tabLst>
            </a:pPr>
            <a:r>
              <a:rPr sz="1600" dirty="0">
                <a:latin typeface="Calibri"/>
                <a:cs typeface="Calibri"/>
              </a:rPr>
              <a:t>Uses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cabs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travel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not </a:t>
            </a:r>
            <a:r>
              <a:rPr sz="1600" dirty="0">
                <a:latin typeface="Calibri"/>
                <a:cs typeface="Calibri"/>
              </a:rPr>
              <a:t>know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drive</a:t>
            </a:r>
            <a:endParaRPr sz="1600">
              <a:latin typeface="Calibri"/>
              <a:cs typeface="Calibri"/>
            </a:endParaRPr>
          </a:p>
          <a:p>
            <a:pPr marL="228600" marR="316230" indent="-216535">
              <a:lnSpc>
                <a:spcPct val="100000"/>
              </a:lnSpc>
              <a:buFont typeface="Arial MT"/>
              <a:buChar char="•"/>
              <a:tabLst>
                <a:tab pos="228600" algn="l"/>
              </a:tabLst>
            </a:pPr>
            <a:r>
              <a:rPr sz="1600" i="1" dirty="0">
                <a:latin typeface="Calibri"/>
                <a:cs typeface="Calibri"/>
              </a:rPr>
              <a:t>Already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knows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the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popular </a:t>
            </a:r>
            <a:r>
              <a:rPr sz="1600" i="1" dirty="0">
                <a:latin typeface="Calibri"/>
                <a:cs typeface="Calibri"/>
              </a:rPr>
              <a:t>hangouts.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Would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love</a:t>
            </a:r>
            <a:r>
              <a:rPr sz="1600" i="1" spc="-6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to</a:t>
            </a:r>
            <a:r>
              <a:rPr sz="1600" i="1" spc="-60" dirty="0">
                <a:latin typeface="Calibri"/>
                <a:cs typeface="Calibri"/>
              </a:rPr>
              <a:t> </a:t>
            </a:r>
            <a:r>
              <a:rPr sz="1600" i="1" spc="-20" dirty="0">
                <a:latin typeface="Calibri"/>
                <a:cs typeface="Calibri"/>
              </a:rPr>
              <a:t>know </a:t>
            </a:r>
            <a:r>
              <a:rPr sz="1600" i="1" dirty="0">
                <a:latin typeface="Calibri"/>
                <a:cs typeface="Calibri"/>
              </a:rPr>
              <a:t>about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the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lesser</a:t>
            </a:r>
            <a:r>
              <a:rPr sz="1600" i="1" spc="-5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known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places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1206" y="873328"/>
            <a:ext cx="2375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Shikhar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(34,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Male):</a:t>
            </a:r>
            <a:r>
              <a:rPr sz="1600" b="1" spc="-6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Mumbai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1206" y="1117854"/>
            <a:ext cx="329565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marR="251460" indent="-216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28600" algn="l"/>
              </a:tabLst>
            </a:pPr>
            <a:r>
              <a:rPr sz="1600" dirty="0">
                <a:latin typeface="Calibri"/>
                <a:cs typeface="Calibri"/>
              </a:rPr>
              <a:t>Is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consultant,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travels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0" dirty="0">
                <a:latin typeface="Calibri"/>
                <a:cs typeface="Calibri"/>
              </a:rPr>
              <a:t> different </a:t>
            </a:r>
            <a:r>
              <a:rPr sz="1600" dirty="0">
                <a:latin typeface="Calibri"/>
                <a:cs typeface="Calibri"/>
              </a:rPr>
              <a:t>cities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meet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clients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every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week</a:t>
            </a:r>
            <a:endParaRPr sz="1600">
              <a:latin typeface="Calibri"/>
              <a:cs typeface="Calibri"/>
            </a:endParaRPr>
          </a:p>
          <a:p>
            <a:pPr marL="228600" marR="166370" indent="-216535">
              <a:lnSpc>
                <a:spcPct val="100000"/>
              </a:lnSpc>
              <a:buFont typeface="Arial MT"/>
              <a:buChar char="•"/>
              <a:tabLst>
                <a:tab pos="228600" algn="l"/>
              </a:tabLst>
            </a:pPr>
            <a:r>
              <a:rPr sz="1600" dirty="0">
                <a:latin typeface="Calibri"/>
                <a:cs typeface="Calibri"/>
              </a:rPr>
              <a:t>Cannot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drive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himself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either </a:t>
            </a:r>
            <a:r>
              <a:rPr sz="1600" dirty="0">
                <a:latin typeface="Calibri"/>
                <a:cs typeface="Calibri"/>
              </a:rPr>
              <a:t>working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needs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be </a:t>
            </a:r>
            <a:r>
              <a:rPr sz="1600" spc="-10" dirty="0">
                <a:latin typeface="Calibri"/>
                <a:cs typeface="Calibri"/>
              </a:rPr>
              <a:t>available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0" dirty="0">
                <a:latin typeface="Calibri"/>
                <a:cs typeface="Calibri"/>
              </a:rPr>
              <a:t> take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calls</a:t>
            </a:r>
            <a:endParaRPr sz="1600">
              <a:latin typeface="Calibri"/>
              <a:cs typeface="Calibri"/>
            </a:endParaRPr>
          </a:p>
          <a:p>
            <a:pPr marL="228600" marR="5080" indent="-216535">
              <a:lnSpc>
                <a:spcPct val="100000"/>
              </a:lnSpc>
              <a:buFont typeface="Arial MT"/>
              <a:buChar char="•"/>
              <a:tabLst>
                <a:tab pos="228600" algn="l"/>
              </a:tabLst>
            </a:pPr>
            <a:r>
              <a:rPr sz="1600" dirty="0">
                <a:latin typeface="Calibri"/>
                <a:cs typeface="Calibri"/>
              </a:rPr>
              <a:t>Setting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good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impression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25" dirty="0">
                <a:latin typeface="Calibri"/>
                <a:cs typeface="Calibri"/>
              </a:rPr>
              <a:t> the </a:t>
            </a:r>
            <a:r>
              <a:rPr sz="1600" dirty="0">
                <a:latin typeface="Calibri"/>
                <a:cs typeface="Calibri"/>
              </a:rPr>
              <a:t>client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utmost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importance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him</a:t>
            </a:r>
            <a:endParaRPr sz="1600">
              <a:latin typeface="Calibri"/>
              <a:cs typeface="Calibri"/>
            </a:endParaRPr>
          </a:p>
          <a:p>
            <a:pPr marL="228600" marR="80645" indent="-216535" algn="just">
              <a:lnSpc>
                <a:spcPct val="100000"/>
              </a:lnSpc>
              <a:buFont typeface="Arial MT"/>
              <a:buChar char="•"/>
              <a:tabLst>
                <a:tab pos="228600" algn="l"/>
                <a:tab pos="229870" algn="l"/>
              </a:tabLst>
            </a:pPr>
            <a:r>
              <a:rPr sz="1600" dirty="0">
                <a:latin typeface="Calibri"/>
                <a:cs typeface="Calibri"/>
              </a:rPr>
              <a:t>	</a:t>
            </a:r>
            <a:r>
              <a:rPr sz="1600" i="1" dirty="0">
                <a:latin typeface="Calibri"/>
                <a:cs typeface="Calibri"/>
              </a:rPr>
              <a:t>Believes</a:t>
            </a:r>
            <a:r>
              <a:rPr sz="1600" i="1" spc="-6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that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reviews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are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sometimes </a:t>
            </a:r>
            <a:r>
              <a:rPr sz="1600" i="1" dirty="0">
                <a:latin typeface="Calibri"/>
                <a:cs typeface="Calibri"/>
              </a:rPr>
              <a:t>ambiguous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and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would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want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to</a:t>
            </a:r>
            <a:r>
              <a:rPr sz="1600" i="1" spc="-55" dirty="0">
                <a:latin typeface="Calibri"/>
                <a:cs typeface="Calibri"/>
              </a:rPr>
              <a:t> </a:t>
            </a:r>
            <a:r>
              <a:rPr sz="1600" i="1" spc="-20" dirty="0">
                <a:latin typeface="Calibri"/>
                <a:cs typeface="Calibri"/>
              </a:rPr>
              <a:t>have </a:t>
            </a:r>
            <a:r>
              <a:rPr sz="1600" i="1" dirty="0">
                <a:latin typeface="Calibri"/>
                <a:cs typeface="Calibri"/>
              </a:rPr>
              <a:t>own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opinions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about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place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847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00"/>
              </a:spcBef>
            </a:pPr>
            <a:r>
              <a:rPr sz="2000" spc="-10" dirty="0"/>
              <a:t>PASSENGER</a:t>
            </a:r>
            <a:r>
              <a:rPr sz="2000" spc="-50" dirty="0"/>
              <a:t> </a:t>
            </a:r>
            <a:r>
              <a:rPr sz="2000" spc="-10" dirty="0"/>
              <a:t>PERSONAS</a:t>
            </a:r>
            <a:endParaRPr sz="2000"/>
          </a:p>
        </p:txBody>
      </p:sp>
      <p:sp>
        <p:nvSpPr>
          <p:cNvPr id="9" name="object 9"/>
          <p:cNvSpPr txBox="1"/>
          <p:nvPr/>
        </p:nvSpPr>
        <p:spPr>
          <a:xfrm>
            <a:off x="5874511" y="4659884"/>
            <a:ext cx="544766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28600" algn="l"/>
              </a:tabLst>
            </a:pPr>
            <a:r>
              <a:rPr sz="1600" dirty="0">
                <a:latin typeface="Calibri"/>
                <a:cs typeface="Calibri"/>
              </a:rPr>
              <a:t>Lives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away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family</a:t>
            </a:r>
            <a:endParaRPr sz="1600">
              <a:latin typeface="Calibri"/>
              <a:cs typeface="Calibri"/>
            </a:endParaRPr>
          </a:p>
          <a:p>
            <a:pPr marL="228600" indent="-215900">
              <a:lnSpc>
                <a:spcPct val="100000"/>
              </a:lnSpc>
              <a:buFont typeface="Arial MT"/>
              <a:buChar char="•"/>
              <a:tabLst>
                <a:tab pos="228600" algn="l"/>
              </a:tabLst>
            </a:pPr>
            <a:r>
              <a:rPr sz="1600" dirty="0">
                <a:latin typeface="Calibri"/>
                <a:cs typeface="Calibri"/>
              </a:rPr>
              <a:t>Family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members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occasionally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visit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(mostly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grandparents)</a:t>
            </a:r>
            <a:endParaRPr sz="1600">
              <a:latin typeface="Calibri"/>
              <a:cs typeface="Calibri"/>
            </a:endParaRPr>
          </a:p>
          <a:p>
            <a:pPr marL="228600" marR="5080" indent="-216535">
              <a:lnSpc>
                <a:spcPct val="100000"/>
              </a:lnSpc>
              <a:buFont typeface="Arial MT"/>
              <a:buChar char="•"/>
              <a:tabLst>
                <a:tab pos="228600" algn="l"/>
              </a:tabLst>
            </a:pPr>
            <a:r>
              <a:rPr sz="1600" dirty="0">
                <a:latin typeface="Calibri"/>
                <a:cs typeface="Calibri"/>
              </a:rPr>
              <a:t>Unable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pick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every time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railway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station; grandparents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tech-</a:t>
            </a:r>
            <a:r>
              <a:rPr sz="1600" spc="-20" dirty="0">
                <a:latin typeface="Calibri"/>
                <a:cs typeface="Calibri"/>
              </a:rPr>
              <a:t>savvy,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hence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resorts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booking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cabs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them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Ola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app</a:t>
            </a:r>
            <a:endParaRPr sz="1600">
              <a:latin typeface="Calibri"/>
              <a:cs typeface="Calibri"/>
            </a:endParaRPr>
          </a:p>
          <a:p>
            <a:pPr marL="228600" marR="128270" indent="-216535">
              <a:lnSpc>
                <a:spcPct val="100000"/>
              </a:lnSpc>
              <a:buFont typeface="Arial MT"/>
              <a:buChar char="•"/>
              <a:tabLst>
                <a:tab pos="228600" algn="l"/>
              </a:tabLst>
            </a:pPr>
            <a:r>
              <a:rPr sz="1600" i="1" dirty="0">
                <a:latin typeface="Calibri"/>
                <a:cs typeface="Calibri"/>
              </a:rPr>
              <a:t>She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keeps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worrying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when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they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will</a:t>
            </a:r>
            <a:r>
              <a:rPr sz="1600" i="1" spc="-5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arrive,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as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the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app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locations </a:t>
            </a:r>
            <a:r>
              <a:rPr sz="1600" i="1" dirty="0">
                <a:latin typeface="Calibri"/>
                <a:cs typeface="Calibri"/>
              </a:rPr>
              <a:t>may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not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update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constantly.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6438" y="4659884"/>
            <a:ext cx="461454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9235" marR="71755" indent="-21717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29235" algn="l"/>
              </a:tabLst>
            </a:pPr>
            <a:r>
              <a:rPr sz="1600" dirty="0">
                <a:latin typeface="Calibri"/>
                <a:cs typeface="Calibri"/>
              </a:rPr>
              <a:t>Started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Ola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driver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months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after </a:t>
            </a:r>
            <a:r>
              <a:rPr sz="1600" dirty="0">
                <a:latin typeface="Calibri"/>
                <a:cs typeface="Calibri"/>
              </a:rPr>
              <a:t>some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family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issues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quit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job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Mumbai</a:t>
            </a:r>
            <a:endParaRPr sz="1600">
              <a:latin typeface="Calibri"/>
              <a:cs typeface="Calibri"/>
            </a:endParaRPr>
          </a:p>
          <a:p>
            <a:pPr marL="229235" marR="147320" indent="-217170">
              <a:lnSpc>
                <a:spcPct val="100000"/>
              </a:lnSpc>
              <a:buFont typeface="Arial MT"/>
              <a:buChar char="•"/>
              <a:tabLst>
                <a:tab pos="229235" algn="l"/>
              </a:tabLst>
            </a:pPr>
            <a:r>
              <a:rPr sz="1600" dirty="0">
                <a:latin typeface="Calibri"/>
                <a:cs typeface="Calibri"/>
              </a:rPr>
              <a:t>Keeps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vehicle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neat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clean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hopes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build credibility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good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driver</a:t>
            </a:r>
            <a:endParaRPr sz="1600">
              <a:latin typeface="Calibri"/>
              <a:cs typeface="Calibri"/>
            </a:endParaRPr>
          </a:p>
          <a:p>
            <a:pPr marL="229235" marR="5080" indent="-217170">
              <a:lnSpc>
                <a:spcPct val="100000"/>
              </a:lnSpc>
              <a:buFont typeface="Arial MT"/>
              <a:buChar char="•"/>
              <a:tabLst>
                <a:tab pos="229235" algn="l"/>
              </a:tabLst>
            </a:pPr>
            <a:r>
              <a:rPr sz="1600" i="1" dirty="0">
                <a:latin typeface="Calibri"/>
                <a:cs typeface="Calibri"/>
              </a:rPr>
              <a:t>Faces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trouble</a:t>
            </a:r>
            <a:r>
              <a:rPr sz="1600" i="1" spc="-6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navigating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the</a:t>
            </a:r>
            <a:r>
              <a:rPr sz="1600" i="1" spc="-6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nooks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and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streets</a:t>
            </a:r>
            <a:r>
              <a:rPr sz="1600" i="1" spc="-70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of </a:t>
            </a:r>
            <a:r>
              <a:rPr sz="1600" i="1" dirty="0">
                <a:latin typeface="Calibri"/>
                <a:cs typeface="Calibri"/>
              </a:rPr>
              <a:t>Pune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and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doesn’t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want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to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trouble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the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passenger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lot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6438" y="3940129"/>
            <a:ext cx="2567940" cy="74485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000" b="1" dirty="0">
                <a:latin typeface="Calibri"/>
                <a:cs typeface="Calibri"/>
              </a:rPr>
              <a:t>DRIVER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PERSONAS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00" b="1" dirty="0">
                <a:latin typeface="Calibri"/>
                <a:cs typeface="Calibri"/>
              </a:rPr>
              <a:t>Mangey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Ram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(38,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Male):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Pune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07202" y="3940129"/>
            <a:ext cx="3494404" cy="74485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000" b="1" dirty="0">
                <a:latin typeface="Calibri"/>
                <a:cs typeface="Calibri"/>
              </a:rPr>
              <a:t>INDIRECT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PASSENGER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PERSONAS</a:t>
            </a:r>
            <a:endParaRPr sz="2000">
              <a:latin typeface="Calibri"/>
              <a:cs typeface="Calibri"/>
            </a:endParaRPr>
          </a:p>
          <a:p>
            <a:pPr marL="80010">
              <a:lnSpc>
                <a:spcPct val="100000"/>
              </a:lnSpc>
              <a:spcBef>
                <a:spcPts val="590"/>
              </a:spcBef>
            </a:pPr>
            <a:r>
              <a:rPr sz="1600" b="1" dirty="0">
                <a:latin typeface="Calibri"/>
                <a:cs typeface="Calibri"/>
              </a:rPr>
              <a:t>Divya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(26,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Female):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Noida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5458" y="3780282"/>
            <a:ext cx="11722100" cy="22225"/>
          </a:xfrm>
          <a:custGeom>
            <a:avLst/>
            <a:gdLst/>
            <a:ahLst/>
            <a:cxnLst/>
            <a:rect l="l" t="t" r="r" b="b"/>
            <a:pathLst>
              <a:path w="11722100" h="22225">
                <a:moveTo>
                  <a:pt x="0" y="0"/>
                </a:moveTo>
                <a:lnTo>
                  <a:pt x="11722100" y="2197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 descr="Man male young person icon Royalty Free Vector Imag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244" y="653795"/>
            <a:ext cx="768095" cy="967739"/>
          </a:xfrm>
          <a:prstGeom prst="rect">
            <a:avLst/>
          </a:prstGeom>
        </p:spPr>
      </p:pic>
      <p:pic>
        <p:nvPicPr>
          <p:cNvPr id="15" name="object 15" descr="Middle Age Man Cute Cartoon Icon Image Vector Illustration Design Royalty  Free SVG, Cliparts, Vectors, And Stock Illustration. Image 73802487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2332" y="4079747"/>
            <a:ext cx="751332" cy="1170432"/>
          </a:xfrm>
          <a:prstGeom prst="rect">
            <a:avLst/>
          </a:prstGeom>
        </p:spPr>
      </p:pic>
      <p:pic>
        <p:nvPicPr>
          <p:cNvPr id="16" name="object 16" descr="Professional Male White-collar Workers In Suits Shaking Hands PNG Images |  PSD Free Download - Pikbest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53571" y="659891"/>
            <a:ext cx="838200" cy="1011936"/>
          </a:xfrm>
          <a:prstGeom prst="rect">
            <a:avLst/>
          </a:prstGeom>
        </p:spPr>
      </p:pic>
      <p:pic>
        <p:nvPicPr>
          <p:cNvPr id="17" name="object 17" descr="Boss Chatter Graphic Design &amp; Digital Strategy - Graphic Design - User  Persona Research &amp; Design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46180" y="4218432"/>
            <a:ext cx="667512" cy="894588"/>
          </a:xfrm>
          <a:prstGeom prst="rect">
            <a:avLst/>
          </a:prstGeom>
        </p:spPr>
      </p:pic>
      <p:pic>
        <p:nvPicPr>
          <p:cNvPr id="18" name="object 18" descr="Catarina Ribeiro | Dribbble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82383" y="615695"/>
            <a:ext cx="775716" cy="9951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7009" y="95250"/>
            <a:ext cx="908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009" y="452755"/>
            <a:ext cx="11031220" cy="10242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83515" indent="-228600">
              <a:lnSpc>
                <a:spcPts val="134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i="1" dirty="0">
                <a:latin typeface="Calibri"/>
                <a:cs typeface="Calibri"/>
              </a:rPr>
              <a:t>Since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our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product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(OLA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Maps)</a:t>
            </a:r>
            <a:r>
              <a:rPr sz="1400" i="1" spc="-1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is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brand-</a:t>
            </a:r>
            <a:r>
              <a:rPr sz="1400" i="1" dirty="0">
                <a:latin typeface="Calibri"/>
                <a:cs typeface="Calibri"/>
              </a:rPr>
              <a:t>new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and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we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need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to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build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awareness</a:t>
            </a:r>
            <a:r>
              <a:rPr sz="1400" dirty="0">
                <a:latin typeface="Calibri"/>
                <a:cs typeface="Calibri"/>
              </a:rPr>
              <a:t>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our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priority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should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maximum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reach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categories </a:t>
            </a:r>
            <a:r>
              <a:rPr sz="1400" dirty="0">
                <a:latin typeface="Calibri"/>
                <a:cs typeface="Calibri"/>
              </a:rPr>
              <a:t>defined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Ola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rides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application,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400"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passenger</a:t>
            </a:r>
            <a:r>
              <a:rPr sz="14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cohort</a:t>
            </a:r>
            <a:r>
              <a:rPr sz="1400"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1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ensure</a:t>
            </a:r>
            <a:r>
              <a:rPr sz="1400" b="1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400"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maximum</a:t>
            </a:r>
            <a:r>
              <a:rPr sz="1400"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reach</a:t>
            </a:r>
            <a:endParaRPr sz="1400">
              <a:latin typeface="Calibri"/>
              <a:cs typeface="Calibri"/>
            </a:endParaRPr>
          </a:p>
          <a:p>
            <a:pPr marL="241300" marR="5080" indent="-228600">
              <a:lnSpc>
                <a:spcPts val="1340"/>
              </a:lnSpc>
              <a:spcBef>
                <a:spcPts val="40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From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journey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passengers,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waiting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for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cab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arrival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for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pickup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travel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destination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two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phases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could</a:t>
            </a:r>
            <a:r>
              <a:rPr sz="1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utilised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makes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user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aware</a:t>
            </a:r>
            <a:r>
              <a:rPr sz="1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about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Ola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Maps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make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them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engage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</a:t>
            </a:r>
            <a:r>
              <a:rPr sz="1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Focusing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passenger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personas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defined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previous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problems,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define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problem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solve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follows: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8422" y="1683257"/>
            <a:ext cx="11588750" cy="830580"/>
          </a:xfrm>
          <a:prstGeom prst="rect">
            <a:avLst/>
          </a:prstGeom>
          <a:solidFill>
            <a:srgbClr val="9DC3E6"/>
          </a:solidFill>
          <a:ln w="28575">
            <a:solidFill>
              <a:srgbClr val="000000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9"/>
              </a:spcBef>
            </a:pPr>
            <a:r>
              <a:rPr sz="1600" b="1" dirty="0">
                <a:latin typeface="Calibri"/>
                <a:cs typeface="Calibri"/>
              </a:rPr>
              <a:t>Jobs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done:</a:t>
            </a:r>
            <a:endParaRPr sz="1600">
              <a:latin typeface="Calibri"/>
              <a:cs typeface="Calibri"/>
            </a:endParaRPr>
          </a:p>
          <a:p>
            <a:pPr marL="177800" marR="174625" algn="ctr">
              <a:lnSpc>
                <a:spcPct val="100000"/>
              </a:lnSpc>
            </a:pPr>
            <a:r>
              <a:rPr sz="1600" i="1" dirty="0">
                <a:latin typeface="Calibri"/>
                <a:cs typeface="Calibri"/>
              </a:rPr>
              <a:t>When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I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want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to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explore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places,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but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need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to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do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so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under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the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constraint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of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not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being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able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to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drive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there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myself,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help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me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find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</a:t>
            </a:r>
            <a:r>
              <a:rPr sz="1600" i="1" spc="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way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to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get</a:t>
            </a:r>
            <a:r>
              <a:rPr sz="1600" i="1" spc="-25" dirty="0">
                <a:latin typeface="Calibri"/>
                <a:cs typeface="Calibri"/>
              </a:rPr>
              <a:t> it </a:t>
            </a:r>
            <a:r>
              <a:rPr sz="1600" i="1" dirty="0">
                <a:latin typeface="Calibri"/>
                <a:cs typeface="Calibri"/>
              </a:rPr>
              <a:t>done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seamlessly,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so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that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I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find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the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appropriate </a:t>
            </a:r>
            <a:r>
              <a:rPr sz="1600" i="1" dirty="0">
                <a:latin typeface="Calibri"/>
                <a:cs typeface="Calibri"/>
              </a:rPr>
              <a:t>places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on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my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spc="-20" dirty="0">
                <a:latin typeface="Calibri"/>
                <a:cs typeface="Calibri"/>
              </a:rPr>
              <a:t>own.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409" y="2809494"/>
            <a:ext cx="3950335" cy="3693160"/>
          </a:xfrm>
          <a:prstGeom prst="rect">
            <a:avLst/>
          </a:prstGeom>
          <a:solidFill>
            <a:srgbClr val="FFF1CC"/>
          </a:solidFill>
          <a:ln w="38100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454025">
              <a:lnSpc>
                <a:spcPct val="100000"/>
              </a:lnSpc>
              <a:spcBef>
                <a:spcPts val="265"/>
              </a:spcBef>
            </a:pPr>
            <a:r>
              <a:rPr sz="1400" b="1" dirty="0">
                <a:latin typeface="Calibri"/>
                <a:cs typeface="Calibri"/>
              </a:rPr>
              <a:t>Solution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1:</a:t>
            </a:r>
            <a:r>
              <a:rPr sz="1400" b="1" spc="-10" dirty="0">
                <a:latin typeface="Calibri"/>
                <a:cs typeface="Calibri"/>
              </a:rPr>
              <a:t> Interactive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Map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Live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view</a:t>
            </a:r>
            <a:endParaRPr sz="1400">
              <a:latin typeface="Calibri"/>
              <a:cs typeface="Calibri"/>
            </a:endParaRPr>
          </a:p>
          <a:p>
            <a:pPr marL="197485" indent="-1079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97485" algn="l"/>
              </a:tabLst>
            </a:pPr>
            <a:r>
              <a:rPr sz="1300" dirty="0">
                <a:latin typeface="Calibri"/>
                <a:cs typeface="Calibri"/>
              </a:rPr>
              <a:t>The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map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inside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Ola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Rides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app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will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20" dirty="0">
                <a:latin typeface="Calibri"/>
                <a:cs typeface="Calibri"/>
              </a:rPr>
              <a:t> made</a:t>
            </a:r>
            <a:endParaRPr sz="1300">
              <a:latin typeface="Calibri"/>
              <a:cs typeface="Calibri"/>
            </a:endParaRPr>
          </a:p>
          <a:p>
            <a:pPr marL="198120">
              <a:lnSpc>
                <a:spcPct val="100000"/>
              </a:lnSpc>
            </a:pPr>
            <a:r>
              <a:rPr sz="1300" b="1" spc="-10" dirty="0">
                <a:latin typeface="Calibri"/>
                <a:cs typeface="Calibri"/>
              </a:rPr>
              <a:t>interactive</a:t>
            </a:r>
            <a:r>
              <a:rPr sz="1300" b="1" dirty="0">
                <a:latin typeface="Calibri"/>
                <a:cs typeface="Calibri"/>
              </a:rPr>
              <a:t> to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show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places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of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interest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along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the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spc="-25" dirty="0">
                <a:latin typeface="Calibri"/>
                <a:cs typeface="Calibri"/>
              </a:rPr>
              <a:t>way</a:t>
            </a:r>
            <a:endParaRPr sz="1300">
              <a:latin typeface="Calibri"/>
              <a:cs typeface="Calibri"/>
            </a:endParaRPr>
          </a:p>
          <a:p>
            <a:pPr marL="198120" marR="105410" indent="-108585">
              <a:lnSpc>
                <a:spcPct val="100000"/>
              </a:lnSpc>
              <a:buFont typeface="Arial MT"/>
              <a:buChar char="•"/>
              <a:tabLst>
                <a:tab pos="198120" algn="l"/>
              </a:tabLst>
            </a:pPr>
            <a:r>
              <a:rPr sz="1300" b="1" dirty="0">
                <a:latin typeface="Calibri"/>
                <a:cs typeface="Calibri"/>
              </a:rPr>
              <a:t>AR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will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be</a:t>
            </a:r>
            <a:r>
              <a:rPr sz="1300" b="1" spc="-4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used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enable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passenger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point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their </a:t>
            </a:r>
            <a:r>
              <a:rPr sz="1300" dirty="0">
                <a:latin typeface="Calibri"/>
                <a:cs typeface="Calibri"/>
              </a:rPr>
              <a:t>camera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at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their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surroundings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get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information </a:t>
            </a:r>
            <a:r>
              <a:rPr sz="1300" dirty="0">
                <a:latin typeface="Calibri"/>
                <a:cs typeface="Calibri"/>
              </a:rPr>
              <a:t>about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places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interest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captured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area.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dirty="0">
                <a:latin typeface="Calibri"/>
                <a:cs typeface="Calibri"/>
              </a:rPr>
              <a:t>digital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information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will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superimposed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actual </a:t>
            </a:r>
            <a:r>
              <a:rPr sz="1300" dirty="0">
                <a:latin typeface="Calibri"/>
                <a:cs typeface="Calibri"/>
              </a:rPr>
              <a:t>camera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feed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will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keep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refreshing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passenger moves</a:t>
            </a:r>
            <a:endParaRPr sz="130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5"/>
              </a:spcBef>
            </a:pPr>
            <a:r>
              <a:rPr sz="13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How</a:t>
            </a:r>
            <a:r>
              <a:rPr sz="13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13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13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different</a:t>
            </a:r>
            <a:r>
              <a:rPr sz="13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from</a:t>
            </a:r>
            <a:r>
              <a:rPr sz="13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current</a:t>
            </a:r>
            <a:r>
              <a:rPr sz="13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offerings:</a:t>
            </a:r>
            <a:endParaRPr sz="1300">
              <a:latin typeface="Calibri"/>
              <a:cs typeface="Calibri"/>
            </a:endParaRPr>
          </a:p>
          <a:p>
            <a:pPr marL="89535" marR="85090">
              <a:lnSpc>
                <a:spcPct val="100000"/>
              </a:lnSpc>
            </a:pPr>
            <a:r>
              <a:rPr sz="1300" dirty="0">
                <a:latin typeface="Calibri"/>
                <a:cs typeface="Calibri"/>
              </a:rPr>
              <a:t>We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will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have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category</a:t>
            </a:r>
            <a:r>
              <a:rPr sz="1300" b="1" spc="-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search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in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the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live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view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mode</a:t>
            </a:r>
            <a:r>
              <a:rPr sz="1300" dirty="0">
                <a:latin typeface="Calibri"/>
                <a:cs typeface="Calibri"/>
              </a:rPr>
              <a:t>.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For </a:t>
            </a:r>
            <a:r>
              <a:rPr sz="1300" dirty="0">
                <a:latin typeface="Calibri"/>
                <a:cs typeface="Calibri"/>
              </a:rPr>
              <a:t>example,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if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passenger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looking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pharmacies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his </a:t>
            </a:r>
            <a:r>
              <a:rPr sz="1300" dirty="0">
                <a:latin typeface="Calibri"/>
                <a:cs typeface="Calibri"/>
              </a:rPr>
              <a:t>way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home,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set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search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filter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pharmacies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that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will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show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up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pharmacies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captured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dirty="0">
                <a:latin typeface="Calibri"/>
                <a:cs typeface="Calibri"/>
              </a:rPr>
              <a:t>camera</a:t>
            </a:r>
            <a:r>
              <a:rPr sz="1300" spc="-6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feed.</a:t>
            </a:r>
            <a:endParaRPr sz="1300">
              <a:latin typeface="Calibri"/>
              <a:cs typeface="Calibri"/>
            </a:endParaRPr>
          </a:p>
          <a:p>
            <a:pPr marL="89535" marR="198120">
              <a:lnSpc>
                <a:spcPct val="100000"/>
              </a:lnSpc>
            </a:pP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3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</a:t>
            </a:r>
            <a:r>
              <a:rPr sz="13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feature</a:t>
            </a:r>
            <a:r>
              <a:rPr sz="13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only</a:t>
            </a:r>
            <a:r>
              <a:rPr sz="13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</a:t>
            </a: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available for</a:t>
            </a:r>
            <a:r>
              <a:rPr sz="13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passengers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move,</a:t>
            </a:r>
            <a:r>
              <a:rPr sz="13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</a:t>
            </a: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drivers</a:t>
            </a:r>
            <a:r>
              <a:rPr sz="13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could</a:t>
            </a:r>
            <a:r>
              <a:rPr sz="13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get</a:t>
            </a:r>
            <a:r>
              <a:rPr sz="13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distracted.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Current </a:t>
            </a:r>
            <a:r>
              <a:rPr sz="1300" b="1" dirty="0">
                <a:latin typeface="Calibri"/>
                <a:cs typeface="Calibri"/>
              </a:rPr>
              <a:t>offerings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only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provide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this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feature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for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pedestrians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12158" y="2809494"/>
            <a:ext cx="3889375" cy="3693160"/>
          </a:xfrm>
          <a:prstGeom prst="rect">
            <a:avLst/>
          </a:prstGeom>
          <a:solidFill>
            <a:srgbClr val="FFF1CC"/>
          </a:solidFill>
          <a:ln w="38100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96315">
              <a:lnSpc>
                <a:spcPct val="100000"/>
              </a:lnSpc>
              <a:spcBef>
                <a:spcPts val="265"/>
              </a:spcBef>
            </a:pPr>
            <a:r>
              <a:rPr sz="1400" b="1" dirty="0">
                <a:latin typeface="Calibri"/>
                <a:cs typeface="Calibri"/>
              </a:rPr>
              <a:t>Solution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2: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Social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connect</a:t>
            </a:r>
            <a:endParaRPr sz="1400">
              <a:latin typeface="Calibri"/>
              <a:cs typeface="Calibri"/>
            </a:endParaRPr>
          </a:p>
          <a:p>
            <a:pPr marL="198755" indent="-1079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98755" algn="l"/>
              </a:tabLst>
            </a:pPr>
            <a:r>
              <a:rPr sz="1300" b="1" dirty="0">
                <a:latin typeface="Calibri"/>
                <a:cs typeface="Calibri"/>
              </a:rPr>
              <a:t>Enable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the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passenger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to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have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the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social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experience</a:t>
            </a:r>
            <a:endParaRPr sz="1300">
              <a:latin typeface="Calibri"/>
              <a:cs typeface="Calibri"/>
            </a:endParaRPr>
          </a:p>
          <a:p>
            <a:pPr marL="199390">
              <a:lnSpc>
                <a:spcPct val="100000"/>
              </a:lnSpc>
            </a:pPr>
            <a:r>
              <a:rPr sz="1300" b="1" dirty="0">
                <a:latin typeface="Calibri"/>
                <a:cs typeface="Calibri"/>
              </a:rPr>
              <a:t>on </a:t>
            </a:r>
            <a:r>
              <a:rPr sz="1300" b="1" spc="-20" dirty="0">
                <a:latin typeface="Calibri"/>
                <a:cs typeface="Calibri"/>
              </a:rPr>
              <a:t>Ola</a:t>
            </a:r>
            <a:r>
              <a:rPr sz="1300" spc="-20" dirty="0">
                <a:latin typeface="Calibri"/>
                <a:cs typeface="Calibri"/>
              </a:rPr>
              <a:t>.</a:t>
            </a:r>
            <a:endParaRPr sz="1300">
              <a:latin typeface="Calibri"/>
              <a:cs typeface="Calibri"/>
            </a:endParaRPr>
          </a:p>
          <a:p>
            <a:pPr marL="199390" marR="315595" indent="-108585">
              <a:lnSpc>
                <a:spcPct val="100000"/>
              </a:lnSpc>
              <a:buFont typeface="Arial MT"/>
              <a:buChar char="•"/>
              <a:tabLst>
                <a:tab pos="199390" algn="l"/>
              </a:tabLst>
            </a:pPr>
            <a:r>
              <a:rPr sz="1300" dirty="0">
                <a:latin typeface="Calibri"/>
                <a:cs typeface="Calibri"/>
              </a:rPr>
              <a:t>They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add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friends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have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option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make </a:t>
            </a:r>
            <a:r>
              <a:rPr sz="1300" dirty="0">
                <a:latin typeface="Calibri"/>
                <a:cs typeface="Calibri"/>
              </a:rPr>
              <a:t>their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travel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history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accessible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them.</a:t>
            </a:r>
            <a:endParaRPr sz="1300">
              <a:latin typeface="Calibri"/>
              <a:cs typeface="Calibri"/>
            </a:endParaRPr>
          </a:p>
          <a:p>
            <a:pPr marL="199390" marR="133985" indent="-108585">
              <a:lnSpc>
                <a:spcPct val="100000"/>
              </a:lnSpc>
              <a:buFont typeface="Arial MT"/>
              <a:buChar char="•"/>
              <a:tabLst>
                <a:tab pos="199390" algn="l"/>
              </a:tabLst>
            </a:pPr>
            <a:r>
              <a:rPr sz="1300" dirty="0">
                <a:latin typeface="Calibri"/>
                <a:cs typeface="Calibri"/>
              </a:rPr>
              <a:t>While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searching for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places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or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categories,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20" dirty="0">
                <a:latin typeface="Calibri"/>
                <a:cs typeface="Calibri"/>
              </a:rPr>
              <a:t> place </a:t>
            </a:r>
            <a:r>
              <a:rPr sz="1300" dirty="0">
                <a:latin typeface="Calibri"/>
                <a:cs typeface="Calibri"/>
              </a:rPr>
              <a:t>visited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by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friend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given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more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priority</a:t>
            </a:r>
            <a:r>
              <a:rPr sz="1300" spc="-25" dirty="0">
                <a:latin typeface="Calibri"/>
                <a:cs typeface="Calibri"/>
              </a:rPr>
              <a:t> in </a:t>
            </a:r>
            <a:r>
              <a:rPr sz="1300" dirty="0">
                <a:latin typeface="Calibri"/>
                <a:cs typeface="Calibri"/>
              </a:rPr>
              <a:t>results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same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information</a:t>
            </a:r>
            <a:r>
              <a:rPr sz="1300" dirty="0">
                <a:latin typeface="Calibri"/>
                <a:cs typeface="Calibri"/>
              </a:rPr>
              <a:t> can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displayed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in </a:t>
            </a:r>
            <a:r>
              <a:rPr sz="1300" spc="-10" dirty="0">
                <a:latin typeface="Calibri"/>
                <a:cs typeface="Calibri"/>
              </a:rPr>
              <a:t>conjunction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with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Solution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1.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example,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when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dirty="0">
                <a:latin typeface="Calibri"/>
                <a:cs typeface="Calibri"/>
              </a:rPr>
              <a:t>passenger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searching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good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restaurants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go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to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evening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their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way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office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0" dirty="0">
                <a:latin typeface="Calibri"/>
                <a:cs typeface="Calibri"/>
              </a:rPr>
              <a:t> morning,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places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that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friend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has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visited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will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contain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that </a:t>
            </a:r>
            <a:r>
              <a:rPr sz="1300" spc="-10" dirty="0">
                <a:latin typeface="Calibri"/>
                <a:cs typeface="Calibri"/>
              </a:rPr>
              <a:t>information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metadata</a:t>
            </a:r>
            <a:endParaRPr sz="13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3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How</a:t>
            </a:r>
            <a:r>
              <a:rPr sz="13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13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13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different</a:t>
            </a:r>
            <a:r>
              <a:rPr sz="13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from</a:t>
            </a:r>
            <a:r>
              <a:rPr sz="13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current</a:t>
            </a:r>
            <a:r>
              <a:rPr sz="13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offerings:</a:t>
            </a:r>
            <a:endParaRPr sz="1300">
              <a:latin typeface="Calibri"/>
              <a:cs typeface="Calibri"/>
            </a:endParaRPr>
          </a:p>
          <a:p>
            <a:pPr marL="90805" marR="136525">
              <a:lnSpc>
                <a:spcPct val="100000"/>
              </a:lnSpc>
            </a:pPr>
            <a:r>
              <a:rPr sz="1300" dirty="0">
                <a:latin typeface="Calibri"/>
                <a:cs typeface="Calibri"/>
              </a:rPr>
              <a:t>Google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Maps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also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shows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if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contacts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identified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by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your </a:t>
            </a:r>
            <a:r>
              <a:rPr sz="1300" dirty="0">
                <a:latin typeface="Calibri"/>
                <a:cs typeface="Calibri"/>
              </a:rPr>
              <a:t>Google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account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have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visited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place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</a:t>
            </a:r>
            <a:r>
              <a:rPr sz="13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but</a:t>
            </a:r>
            <a:r>
              <a:rPr sz="13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Ola</a:t>
            </a:r>
            <a:r>
              <a:rPr sz="13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Maps</a:t>
            </a:r>
            <a:r>
              <a:rPr sz="13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keep</a:t>
            </a:r>
            <a:r>
              <a:rPr sz="13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3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social</a:t>
            </a: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connect</a:t>
            </a:r>
            <a:r>
              <a:rPr sz="13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</a:t>
            </a:r>
            <a:r>
              <a:rPr sz="13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3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focus,</a:t>
            </a:r>
            <a:r>
              <a:rPr sz="13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instead</a:t>
            </a:r>
            <a:r>
              <a:rPr sz="13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3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just</a:t>
            </a:r>
            <a:r>
              <a:rPr sz="13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add-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1300" u="sng" spc="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feature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29421" y="2791205"/>
            <a:ext cx="3732529" cy="3693160"/>
          </a:xfrm>
          <a:prstGeom prst="rect">
            <a:avLst/>
          </a:prstGeom>
          <a:solidFill>
            <a:srgbClr val="FFF1CC"/>
          </a:solidFill>
          <a:ln w="38100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879475">
              <a:lnSpc>
                <a:spcPct val="100000"/>
              </a:lnSpc>
              <a:spcBef>
                <a:spcPts val="265"/>
              </a:spcBef>
            </a:pPr>
            <a:r>
              <a:rPr sz="1400" b="1" dirty="0">
                <a:latin typeface="Calibri"/>
                <a:cs typeface="Calibri"/>
              </a:rPr>
              <a:t>Solution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3: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Virtual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preview</a:t>
            </a:r>
            <a:endParaRPr sz="1400">
              <a:latin typeface="Calibri"/>
              <a:cs typeface="Calibri"/>
            </a:endParaRPr>
          </a:p>
          <a:p>
            <a:pPr marL="200025" marR="160020" indent="-1085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00025" algn="l"/>
              </a:tabLst>
            </a:pPr>
            <a:r>
              <a:rPr sz="1300" dirty="0">
                <a:latin typeface="Calibri"/>
                <a:cs typeface="Calibri"/>
              </a:rPr>
              <a:t>Users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Ola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Maps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get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the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option</a:t>
            </a:r>
            <a:r>
              <a:rPr sz="1300" b="1" spc="-1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to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take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spc="-50" dirty="0">
                <a:latin typeface="Calibri"/>
                <a:cs typeface="Calibri"/>
              </a:rPr>
              <a:t>a </a:t>
            </a:r>
            <a:r>
              <a:rPr sz="1300" b="1" dirty="0">
                <a:latin typeface="Calibri"/>
                <a:cs typeface="Calibri"/>
              </a:rPr>
              <a:t>virtual</a:t>
            </a:r>
            <a:r>
              <a:rPr sz="1300" b="1" spc="-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look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at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their</a:t>
            </a:r>
            <a:r>
              <a:rPr sz="1300" b="1" spc="-10" dirty="0">
                <a:latin typeface="Calibri"/>
                <a:cs typeface="Calibri"/>
              </a:rPr>
              <a:t> searched </a:t>
            </a:r>
            <a:r>
              <a:rPr sz="1300" b="1" dirty="0">
                <a:latin typeface="Calibri"/>
                <a:cs typeface="Calibri"/>
              </a:rPr>
              <a:t>places</a:t>
            </a:r>
            <a:r>
              <a:rPr sz="1300" b="1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get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look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feel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place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at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different</a:t>
            </a:r>
            <a:r>
              <a:rPr sz="1300" b="1" spc="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times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of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the</a:t>
            </a:r>
            <a:r>
              <a:rPr sz="1300" b="1" spc="-20" dirty="0">
                <a:latin typeface="Calibri"/>
                <a:cs typeface="Calibri"/>
              </a:rPr>
              <a:t> day, </a:t>
            </a:r>
            <a:r>
              <a:rPr sz="1300" b="1" dirty="0">
                <a:latin typeface="Calibri"/>
                <a:cs typeface="Calibri"/>
              </a:rPr>
              <a:t>for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example.</a:t>
            </a:r>
            <a:endParaRPr sz="1300">
              <a:latin typeface="Calibri"/>
              <a:cs typeface="Calibri"/>
            </a:endParaRPr>
          </a:p>
          <a:p>
            <a:pPr marL="200025" marR="235585" indent="-108585">
              <a:lnSpc>
                <a:spcPct val="100000"/>
              </a:lnSpc>
              <a:buFont typeface="Arial MT"/>
              <a:buChar char="•"/>
              <a:tabLst>
                <a:tab pos="200025" algn="l"/>
              </a:tabLst>
            </a:pPr>
            <a:r>
              <a:rPr sz="1300" dirty="0">
                <a:latin typeface="Calibri"/>
                <a:cs typeface="Calibri"/>
              </a:rPr>
              <a:t>This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virtual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preview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generated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by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using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60" dirty="0">
                <a:latin typeface="Calibri"/>
                <a:cs typeface="Calibri"/>
              </a:rPr>
              <a:t>a </a:t>
            </a:r>
            <a:r>
              <a:rPr sz="1300" spc="-10" dirty="0">
                <a:latin typeface="Calibri"/>
                <a:cs typeface="Calibri"/>
              </a:rPr>
              <a:t>combination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 </a:t>
            </a:r>
            <a:r>
              <a:rPr sz="1300" b="1" dirty="0">
                <a:latin typeface="Calibri"/>
                <a:cs typeface="Calibri"/>
              </a:rPr>
              <a:t>user</a:t>
            </a:r>
            <a:r>
              <a:rPr sz="1300" b="1" spc="-10" dirty="0">
                <a:latin typeface="Calibri"/>
                <a:cs typeface="Calibri"/>
              </a:rPr>
              <a:t> sourced</a:t>
            </a:r>
            <a:r>
              <a:rPr sz="1300" b="1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pictures (contributions</a:t>
            </a:r>
            <a:r>
              <a:rPr sz="1300" b="1" spc="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can</a:t>
            </a:r>
            <a:r>
              <a:rPr sz="1300" b="1" spc="1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be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incentivized)</a:t>
            </a:r>
            <a:r>
              <a:rPr sz="1300" b="1" spc="1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and</a:t>
            </a:r>
            <a:r>
              <a:rPr sz="1300" b="1" spc="-5" dirty="0">
                <a:latin typeface="Calibri"/>
                <a:cs typeface="Calibri"/>
              </a:rPr>
              <a:t> </a:t>
            </a:r>
            <a:r>
              <a:rPr sz="1300" b="1" spc="-25" dirty="0">
                <a:latin typeface="Calibri"/>
                <a:cs typeface="Calibri"/>
              </a:rPr>
              <a:t>AI </a:t>
            </a:r>
            <a:r>
              <a:rPr sz="1300" b="1" dirty="0">
                <a:latin typeface="Calibri"/>
                <a:cs typeface="Calibri"/>
              </a:rPr>
              <a:t>technologies</a:t>
            </a:r>
            <a:r>
              <a:rPr sz="1300" b="1" spc="-1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to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generate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real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life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look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and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spc="-20" dirty="0">
                <a:latin typeface="Calibri"/>
                <a:cs typeface="Calibri"/>
              </a:rPr>
              <a:t>feel </a:t>
            </a:r>
            <a:r>
              <a:rPr sz="1300" b="1" dirty="0">
                <a:latin typeface="Calibri"/>
                <a:cs typeface="Calibri"/>
              </a:rPr>
              <a:t>of a</a:t>
            </a:r>
            <a:r>
              <a:rPr sz="1300" b="1" spc="-10" dirty="0">
                <a:latin typeface="Calibri"/>
                <a:cs typeface="Calibri"/>
              </a:rPr>
              <a:t> place</a:t>
            </a:r>
            <a:endParaRPr sz="13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3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How</a:t>
            </a:r>
            <a:r>
              <a:rPr sz="13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13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13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different</a:t>
            </a:r>
            <a:r>
              <a:rPr sz="13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from</a:t>
            </a:r>
            <a:r>
              <a:rPr sz="13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current</a:t>
            </a:r>
            <a:r>
              <a:rPr sz="13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offerings:</a:t>
            </a:r>
            <a:endParaRPr sz="1300">
              <a:latin typeface="Calibri"/>
              <a:cs typeface="Calibri"/>
            </a:endParaRPr>
          </a:p>
          <a:p>
            <a:pPr marL="92075" marR="91440">
              <a:lnSpc>
                <a:spcPct val="100000"/>
              </a:lnSpc>
            </a:pP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focus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will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detailed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virtual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preview. </a:t>
            </a:r>
            <a:r>
              <a:rPr sz="1300" b="1" dirty="0">
                <a:latin typeface="Calibri"/>
                <a:cs typeface="Calibri"/>
              </a:rPr>
              <a:t>Users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should</a:t>
            </a:r>
            <a:r>
              <a:rPr sz="1300" b="1" spc="-1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be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able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to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see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the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same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place</a:t>
            </a:r>
            <a:r>
              <a:rPr sz="1300" b="1" spc="-10" dirty="0">
                <a:latin typeface="Calibri"/>
                <a:cs typeface="Calibri"/>
              </a:rPr>
              <a:t> virtually </a:t>
            </a:r>
            <a:r>
              <a:rPr sz="1300" b="1" dirty="0">
                <a:latin typeface="Calibri"/>
                <a:cs typeface="Calibri"/>
              </a:rPr>
              <a:t>during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different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times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of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the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spc="-20" dirty="0">
                <a:latin typeface="Calibri"/>
                <a:cs typeface="Calibri"/>
              </a:rPr>
              <a:t>day,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different</a:t>
            </a:r>
            <a:r>
              <a:rPr sz="1300" b="1" spc="-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seasons</a:t>
            </a:r>
            <a:r>
              <a:rPr sz="1300" spc="-10" dirty="0">
                <a:latin typeface="Calibri"/>
                <a:cs typeface="Calibri"/>
              </a:rPr>
              <a:t>. </a:t>
            </a:r>
            <a:r>
              <a:rPr sz="13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Incentivization</a:t>
            </a:r>
            <a:r>
              <a:rPr sz="1300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3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 </a:t>
            </a:r>
            <a:r>
              <a:rPr sz="13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crowdsourced</a:t>
            </a:r>
            <a:r>
              <a:rPr sz="13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pictures</a:t>
            </a:r>
            <a:r>
              <a:rPr sz="13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videos</a:t>
            </a:r>
            <a:r>
              <a:rPr sz="13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13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make</a:t>
            </a: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this</a:t>
            </a:r>
            <a:r>
              <a:rPr sz="13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process</a:t>
            </a:r>
            <a:r>
              <a:rPr sz="13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easier.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Wherever required,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Ola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 use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their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own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team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virtually </a:t>
            </a:r>
            <a:r>
              <a:rPr sz="1300" dirty="0">
                <a:latin typeface="Calibri"/>
                <a:cs typeface="Calibri"/>
              </a:rPr>
              <a:t>map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place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make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it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available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application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02553" y="1825243"/>
            <a:ext cx="7874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/>
              <a:t>Mockups</a:t>
            </a:r>
            <a:endParaRPr sz="1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4850" y="34036"/>
          <a:ext cx="11324588" cy="1803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7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2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42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Reach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Impact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Confidence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Effort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Comments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 marR="3067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Interactive</a:t>
                      </a:r>
                      <a:r>
                        <a:rPr sz="14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Map/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Live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view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92.57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898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2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sz="12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very</a:t>
                      </a:r>
                      <a:r>
                        <a:rPr sz="12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useful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during</a:t>
                      </a:r>
                      <a:r>
                        <a:rPr sz="12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ride</a:t>
                      </a:r>
                      <a:r>
                        <a:rPr sz="12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</a:t>
                      </a:r>
                      <a:r>
                        <a:rPr sz="12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passenger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journey</a:t>
                      </a:r>
                      <a:r>
                        <a:rPr sz="12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sz="12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currently</a:t>
                      </a:r>
                      <a:r>
                        <a:rPr sz="12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his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engagement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connect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42.00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207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connect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click with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might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be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popular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younger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generation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Virtual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preview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72.00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Crowdsourcing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material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image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processing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build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virtual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preview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effort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job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920" y="1403603"/>
            <a:ext cx="240476" cy="3855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4492" y="918972"/>
            <a:ext cx="240476" cy="38550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4492" y="463295"/>
            <a:ext cx="240476" cy="39009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928" y="2081782"/>
            <a:ext cx="2398776" cy="473506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608833" y="2100199"/>
            <a:ext cx="1271270" cy="2373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828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Ola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Maps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be </a:t>
            </a:r>
            <a:r>
              <a:rPr sz="1100" spc="-10" dirty="0">
                <a:latin typeface="Calibri"/>
                <a:cs typeface="Calibri"/>
              </a:rPr>
              <a:t>integrated </a:t>
            </a:r>
            <a:r>
              <a:rPr sz="1100" dirty="0">
                <a:latin typeface="Calibri"/>
                <a:cs typeface="Calibri"/>
              </a:rPr>
              <a:t>into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dirty="0">
                <a:latin typeface="Calibri"/>
                <a:cs typeface="Calibri"/>
              </a:rPr>
              <a:t>Ola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Rides</a:t>
            </a:r>
            <a:r>
              <a:rPr sz="1100" spc="-20" dirty="0">
                <a:latin typeface="Calibri"/>
                <a:cs typeface="Calibri"/>
              </a:rPr>
              <a:t> app.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Availability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of </a:t>
            </a:r>
            <a:r>
              <a:rPr sz="1100" spc="-10" dirty="0">
                <a:latin typeface="Calibri"/>
                <a:cs typeface="Calibri"/>
              </a:rPr>
              <a:t>functionalities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such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can </a:t>
            </a:r>
            <a:r>
              <a:rPr sz="1100" dirty="0">
                <a:latin typeface="Calibri"/>
                <a:cs typeface="Calibri"/>
              </a:rPr>
              <a:t>maintain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engagement </a:t>
            </a:r>
            <a:r>
              <a:rPr sz="1100" dirty="0">
                <a:latin typeface="Calibri"/>
                <a:cs typeface="Calibri"/>
              </a:rPr>
              <a:t>during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current</a:t>
            </a:r>
            <a:r>
              <a:rPr sz="1100" spc="-25" dirty="0">
                <a:latin typeface="Calibri"/>
                <a:cs typeface="Calibri"/>
              </a:rPr>
              <a:t> low </a:t>
            </a:r>
            <a:r>
              <a:rPr sz="1100" dirty="0">
                <a:latin typeface="Calibri"/>
                <a:cs typeface="Calibri"/>
              </a:rPr>
              <a:t>engagement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points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of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journey </a:t>
            </a:r>
            <a:r>
              <a:rPr sz="1100" dirty="0">
                <a:latin typeface="Calibri"/>
                <a:cs typeface="Calibri"/>
              </a:rPr>
              <a:t>(waiting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cab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to </a:t>
            </a:r>
            <a:r>
              <a:rPr sz="1100" dirty="0">
                <a:latin typeface="Calibri"/>
                <a:cs typeface="Calibri"/>
              </a:rPr>
              <a:t>arrive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riding</a:t>
            </a:r>
            <a:r>
              <a:rPr sz="1100" spc="-25" dirty="0">
                <a:latin typeface="Calibri"/>
                <a:cs typeface="Calibri"/>
              </a:rPr>
              <a:t> to </a:t>
            </a:r>
            <a:r>
              <a:rPr sz="1100" spc="-10" dirty="0">
                <a:latin typeface="Calibri"/>
                <a:cs typeface="Calibri"/>
              </a:rPr>
              <a:t>destination)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Waiting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ride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8833" y="4447794"/>
            <a:ext cx="1290320" cy="187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Char char="-"/>
              <a:tabLst>
                <a:tab pos="184785" algn="l"/>
              </a:tabLst>
            </a:pPr>
            <a:r>
              <a:rPr sz="1100" dirty="0">
                <a:latin typeface="Calibri"/>
                <a:cs typeface="Calibri"/>
              </a:rPr>
              <a:t>User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search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for </a:t>
            </a:r>
            <a:r>
              <a:rPr sz="1100" dirty="0">
                <a:latin typeface="Calibri"/>
                <a:cs typeface="Calibri"/>
              </a:rPr>
              <a:t>places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along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dirty="0">
                <a:latin typeface="Calibri"/>
                <a:cs typeface="Calibri"/>
              </a:rPr>
              <a:t>way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</a:t>
            </a:r>
            <a:r>
              <a:rPr sz="1100" spc="-10" dirty="0">
                <a:latin typeface="Calibri"/>
                <a:cs typeface="Calibri"/>
              </a:rPr>
              <a:t> stops,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-10" dirty="0">
                <a:latin typeface="Calibri"/>
                <a:cs typeface="Calibri"/>
              </a:rPr>
              <a:t> required</a:t>
            </a:r>
            <a:endParaRPr sz="1100">
              <a:latin typeface="Calibri"/>
              <a:cs typeface="Calibri"/>
            </a:endParaRPr>
          </a:p>
          <a:p>
            <a:pPr marL="184785" marR="5080" indent="-172720">
              <a:lnSpc>
                <a:spcPct val="100000"/>
              </a:lnSpc>
              <a:spcBef>
                <a:spcPts val="5"/>
              </a:spcBef>
              <a:buChar char="-"/>
              <a:tabLst>
                <a:tab pos="184785" algn="l"/>
              </a:tabLst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virtual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preview </a:t>
            </a:r>
            <a:r>
              <a:rPr sz="1100" dirty="0">
                <a:latin typeface="Calibri"/>
                <a:cs typeface="Calibri"/>
              </a:rPr>
              <a:t>feature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also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later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for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passenger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to </a:t>
            </a:r>
            <a:r>
              <a:rPr sz="1100" spc="-10" dirty="0">
                <a:latin typeface="Calibri"/>
                <a:cs typeface="Calibri"/>
              </a:rPr>
              <a:t>explore </a:t>
            </a:r>
            <a:r>
              <a:rPr sz="1100" dirty="0">
                <a:latin typeface="Calibri"/>
                <a:cs typeface="Calibri"/>
              </a:rPr>
              <a:t>destinations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his </a:t>
            </a:r>
            <a:r>
              <a:rPr sz="1100" spc="-10" dirty="0">
                <a:latin typeface="Calibri"/>
                <a:cs typeface="Calibri"/>
              </a:rPr>
              <a:t>choice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0546" y="2110486"/>
            <a:ext cx="1800860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User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search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particular </a:t>
            </a:r>
            <a:r>
              <a:rPr sz="1100" dirty="0">
                <a:latin typeface="Calibri"/>
                <a:cs typeface="Calibri"/>
              </a:rPr>
              <a:t>places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categories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like </a:t>
            </a:r>
            <a:r>
              <a:rPr sz="1100" dirty="0">
                <a:latin typeface="Calibri"/>
                <a:cs typeface="Calibri"/>
              </a:rPr>
              <a:t>pharmacies,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which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return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00546" y="2613406"/>
            <a:ext cx="1841500" cy="1870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list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results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defined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radius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from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trip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route.</a:t>
            </a:r>
            <a:endParaRPr sz="1100">
              <a:latin typeface="Calibri"/>
              <a:cs typeface="Calibri"/>
            </a:endParaRPr>
          </a:p>
          <a:p>
            <a:pPr marL="12700" marR="20955">
              <a:lnSpc>
                <a:spcPct val="100000"/>
              </a:lnSpc>
            </a:pPr>
            <a:r>
              <a:rPr sz="1100" b="1" i="1" dirty="0">
                <a:latin typeface="Calibri"/>
                <a:cs typeface="Calibri"/>
              </a:rPr>
              <a:t>Individual</a:t>
            </a:r>
            <a:r>
              <a:rPr sz="1100" b="1" i="1" spc="-30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results</a:t>
            </a:r>
            <a:r>
              <a:rPr sz="1100" b="1" i="1" spc="-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can</a:t>
            </a:r>
            <a:r>
              <a:rPr sz="1100" b="1" i="1" spc="-35" dirty="0">
                <a:latin typeface="Calibri"/>
                <a:cs typeface="Calibri"/>
              </a:rPr>
              <a:t> </a:t>
            </a:r>
            <a:r>
              <a:rPr sz="1100" b="1" i="1" spc="-25" dirty="0">
                <a:latin typeface="Calibri"/>
                <a:cs typeface="Calibri"/>
              </a:rPr>
              <a:t>be </a:t>
            </a:r>
            <a:r>
              <a:rPr sz="1100" b="1" i="1" dirty="0">
                <a:latin typeface="Calibri"/>
                <a:cs typeface="Calibri"/>
              </a:rPr>
              <a:t>bookmarked,</a:t>
            </a:r>
            <a:r>
              <a:rPr sz="1100" b="1" i="1" spc="-3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explored</a:t>
            </a:r>
            <a:r>
              <a:rPr sz="1100" b="1" i="1" spc="-45" dirty="0">
                <a:latin typeface="Calibri"/>
                <a:cs typeface="Calibri"/>
              </a:rPr>
              <a:t> </a:t>
            </a:r>
            <a:r>
              <a:rPr sz="1100" b="1" i="1" spc="-10" dirty="0">
                <a:latin typeface="Calibri"/>
                <a:cs typeface="Calibri"/>
              </a:rPr>
              <a:t>through </a:t>
            </a:r>
            <a:r>
              <a:rPr sz="1100" b="1" i="1" dirty="0">
                <a:latin typeface="Calibri"/>
                <a:cs typeface="Calibri"/>
              </a:rPr>
              <a:t>its</a:t>
            </a:r>
            <a:r>
              <a:rPr sz="1100" b="1" i="1" spc="-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website</a:t>
            </a:r>
            <a:r>
              <a:rPr sz="1100" b="1" i="1" spc="-20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or</a:t>
            </a:r>
            <a:r>
              <a:rPr sz="1100" b="1" i="1" spc="-1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be</a:t>
            </a:r>
            <a:r>
              <a:rPr sz="1100" b="1" i="1" spc="-20" dirty="0">
                <a:latin typeface="Calibri"/>
                <a:cs typeface="Calibri"/>
              </a:rPr>
              <a:t> </a:t>
            </a:r>
            <a:r>
              <a:rPr sz="1100" b="1" i="1" spc="-10" dirty="0">
                <a:latin typeface="Calibri"/>
                <a:cs typeface="Calibri"/>
              </a:rPr>
              <a:t>contacted </a:t>
            </a:r>
            <a:r>
              <a:rPr sz="1100" b="1" i="1" dirty="0">
                <a:latin typeface="Calibri"/>
                <a:cs typeface="Calibri"/>
              </a:rPr>
              <a:t>through</a:t>
            </a:r>
            <a:r>
              <a:rPr sz="1100" b="1" i="1" spc="-30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the</a:t>
            </a:r>
            <a:r>
              <a:rPr sz="1100" b="1" i="1" spc="-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provided</a:t>
            </a:r>
            <a:r>
              <a:rPr sz="1100" b="1" i="1" spc="-30" dirty="0">
                <a:latin typeface="Calibri"/>
                <a:cs typeface="Calibri"/>
              </a:rPr>
              <a:t> </a:t>
            </a:r>
            <a:r>
              <a:rPr sz="1100" b="1" i="1" spc="-20" dirty="0">
                <a:latin typeface="Calibri"/>
                <a:cs typeface="Calibri"/>
              </a:rPr>
              <a:t>phone </a:t>
            </a:r>
            <a:r>
              <a:rPr sz="1100" b="1" i="1" spc="-10" dirty="0">
                <a:latin typeface="Calibri"/>
                <a:cs typeface="Calibri"/>
              </a:rPr>
              <a:t>numbers.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100" b="1" i="1" dirty="0">
                <a:latin typeface="Calibri"/>
                <a:cs typeface="Calibri"/>
              </a:rPr>
              <a:t>The</a:t>
            </a:r>
            <a:r>
              <a:rPr sz="1100" b="1" i="1" spc="-40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individual</a:t>
            </a:r>
            <a:r>
              <a:rPr sz="1100" b="1" i="1" spc="-40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results</a:t>
            </a:r>
            <a:r>
              <a:rPr sz="1100" b="1" i="1" spc="-1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will</a:t>
            </a:r>
            <a:r>
              <a:rPr sz="1100" b="1" i="1" spc="-25" dirty="0">
                <a:latin typeface="Calibri"/>
                <a:cs typeface="Calibri"/>
              </a:rPr>
              <a:t> </a:t>
            </a:r>
            <a:r>
              <a:rPr sz="1100" b="1" i="1" spc="-20" dirty="0">
                <a:latin typeface="Calibri"/>
                <a:cs typeface="Calibri"/>
              </a:rPr>
              <a:t>also </a:t>
            </a:r>
            <a:r>
              <a:rPr sz="1100" b="1" i="1" dirty="0">
                <a:latin typeface="Calibri"/>
                <a:cs typeface="Calibri"/>
              </a:rPr>
              <a:t>have</a:t>
            </a:r>
            <a:r>
              <a:rPr sz="1100" b="1" i="1" spc="-30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metadata</a:t>
            </a:r>
            <a:r>
              <a:rPr sz="1100" b="1" i="1" spc="-30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defined</a:t>
            </a:r>
            <a:r>
              <a:rPr sz="1100" b="1" i="1" spc="-40" dirty="0">
                <a:latin typeface="Calibri"/>
                <a:cs typeface="Calibri"/>
              </a:rPr>
              <a:t> </a:t>
            </a:r>
            <a:r>
              <a:rPr sz="1100" b="1" i="1" spc="-10" dirty="0">
                <a:latin typeface="Calibri"/>
                <a:cs typeface="Calibri"/>
              </a:rPr>
              <a:t>against </a:t>
            </a:r>
            <a:r>
              <a:rPr sz="1100" b="1" i="1" dirty="0">
                <a:latin typeface="Calibri"/>
                <a:cs typeface="Calibri"/>
              </a:rPr>
              <a:t>them</a:t>
            </a:r>
            <a:r>
              <a:rPr sz="1100" b="1" i="1" spc="-2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is</a:t>
            </a:r>
            <a:r>
              <a:rPr sz="1100" b="1" i="1" spc="-1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a</a:t>
            </a:r>
            <a:r>
              <a:rPr sz="1100" b="1" i="1" spc="-10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manner</a:t>
            </a:r>
            <a:r>
              <a:rPr sz="1100" b="1" i="1" spc="-5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to</a:t>
            </a:r>
            <a:r>
              <a:rPr sz="1100" b="1" i="1" spc="-10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similar</a:t>
            </a:r>
            <a:r>
              <a:rPr sz="1100" b="1" i="1" spc="-15" dirty="0">
                <a:latin typeface="Calibri"/>
                <a:cs typeface="Calibri"/>
              </a:rPr>
              <a:t> </a:t>
            </a:r>
            <a:r>
              <a:rPr sz="1100" b="1" i="1" spc="-25" dirty="0">
                <a:latin typeface="Calibri"/>
                <a:cs typeface="Calibri"/>
              </a:rPr>
              <a:t>to </a:t>
            </a:r>
            <a:r>
              <a:rPr sz="1100" b="1" i="1" dirty="0">
                <a:latin typeface="Calibri"/>
                <a:cs typeface="Calibri"/>
              </a:rPr>
              <a:t>current</a:t>
            </a:r>
            <a:r>
              <a:rPr sz="1100" b="1" i="1" spc="-25" dirty="0">
                <a:latin typeface="Calibri"/>
                <a:cs typeface="Calibri"/>
              </a:rPr>
              <a:t> </a:t>
            </a:r>
            <a:r>
              <a:rPr sz="1100" b="1" i="1" spc="-10" dirty="0">
                <a:latin typeface="Calibri"/>
                <a:cs typeface="Calibri"/>
              </a:rPr>
              <a:t>offerings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45902" y="2707639"/>
            <a:ext cx="1284605" cy="304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8001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Passengers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also </a:t>
            </a:r>
            <a:r>
              <a:rPr sz="1100" dirty="0">
                <a:latin typeface="Calibri"/>
                <a:cs typeface="Calibri"/>
              </a:rPr>
              <a:t>experience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live </a:t>
            </a:r>
            <a:r>
              <a:rPr sz="1100" dirty="0">
                <a:latin typeface="Calibri"/>
                <a:cs typeface="Calibri"/>
              </a:rPr>
              <a:t>view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feature,</a:t>
            </a:r>
            <a:r>
              <a:rPr sz="1100" spc="-20" dirty="0">
                <a:latin typeface="Calibri"/>
                <a:cs typeface="Calibri"/>
              </a:rPr>
              <a:t> where </a:t>
            </a:r>
            <a:r>
              <a:rPr sz="1100" dirty="0">
                <a:latin typeface="Calibri"/>
                <a:cs typeface="Calibri"/>
              </a:rPr>
              <a:t>AR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used</a:t>
            </a:r>
            <a:r>
              <a:rPr sz="1100" spc="-25" dirty="0">
                <a:latin typeface="Calibri"/>
                <a:cs typeface="Calibri"/>
              </a:rPr>
              <a:t> to </a:t>
            </a:r>
            <a:r>
              <a:rPr sz="1100" dirty="0">
                <a:latin typeface="Calibri"/>
                <a:cs typeface="Calibri"/>
              </a:rPr>
              <a:t>augment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camera </a:t>
            </a:r>
            <a:r>
              <a:rPr sz="1100" dirty="0">
                <a:latin typeface="Calibri"/>
                <a:cs typeface="Calibri"/>
              </a:rPr>
              <a:t>feed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digital information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make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experience</a:t>
            </a:r>
            <a:r>
              <a:rPr sz="1100" spc="-20" dirty="0">
                <a:latin typeface="Calibri"/>
                <a:cs typeface="Calibri"/>
              </a:rPr>
              <a:t> more </a:t>
            </a:r>
            <a:r>
              <a:rPr sz="1100" spc="-10" dirty="0">
                <a:latin typeface="Calibri"/>
                <a:cs typeface="Calibri"/>
              </a:rPr>
              <a:t>interactive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This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feature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will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only </a:t>
            </a:r>
            <a:r>
              <a:rPr sz="1100" b="1" dirty="0">
                <a:latin typeface="Calibri"/>
                <a:cs typeface="Calibri"/>
              </a:rPr>
              <a:t>be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accessible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to </a:t>
            </a:r>
            <a:r>
              <a:rPr sz="1100" b="1" dirty="0">
                <a:latin typeface="Calibri"/>
                <a:cs typeface="Calibri"/>
              </a:rPr>
              <a:t>passengers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as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it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may </a:t>
            </a:r>
            <a:r>
              <a:rPr sz="1100" b="1" dirty="0">
                <a:latin typeface="Calibri"/>
                <a:cs typeface="Calibri"/>
              </a:rPr>
              <a:t>lead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to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distraction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for </a:t>
            </a:r>
            <a:r>
              <a:rPr sz="1100" b="1" spc="-10" dirty="0">
                <a:latin typeface="Calibri"/>
                <a:cs typeface="Calibri"/>
              </a:rPr>
              <a:t>drivers</a:t>
            </a:r>
            <a:endParaRPr sz="1100">
              <a:latin typeface="Calibri"/>
              <a:cs typeface="Calibri"/>
            </a:endParaRPr>
          </a:p>
          <a:p>
            <a:pPr marL="12700" marR="1587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Calibri"/>
                <a:cs typeface="Calibri"/>
              </a:rPr>
              <a:t>Search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other </a:t>
            </a:r>
            <a:r>
              <a:rPr sz="1100" dirty="0">
                <a:latin typeface="Calibri"/>
                <a:cs typeface="Calibri"/>
              </a:rPr>
              <a:t>features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remain </a:t>
            </a:r>
            <a:r>
              <a:rPr sz="1100" dirty="0">
                <a:latin typeface="Calibri"/>
                <a:cs typeface="Calibri"/>
              </a:rPr>
              <a:t>similar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normal</a:t>
            </a:r>
            <a:r>
              <a:rPr sz="1100" spc="-25" dirty="0">
                <a:latin typeface="Calibri"/>
                <a:cs typeface="Calibri"/>
              </a:rPr>
              <a:t> map </a:t>
            </a:r>
            <a:r>
              <a:rPr sz="1100" spc="-20" dirty="0">
                <a:latin typeface="Calibri"/>
                <a:cs typeface="Calibri"/>
              </a:rPr>
              <a:t>view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68288" y="4501388"/>
            <a:ext cx="1346835" cy="2230755"/>
            <a:chOff x="6368288" y="4501388"/>
            <a:chExt cx="1346835" cy="223075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0988" y="4514088"/>
              <a:ext cx="1321308" cy="22052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374638" y="4507738"/>
              <a:ext cx="1334135" cy="2218055"/>
            </a:xfrm>
            <a:custGeom>
              <a:avLst/>
              <a:gdLst/>
              <a:ahLst/>
              <a:cxnLst/>
              <a:rect l="l" t="t" r="r" b="b"/>
              <a:pathLst>
                <a:path w="1334134" h="2218054">
                  <a:moveTo>
                    <a:pt x="0" y="2217927"/>
                  </a:moveTo>
                  <a:lnTo>
                    <a:pt x="1334008" y="2217927"/>
                  </a:lnTo>
                  <a:lnTo>
                    <a:pt x="1334008" y="0"/>
                  </a:lnTo>
                  <a:lnTo>
                    <a:pt x="0" y="0"/>
                  </a:lnTo>
                  <a:lnTo>
                    <a:pt x="0" y="221792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776209" y="4433506"/>
            <a:ext cx="381000" cy="1083310"/>
            <a:chOff x="7776209" y="4433506"/>
            <a:chExt cx="381000" cy="1083310"/>
          </a:xfrm>
        </p:grpSpPr>
        <p:sp>
          <p:nvSpPr>
            <p:cNvPr id="17" name="object 17"/>
            <p:cNvSpPr/>
            <p:nvPr/>
          </p:nvSpPr>
          <p:spPr>
            <a:xfrm>
              <a:off x="7776209" y="5430519"/>
              <a:ext cx="352425" cy="85725"/>
            </a:xfrm>
            <a:custGeom>
              <a:avLst/>
              <a:gdLst/>
              <a:ahLst/>
              <a:cxnLst/>
              <a:rect l="l" t="t" r="r" b="b"/>
              <a:pathLst>
                <a:path w="352425" h="85725">
                  <a:moveTo>
                    <a:pt x="85725" y="0"/>
                  </a:moveTo>
                  <a:lnTo>
                    <a:pt x="0" y="42925"/>
                  </a:lnTo>
                  <a:lnTo>
                    <a:pt x="85725" y="85724"/>
                  </a:lnTo>
                  <a:lnTo>
                    <a:pt x="85725" y="57149"/>
                  </a:lnTo>
                  <a:lnTo>
                    <a:pt x="71374" y="57149"/>
                  </a:lnTo>
                  <a:lnTo>
                    <a:pt x="71374" y="28574"/>
                  </a:lnTo>
                  <a:lnTo>
                    <a:pt x="85725" y="28574"/>
                  </a:lnTo>
                  <a:lnTo>
                    <a:pt x="85725" y="0"/>
                  </a:lnTo>
                  <a:close/>
                </a:path>
                <a:path w="352425" h="85725">
                  <a:moveTo>
                    <a:pt x="85725" y="28574"/>
                  </a:moveTo>
                  <a:lnTo>
                    <a:pt x="71374" y="28574"/>
                  </a:lnTo>
                  <a:lnTo>
                    <a:pt x="71374" y="57149"/>
                  </a:lnTo>
                  <a:lnTo>
                    <a:pt x="85725" y="57149"/>
                  </a:lnTo>
                  <a:lnTo>
                    <a:pt x="85725" y="28574"/>
                  </a:lnTo>
                  <a:close/>
                </a:path>
                <a:path w="352425" h="85725">
                  <a:moveTo>
                    <a:pt x="352171" y="28574"/>
                  </a:moveTo>
                  <a:lnTo>
                    <a:pt x="85725" y="28574"/>
                  </a:lnTo>
                  <a:lnTo>
                    <a:pt x="85725" y="57149"/>
                  </a:lnTo>
                  <a:lnTo>
                    <a:pt x="352171" y="57149"/>
                  </a:lnTo>
                  <a:lnTo>
                    <a:pt x="352171" y="28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51469" y="4447794"/>
              <a:ext cx="191135" cy="1025525"/>
            </a:xfrm>
            <a:custGeom>
              <a:avLst/>
              <a:gdLst/>
              <a:ahLst/>
              <a:cxnLst/>
              <a:rect l="l" t="t" r="r" b="b"/>
              <a:pathLst>
                <a:path w="191134" h="1025525">
                  <a:moveTo>
                    <a:pt x="0" y="0"/>
                  </a:moveTo>
                  <a:lnTo>
                    <a:pt x="191134" y="1025143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65447" y="2075686"/>
            <a:ext cx="2295144" cy="471220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70747" y="2075686"/>
            <a:ext cx="2295144" cy="47426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2872" y="129285"/>
            <a:ext cx="1543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Metrics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7642" y="504190"/>
          <a:ext cx="5221605" cy="5971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0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Category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Discovery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265430" indent="-173990">
                        <a:lnSpc>
                          <a:spcPct val="100000"/>
                        </a:lnSpc>
                        <a:spcBef>
                          <a:spcPts val="270"/>
                        </a:spcBef>
                        <a:buAutoNum type="arabicPeriod"/>
                        <a:tabLst>
                          <a:tab pos="26543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riders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interacting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Ola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Map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65430" indent="-173990">
                        <a:lnSpc>
                          <a:spcPct val="100000"/>
                        </a:lnSpc>
                        <a:spcBef>
                          <a:spcPts val="240"/>
                        </a:spcBef>
                        <a:buAutoNum type="arabicPeriod"/>
                        <a:tabLst>
                          <a:tab pos="26543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riders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interacting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View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1440" marR="718185" indent="173990">
                        <a:lnSpc>
                          <a:spcPct val="100000"/>
                        </a:lnSpc>
                        <a:spcBef>
                          <a:spcPts val="240"/>
                        </a:spcBef>
                        <a:buAutoNum type="arabicPeriod"/>
                        <a:tabLst>
                          <a:tab pos="26543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rides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taken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before discovering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Ola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features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Engagement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65430" indent="-173990">
                        <a:lnSpc>
                          <a:spcPct val="100000"/>
                        </a:lnSpc>
                        <a:spcBef>
                          <a:spcPts val="270"/>
                        </a:spcBef>
                        <a:buAutoNum type="arabicPeriod"/>
                        <a:tabLst>
                          <a:tab pos="265430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Engagement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total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ride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time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65430" indent="-173990">
                        <a:lnSpc>
                          <a:spcPct val="100000"/>
                        </a:lnSpc>
                        <a:spcBef>
                          <a:spcPts val="480"/>
                        </a:spcBef>
                        <a:buAutoNum type="arabicPeriod"/>
                        <a:tabLst>
                          <a:tab pos="265430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Average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interaction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view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65430" indent="-173990">
                        <a:lnSpc>
                          <a:spcPct val="100000"/>
                        </a:lnSpc>
                        <a:spcBef>
                          <a:spcPts val="240"/>
                        </a:spcBef>
                        <a:buAutoNum type="arabicPeriod"/>
                        <a:tabLst>
                          <a:tab pos="265430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Average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#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actions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performed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ride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Retention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265430" indent="-173990">
                        <a:lnSpc>
                          <a:spcPct val="100000"/>
                        </a:lnSpc>
                        <a:spcBef>
                          <a:spcPts val="270"/>
                        </a:spcBef>
                        <a:buAutoNum type="arabicPeriod"/>
                        <a:tabLst>
                          <a:tab pos="26543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Monthly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Average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Ola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Maps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240"/>
                        </a:spcBef>
                        <a:buAutoNum type="arabicPeriod"/>
                        <a:tabLst>
                          <a:tab pos="264795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Repeat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usage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Ola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cab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passengers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Health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61340" indent="173990">
                        <a:lnSpc>
                          <a:spcPct val="100000"/>
                        </a:lnSpc>
                        <a:spcBef>
                          <a:spcPts val="275"/>
                        </a:spcBef>
                        <a:buAutoNum type="arabicPeriod"/>
                        <a:tabLst>
                          <a:tab pos="265430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Latency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view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search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results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1440" marR="334645" indent="173990">
                        <a:lnSpc>
                          <a:spcPct val="100000"/>
                        </a:lnSpc>
                        <a:spcBef>
                          <a:spcPts val="1200"/>
                        </a:spcBef>
                        <a:buAutoNum type="arabicPeriod"/>
                        <a:tabLst>
                          <a:tab pos="265430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Avg.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refresh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view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update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camera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moves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Satisfaction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275"/>
                        </a:spcBef>
                        <a:buAutoNum type="arabicPeriod"/>
                        <a:tabLst>
                          <a:tab pos="264795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Negative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Feedback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Ola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Maps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percentage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total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Feedback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65430" indent="-173990">
                        <a:lnSpc>
                          <a:spcPct val="100000"/>
                        </a:lnSpc>
                        <a:spcBef>
                          <a:spcPts val="1200"/>
                        </a:spcBef>
                        <a:buAutoNum type="arabicPeriod" startAt="2"/>
                        <a:tabLst>
                          <a:tab pos="26543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NPS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score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customers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Ola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Maps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39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Adoption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132715" marR="126364" indent="-63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(When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standalone application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maps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released)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37185" indent="173990">
                        <a:lnSpc>
                          <a:spcPct val="100000"/>
                        </a:lnSpc>
                        <a:spcBef>
                          <a:spcPts val="275"/>
                        </a:spcBef>
                        <a:buAutoNum type="arabicPeriod"/>
                        <a:tabLst>
                          <a:tab pos="26543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#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Downloads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Ola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Rides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app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link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1200"/>
                        </a:spcBef>
                        <a:buAutoNum type="arabicPeriod"/>
                        <a:tabLst>
                          <a:tab pos="26479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#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Monthly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Play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Store/App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Store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downloads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30366" y="504190"/>
          <a:ext cx="6160770" cy="2952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80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0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8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Pitfalls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Mitigation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5710">
                <a:tc>
                  <a:txBody>
                    <a:bodyPr/>
                    <a:lstStyle/>
                    <a:p>
                      <a:pPr marL="195580" marR="183515"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AR,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speed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refresh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camera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moves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around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extremely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important.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break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the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feature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5255" marR="127000" indent="-127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rounds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testing,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Beta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testing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before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launching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else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people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might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never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feature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139065" marR="132715" indent="31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density: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important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understand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how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much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user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likes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view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during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view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well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view.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Too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much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overwhelming,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little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use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09345" marR="151130" indent="-95250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A/B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testing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densities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display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815965" y="129285"/>
            <a:ext cx="3425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Possible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pitfalls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their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mitigation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246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dirty="0"/>
              <a:t>Search</a:t>
            </a:r>
            <a:r>
              <a:rPr spc="-60" dirty="0"/>
              <a:t> </a:t>
            </a:r>
            <a:r>
              <a:rPr spc="-10" dirty="0"/>
              <a:t>experience</a:t>
            </a:r>
          </a:p>
        </p:txBody>
      </p:sp>
      <p:sp>
        <p:nvSpPr>
          <p:cNvPr id="3" name="object 3"/>
          <p:cNvSpPr/>
          <p:nvPr/>
        </p:nvSpPr>
        <p:spPr>
          <a:xfrm>
            <a:off x="212597" y="564641"/>
            <a:ext cx="5884545" cy="2969260"/>
          </a:xfrm>
          <a:custGeom>
            <a:avLst/>
            <a:gdLst/>
            <a:ahLst/>
            <a:cxnLst/>
            <a:rect l="l" t="t" r="r" b="b"/>
            <a:pathLst>
              <a:path w="5884545" h="2969260">
                <a:moveTo>
                  <a:pt x="5884164" y="0"/>
                </a:moveTo>
                <a:lnTo>
                  <a:pt x="0" y="0"/>
                </a:lnTo>
                <a:lnTo>
                  <a:pt x="0" y="2968752"/>
                </a:lnTo>
                <a:lnTo>
                  <a:pt x="5884164" y="2968752"/>
                </a:lnTo>
                <a:lnTo>
                  <a:pt x="58841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2597" y="564641"/>
            <a:ext cx="5884545" cy="296926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Our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problem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statement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been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solved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using:</a:t>
            </a:r>
            <a:endParaRPr sz="1400">
              <a:latin typeface="Calibri"/>
              <a:cs typeface="Calibri"/>
            </a:endParaRPr>
          </a:p>
          <a:p>
            <a:pPr marL="339090" marR="156845" indent="-248920">
              <a:lnSpc>
                <a:spcPts val="1510"/>
              </a:lnSpc>
              <a:spcBef>
                <a:spcPts val="620"/>
              </a:spcBef>
              <a:buAutoNum type="arabicParenR"/>
              <a:tabLst>
                <a:tab pos="341630" algn="l"/>
              </a:tabLst>
            </a:pPr>
            <a:r>
              <a:rPr sz="1400" i="1" dirty="0">
                <a:latin typeface="Calibri"/>
                <a:cs typeface="Calibri"/>
              </a:rPr>
              <a:t>Benchmarking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with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top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current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players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to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provide</a:t>
            </a:r>
            <a:r>
              <a:rPr sz="1400" i="1" spc="-6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must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have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features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spc="-20" dirty="0">
                <a:latin typeface="Calibri"/>
                <a:cs typeface="Calibri"/>
              </a:rPr>
              <a:t>from 	</a:t>
            </a:r>
            <a:r>
              <a:rPr sz="1400" i="1" dirty="0">
                <a:latin typeface="Calibri"/>
                <a:cs typeface="Calibri"/>
              </a:rPr>
              <a:t>current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offerings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to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be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carried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onto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Ola</a:t>
            </a:r>
            <a:r>
              <a:rPr sz="1400" i="1" spc="-20" dirty="0">
                <a:latin typeface="Calibri"/>
                <a:cs typeface="Calibri"/>
              </a:rPr>
              <a:t> Maps</a:t>
            </a:r>
            <a:endParaRPr sz="1400">
              <a:latin typeface="Calibri"/>
              <a:cs typeface="Calibri"/>
            </a:endParaRPr>
          </a:p>
          <a:p>
            <a:pPr marL="339090" indent="-248920">
              <a:lnSpc>
                <a:spcPts val="1595"/>
              </a:lnSpc>
              <a:spcBef>
                <a:spcPts val="414"/>
              </a:spcBef>
              <a:buAutoNum type="arabicParenR"/>
              <a:tabLst>
                <a:tab pos="339090" algn="l"/>
              </a:tabLst>
            </a:pPr>
            <a:r>
              <a:rPr sz="1400" i="1" dirty="0">
                <a:latin typeface="Calibri"/>
                <a:cs typeface="Calibri"/>
              </a:rPr>
              <a:t>New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feature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additions</a:t>
            </a:r>
            <a:r>
              <a:rPr sz="1400" i="1" spc="-1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that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solve</a:t>
            </a:r>
            <a:r>
              <a:rPr sz="1400" i="1" spc="-5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current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customer</a:t>
            </a:r>
            <a:r>
              <a:rPr sz="1400" i="1" spc="-5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problems.</a:t>
            </a:r>
            <a:r>
              <a:rPr sz="1400" i="1" spc="-5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These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spc="-25" dirty="0">
                <a:latin typeface="Calibri"/>
                <a:cs typeface="Calibri"/>
              </a:rPr>
              <a:t>new</a:t>
            </a:r>
            <a:endParaRPr sz="1400">
              <a:latin typeface="Calibri"/>
              <a:cs typeface="Calibri"/>
            </a:endParaRPr>
          </a:p>
          <a:p>
            <a:pPr marL="341630">
              <a:lnSpc>
                <a:spcPts val="1595"/>
              </a:lnSpc>
            </a:pPr>
            <a:r>
              <a:rPr sz="1400" i="1" spc="-10" dirty="0">
                <a:latin typeface="Calibri"/>
                <a:cs typeface="Calibri"/>
              </a:rPr>
              <a:t>features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fit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perfectly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in</a:t>
            </a:r>
            <a:r>
              <a:rPr sz="1400" i="1" spc="-1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the user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journey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gap</a:t>
            </a:r>
            <a:r>
              <a:rPr sz="1400" i="1" spc="-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where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the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engagement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drops</a:t>
            </a:r>
            <a:r>
              <a:rPr sz="1400" spc="-10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90170">
              <a:lnSpc>
                <a:spcPts val="1595"/>
              </a:lnSpc>
              <a:spcBef>
                <a:spcPts val="840"/>
              </a:spcBef>
            </a:pPr>
            <a:r>
              <a:rPr sz="1400" dirty="0">
                <a:latin typeface="Calibri"/>
                <a:cs typeface="Calibri"/>
              </a:rPr>
              <a:t>Ola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Maps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introduced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default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map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Ola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rides</a:t>
            </a:r>
            <a:r>
              <a:rPr sz="1400" spc="-25" dirty="0">
                <a:latin typeface="Calibri"/>
                <a:cs typeface="Calibri"/>
              </a:rPr>
              <a:t> app</a:t>
            </a:r>
            <a:endParaRPr sz="1400">
              <a:latin typeface="Calibri"/>
              <a:cs typeface="Calibri"/>
            </a:endParaRPr>
          </a:p>
          <a:p>
            <a:pPr marL="90170" marR="256540">
              <a:lnSpc>
                <a:spcPts val="151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initially.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user’s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activity,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saved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places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related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activity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linked</a:t>
            </a:r>
            <a:r>
              <a:rPr sz="1400" spc="-25" dirty="0">
                <a:latin typeface="Calibri"/>
                <a:cs typeface="Calibri"/>
              </a:rPr>
              <a:t> to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Ola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account.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introduced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standalone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application later.</a:t>
            </a:r>
            <a:endParaRPr sz="14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spcBef>
                <a:spcPts val="810"/>
              </a:spcBef>
            </a:pP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Search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experience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for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Ola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Maps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can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be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summarized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three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phases:</a:t>
            </a:r>
            <a:endParaRPr sz="1400">
              <a:latin typeface="Calibri"/>
              <a:cs typeface="Calibri"/>
            </a:endParaRPr>
          </a:p>
          <a:p>
            <a:pPr marL="433070" lvl="1" indent="-342900">
              <a:lnSpc>
                <a:spcPct val="100000"/>
              </a:lnSpc>
              <a:spcBef>
                <a:spcPts val="225"/>
              </a:spcBef>
              <a:buAutoNum type="arabicPeriod"/>
              <a:tabLst>
                <a:tab pos="433070" algn="l"/>
              </a:tabLst>
            </a:pPr>
            <a:r>
              <a:rPr sz="1400" b="1" spc="-10" dirty="0">
                <a:latin typeface="Calibri"/>
                <a:cs typeface="Calibri"/>
              </a:rPr>
              <a:t>Discovery</a:t>
            </a:r>
            <a:endParaRPr sz="1400">
              <a:latin typeface="Calibri"/>
              <a:cs typeface="Calibri"/>
            </a:endParaRPr>
          </a:p>
          <a:p>
            <a:pPr marL="433070" lvl="1" indent="-342900">
              <a:lnSpc>
                <a:spcPct val="100000"/>
              </a:lnSpc>
              <a:spcBef>
                <a:spcPts val="245"/>
              </a:spcBef>
              <a:buAutoNum type="arabicPeriod"/>
              <a:tabLst>
                <a:tab pos="433070" algn="l"/>
              </a:tabLst>
            </a:pPr>
            <a:r>
              <a:rPr sz="1400" b="1" spc="-10" dirty="0">
                <a:latin typeface="Calibri"/>
                <a:cs typeface="Calibri"/>
              </a:rPr>
              <a:t>Exploring/interacting</a:t>
            </a:r>
            <a:endParaRPr sz="1400">
              <a:latin typeface="Calibri"/>
              <a:cs typeface="Calibri"/>
            </a:endParaRPr>
          </a:p>
          <a:p>
            <a:pPr marL="433070" lvl="1" indent="-342900">
              <a:lnSpc>
                <a:spcPct val="100000"/>
              </a:lnSpc>
              <a:spcBef>
                <a:spcPts val="229"/>
              </a:spcBef>
              <a:buAutoNum type="arabicPeriod"/>
              <a:tabLst>
                <a:tab pos="433070" algn="l"/>
              </a:tabLst>
            </a:pPr>
            <a:r>
              <a:rPr sz="1400" b="1" dirty="0">
                <a:latin typeface="Calibri"/>
                <a:cs typeface="Calibri"/>
              </a:rPr>
              <a:t>Adding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02679" y="210311"/>
            <a:ext cx="1781810" cy="318770"/>
          </a:xfrm>
          <a:custGeom>
            <a:avLst/>
            <a:gdLst/>
            <a:ahLst/>
            <a:cxnLst/>
            <a:rect l="l" t="t" r="r" b="b"/>
            <a:pathLst>
              <a:path w="1781809" h="318770">
                <a:moveTo>
                  <a:pt x="0" y="318516"/>
                </a:moveTo>
                <a:lnTo>
                  <a:pt x="1781555" y="318516"/>
                </a:lnTo>
                <a:lnTo>
                  <a:pt x="1781555" y="0"/>
                </a:lnTo>
                <a:lnTo>
                  <a:pt x="0" y="0"/>
                </a:lnTo>
                <a:lnTo>
                  <a:pt x="0" y="318516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96329" y="203961"/>
            <a:ext cx="1794510" cy="331470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37465" rIns="0" bIns="0" rtlCol="0">
            <a:spAutoFit/>
          </a:bodyPr>
          <a:lstStyle/>
          <a:p>
            <a:pPr marL="537845">
              <a:lnSpc>
                <a:spcPct val="100000"/>
              </a:lnSpc>
              <a:spcBef>
                <a:spcPts val="29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Discovery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04203" y="528827"/>
            <a:ext cx="1777364" cy="2996565"/>
          </a:xfrm>
          <a:custGeom>
            <a:avLst/>
            <a:gdLst/>
            <a:ahLst/>
            <a:cxnLst/>
            <a:rect l="l" t="t" r="r" b="b"/>
            <a:pathLst>
              <a:path w="1777365" h="2996565">
                <a:moveTo>
                  <a:pt x="0" y="2996184"/>
                </a:moveTo>
                <a:lnTo>
                  <a:pt x="1776983" y="2996184"/>
                </a:lnTo>
                <a:lnTo>
                  <a:pt x="1776983" y="0"/>
                </a:lnTo>
                <a:lnTo>
                  <a:pt x="0" y="0"/>
                </a:lnTo>
                <a:lnTo>
                  <a:pt x="0" y="2996184"/>
                </a:lnTo>
                <a:close/>
              </a:path>
            </a:pathLst>
          </a:custGeom>
          <a:ln w="12700">
            <a:solidFill>
              <a:srgbClr val="CFD4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97853" y="522477"/>
            <a:ext cx="1790064" cy="3009265"/>
          </a:xfrm>
          <a:prstGeom prst="rect">
            <a:avLst/>
          </a:prstGeom>
          <a:solidFill>
            <a:srgbClr val="CFD4EA">
              <a:alpha val="90194"/>
            </a:srgbClr>
          </a:solidFill>
        </p:spPr>
        <p:txBody>
          <a:bodyPr vert="horz" wrap="square" lIns="0" tIns="62230" rIns="0" bIns="0" rtlCol="0">
            <a:spAutoFit/>
          </a:bodyPr>
          <a:lstStyle/>
          <a:p>
            <a:pPr marL="186055" marR="332105" indent="-114300">
              <a:lnSpc>
                <a:spcPts val="1320"/>
              </a:lnSpc>
              <a:spcBef>
                <a:spcPts val="490"/>
              </a:spcBef>
              <a:buChar char="•"/>
              <a:tabLst>
                <a:tab pos="186055" algn="l"/>
              </a:tabLst>
            </a:pPr>
            <a:r>
              <a:rPr sz="1200" dirty="0">
                <a:latin typeface="Calibri"/>
                <a:cs typeface="Calibri"/>
              </a:rPr>
              <a:t>Search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individual places</a:t>
            </a:r>
            <a:endParaRPr sz="1200">
              <a:latin typeface="Calibri"/>
              <a:cs typeface="Calibri"/>
            </a:endParaRPr>
          </a:p>
          <a:p>
            <a:pPr marL="185420" indent="-113664">
              <a:lnSpc>
                <a:spcPct val="100000"/>
              </a:lnSpc>
              <a:spcBef>
                <a:spcPts val="70"/>
              </a:spcBef>
              <a:buChar char="•"/>
              <a:tabLst>
                <a:tab pos="185420" algn="l"/>
              </a:tabLst>
            </a:pPr>
            <a:r>
              <a:rPr sz="1200" dirty="0">
                <a:latin typeface="Calibri"/>
                <a:cs typeface="Calibri"/>
              </a:rPr>
              <a:t>Search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categories</a:t>
            </a:r>
            <a:endParaRPr sz="1200">
              <a:latin typeface="Calibri"/>
              <a:cs typeface="Calibri"/>
            </a:endParaRPr>
          </a:p>
          <a:p>
            <a:pPr marL="186055" marR="217170" indent="-114300">
              <a:lnSpc>
                <a:spcPts val="1320"/>
              </a:lnSpc>
              <a:spcBef>
                <a:spcPts val="245"/>
              </a:spcBef>
              <a:buChar char="•"/>
              <a:tabLst>
                <a:tab pos="186055" algn="l"/>
              </a:tabLst>
            </a:pPr>
            <a:r>
              <a:rPr sz="1200" spc="-10" dirty="0">
                <a:latin typeface="Calibri"/>
                <a:cs typeface="Calibri"/>
              </a:rPr>
              <a:t>Contextualized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route </a:t>
            </a:r>
            <a:r>
              <a:rPr sz="1200" dirty="0">
                <a:latin typeface="Calibri"/>
                <a:cs typeface="Calibri"/>
              </a:rPr>
              <a:t>between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places </a:t>
            </a:r>
            <a:r>
              <a:rPr sz="1200" dirty="0">
                <a:latin typeface="Calibri"/>
                <a:cs typeface="Calibri"/>
              </a:rPr>
              <a:t>including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distance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dirty="0">
                <a:latin typeface="Calibri"/>
                <a:cs typeface="Calibri"/>
              </a:rPr>
              <a:t>time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estimates </a:t>
            </a:r>
            <a:r>
              <a:rPr sz="1200" dirty="0">
                <a:latin typeface="Calibri"/>
                <a:cs typeface="Calibri"/>
              </a:rPr>
              <a:t>depending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travel </a:t>
            </a:r>
            <a:r>
              <a:rPr sz="1200" spc="-20" dirty="0">
                <a:latin typeface="Calibri"/>
                <a:cs typeface="Calibri"/>
              </a:rPr>
              <a:t>mode</a:t>
            </a:r>
            <a:endParaRPr sz="1200">
              <a:latin typeface="Calibri"/>
              <a:cs typeface="Calibri"/>
            </a:endParaRPr>
          </a:p>
          <a:p>
            <a:pPr marL="186055" marR="189230" indent="-114300">
              <a:lnSpc>
                <a:spcPct val="91500"/>
              </a:lnSpc>
              <a:spcBef>
                <a:spcPts val="195"/>
              </a:spcBef>
              <a:buChar char="•"/>
              <a:tabLst>
                <a:tab pos="186055" algn="l"/>
              </a:tabLst>
            </a:pPr>
            <a:r>
              <a:rPr sz="1200" spc="-10" dirty="0">
                <a:latin typeface="Calibri"/>
                <a:cs typeface="Calibri"/>
              </a:rPr>
              <a:t>Reviews/ratings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spc="-10" dirty="0">
                <a:latin typeface="Calibri"/>
                <a:cs typeface="Calibri"/>
              </a:rPr>
              <a:t>metadata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like </a:t>
            </a:r>
            <a:r>
              <a:rPr sz="1200" dirty="0">
                <a:latin typeface="Calibri"/>
                <a:cs typeface="Calibri"/>
              </a:rPr>
              <a:t>opening/closing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times, </a:t>
            </a:r>
            <a:r>
              <a:rPr sz="1200" dirty="0">
                <a:latin typeface="Calibri"/>
                <a:cs typeface="Calibri"/>
              </a:rPr>
              <a:t>address,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contact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info., </a:t>
            </a:r>
            <a:r>
              <a:rPr sz="1200" spc="-20" dirty="0">
                <a:latin typeface="Calibri"/>
                <a:cs typeface="Calibri"/>
              </a:rPr>
              <a:t>etc.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12835" y="210311"/>
            <a:ext cx="1824355" cy="318770"/>
          </a:xfrm>
          <a:custGeom>
            <a:avLst/>
            <a:gdLst/>
            <a:ahLst/>
            <a:cxnLst/>
            <a:rect l="l" t="t" r="r" b="b"/>
            <a:pathLst>
              <a:path w="1824354" h="318770">
                <a:moveTo>
                  <a:pt x="0" y="318516"/>
                </a:moveTo>
                <a:lnTo>
                  <a:pt x="1824227" y="318516"/>
                </a:lnTo>
                <a:lnTo>
                  <a:pt x="1824227" y="0"/>
                </a:lnTo>
                <a:lnTo>
                  <a:pt x="0" y="0"/>
                </a:lnTo>
                <a:lnTo>
                  <a:pt x="0" y="318516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06485" y="203961"/>
            <a:ext cx="1837055" cy="331470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37465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29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Exploring/Interacting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03692" y="528827"/>
            <a:ext cx="1841500" cy="2996565"/>
          </a:xfrm>
          <a:custGeom>
            <a:avLst/>
            <a:gdLst/>
            <a:ahLst/>
            <a:cxnLst/>
            <a:rect l="l" t="t" r="r" b="b"/>
            <a:pathLst>
              <a:path w="1841500" h="2996565">
                <a:moveTo>
                  <a:pt x="0" y="2996184"/>
                </a:moveTo>
                <a:lnTo>
                  <a:pt x="1840992" y="2996184"/>
                </a:lnTo>
                <a:lnTo>
                  <a:pt x="1840992" y="0"/>
                </a:lnTo>
                <a:lnTo>
                  <a:pt x="0" y="0"/>
                </a:lnTo>
                <a:lnTo>
                  <a:pt x="0" y="2996184"/>
                </a:lnTo>
                <a:close/>
              </a:path>
            </a:pathLst>
          </a:custGeom>
          <a:ln w="12700">
            <a:solidFill>
              <a:srgbClr val="CFD4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197342" y="522477"/>
            <a:ext cx="1854200" cy="3009265"/>
          </a:xfrm>
          <a:prstGeom prst="rect">
            <a:avLst/>
          </a:prstGeom>
          <a:solidFill>
            <a:srgbClr val="CFD4EA">
              <a:alpha val="90194"/>
            </a:srgbClr>
          </a:solidFill>
        </p:spPr>
        <p:txBody>
          <a:bodyPr vert="horz" wrap="square" lIns="0" tIns="62230" rIns="0" bIns="0" rtlCol="0">
            <a:spAutoFit/>
          </a:bodyPr>
          <a:lstStyle/>
          <a:p>
            <a:pPr marL="185420" marR="137795" indent="-114300">
              <a:lnSpc>
                <a:spcPts val="1320"/>
              </a:lnSpc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200" dirty="0">
                <a:latin typeface="Calibri"/>
                <a:cs typeface="Calibri"/>
              </a:rPr>
              <a:t>Offline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activity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(ability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download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contextual </a:t>
            </a:r>
            <a:r>
              <a:rPr sz="1200" dirty="0">
                <a:latin typeface="Calibri"/>
                <a:cs typeface="Calibri"/>
              </a:rPr>
              <a:t>maps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</a:t>
            </a:r>
            <a:r>
              <a:rPr sz="1200" spc="-20" dirty="0">
                <a:latin typeface="Calibri"/>
                <a:cs typeface="Calibri"/>
              </a:rPr>
              <a:t> them </a:t>
            </a:r>
            <a:r>
              <a:rPr sz="1200" dirty="0">
                <a:latin typeface="Calibri"/>
                <a:cs typeface="Calibri"/>
              </a:rPr>
              <a:t>without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internet)</a:t>
            </a:r>
            <a:endParaRPr sz="1200">
              <a:latin typeface="Calibri"/>
              <a:cs typeface="Calibri"/>
            </a:endParaRPr>
          </a:p>
          <a:p>
            <a:pPr marL="185420" marR="276225" indent="-114300">
              <a:lnSpc>
                <a:spcPct val="91400"/>
              </a:lnSpc>
              <a:spcBef>
                <a:spcPts val="200"/>
              </a:spcBef>
              <a:buChar char="•"/>
              <a:tabLst>
                <a:tab pos="185420" algn="l"/>
              </a:tabLst>
            </a:pPr>
            <a:r>
              <a:rPr sz="1200" spc="-10" dirty="0">
                <a:latin typeface="Calibri"/>
                <a:cs typeface="Calibri"/>
              </a:rPr>
              <a:t>Interactions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map </a:t>
            </a:r>
            <a:r>
              <a:rPr sz="1200" dirty="0">
                <a:latin typeface="Calibri"/>
                <a:cs typeface="Calibri"/>
              </a:rPr>
              <a:t>during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trips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(searching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places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along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spc="-10" dirty="0">
                <a:latin typeface="Calibri"/>
                <a:cs typeface="Calibri"/>
              </a:rPr>
              <a:t>route)</a:t>
            </a:r>
            <a:endParaRPr sz="1200">
              <a:latin typeface="Calibri"/>
              <a:cs typeface="Calibri"/>
            </a:endParaRPr>
          </a:p>
          <a:p>
            <a:pPr marL="185420" marR="342265" indent="-114300">
              <a:lnSpc>
                <a:spcPts val="1320"/>
              </a:lnSpc>
              <a:spcBef>
                <a:spcPts val="250"/>
              </a:spcBef>
              <a:buChar char="•"/>
              <a:tabLst>
                <a:tab pos="185420" algn="l"/>
              </a:tabLst>
            </a:pPr>
            <a:r>
              <a:rPr sz="1200" dirty="0">
                <a:latin typeface="Calibri"/>
                <a:cs typeface="Calibri"/>
              </a:rPr>
              <a:t>Enhanced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interaction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(Live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view)</a:t>
            </a:r>
            <a:endParaRPr sz="1200">
              <a:latin typeface="Calibri"/>
              <a:cs typeface="Calibri"/>
            </a:endParaRPr>
          </a:p>
          <a:p>
            <a:pPr marL="185420" marR="294005" indent="-114300">
              <a:lnSpc>
                <a:spcPts val="1320"/>
              </a:lnSpc>
              <a:spcBef>
                <a:spcPts val="215"/>
              </a:spcBef>
              <a:buChar char="•"/>
              <a:tabLst>
                <a:tab pos="185420" algn="l"/>
              </a:tabLst>
            </a:pPr>
            <a:r>
              <a:rPr sz="1200" dirty="0">
                <a:latin typeface="Calibri"/>
                <a:cs typeface="Calibri"/>
              </a:rPr>
              <a:t>Ability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bookmark, contact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explore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spc="-10" dirty="0">
                <a:latin typeface="Calibri"/>
                <a:cs typeface="Calibri"/>
              </a:rPr>
              <a:t>website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 the</a:t>
            </a:r>
            <a:r>
              <a:rPr sz="1200" spc="-10" dirty="0">
                <a:latin typeface="Calibri"/>
                <a:cs typeface="Calibri"/>
              </a:rPr>
              <a:t> places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65664" y="210311"/>
            <a:ext cx="1572895" cy="318770"/>
          </a:xfrm>
          <a:custGeom>
            <a:avLst/>
            <a:gdLst/>
            <a:ahLst/>
            <a:cxnLst/>
            <a:rect l="l" t="t" r="r" b="b"/>
            <a:pathLst>
              <a:path w="1572895" h="318770">
                <a:moveTo>
                  <a:pt x="0" y="318516"/>
                </a:moveTo>
                <a:lnTo>
                  <a:pt x="1572768" y="318516"/>
                </a:lnTo>
                <a:lnTo>
                  <a:pt x="1572768" y="0"/>
                </a:lnTo>
                <a:lnTo>
                  <a:pt x="0" y="0"/>
                </a:lnTo>
                <a:lnTo>
                  <a:pt x="0" y="318516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259314" y="203961"/>
            <a:ext cx="1585595" cy="331470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37465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29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Contributing</a:t>
            </a:r>
            <a:r>
              <a:rPr sz="140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65664" y="528827"/>
            <a:ext cx="1572895" cy="2996565"/>
          </a:xfrm>
          <a:custGeom>
            <a:avLst/>
            <a:gdLst/>
            <a:ahLst/>
            <a:cxnLst/>
            <a:rect l="l" t="t" r="r" b="b"/>
            <a:pathLst>
              <a:path w="1572895" h="2996565">
                <a:moveTo>
                  <a:pt x="0" y="2996184"/>
                </a:moveTo>
                <a:lnTo>
                  <a:pt x="1572768" y="2996184"/>
                </a:lnTo>
                <a:lnTo>
                  <a:pt x="1572768" y="0"/>
                </a:lnTo>
                <a:lnTo>
                  <a:pt x="0" y="0"/>
                </a:lnTo>
                <a:lnTo>
                  <a:pt x="0" y="2996184"/>
                </a:lnTo>
                <a:close/>
              </a:path>
            </a:pathLst>
          </a:custGeom>
          <a:ln w="12700">
            <a:solidFill>
              <a:srgbClr val="CFD4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259314" y="522477"/>
            <a:ext cx="1585595" cy="3009265"/>
          </a:xfrm>
          <a:prstGeom prst="rect">
            <a:avLst/>
          </a:prstGeom>
          <a:solidFill>
            <a:srgbClr val="CFD4EA">
              <a:alpha val="90194"/>
            </a:srgbClr>
          </a:solidFill>
        </p:spPr>
        <p:txBody>
          <a:bodyPr vert="horz" wrap="square" lIns="0" tIns="59055" rIns="0" bIns="0" rtlCol="0">
            <a:spAutoFit/>
          </a:bodyPr>
          <a:lstStyle/>
          <a:p>
            <a:pPr marL="185420" marR="140970" indent="-114935">
              <a:lnSpc>
                <a:spcPct val="91700"/>
              </a:lnSpc>
              <a:spcBef>
                <a:spcPts val="465"/>
              </a:spcBef>
              <a:buChar char="•"/>
              <a:tabLst>
                <a:tab pos="185420" algn="l"/>
              </a:tabLst>
            </a:pPr>
            <a:r>
              <a:rPr sz="1200" dirty="0">
                <a:latin typeface="Calibri"/>
                <a:cs typeface="Calibri"/>
              </a:rPr>
              <a:t>Contributing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map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providing metadata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menu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restaurants, contact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details,</a:t>
            </a:r>
            <a:r>
              <a:rPr sz="1200" spc="-20" dirty="0">
                <a:latin typeface="Calibri"/>
                <a:cs typeface="Calibri"/>
              </a:rPr>
              <a:t> etc.</a:t>
            </a:r>
            <a:endParaRPr sz="1200">
              <a:latin typeface="Calibri"/>
              <a:cs typeface="Calibri"/>
            </a:endParaRPr>
          </a:p>
          <a:p>
            <a:pPr marL="185420" marR="123825" indent="-114935">
              <a:lnSpc>
                <a:spcPct val="91600"/>
              </a:lnSpc>
              <a:spcBef>
                <a:spcPts val="219"/>
              </a:spcBef>
              <a:buChar char="•"/>
              <a:tabLst>
                <a:tab pos="185420" algn="l"/>
              </a:tabLst>
            </a:pPr>
            <a:r>
              <a:rPr sz="1200" dirty="0">
                <a:latin typeface="Calibri"/>
                <a:cs typeface="Calibri"/>
              </a:rPr>
              <a:t>Pictures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videos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build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virtual </a:t>
            </a:r>
            <a:r>
              <a:rPr sz="1200" dirty="0">
                <a:latin typeface="Calibri"/>
                <a:cs typeface="Calibri"/>
              </a:rPr>
              <a:t>tours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places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be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VR </a:t>
            </a:r>
            <a:r>
              <a:rPr sz="1200" spc="-10" dirty="0">
                <a:latin typeface="Calibri"/>
                <a:cs typeface="Calibri"/>
              </a:rPr>
              <a:t>applications.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These </a:t>
            </a:r>
            <a:r>
              <a:rPr sz="1200" spc="-10" dirty="0">
                <a:latin typeface="Calibri"/>
                <a:cs typeface="Calibri"/>
              </a:rPr>
              <a:t>contributions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be </a:t>
            </a:r>
            <a:r>
              <a:rPr sz="1200" spc="-10" dirty="0">
                <a:latin typeface="Calibri"/>
                <a:cs typeface="Calibri"/>
              </a:rPr>
              <a:t>incentivized</a:t>
            </a:r>
            <a:r>
              <a:rPr sz="1200" dirty="0">
                <a:latin typeface="Calibri"/>
                <a:cs typeface="Calibri"/>
              </a:rPr>
              <a:t> in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form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discount </a:t>
            </a:r>
            <a:r>
              <a:rPr sz="1200" dirty="0">
                <a:latin typeface="Calibri"/>
                <a:cs typeface="Calibri"/>
              </a:rPr>
              <a:t>codes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rides,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etc.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0575" y="3852417"/>
            <a:ext cx="5541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Future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possibilities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implications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parallel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businesses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4790" y="4232909"/>
            <a:ext cx="11744325" cy="2089785"/>
          </a:xfrm>
          <a:custGeom>
            <a:avLst/>
            <a:gdLst/>
            <a:ahLst/>
            <a:cxnLst/>
            <a:rect l="l" t="t" r="r" b="b"/>
            <a:pathLst>
              <a:path w="11744325" h="2089785">
                <a:moveTo>
                  <a:pt x="11743944" y="0"/>
                </a:moveTo>
                <a:lnTo>
                  <a:pt x="0" y="0"/>
                </a:lnTo>
                <a:lnTo>
                  <a:pt x="0" y="2089404"/>
                </a:lnTo>
                <a:lnTo>
                  <a:pt x="11743944" y="2089404"/>
                </a:lnTo>
                <a:lnTo>
                  <a:pt x="117439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24790" y="4232909"/>
            <a:ext cx="11744325" cy="2089785"/>
          </a:xfrm>
          <a:prstGeom prst="rect">
            <a:avLst/>
          </a:prstGeom>
          <a:ln w="28575">
            <a:solidFill>
              <a:srgbClr val="4471C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19405" marR="116205" indent="-228600">
              <a:lnSpc>
                <a:spcPts val="1340"/>
              </a:lnSpc>
              <a:spcBef>
                <a:spcPts val="300"/>
              </a:spcBef>
              <a:buFont typeface="Arial MT"/>
              <a:buChar char="•"/>
              <a:tabLst>
                <a:tab pos="319405" algn="l"/>
              </a:tabLst>
            </a:pPr>
            <a:r>
              <a:rPr sz="1400" b="1" spc="-10" dirty="0">
                <a:latin typeface="Calibri"/>
                <a:cs typeface="Calibri"/>
              </a:rPr>
              <a:t>Monetisation</a:t>
            </a:r>
            <a:r>
              <a:rPr sz="1400" b="1" spc="-7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using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AR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advertising: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Restaurants,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pubs,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shops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Ola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get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10" dirty="0">
                <a:latin typeface="Calibri"/>
                <a:cs typeface="Calibri"/>
              </a:rPr>
              <a:t> listings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mentioned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top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searches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category.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will </a:t>
            </a:r>
            <a:r>
              <a:rPr sz="1400" spc="-10" dirty="0">
                <a:latin typeface="Calibri"/>
                <a:cs typeface="Calibri"/>
              </a:rPr>
              <a:t>generate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additional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revenue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stream</a:t>
            </a:r>
            <a:endParaRPr sz="1400">
              <a:latin typeface="Calibri"/>
              <a:cs typeface="Calibri"/>
            </a:endParaRPr>
          </a:p>
          <a:p>
            <a:pPr marL="319405" marR="101600" indent="-228600">
              <a:lnSpc>
                <a:spcPts val="1340"/>
              </a:lnSpc>
              <a:spcBef>
                <a:spcPts val="1005"/>
              </a:spcBef>
              <a:buFont typeface="Arial MT"/>
              <a:buChar char="•"/>
              <a:tabLst>
                <a:tab pos="319405" algn="l"/>
              </a:tabLst>
            </a:pPr>
            <a:r>
              <a:rPr sz="1400" b="1" spc="-10" dirty="0">
                <a:latin typeface="Calibri"/>
                <a:cs typeface="Calibri"/>
              </a:rPr>
              <a:t>Integration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live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view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with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cameras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front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EVs: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live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camera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feed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front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Ola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Scooter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leveraged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similar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live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view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feature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discussed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before.</a:t>
            </a:r>
            <a:r>
              <a:rPr sz="1400" spc="-55" dirty="0">
                <a:latin typeface="Calibri"/>
                <a:cs typeface="Calibri"/>
              </a:rPr>
              <a:t> 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prevent distraction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subsequent chances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accident,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live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view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only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accessible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speed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vehicle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below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defined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limit</a:t>
            </a:r>
            <a:endParaRPr sz="1400">
              <a:latin typeface="Calibri"/>
              <a:cs typeface="Calibri"/>
            </a:endParaRPr>
          </a:p>
          <a:p>
            <a:pPr marL="319405" marR="140970" indent="-228600">
              <a:lnSpc>
                <a:spcPts val="1340"/>
              </a:lnSpc>
              <a:spcBef>
                <a:spcPts val="1019"/>
              </a:spcBef>
              <a:buFont typeface="Arial MT"/>
              <a:buChar char="•"/>
              <a:tabLst>
                <a:tab pos="319405" algn="l"/>
              </a:tabLst>
            </a:pPr>
            <a:r>
              <a:rPr sz="1400" b="1" spc="-25" dirty="0">
                <a:latin typeface="Calibri"/>
                <a:cs typeface="Calibri"/>
              </a:rPr>
              <a:t>Travel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mode: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exploring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Maps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during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ride,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select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travel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get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certain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tailor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recommendations.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example,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selecting</a:t>
            </a:r>
            <a:r>
              <a:rPr sz="1400" spc="-10" dirty="0">
                <a:latin typeface="Calibri"/>
                <a:cs typeface="Calibri"/>
              </a:rPr>
              <a:t> tourist </a:t>
            </a:r>
            <a:r>
              <a:rPr sz="1400" dirty="0">
                <a:latin typeface="Calibri"/>
                <a:cs typeface="Calibri"/>
              </a:rPr>
              <a:t>mode,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places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interest, </a:t>
            </a:r>
            <a:r>
              <a:rPr sz="1400" dirty="0">
                <a:latin typeface="Calibri"/>
                <a:cs typeface="Calibri"/>
              </a:rPr>
              <a:t>hotels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highlighted</a:t>
            </a:r>
            <a:r>
              <a:rPr sz="1400" dirty="0">
                <a:latin typeface="Calibri"/>
                <a:cs typeface="Calibri"/>
              </a:rPr>
              <a:t> 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route.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Foodie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highlight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cafes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restaurants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route</a:t>
            </a:r>
            <a:endParaRPr sz="1400">
              <a:latin typeface="Calibri"/>
              <a:cs typeface="Calibri"/>
            </a:endParaRPr>
          </a:p>
          <a:p>
            <a:pPr marL="319405" marR="140970" indent="-228600">
              <a:lnSpc>
                <a:spcPts val="1340"/>
              </a:lnSpc>
              <a:spcBef>
                <a:spcPts val="1005"/>
              </a:spcBef>
              <a:buFont typeface="Arial MT"/>
              <a:buChar char="•"/>
              <a:tabLst>
                <a:tab pos="319405" algn="l"/>
              </a:tabLst>
            </a:pPr>
            <a:r>
              <a:rPr sz="1400" b="1" dirty="0">
                <a:latin typeface="Calibri"/>
                <a:cs typeface="Calibri"/>
              </a:rPr>
              <a:t>B2B: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Once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Ola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Maps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gain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traction,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introduce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additional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revenue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streams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letting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developers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integrate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Ola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Maps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applications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through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use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APIs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3013</Words>
  <Application>Microsoft Office PowerPoint</Application>
  <PresentationFormat>Widescreen</PresentationFormat>
  <Paragraphs>299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Black</vt:lpstr>
      <vt:lpstr>Arial MT</vt:lpstr>
      <vt:lpstr>Calibri</vt:lpstr>
      <vt:lpstr>Times New Roman</vt:lpstr>
      <vt:lpstr>Office Theme</vt:lpstr>
      <vt:lpstr>PROBLEM STATEMENT</vt:lpstr>
      <vt:lpstr>Business implications</vt:lpstr>
      <vt:lpstr>Benchmarking of popular map applications</vt:lpstr>
      <vt:lpstr>PowerPoint Presentation</vt:lpstr>
      <vt:lpstr>User Segmentation</vt:lpstr>
      <vt:lpstr>PASSENGER PERSONAS</vt:lpstr>
      <vt:lpstr>Solutions</vt:lpstr>
      <vt:lpstr>Mockups</vt:lpstr>
      <vt:lpstr>PowerPoint Presentation</vt:lpstr>
      <vt:lpstr>Search experience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Mayank Kumar</dc:creator>
  <cp:lastModifiedBy>Mayank Kumar</cp:lastModifiedBy>
  <cp:revision>1</cp:revision>
  <dcterms:created xsi:type="dcterms:W3CDTF">2026-05-21T10:13:40Z</dcterms:created>
  <dcterms:modified xsi:type="dcterms:W3CDTF">2026-05-21T10:15:41Z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2023-02-25T00:00:00Z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2026-05-21T00:00:00Z</vt:filetime>
  </property>
  <property fmtid="{D5CDD505-2E9C-101B-9397-08002B2CF9AE}" pid="6" name="Producer">
    <vt:lpwstr>Microsoft® PowerPoint® 2019</vt:lpwstr>
  </property>
</Properties>
</file>